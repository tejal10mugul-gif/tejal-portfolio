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Revenue Mix</c:v>
                </c:pt>
              </c:strCache>
            </c:strRef>
          </c:tx>
          <c:spPr>
            <a:solidFill>
              <a:schemeClr val="accent1"/>
            </a:solidFill>
            <a:ln w="9525" cap="flat">
              <a:solidFill>
                <a:srgbClr val="F9F9F9"/>
              </a:solidFill>
              <a:prstDash val="solid"/>
              <a:round/>
            </a:ln>
            <a:effectLst/>
          </c:spPr>
          <c:dPt>
            <c:idx val="0"/>
            <c:bubble3D val="0"/>
            <c:spPr>
              <a:solidFill>
                <a:srgbClr val="4A2E1E"/>
              </a:solidFill>
              <a:effectLst/>
            </c:spPr>
          </c:dPt>
          <c:dPt>
            <c:idx val="1"/>
            <c:bubble3D val="0"/>
            <c:spPr>
              <a:solidFill>
                <a:srgbClr val="C1440E"/>
              </a:solidFill>
              <a:effectLst/>
            </c:spPr>
          </c:dPt>
          <c:dPt>
            <c:idx val="2"/>
            <c:bubble3D val="0"/>
            <c:spPr>
              <a:solidFill>
                <a:srgbClr val="8C5A34"/>
              </a:solidFill>
              <a:effectLst/>
            </c:spPr>
          </c:dPt>
          <c:dPt>
            <c:idx val="3"/>
            <c:bubble3D val="0"/>
            <c:spPr>
              <a:solidFill>
                <a:srgbClr val="D9C7A3"/>
              </a:solidFill>
              <a:effectLst/>
            </c:spPr>
          </c:dPt>
          <c:dPt>
            <c:idx val="4"/>
            <c:bubble3D val="0"/>
            <c:spPr>
              <a:solidFill>
                <a:srgbClr val="3F6B4A"/>
              </a:solidFill>
              <a:effectLst/>
            </c:spPr>
          </c:dPt>
          <c:dLbls>
            <c:dLbl>
              <c:idx val="0"/>
              <c:numFmt formatCode="0&quot;%&quot;"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1"/>
              <c:numFmt formatCode="0&quot;%&quot;"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2"/>
              <c:numFmt formatCode="0&quot;%&quot;"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3"/>
              <c:numFmt formatCode="0&quot;%&quot;"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4"/>
              <c:numFmt formatCode="0&quot;%&quot;"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Chemicals</c:v>
                </c:pt>
                <c:pt idx="1">
                  <c:v>Pharma / Basic Drugs</c:v>
                </c:pt>
                <c:pt idx="2">
                  <c:v>Food Products</c:v>
                </c:pt>
                <c:pt idx="3">
                  <c:v>Metal Powder &amp; Foundry</c:v>
                </c:pt>
                <c:pt idx="4">
                  <c:v>Export Packaging</c:v>
                </c:pt>
              </c:strCache>
            </c:strRef>
          </c:cat>
          <c:val>
            <c:numRef>
              <c:f>Sheet1!$B$2:$B$6</c:f>
              <c:numCache>
                <c:ptCount val="5"/>
                <c:pt idx="0">
                  <c:v>32</c:v>
                </c:pt>
                <c:pt idx="1">
                  <c:v>20</c:v>
                </c:pt>
                <c:pt idx="2">
                  <c:v>15</c:v>
                </c:pt>
                <c:pt idx="3">
                  <c:v>18</c:v>
                </c:pt>
                <c:pt idx="4">
                  <c:v>15</c:v>
                </c:pt>
              </c:numCache>
            </c:numRef>
          </c:val>
        </c:ser>
        <c:firstSliceAng val="0"/>
      </c:pieChart>
      <c:spPr>
        <a:noFill/>
        <a:ln>
          <a:noFill/>
        </a:ln>
        <a:effectLst/>
      </c:spPr>
    </c:plotArea>
    <c:legend>
      <c:legendPos val="r"/>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Size (US$B)</c:v>
                </c:pt>
              </c:strCache>
            </c:strRef>
          </c:tx>
          <c:spPr>
            <a:solidFill>
              <a:srgbClr val="C1440E"/>
            </a:solidFill>
            <a:effectLst/>
          </c:spPr>
          <c:invertIfNegative val="0"/>
          <c:dLbls>
            <c:numFmt formatCode="&quot;$&quot;0.0&quot;B&quot;" sourceLinked="0"/>
            <c:txPr>
              <a:bodyPr/>
              <a:lstStyle/>
              <a:p>
                <a:pPr>
                  <a:defRPr b="0" i="0" strike="noStrike" sz="1100" u="none">
                    <a:solidFill>
                      <a:srgbClr val="2B2118"/>
                    </a:solidFill>
                    <a:latin typeface="Arial"/>
                  </a:defRPr>
                </a:pPr>
              </a:p>
            </c:txPr>
            <c:showLegendKey val="0"/>
            <c:showVal val="1"/>
            <c:showCatName val="0"/>
            <c:showSerName val="0"/>
            <c:showPercent val="0"/>
            <c:showBubbleSize val="0"/>
            <c:showLeaderLines val="0"/>
          </c:dLbls>
          <c:cat>
            <c:multiLvlStrRef>
              <c:f>Sheet1!$A$2:$A$3</c:f>
              <c:multiLvlStrCache>
                <c:ptCount val="2"/>
                <c:lvl>
                  <c:pt idx="0">
                    <c:v>2025</c:v>
                  </c:pt>
                  <c:pt idx="1">
                    <c:v>2030 (proj.)</c:v>
                  </c:pt>
                </c:lvl>
              </c:multiLvlStrCache>
            </c:multiLvlStrRef>
          </c:cat>
          <c:val>
            <c:numRef>
              <c:f>Sheet1!$B$2:$B$3</c:f>
              <c:numCache>
                <c:formatCode>General</c:formatCode>
                <c:ptCount val="2"/>
                <c:pt idx="0">
                  <c:v>19.1</c:v>
                </c:pt>
                <c:pt idx="1">
                  <c:v>46.4</c:v>
                </c:pt>
              </c:numCache>
            </c:numRef>
          </c:val>
        </c:ser>
        <c:dLbls>
          <c:numFmt formatCode="&quot;$&quot;0.0&quot;B&quot;" sourceLinked="0"/>
          <c:txPr>
            <a:bodyPr/>
            <a:lstStyle/>
            <a:p>
              <a:pPr>
                <a:defRPr b="0" i="0" strike="noStrike" sz="1100" u="none">
                  <a:solidFill>
                    <a:srgbClr val="2B211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B211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Client</c:v>
                </c:pt>
              </c:strCache>
            </c:strRef>
          </c:tx>
          <c:spPr>
            <a:solidFill>
              <a:srgbClr val="C1440E"/>
            </a:solidFill>
            <a:effectLst/>
          </c:spPr>
          <c:invertIfNegative val="0"/>
          <c:dLbls>
            <c:numFmt formatCode="₹#,##0" sourceLinked="0"/>
            <c:txPr>
              <a:bodyPr/>
              <a:lstStyle/>
              <a:p>
                <a:pPr>
                  <a:defRPr b="0" i="0" strike="noStrike" sz="850" u="none">
                    <a:solidFill>
                      <a:srgbClr val="2B2118"/>
                    </a:solidFill>
                    <a:latin typeface="Arial"/>
                  </a:defRPr>
                </a:pPr>
              </a:p>
            </c:txPr>
            <c:showLegendKey val="0"/>
            <c:showVal val="1"/>
            <c:showCatName val="0"/>
            <c:showSerName val="0"/>
            <c:showPercent val="0"/>
            <c:showBubbleSize val="0"/>
            <c:showLeaderLines val="0"/>
          </c:dLbls>
          <c:cat>
            <c:multiLvlStrRef>
              <c:f>Sheet1!$A$2:$A$4</c:f>
              <c:multiLvlStrCache>
                <c:ptCount val="3"/>
                <c:lvl>
                  <c:pt idx="0">
                    <c:v>Small
(≤25L)</c:v>
                  </c:pt>
                  <c:pt idx="1">
                    <c:v>Medium
(26–100L)</c:v>
                  </c:pt>
                  <c:pt idx="2">
                    <c:v>Large
(101–225L)</c:v>
                  </c:pt>
                </c:lvl>
              </c:multiLvlStrCache>
            </c:multiLvlStrRef>
          </c:cat>
          <c:val>
            <c:numRef>
              <c:f>Sheet1!$B$2:$B$4</c:f>
              <c:numCache>
                <c:formatCode>General</c:formatCode>
                <c:ptCount val="3"/>
                <c:pt idx="0">
                  <c:v>190</c:v>
                </c:pt>
                <c:pt idx="1">
                  <c:v>430</c:v>
                </c:pt>
                <c:pt idx="2">
                  <c:v>890</c:v>
                </c:pt>
              </c:numCache>
            </c:numRef>
          </c:val>
        </c:ser>
        <c:ser>
          <c:idx val="1"/>
          <c:order val="1"/>
          <c:tx>
            <c:strRef>
              <c:f>Sheet1!$C$1</c:f>
              <c:strCache>
                <c:ptCount val="1"/>
                <c:pt idx="0">
                  <c:v>Competitor Avg.</c:v>
                </c:pt>
              </c:strCache>
            </c:strRef>
          </c:tx>
          <c:spPr>
            <a:solidFill>
              <a:srgbClr val="D9C7A3"/>
            </a:solidFill>
            <a:effectLst/>
          </c:spPr>
          <c:invertIfNegative val="0"/>
          <c:dLbls>
            <c:numFmt formatCode="₹#,##0" sourceLinked="0"/>
            <c:txPr>
              <a:bodyPr/>
              <a:lstStyle/>
              <a:p>
                <a:pPr>
                  <a:defRPr b="0" i="0" strike="noStrike" sz="850" u="none">
                    <a:solidFill>
                      <a:srgbClr val="2B2118"/>
                    </a:solidFill>
                    <a:latin typeface="Arial"/>
                  </a:defRPr>
                </a:pPr>
              </a:p>
            </c:txPr>
            <c:showLegendKey val="0"/>
            <c:showVal val="1"/>
            <c:showCatName val="0"/>
            <c:showSerName val="0"/>
            <c:showPercent val="0"/>
            <c:showBubbleSize val="0"/>
            <c:showLeaderLines val="0"/>
          </c:dLbls>
          <c:cat>
            <c:multiLvlStrRef>
              <c:f>Sheet1!$A$2:$A$4</c:f>
              <c:multiLvlStrCache>
                <c:ptCount val="3"/>
                <c:lvl>
                  <c:pt idx="0">
                    <c:v>Small
(≤25L)</c:v>
                  </c:pt>
                  <c:pt idx="1">
                    <c:v>Medium
(26–100L)</c:v>
                  </c:pt>
                  <c:pt idx="2">
                    <c:v>Large
(101–225L)</c:v>
                  </c:pt>
                </c:lvl>
              </c:multiLvlStrCache>
            </c:multiLvlStrRef>
          </c:cat>
          <c:val>
            <c:numRef>
              <c:f>Sheet1!$C$2:$C$4</c:f>
              <c:numCache>
                <c:formatCode>General</c:formatCode>
                <c:ptCount val="3"/>
                <c:pt idx="0">
                  <c:v>212</c:v>
                </c:pt>
                <c:pt idx="1">
                  <c:v>468</c:v>
                </c:pt>
                <c:pt idx="2">
                  <c:v>945</c:v>
                </c:pt>
              </c:numCache>
            </c:numRef>
          </c:val>
        </c:ser>
        <c:dLbls>
          <c:numFmt formatCode="₹#,##0" sourceLinked="0"/>
          <c:txPr>
            <a:bodyPr/>
            <a:lstStyle/>
            <a:p>
              <a:pPr>
                <a:defRPr b="0" i="0" strike="noStrike" sz="850" u="none">
                  <a:solidFill>
                    <a:srgbClr val="2B2118"/>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B211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Profitability Index</c:v>
                </c:pt>
              </c:strCache>
            </c:strRef>
          </c:tx>
          <c:spPr>
            <a:solidFill>
              <a:srgbClr val="C1440E"/>
            </a:solidFill>
            <a:effectLst/>
          </c:spPr>
          <c:invertIfNegative val="0"/>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Before Repositioning</c:v>
                  </c:pt>
                  <c:pt idx="1">
                    <c:v>After Repositioning</c:v>
                  </c:pt>
                </c:lvl>
              </c:multiLvlStrCache>
            </c:multiLvlStrRef>
          </c:cat>
          <c:val>
            <c:numRef>
              <c:f>Sheet1!$B$2:$B$3</c:f>
              <c:numCache>
                <c:formatCode>General</c:formatCode>
                <c:ptCount val="2"/>
                <c:pt idx="0">
                  <c:v>100</c:v>
                </c:pt>
                <c:pt idx="1">
                  <c:v>130</c:v>
                </c:pt>
              </c:numCache>
            </c:numRef>
          </c:val>
        </c:ser>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6B4226"/>
            </a:solidFill>
            <a:prstDash val="solid"/>
            <a:round/>
          </a:ln>
        </c:spPr>
        <c:txPr>
          <a:bodyPr/>
          <a:lstStyle/>
          <a:p>
            <a:pPr>
              <a:defRPr sz="1200" b="0" i="0" u="none" strike="noStrike">
                <a:solidFill>
                  <a:srgbClr val="EFE2D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story: a good product that was being sold like an average one. Client details are withheld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blocks top to bottom. Land the 30-point profitability move at the bottom and say it is an index, not rupees. CHECK BEFORE PRESENTING: all outcome indices are placeholders until replaced with your actual project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context quick. The pie is the current revenue mix; point at export. CHECK: revenue mix percentages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are on the slide and in the appendix. Fiber drum estimates differ by research house, so say 'a range', never one number. Link it back to the export push on the recommendations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has one number under it. Be ready to explain where they came from. CHECK: the three stats (3 entrants, 1 in 5 quotes, win-rate 82)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story is in the findings. Be ready to say how many buyers you spoke to and how you found them. CHECK: '10+ producers' and buyer interview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rivalry high, buyer power moderate to high, the rest moderate or low. That is why price and differentiation matter more than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clients push on. Competitor names are anonymized; prices come from public listings. Client is under all three at 50 L. CHECK: every price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pattern: the strengths are product, the weaknesses are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what we sell, right side is how we price it. Walk the price walk: 230 to 255, the top of the competitor range. CHECK: price walk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sequencing: quotes first, tiers second, review cadence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'index' every time. 100 to 130 is roughly 30 percent. CHECK: all four KPIs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someone asks how sure we are about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at-a-glance table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2E1E"/>
        </a:solidFill>
      </p:bgPr>
    </p:bg>
    <p:spTree>
      <p:nvGrpSpPr>
        <p:cNvPr id="1" name=""/>
        <p:cNvGrpSpPr/>
        <p:nvPr/>
      </p:nvGrpSpPr>
      <p:grpSpPr>
        <a:xfrm>
          <a:off x="0" y="0"/>
          <a:ext cx="0" cy="0"/>
          <a:chOff x="0" y="0"/>
          <a:chExt cx="0" cy="0"/>
        </a:xfrm>
      </p:grpSpPr>
      <p:sp>
        <p:nvSpPr>
          <p:cNvPr id="3" name="Shape 0"/>
          <p:cNvSpPr/>
          <p:nvPr/>
        </p:nvSpPr>
        <p:spPr>
          <a:xfrm>
            <a:off x="8092440" y="0"/>
            <a:ext cx="4096512" cy="6858000"/>
          </a:xfrm>
          <a:prstGeom prst="rect">
            <a:avLst/>
          </a:prstGeom>
          <a:solidFill>
            <a:srgbClr val="3A2417"/>
          </a:solidFill>
          <a:ln/>
        </p:spPr>
      </p:sp>
      <p:sp>
        <p:nvSpPr>
          <p:cNvPr id="4" name="Text 1"/>
          <p:cNvSpPr/>
          <p:nvPr/>
        </p:nvSpPr>
        <p:spPr>
          <a:xfrm>
            <a:off x="640080" y="548640"/>
            <a:ext cx="6949440" cy="320040"/>
          </a:xfrm>
          <a:prstGeom prst="rect">
            <a:avLst/>
          </a:prstGeom>
          <a:noFill/>
          <a:ln/>
        </p:spPr>
        <p:txBody>
          <a:bodyPr wrap="square" lIns="0" tIns="0" rIns="0" bIns="0" rtlCol="0" anchor="ctr"/>
          <a:lstStyle/>
          <a:p>
            <a:pPr indent="0" marL="0">
              <a:buNone/>
            </a:pPr>
            <a:r>
              <a:rPr lang="en-US" sz="1250" b="1" spc="200" kern="0" dirty="0">
                <a:solidFill>
                  <a:srgbClr val="D9B48F"/>
                </a:solidFill>
                <a:latin typeface="Calibri" pitchFamily="34" charset="0"/>
                <a:ea typeface="Calibri" pitchFamily="34" charset="-122"/>
                <a:cs typeface="Calibri" pitchFamily="34" charset="-120"/>
              </a:rPr>
              <a:t>COMPETITIVE INTELLIGENCE &amp; PRICING STRATEGY</a:t>
            </a:r>
            <a:endParaRPr lang="en-US" sz="1250" dirty="0"/>
          </a:p>
        </p:txBody>
      </p:sp>
      <p:sp>
        <p:nvSpPr>
          <p:cNvPr id="5" name="Text 2"/>
          <p:cNvSpPr/>
          <p:nvPr/>
        </p:nvSpPr>
        <p:spPr>
          <a:xfrm>
            <a:off x="640080" y="960120"/>
            <a:ext cx="7040880" cy="1737360"/>
          </a:xfrm>
          <a:prstGeom prst="rect">
            <a:avLst/>
          </a:prstGeom>
          <a:noFill/>
          <a:ln/>
        </p:spPr>
        <p:txBody>
          <a:bodyPr wrap="square" lIns="0" tIns="0" rIns="0" bIns="0" rtlCol="0" anchor="ctr"/>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Repositioning a Craft Paper Drum</a:t>
            </a:r>
            <a:endParaRPr lang="en-US" sz="3200" dirty="0"/>
          </a:p>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Manufacturer for Profitable Growth</a:t>
            </a:r>
            <a:endParaRPr lang="en-US" sz="3200" dirty="0"/>
          </a:p>
        </p:txBody>
      </p:sp>
      <p:sp>
        <p:nvSpPr>
          <p:cNvPr id="6" name="Text 3"/>
          <p:cNvSpPr/>
          <p:nvPr/>
        </p:nvSpPr>
        <p:spPr>
          <a:xfrm>
            <a:off x="640080" y="2606040"/>
            <a:ext cx="6858000" cy="777240"/>
          </a:xfrm>
          <a:prstGeom prst="rect">
            <a:avLst/>
          </a:prstGeom>
          <a:noFill/>
          <a:ln/>
        </p:spPr>
        <p:txBody>
          <a:bodyPr wrap="square" lIns="0" tIns="0" rIns="0" bIns="0" rtlCol="0" anchor="ctr"/>
          <a:lstStyle/>
          <a:p>
            <a:pPr indent="0" marL="0">
              <a:lnSpc>
                <a:spcPct val="115000"/>
              </a:lnSpc>
              <a:buNone/>
            </a:pPr>
            <a:r>
              <a:rPr lang="en-US" sz="1350" dirty="0">
                <a:solidFill>
                  <a:srgbClr val="EFE2D0"/>
                </a:solidFill>
                <a:latin typeface="Calibri" pitchFamily="34" charset="0"/>
                <a:ea typeface="Calibri" pitchFamily="34" charset="-122"/>
                <a:cs typeface="Calibri" pitchFamily="34" charset="-120"/>
              </a:rPr>
              <a:t>How we helped a mid-sized fibre-drum maker stop competing on price and start selling what it already did better.</a:t>
            </a:r>
            <a:endParaRPr lang="en-US" sz="1350" dirty="0"/>
          </a:p>
        </p:txBody>
      </p:sp>
      <p:sp>
        <p:nvSpPr>
          <p:cNvPr id="7" name="Shape 4"/>
          <p:cNvSpPr/>
          <p:nvPr/>
        </p:nvSpPr>
        <p:spPr>
          <a:xfrm>
            <a:off x="640080" y="3520440"/>
            <a:ext cx="6858000" cy="1965960"/>
          </a:xfrm>
          <a:prstGeom prst="rect">
            <a:avLst/>
          </a:prstGeom>
          <a:solidFill>
            <a:srgbClr val="3A2417"/>
          </a:solidFill>
          <a:ln w="12700">
            <a:solidFill>
              <a:srgbClr val="8C5A34"/>
            </a:solidFill>
            <a:prstDash val="solid"/>
          </a:ln>
        </p:spPr>
      </p:sp>
      <p:sp>
        <p:nvSpPr>
          <p:cNvPr id="8" name="Text 5"/>
          <p:cNvSpPr/>
          <p:nvPr/>
        </p:nvSpPr>
        <p:spPr>
          <a:xfrm>
            <a:off x="914400" y="3685032"/>
            <a:ext cx="6309360" cy="292608"/>
          </a:xfrm>
          <a:prstGeom prst="rect">
            <a:avLst/>
          </a:prstGeom>
          <a:noFill/>
          <a:ln/>
        </p:spPr>
        <p:txBody>
          <a:bodyPr wrap="square" lIns="0" tIns="0" rIns="0" bIns="0" rtlCol="0" anchor="ctr"/>
          <a:lstStyle/>
          <a:p>
            <a:pPr indent="0" marL="0">
              <a:buNone/>
            </a:pPr>
            <a:r>
              <a:rPr lang="en-US" sz="1100" b="1" spc="150" kern="0" dirty="0">
                <a:solidFill>
                  <a:srgbClr val="C1440E"/>
                </a:solidFill>
                <a:latin typeface="Calibri" pitchFamily="34" charset="0"/>
                <a:ea typeface="Calibri" pitchFamily="34" charset="-122"/>
                <a:cs typeface="Calibri" pitchFamily="34" charset="-120"/>
              </a:rPr>
              <a:t>CLIENT SNAPSHOT</a:t>
            </a:r>
            <a:endParaRPr lang="en-US" sz="1100" dirty="0"/>
          </a:p>
        </p:txBody>
      </p:sp>
      <p:sp>
        <p:nvSpPr>
          <p:cNvPr id="9" name="Text 6"/>
          <p:cNvSpPr/>
          <p:nvPr/>
        </p:nvSpPr>
        <p:spPr>
          <a:xfrm>
            <a:off x="914400" y="4059936"/>
            <a:ext cx="1737360" cy="347472"/>
          </a:xfrm>
          <a:prstGeom prst="rect">
            <a:avLst/>
          </a:prstGeom>
          <a:noFill/>
          <a:ln/>
        </p:spPr>
        <p:txBody>
          <a:bodyPr wrap="square" lIns="0" tIns="0" rIns="0" bIns="0" rtlCol="0" anchor="ctr"/>
          <a:lstStyle/>
          <a:p>
            <a:pPr indent="0" marL="0">
              <a:buNone/>
            </a:pPr>
            <a:r>
              <a:rPr lang="en-US" sz="1100" b="1" dirty="0">
                <a:solidFill>
                  <a:srgbClr val="D9B48F"/>
                </a:solidFill>
                <a:latin typeface="Calibri" pitchFamily="34" charset="0"/>
                <a:ea typeface="Calibri" pitchFamily="34" charset="-122"/>
                <a:cs typeface="Calibri" pitchFamily="34" charset="-120"/>
              </a:rPr>
              <a:t>Industry:</a:t>
            </a:r>
            <a:endParaRPr lang="en-US" sz="1100" dirty="0"/>
          </a:p>
        </p:txBody>
      </p:sp>
      <p:sp>
        <p:nvSpPr>
          <p:cNvPr id="10" name="Text 7"/>
          <p:cNvSpPr/>
          <p:nvPr/>
        </p:nvSpPr>
        <p:spPr>
          <a:xfrm>
            <a:off x="2606040" y="4059936"/>
            <a:ext cx="475488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Rigid industrial packaging, craft paper fibre drums</a:t>
            </a:r>
            <a:endParaRPr lang="en-US" sz="1100" dirty="0"/>
          </a:p>
        </p:txBody>
      </p:sp>
      <p:sp>
        <p:nvSpPr>
          <p:cNvPr id="11" name="Text 8"/>
          <p:cNvSpPr/>
          <p:nvPr/>
        </p:nvSpPr>
        <p:spPr>
          <a:xfrm>
            <a:off x="914400" y="4402836"/>
            <a:ext cx="1737360" cy="347472"/>
          </a:xfrm>
          <a:prstGeom prst="rect">
            <a:avLst/>
          </a:prstGeom>
          <a:noFill/>
          <a:ln/>
        </p:spPr>
        <p:txBody>
          <a:bodyPr wrap="square" lIns="0" tIns="0" rIns="0" bIns="0" rtlCol="0" anchor="ctr"/>
          <a:lstStyle/>
          <a:p>
            <a:pPr indent="0" marL="0">
              <a:buNone/>
            </a:pPr>
            <a:r>
              <a:rPr lang="en-US" sz="1100" b="1" dirty="0">
                <a:solidFill>
                  <a:srgbClr val="D9B48F"/>
                </a:solidFill>
                <a:latin typeface="Calibri" pitchFamily="34" charset="0"/>
                <a:ea typeface="Calibri" pitchFamily="34" charset="-122"/>
                <a:cs typeface="Calibri" pitchFamily="34" charset="-120"/>
              </a:rPr>
              <a:t>Client type:</a:t>
            </a:r>
            <a:endParaRPr lang="en-US" sz="1100" dirty="0"/>
          </a:p>
        </p:txBody>
      </p:sp>
      <p:sp>
        <p:nvSpPr>
          <p:cNvPr id="12" name="Text 9"/>
          <p:cNvSpPr/>
          <p:nvPr/>
        </p:nvSpPr>
        <p:spPr>
          <a:xfrm>
            <a:off x="2606040" y="4402836"/>
            <a:ext cx="475488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Mid-sized manufacturer, Maharashtra (name withheld)</a:t>
            </a:r>
            <a:endParaRPr lang="en-US" sz="1100" dirty="0"/>
          </a:p>
        </p:txBody>
      </p:sp>
      <p:sp>
        <p:nvSpPr>
          <p:cNvPr id="13" name="Text 10"/>
          <p:cNvSpPr/>
          <p:nvPr/>
        </p:nvSpPr>
        <p:spPr>
          <a:xfrm>
            <a:off x="914400" y="4745736"/>
            <a:ext cx="1737360" cy="347472"/>
          </a:xfrm>
          <a:prstGeom prst="rect">
            <a:avLst/>
          </a:prstGeom>
          <a:noFill/>
          <a:ln/>
        </p:spPr>
        <p:txBody>
          <a:bodyPr wrap="square" lIns="0" tIns="0" rIns="0" bIns="0" rtlCol="0" anchor="ctr"/>
          <a:lstStyle/>
          <a:p>
            <a:pPr indent="0" marL="0">
              <a:buNone/>
            </a:pPr>
            <a:r>
              <a:rPr lang="en-US" sz="1100" b="1" dirty="0">
                <a:solidFill>
                  <a:srgbClr val="D9B48F"/>
                </a:solidFill>
                <a:latin typeface="Calibri" pitchFamily="34" charset="0"/>
                <a:ea typeface="Calibri" pitchFamily="34" charset="-122"/>
                <a:cs typeface="Calibri" pitchFamily="34" charset="-120"/>
              </a:rPr>
              <a:t>Product range:</a:t>
            </a:r>
            <a:endParaRPr lang="en-US" sz="1100" dirty="0"/>
          </a:p>
        </p:txBody>
      </p:sp>
      <p:sp>
        <p:nvSpPr>
          <p:cNvPr id="14" name="Text 11"/>
          <p:cNvSpPr/>
          <p:nvPr/>
        </p:nvSpPr>
        <p:spPr>
          <a:xfrm>
            <a:off x="2606040" y="4745736"/>
            <a:ext cx="475488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8–20" dia × 6–48" ht  |  7–225 L capacity</a:t>
            </a:r>
            <a:endParaRPr lang="en-US" sz="1100" dirty="0"/>
          </a:p>
        </p:txBody>
      </p:sp>
      <p:sp>
        <p:nvSpPr>
          <p:cNvPr id="15" name="Text 12"/>
          <p:cNvSpPr/>
          <p:nvPr/>
        </p:nvSpPr>
        <p:spPr>
          <a:xfrm>
            <a:off x="914400" y="5088636"/>
            <a:ext cx="1737360" cy="347472"/>
          </a:xfrm>
          <a:prstGeom prst="rect">
            <a:avLst/>
          </a:prstGeom>
          <a:noFill/>
          <a:ln/>
        </p:spPr>
        <p:txBody>
          <a:bodyPr wrap="square" lIns="0" tIns="0" rIns="0" bIns="0" rtlCol="0" anchor="ctr"/>
          <a:lstStyle/>
          <a:p>
            <a:pPr indent="0" marL="0">
              <a:buNone/>
            </a:pPr>
            <a:r>
              <a:rPr lang="en-US" sz="1100" b="1" dirty="0">
                <a:solidFill>
                  <a:srgbClr val="D9B48F"/>
                </a:solidFill>
                <a:latin typeface="Calibri" pitchFamily="34" charset="0"/>
                <a:ea typeface="Calibri" pitchFamily="34" charset="-122"/>
                <a:cs typeface="Calibri" pitchFamily="34" charset="-120"/>
              </a:rPr>
              <a:t>End-use segments:</a:t>
            </a:r>
            <a:endParaRPr lang="en-US" sz="1100" dirty="0"/>
          </a:p>
        </p:txBody>
      </p:sp>
      <p:sp>
        <p:nvSpPr>
          <p:cNvPr id="16" name="Text 13"/>
          <p:cNvSpPr/>
          <p:nvPr/>
        </p:nvSpPr>
        <p:spPr>
          <a:xfrm>
            <a:off x="2606040" y="5088636"/>
            <a:ext cx="475488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Chemicals, basic drugs, foundry flux, plasticizers, metal powder, food</a:t>
            </a:r>
            <a:endParaRPr lang="en-US" sz="1100" dirty="0"/>
          </a:p>
        </p:txBody>
      </p:sp>
      <p:sp>
        <p:nvSpPr>
          <p:cNvPr id="17" name="Shape 14"/>
          <p:cNvSpPr/>
          <p:nvPr/>
        </p:nvSpPr>
        <p:spPr>
          <a:xfrm>
            <a:off x="8549640" y="1051560"/>
            <a:ext cx="3154680" cy="3154680"/>
          </a:xfrm>
          <a:prstGeom prst="rect">
            <a:avLst/>
          </a:prstGeom>
          <a:solidFill>
            <a:srgbClr val="E9DCC3"/>
          </a:solidFill>
          <a:ln/>
        </p:spPr>
      </p:sp>
      <p:pic>
        <p:nvPicPr>
          <p:cNvPr id="18" name="Image 0" descr="paper_drum.jpg">    </p:cNvPr>
          <p:cNvPicPr>
            <a:picLocks noChangeAspect="1"/>
          </p:cNvPicPr>
          <p:nvPr/>
        </p:nvPicPr>
        <p:blipFill>
          <a:blip r:embed="rId1"/>
          <a:stretch>
            <a:fillRect/>
          </a:stretch>
        </p:blipFill>
        <p:spPr>
          <a:xfrm>
            <a:off x="8732520" y="1234440"/>
            <a:ext cx="2788920" cy="2788920"/>
          </a:xfrm>
          <a:prstGeom prst="rect">
            <a:avLst/>
          </a:prstGeom>
        </p:spPr>
      </p:pic>
      <p:sp>
        <p:nvSpPr>
          <p:cNvPr id="19" name="Text 15"/>
          <p:cNvSpPr/>
          <p:nvPr/>
        </p:nvSpPr>
        <p:spPr>
          <a:xfrm>
            <a:off x="8549640" y="4297680"/>
            <a:ext cx="3154680" cy="320040"/>
          </a:xfrm>
          <a:prstGeom prst="rect">
            <a:avLst/>
          </a:prstGeom>
          <a:noFill/>
          <a:ln/>
        </p:spPr>
        <p:txBody>
          <a:bodyPr wrap="square" lIns="0" tIns="0" rIns="0" bIns="0" rtlCol="0" anchor="ctr"/>
          <a:lstStyle/>
          <a:p>
            <a:pPr algn="ctr" indent="0" marL="0">
              <a:buNone/>
            </a:pPr>
            <a:r>
              <a:rPr lang="en-US" sz="950" i="1" dirty="0">
                <a:solidFill>
                  <a:srgbClr val="C9AE8E"/>
                </a:solidFill>
                <a:latin typeface="Calibri" pitchFamily="34" charset="0"/>
                <a:ea typeface="Calibri" pitchFamily="34" charset="-122"/>
                <a:cs typeface="Calibri" pitchFamily="34" charset="-120"/>
              </a:rPr>
              <a:t>Reference: craft paper fibre drum</a:t>
            </a:r>
            <a:endParaRPr lang="en-US" sz="950" dirty="0"/>
          </a:p>
        </p:txBody>
      </p:sp>
      <p:sp>
        <p:nvSpPr>
          <p:cNvPr id="20" name="Shape 16"/>
          <p:cNvSpPr/>
          <p:nvPr/>
        </p:nvSpPr>
        <p:spPr>
          <a:xfrm>
            <a:off x="8549640" y="4892040"/>
            <a:ext cx="3154680" cy="1417320"/>
          </a:xfrm>
          <a:prstGeom prst="rect">
            <a:avLst/>
          </a:prstGeom>
          <a:solidFill>
            <a:srgbClr val="3A2417"/>
          </a:solidFill>
          <a:ln w="9525">
            <a:solidFill>
              <a:srgbClr val="8C5A34"/>
            </a:solidFill>
            <a:prstDash val="solid"/>
          </a:ln>
        </p:spPr>
      </p:sp>
      <p:sp>
        <p:nvSpPr>
          <p:cNvPr id="21" name="Text 17"/>
          <p:cNvSpPr/>
          <p:nvPr/>
        </p:nvSpPr>
        <p:spPr>
          <a:xfrm>
            <a:off x="8732520" y="5029200"/>
            <a:ext cx="2788920" cy="274320"/>
          </a:xfrm>
          <a:prstGeom prst="rect">
            <a:avLst/>
          </a:prstGeom>
          <a:noFill/>
          <a:ln/>
        </p:spPr>
        <p:txBody>
          <a:bodyPr wrap="square" lIns="0" tIns="0" rIns="0" bIns="0" rtlCol="0" anchor="ctr"/>
          <a:lstStyle/>
          <a:p>
            <a:pPr indent="0" marL="0">
              <a:buNone/>
            </a:pPr>
            <a:r>
              <a:rPr lang="en-US" sz="950" b="1" spc="150" kern="0" dirty="0">
                <a:solidFill>
                  <a:srgbClr val="C1440E"/>
                </a:solidFill>
                <a:latin typeface="Calibri" pitchFamily="34" charset="0"/>
                <a:ea typeface="Calibri" pitchFamily="34" charset="-122"/>
                <a:cs typeface="Calibri" pitchFamily="34" charset="-120"/>
              </a:rPr>
              <a:t>PREPARED BY</a:t>
            </a:r>
            <a:endParaRPr lang="en-US" sz="950" dirty="0"/>
          </a:p>
        </p:txBody>
      </p:sp>
      <p:sp>
        <p:nvSpPr>
          <p:cNvPr id="22" name="Text 18"/>
          <p:cNvSpPr/>
          <p:nvPr/>
        </p:nvSpPr>
        <p:spPr>
          <a:xfrm>
            <a:off x="8732520" y="5303520"/>
            <a:ext cx="27889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Tejal Mugul</a:t>
            </a:r>
            <a:endParaRPr lang="en-US" sz="1500" dirty="0"/>
          </a:p>
        </p:txBody>
      </p:sp>
      <p:sp>
        <p:nvSpPr>
          <p:cNvPr id="23" name="Text 19"/>
          <p:cNvSpPr/>
          <p:nvPr/>
        </p:nvSpPr>
        <p:spPr>
          <a:xfrm>
            <a:off x="8732520" y="5623560"/>
            <a:ext cx="2788920" cy="548640"/>
          </a:xfrm>
          <a:prstGeom prst="rect">
            <a:avLst/>
          </a:prstGeom>
          <a:noFill/>
          <a:ln/>
        </p:spPr>
        <p:txBody>
          <a:bodyPr wrap="square" lIns="0" tIns="0" rIns="0" bIns="0" rtlCol="0" anchor="ctr"/>
          <a:lstStyle/>
          <a:p>
            <a:pPr indent="0" marL="0">
              <a:lnSpc>
                <a:spcPct val="110000"/>
              </a:lnSpc>
              <a:buNone/>
            </a:pPr>
            <a:r>
              <a:rPr lang="en-US" sz="1000" i="1" dirty="0">
                <a:solidFill>
                  <a:srgbClr val="D9B48F"/>
                </a:solidFill>
                <a:latin typeface="Calibri" pitchFamily="34" charset="0"/>
                <a:ea typeface="Calibri" pitchFamily="34" charset="-122"/>
                <a:cs typeface="Calibri" pitchFamily="34" charset="-120"/>
              </a:rPr>
              <a:t>Competitive Intelligence &amp; Market Research Consultant</a:t>
            </a:r>
            <a:endParaRPr lang="en-US" sz="1000" dirty="0"/>
          </a:p>
        </p:txBody>
      </p:sp>
      <p:sp>
        <p:nvSpPr>
          <p:cNvPr id="24" name="Text 20"/>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9C7B5C"/>
                </a:solidFill>
                <a:latin typeface="Calibri" pitchFamily="34" charset="0"/>
                <a:ea typeface="Calibri" pitchFamily="34" charset="-122"/>
                <a:cs typeface="Calibri" pitchFamily="34" charset="-120"/>
              </a:rPr>
              <a:t>Strictly Private &amp; Confidential</a:t>
            </a:r>
            <a:endParaRPr lang="en-US" sz="900" dirty="0"/>
          </a:p>
        </p:txBody>
      </p:sp>
      <p:sp>
        <p:nvSpPr>
          <p:cNvPr id="25" name="Text 21"/>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9C7B5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EXECUTIVE SUMMARY</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Better drums than the competition, priced like they were worse</a:t>
            </a:r>
            <a:endParaRPr lang="en-US" sz="2400" dirty="0"/>
          </a:p>
        </p:txBody>
      </p:sp>
      <p:sp>
        <p:nvSpPr>
          <p:cNvPr id="5" name="Shape 2"/>
          <p:cNvSpPr/>
          <p:nvPr/>
        </p:nvSpPr>
        <p:spPr>
          <a:xfrm>
            <a:off x="548640" y="1508760"/>
            <a:ext cx="82296" cy="960120"/>
          </a:xfrm>
          <a:prstGeom prst="rect">
            <a:avLst/>
          </a:prstGeom>
          <a:solidFill>
            <a:srgbClr val="8C5A34"/>
          </a:solidFill>
          <a:ln/>
        </p:spPr>
      </p:sp>
      <p:sp>
        <p:nvSpPr>
          <p:cNvPr id="6" name="Text 3"/>
          <p:cNvSpPr/>
          <p:nvPr/>
        </p:nvSpPr>
        <p:spPr>
          <a:xfrm>
            <a:off x="777240" y="1490472"/>
            <a:ext cx="2743200" cy="320040"/>
          </a:xfrm>
          <a:prstGeom prst="rect">
            <a:avLst/>
          </a:prstGeom>
          <a:noFill/>
          <a:ln/>
        </p:spPr>
        <p:txBody>
          <a:bodyPr wrap="square" lIns="0" tIns="0" rIns="0" bIns="0" rtlCol="0" anchor="ctr"/>
          <a:lstStyle/>
          <a:p>
            <a:pPr indent="0" marL="0">
              <a:buNone/>
            </a:pPr>
            <a:r>
              <a:rPr lang="en-US" sz="1200" b="1" spc="100" kern="0" dirty="0">
                <a:solidFill>
                  <a:srgbClr val="8C5A34"/>
                </a:solidFill>
                <a:latin typeface="Calibri" pitchFamily="34" charset="0"/>
                <a:ea typeface="Calibri" pitchFamily="34" charset="-122"/>
                <a:cs typeface="Calibri" pitchFamily="34" charset="-120"/>
              </a:rPr>
              <a:t>SITUATION</a:t>
            </a:r>
            <a:endParaRPr lang="en-US" sz="1200" dirty="0"/>
          </a:p>
        </p:txBody>
      </p:sp>
      <p:sp>
        <p:nvSpPr>
          <p:cNvPr id="7" name="Text 4"/>
          <p:cNvSpPr/>
          <p:nvPr/>
        </p:nvSpPr>
        <p:spPr>
          <a:xfrm>
            <a:off x="777240" y="1801368"/>
            <a:ext cx="9966960" cy="685800"/>
          </a:xfrm>
          <a:prstGeom prst="rect">
            <a:avLst/>
          </a:prstGeom>
          <a:noFill/>
          <a:ln/>
        </p:spPr>
        <p:txBody>
          <a:bodyPr wrap="square" lIns="0" tIns="0" rIns="0" bIns="0" rtlCol="0" anchor="ctr"/>
          <a:lstStyle/>
          <a:p>
            <a:pPr indent="0" marL="0">
              <a:lnSpc>
                <a:spcPct val="118000"/>
              </a:lnSpc>
              <a:buNone/>
            </a:pPr>
            <a:r>
              <a:rPr lang="en-US" sz="1250" dirty="0">
                <a:solidFill>
                  <a:srgbClr val="2B2118"/>
                </a:solidFill>
                <a:latin typeface="Calibri" pitchFamily="34" charset="0"/>
                <a:ea typeface="Calibri" pitchFamily="34" charset="-122"/>
                <a:cs typeface="Calibri" pitchFamily="34" charset="-120"/>
              </a:rPr>
              <a:t>The client manufactures craft paper fibre drums for chemicals, pharma, food, and export-packaging customers, competing against a growing base of regional manufacturers.</a:t>
            </a:r>
            <a:endParaRPr lang="en-US" sz="1250" dirty="0"/>
          </a:p>
        </p:txBody>
      </p:sp>
      <p:sp>
        <p:nvSpPr>
          <p:cNvPr id="8" name="Shape 5"/>
          <p:cNvSpPr/>
          <p:nvPr/>
        </p:nvSpPr>
        <p:spPr>
          <a:xfrm>
            <a:off x="548640" y="2651760"/>
            <a:ext cx="82296" cy="960120"/>
          </a:xfrm>
          <a:prstGeom prst="rect">
            <a:avLst/>
          </a:prstGeom>
          <a:solidFill>
            <a:srgbClr val="C1440E"/>
          </a:solidFill>
          <a:ln/>
        </p:spPr>
      </p:sp>
      <p:sp>
        <p:nvSpPr>
          <p:cNvPr id="9" name="Text 6"/>
          <p:cNvSpPr/>
          <p:nvPr/>
        </p:nvSpPr>
        <p:spPr>
          <a:xfrm>
            <a:off x="777240" y="2633472"/>
            <a:ext cx="2743200" cy="320040"/>
          </a:xfrm>
          <a:prstGeom prst="rect">
            <a:avLst/>
          </a:prstGeom>
          <a:noFill/>
          <a:ln/>
        </p:spPr>
        <p:txBody>
          <a:bodyPr wrap="square" lIns="0" tIns="0" rIns="0" bIns="0" rtlCol="0" anchor="ctr"/>
          <a:lstStyle/>
          <a:p>
            <a:pPr indent="0" marL="0">
              <a:buNone/>
            </a:pPr>
            <a:r>
              <a:rPr lang="en-US" sz="1200" b="1" spc="100" kern="0" dirty="0">
                <a:solidFill>
                  <a:srgbClr val="C1440E"/>
                </a:solidFill>
                <a:latin typeface="Calibri" pitchFamily="34" charset="0"/>
                <a:ea typeface="Calibri" pitchFamily="34" charset="-122"/>
                <a:cs typeface="Calibri" pitchFamily="34" charset="-120"/>
              </a:rPr>
              <a:t>COMPLICATION</a:t>
            </a:r>
            <a:endParaRPr lang="en-US" sz="1200" dirty="0"/>
          </a:p>
        </p:txBody>
      </p:sp>
      <p:sp>
        <p:nvSpPr>
          <p:cNvPr id="10" name="Text 7"/>
          <p:cNvSpPr/>
          <p:nvPr/>
        </p:nvSpPr>
        <p:spPr>
          <a:xfrm>
            <a:off x="777240" y="2944368"/>
            <a:ext cx="9966960" cy="685800"/>
          </a:xfrm>
          <a:prstGeom prst="rect">
            <a:avLst/>
          </a:prstGeom>
          <a:noFill/>
          <a:ln/>
        </p:spPr>
        <p:txBody>
          <a:bodyPr wrap="square" lIns="0" tIns="0" rIns="0" bIns="0" rtlCol="0" anchor="ctr"/>
          <a:lstStyle/>
          <a:p>
            <a:pPr indent="0" marL="0">
              <a:lnSpc>
                <a:spcPct val="118000"/>
              </a:lnSpc>
              <a:buNone/>
            </a:pPr>
            <a:r>
              <a:rPr lang="en-US" sz="1250" dirty="0">
                <a:solidFill>
                  <a:srgbClr val="2B2118"/>
                </a:solidFill>
                <a:latin typeface="Calibri" pitchFamily="34" charset="0"/>
                <a:ea typeface="Calibri" pitchFamily="34" charset="-122"/>
                <a:cs typeface="Calibri" pitchFamily="34" charset="-120"/>
              </a:rPr>
              <a:t>Despite offering stronger finishing (varnish/wax), a printing-ready surface, and full-open lids, pricing was set reactively, deal by deal, with no competitor benchmark to anchor against. The result: quotes priced at or below market despite a genuine quality edge.</a:t>
            </a:r>
            <a:endParaRPr lang="en-US" sz="1250" dirty="0"/>
          </a:p>
        </p:txBody>
      </p:sp>
      <p:sp>
        <p:nvSpPr>
          <p:cNvPr id="11" name="Shape 8"/>
          <p:cNvSpPr/>
          <p:nvPr/>
        </p:nvSpPr>
        <p:spPr>
          <a:xfrm>
            <a:off x="548640" y="3794760"/>
            <a:ext cx="82296" cy="960120"/>
          </a:xfrm>
          <a:prstGeom prst="rect">
            <a:avLst/>
          </a:prstGeom>
          <a:solidFill>
            <a:srgbClr val="3F6B4A"/>
          </a:solidFill>
          <a:ln/>
        </p:spPr>
      </p:sp>
      <p:sp>
        <p:nvSpPr>
          <p:cNvPr id="12" name="Text 9"/>
          <p:cNvSpPr/>
          <p:nvPr/>
        </p:nvSpPr>
        <p:spPr>
          <a:xfrm>
            <a:off x="777240" y="3776472"/>
            <a:ext cx="2743200" cy="320040"/>
          </a:xfrm>
          <a:prstGeom prst="rect">
            <a:avLst/>
          </a:prstGeom>
          <a:noFill/>
          <a:ln/>
        </p:spPr>
        <p:txBody>
          <a:bodyPr wrap="square" lIns="0" tIns="0" rIns="0" bIns="0" rtlCol="0" anchor="ctr"/>
          <a:lstStyle/>
          <a:p>
            <a:pPr indent="0" marL="0">
              <a:buNone/>
            </a:pPr>
            <a:r>
              <a:rPr lang="en-US" sz="1200" b="1" spc="100" kern="0" dirty="0">
                <a:solidFill>
                  <a:srgbClr val="3F6B4A"/>
                </a:solidFill>
                <a:latin typeface="Calibri" pitchFamily="34" charset="0"/>
                <a:ea typeface="Calibri" pitchFamily="34" charset="-122"/>
                <a:cs typeface="Calibri" pitchFamily="34" charset="-120"/>
              </a:rPr>
              <a:t>RECOMMENDATION</a:t>
            </a:r>
            <a:endParaRPr lang="en-US" sz="1200" dirty="0"/>
          </a:p>
        </p:txBody>
      </p:sp>
      <p:sp>
        <p:nvSpPr>
          <p:cNvPr id="13" name="Text 10"/>
          <p:cNvSpPr/>
          <p:nvPr/>
        </p:nvSpPr>
        <p:spPr>
          <a:xfrm>
            <a:off x="777240" y="4087368"/>
            <a:ext cx="9966960" cy="685800"/>
          </a:xfrm>
          <a:prstGeom prst="rect">
            <a:avLst/>
          </a:prstGeom>
          <a:noFill/>
          <a:ln/>
        </p:spPr>
        <p:txBody>
          <a:bodyPr wrap="square" lIns="0" tIns="0" rIns="0" bIns="0" rtlCol="0" anchor="ctr"/>
          <a:lstStyle/>
          <a:p>
            <a:pPr indent="0" marL="0">
              <a:lnSpc>
                <a:spcPct val="118000"/>
              </a:lnSpc>
              <a:buNone/>
            </a:pPr>
            <a:r>
              <a:rPr lang="en-US" sz="1250" dirty="0">
                <a:solidFill>
                  <a:srgbClr val="2B2118"/>
                </a:solidFill>
                <a:latin typeface="Calibri" pitchFamily="34" charset="0"/>
                <a:ea typeface="Calibri" pitchFamily="34" charset="-122"/>
                <a:cs typeface="Calibri" pitchFamily="34" charset="-120"/>
              </a:rPr>
              <a:t>Reframe the finishing and design advantages as named, sellable features; move to tiered, benchmark-anchored pricing; and prioritize the export-packaging segment, where finish and durability carry the most weight.</a:t>
            </a:r>
            <a:endParaRPr lang="en-US" sz="1250" dirty="0"/>
          </a:p>
        </p:txBody>
      </p:sp>
      <p:sp>
        <p:nvSpPr>
          <p:cNvPr id="14" name="Shape 11"/>
          <p:cNvSpPr/>
          <p:nvPr/>
        </p:nvSpPr>
        <p:spPr>
          <a:xfrm>
            <a:off x="548640" y="5074920"/>
            <a:ext cx="10881360" cy="1143000"/>
          </a:xfrm>
          <a:prstGeom prst="rect">
            <a:avLst/>
          </a:prstGeom>
          <a:solidFill>
            <a:srgbClr val="4A2E1E"/>
          </a:solidFill>
          <a:ln/>
        </p:spPr>
      </p:sp>
      <p:sp>
        <p:nvSpPr>
          <p:cNvPr id="15" name="Text 12"/>
          <p:cNvSpPr/>
          <p:nvPr/>
        </p:nvSpPr>
        <p:spPr>
          <a:xfrm>
            <a:off x="822960" y="5138928"/>
            <a:ext cx="1554480" cy="1005840"/>
          </a:xfrm>
          <a:prstGeom prst="rect">
            <a:avLst/>
          </a:prstGeom>
          <a:noFill/>
          <a:ln/>
        </p:spPr>
        <p:txBody>
          <a:bodyPr wrap="square" lIns="0" tIns="0" rIns="0" bIns="0" rtlCol="0" anchor="ctr"/>
          <a:lstStyle/>
          <a:p>
            <a:pPr algn="ctr" indent="0" marL="0">
              <a:buNone/>
            </a:pPr>
            <a:r>
              <a:rPr lang="en-US" sz="4600" b="1" dirty="0">
                <a:solidFill>
                  <a:srgbClr val="C1440E"/>
                </a:solidFill>
                <a:latin typeface="Cambria" pitchFamily="34" charset="0"/>
                <a:ea typeface="Cambria" pitchFamily="34" charset="-122"/>
                <a:cs typeface="Cambria" pitchFamily="34" charset="-120"/>
              </a:rPr>
              <a:t>30</a:t>
            </a:r>
            <a:endParaRPr lang="en-US" sz="4600" dirty="0"/>
          </a:p>
        </p:txBody>
      </p:sp>
      <p:sp>
        <p:nvSpPr>
          <p:cNvPr id="16" name="Text 13"/>
          <p:cNvSpPr/>
          <p:nvPr/>
        </p:nvSpPr>
        <p:spPr>
          <a:xfrm>
            <a:off x="1965960" y="5193792"/>
            <a:ext cx="457200" cy="457200"/>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a:t>
            </a:r>
            <a:endParaRPr lang="en-US" sz="2400" dirty="0"/>
          </a:p>
        </p:txBody>
      </p:sp>
      <p:sp>
        <p:nvSpPr>
          <p:cNvPr id="17" name="Text 14"/>
          <p:cNvSpPr/>
          <p:nvPr/>
        </p:nvSpPr>
        <p:spPr>
          <a:xfrm>
            <a:off x="2514600" y="5138928"/>
            <a:ext cx="5120640" cy="1005840"/>
          </a:xfrm>
          <a:prstGeom prst="rect">
            <a:avLst/>
          </a:prstGeom>
          <a:noFill/>
          <a:ln/>
        </p:spPr>
        <p:txBody>
          <a:bodyPr wrap="square" lIns="0" tIns="0" rIns="0" bIns="0"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Profitability index improvement on repositioned product lines</a:t>
            </a:r>
            <a:endParaRPr lang="en-US" sz="1200" dirty="0"/>
          </a:p>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(Baseline = 100 at engagement start; see p.12 for detail)</a:t>
            </a:r>
            <a:endParaRPr lang="en-US" sz="1200" dirty="0"/>
          </a:p>
        </p:txBody>
      </p:sp>
      <p:sp>
        <p:nvSpPr>
          <p:cNvPr id="18" name="Text 15"/>
          <p:cNvSpPr/>
          <p:nvPr/>
        </p:nvSpPr>
        <p:spPr>
          <a:xfrm>
            <a:off x="7818120" y="5138928"/>
            <a:ext cx="1143000" cy="457200"/>
          </a:xfrm>
          <a:prstGeom prst="rect">
            <a:avLst/>
          </a:prstGeom>
          <a:noFill/>
          <a:ln/>
        </p:spPr>
        <p:txBody>
          <a:bodyPr wrap="square" lIns="0" tIns="0" rIns="0" bIns="0" rtlCol="0" anchor="ctr"/>
          <a:lstStyle/>
          <a:p>
            <a:pPr algn="ctr" indent="0" marL="0">
              <a:buNone/>
            </a:pPr>
            <a:r>
              <a:rPr lang="en-US" sz="1400" b="1" dirty="0">
                <a:solidFill>
                  <a:srgbClr val="E9DCC3"/>
                </a:solidFill>
                <a:latin typeface="Calibri" pitchFamily="34" charset="0"/>
                <a:ea typeface="Calibri" pitchFamily="34" charset="-122"/>
                <a:cs typeface="Calibri" pitchFamily="34" charset="-120"/>
              </a:rPr>
              <a:t>100 → 124</a:t>
            </a:r>
            <a:endParaRPr lang="en-US" sz="1400" dirty="0"/>
          </a:p>
        </p:txBody>
      </p:sp>
      <p:sp>
        <p:nvSpPr>
          <p:cNvPr id="19" name="Text 16"/>
          <p:cNvSpPr/>
          <p:nvPr/>
        </p:nvSpPr>
        <p:spPr>
          <a:xfrm>
            <a:off x="7726680" y="5577840"/>
            <a:ext cx="1325880" cy="548640"/>
          </a:xfrm>
          <a:prstGeom prst="rect">
            <a:avLst/>
          </a:prstGeom>
          <a:noFill/>
          <a:ln/>
        </p:spPr>
        <p:txBody>
          <a:bodyPr wrap="square" lIns="0" tIns="0" rIns="0" bIns="0" rtlCol="0" anchor="ctr"/>
          <a:lstStyle/>
          <a:p>
            <a:pPr algn="ctr" indent="0" marL="0">
              <a:lnSpc>
                <a:spcPct val="105000"/>
              </a:lnSpc>
              <a:buNone/>
            </a:pPr>
            <a:r>
              <a:rPr lang="en-US" sz="850" dirty="0">
                <a:solidFill>
                  <a:srgbClr val="D9B48F"/>
                </a:solidFill>
                <a:latin typeface="Calibri" pitchFamily="34" charset="0"/>
                <a:ea typeface="Calibri" pitchFamily="34" charset="-122"/>
                <a:cs typeface="Calibri" pitchFamily="34" charset="-120"/>
              </a:rPr>
              <a:t>RFQ win-rate index</a:t>
            </a:r>
            <a:endParaRPr lang="en-US" sz="850" dirty="0"/>
          </a:p>
        </p:txBody>
      </p:sp>
      <p:sp>
        <p:nvSpPr>
          <p:cNvPr id="20" name="Text 17"/>
          <p:cNvSpPr/>
          <p:nvPr/>
        </p:nvSpPr>
        <p:spPr>
          <a:xfrm>
            <a:off x="9052560" y="5138928"/>
            <a:ext cx="1143000" cy="457200"/>
          </a:xfrm>
          <a:prstGeom prst="rect">
            <a:avLst/>
          </a:prstGeom>
          <a:noFill/>
          <a:ln/>
        </p:spPr>
        <p:txBody>
          <a:bodyPr wrap="square" lIns="0" tIns="0" rIns="0" bIns="0" rtlCol="0" anchor="ctr"/>
          <a:lstStyle/>
          <a:p>
            <a:pPr algn="ctr" indent="0" marL="0">
              <a:buNone/>
            </a:pPr>
            <a:r>
              <a:rPr lang="en-US" sz="1400" b="1" dirty="0">
                <a:solidFill>
                  <a:srgbClr val="E9DCC3"/>
                </a:solidFill>
                <a:latin typeface="Calibri" pitchFamily="34" charset="0"/>
                <a:ea typeface="Calibri" pitchFamily="34" charset="-122"/>
                <a:cs typeface="Calibri" pitchFamily="34" charset="-120"/>
              </a:rPr>
              <a:t>15% → 24%</a:t>
            </a:r>
            <a:endParaRPr lang="en-US" sz="1400" dirty="0"/>
          </a:p>
        </p:txBody>
      </p:sp>
      <p:sp>
        <p:nvSpPr>
          <p:cNvPr id="21" name="Text 18"/>
          <p:cNvSpPr/>
          <p:nvPr/>
        </p:nvSpPr>
        <p:spPr>
          <a:xfrm>
            <a:off x="8961120" y="5577840"/>
            <a:ext cx="1325880" cy="548640"/>
          </a:xfrm>
          <a:prstGeom prst="rect">
            <a:avLst/>
          </a:prstGeom>
          <a:noFill/>
          <a:ln/>
        </p:spPr>
        <p:txBody>
          <a:bodyPr wrap="square" lIns="0" tIns="0" rIns="0" bIns="0" rtlCol="0" anchor="ctr"/>
          <a:lstStyle/>
          <a:p>
            <a:pPr algn="ctr" indent="0" marL="0">
              <a:lnSpc>
                <a:spcPct val="105000"/>
              </a:lnSpc>
              <a:buNone/>
            </a:pPr>
            <a:r>
              <a:rPr lang="en-US" sz="850" dirty="0">
                <a:solidFill>
                  <a:srgbClr val="D9B48F"/>
                </a:solidFill>
                <a:latin typeface="Calibri" pitchFamily="34" charset="0"/>
                <a:ea typeface="Calibri" pitchFamily="34" charset="-122"/>
                <a:cs typeface="Calibri" pitchFamily="34" charset="-120"/>
              </a:rPr>
              <a:t>Export-segment revenue share</a:t>
            </a:r>
            <a:endParaRPr lang="en-US" sz="850" dirty="0"/>
          </a:p>
        </p:txBody>
      </p:sp>
      <p:sp>
        <p:nvSpPr>
          <p:cNvPr id="22" name="Text 19"/>
          <p:cNvSpPr/>
          <p:nvPr/>
        </p:nvSpPr>
        <p:spPr>
          <a:xfrm>
            <a:off x="10287000" y="5138928"/>
            <a:ext cx="1143000" cy="457200"/>
          </a:xfrm>
          <a:prstGeom prst="rect">
            <a:avLst/>
          </a:prstGeom>
          <a:noFill/>
          <a:ln/>
        </p:spPr>
        <p:txBody>
          <a:bodyPr wrap="square" lIns="0" tIns="0" rIns="0" bIns="0" rtlCol="0" anchor="ctr"/>
          <a:lstStyle/>
          <a:p>
            <a:pPr algn="ctr" indent="0" marL="0">
              <a:buNone/>
            </a:pPr>
            <a:r>
              <a:rPr lang="en-US" sz="1400" b="1" dirty="0">
                <a:solidFill>
                  <a:srgbClr val="E9DCC3"/>
                </a:solidFill>
                <a:latin typeface="Calibri" pitchFamily="34" charset="0"/>
                <a:ea typeface="Calibri" pitchFamily="34" charset="-122"/>
                <a:cs typeface="Calibri" pitchFamily="34" charset="-120"/>
              </a:rPr>
              <a:t>100 → 112</a:t>
            </a:r>
            <a:endParaRPr lang="en-US" sz="1400" dirty="0"/>
          </a:p>
        </p:txBody>
      </p:sp>
      <p:sp>
        <p:nvSpPr>
          <p:cNvPr id="23" name="Text 20"/>
          <p:cNvSpPr/>
          <p:nvPr/>
        </p:nvSpPr>
        <p:spPr>
          <a:xfrm>
            <a:off x="10195560" y="5577840"/>
            <a:ext cx="1325880" cy="548640"/>
          </a:xfrm>
          <a:prstGeom prst="rect">
            <a:avLst/>
          </a:prstGeom>
          <a:noFill/>
          <a:ln/>
        </p:spPr>
        <p:txBody>
          <a:bodyPr wrap="square" lIns="0" tIns="0" rIns="0" bIns="0" rtlCol="0" anchor="ctr"/>
          <a:lstStyle/>
          <a:p>
            <a:pPr algn="ctr" indent="0" marL="0">
              <a:lnSpc>
                <a:spcPct val="105000"/>
              </a:lnSpc>
              <a:buNone/>
            </a:pPr>
            <a:r>
              <a:rPr lang="en-US" sz="850" dirty="0">
                <a:solidFill>
                  <a:srgbClr val="D9B48F"/>
                </a:solidFill>
                <a:latin typeface="Calibri" pitchFamily="34" charset="0"/>
                <a:ea typeface="Calibri" pitchFamily="34" charset="-122"/>
                <a:cs typeface="Calibri" pitchFamily="34" charset="-120"/>
              </a:rPr>
              <a:t>Avg. realized price index</a:t>
            </a:r>
            <a:endParaRPr lang="en-US" sz="850" dirty="0"/>
          </a:p>
        </p:txBody>
      </p:sp>
      <p:sp>
        <p:nvSpPr>
          <p:cNvPr id="24" name="Text 21"/>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25" name="Text 2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CLIENT CONTEXT</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Good plant, but export is only 15% of revenue</a:t>
            </a:r>
            <a:endParaRPr lang="en-US" sz="2400" dirty="0"/>
          </a:p>
        </p:txBody>
      </p:sp>
      <p:sp>
        <p:nvSpPr>
          <p:cNvPr id="5" name="Text 2"/>
          <p:cNvSpPr/>
          <p:nvPr/>
        </p:nvSpPr>
        <p:spPr>
          <a:xfrm>
            <a:off x="548640" y="1417320"/>
            <a:ext cx="5120640" cy="320040"/>
          </a:xfrm>
          <a:prstGeom prst="rect">
            <a:avLst/>
          </a:prstGeom>
          <a:noFill/>
          <a:ln/>
        </p:spPr>
        <p:txBody>
          <a:bodyPr wrap="square" lIns="0" tIns="0" rIns="0" bIns="0" rtlCol="0" anchor="ctr"/>
          <a:lstStyle/>
          <a:p>
            <a:pPr indent="0" marL="0">
              <a:buNone/>
            </a:pPr>
            <a:r>
              <a:rPr lang="en-US" sz="1200" b="1" spc="100" kern="0" dirty="0">
                <a:solidFill>
                  <a:srgbClr val="8C5A34"/>
                </a:solidFill>
                <a:latin typeface="Calibri" pitchFamily="34" charset="0"/>
                <a:ea typeface="Calibri" pitchFamily="34" charset="-122"/>
                <a:cs typeface="Calibri" pitchFamily="34" charset="-120"/>
              </a:rPr>
              <a:t>CLIENT PROFILE</a:t>
            </a:r>
            <a:endParaRPr lang="en-US" sz="1200" dirty="0"/>
          </a:p>
        </p:txBody>
      </p:sp>
      <p:sp>
        <p:nvSpPr>
          <p:cNvPr id="6" name="Text 3"/>
          <p:cNvSpPr/>
          <p:nvPr/>
        </p:nvSpPr>
        <p:spPr>
          <a:xfrm>
            <a:off x="548640" y="1783080"/>
            <a:ext cx="5486400" cy="3017520"/>
          </a:xfrm>
          <a:prstGeom prst="rect">
            <a:avLst/>
          </a:prstGeom>
          <a:noFill/>
          <a:ln/>
        </p:spPr>
        <p:txBody>
          <a:bodyPr wrap="square" lIns="0" tIns="0" rIns="0" bIns="0" rtlCol="0" anchor="t"/>
          <a:lstStyle/>
          <a:p>
            <a:pPr marL="152400" indent="-152400">
              <a:lnSpc>
                <a:spcPct val="115000"/>
              </a:lnSpc>
              <a:spcAft>
                <a:spcPts val="800"/>
              </a:spcAft>
              <a:buSzPct val="100000"/>
              <a:buChar char="•"/>
            </a:pPr>
            <a:r>
              <a:rPr lang="en-US" sz="1200" dirty="0">
                <a:solidFill>
                  <a:srgbClr val="2B2118"/>
                </a:solidFill>
                <a:latin typeface="Calibri" pitchFamily="34" charset="0"/>
                <a:ea typeface="Calibri" pitchFamily="34" charset="-122"/>
                <a:cs typeface="Calibri" pitchFamily="34" charset="-120"/>
              </a:rPr>
              <a:t>Manufactures craft paper (fibre) drums: 8–20" diameter, 6–48" height, 7–225 L capacity</a:t>
            </a:r>
            <a:endParaRPr lang="en-US" sz="1200" dirty="0"/>
          </a:p>
          <a:p>
            <a:pPr marL="152400" indent="-152400">
              <a:lnSpc>
                <a:spcPct val="115000"/>
              </a:lnSpc>
              <a:spcAft>
                <a:spcPts val="800"/>
              </a:spcAft>
              <a:buSzPct val="100000"/>
              <a:buChar char="•"/>
            </a:pPr>
            <a:r>
              <a:rPr lang="en-US" sz="1200" dirty="0">
                <a:solidFill>
                  <a:srgbClr val="2B2118"/>
                </a:solidFill>
                <a:latin typeface="Calibri" pitchFamily="34" charset="0"/>
                <a:ea typeface="Calibri" pitchFamily="34" charset="-122"/>
                <a:cs typeface="Calibri" pitchFamily="34" charset="-120"/>
              </a:rPr>
              <a:t>Finishing options include varnish and wax coating; surface suitable for printing/stencilling</a:t>
            </a:r>
            <a:endParaRPr lang="en-US" sz="1200" dirty="0"/>
          </a:p>
          <a:p>
            <a:pPr marL="152400" indent="-152400">
              <a:lnSpc>
                <a:spcPct val="115000"/>
              </a:lnSpc>
              <a:spcAft>
                <a:spcPts val="800"/>
              </a:spcAft>
              <a:buSzPct val="100000"/>
              <a:buChar char="•"/>
            </a:pPr>
            <a:r>
              <a:rPr lang="en-US" sz="1200" dirty="0">
                <a:solidFill>
                  <a:srgbClr val="2B2118"/>
                </a:solidFill>
                <a:latin typeface="Calibri" pitchFamily="34" charset="0"/>
                <a:ea typeface="Calibri" pitchFamily="34" charset="-122"/>
                <a:cs typeface="Calibri" pitchFamily="34" charset="-120"/>
              </a:rPr>
              <a:t>Full-open lid design for easy filling and emptying, valued by industrial and food customers</a:t>
            </a:r>
            <a:endParaRPr lang="en-US" sz="1200" dirty="0"/>
          </a:p>
          <a:p>
            <a:pPr marL="152400" indent="-152400">
              <a:lnSpc>
                <a:spcPct val="115000"/>
              </a:lnSpc>
              <a:spcAft>
                <a:spcPts val="800"/>
              </a:spcAft>
              <a:buSzPct val="100000"/>
              <a:buChar char="•"/>
            </a:pPr>
            <a:r>
              <a:rPr lang="en-US" sz="1200" dirty="0">
                <a:solidFill>
                  <a:srgbClr val="2B2118"/>
                </a:solidFill>
                <a:latin typeface="Calibri" pitchFamily="34" charset="0"/>
                <a:ea typeface="Calibri" pitchFamily="34" charset="-122"/>
                <a:cs typeface="Calibri" pitchFamily="34" charset="-120"/>
              </a:rPr>
              <a:t>Serves basic drugs, chemicals &amp; allied products, engineering goods &amp; foundry flux, plasticizers &amp; resins, metal powder, and food products</a:t>
            </a:r>
            <a:endParaRPr lang="en-US" sz="1200" dirty="0"/>
          </a:p>
          <a:p>
            <a:pPr marL="152400" indent="-152400">
              <a:lnSpc>
                <a:spcPct val="115000"/>
              </a:lnSpc>
              <a:spcAft>
                <a:spcPts val="800"/>
              </a:spcAft>
              <a:buSzPct val="100000"/>
              <a:buChar char="•"/>
            </a:pPr>
            <a:r>
              <a:rPr lang="en-US" sz="1200" dirty="0">
                <a:solidFill>
                  <a:srgbClr val="2B2118"/>
                </a:solidFill>
                <a:latin typeface="Calibri" pitchFamily="34" charset="0"/>
                <a:ea typeface="Calibri" pitchFamily="34" charset="-122"/>
                <a:cs typeface="Calibri" pitchFamily="34" charset="-120"/>
              </a:rPr>
              <a:t>Positioned for export packaging, where lightweight, recyclable drums are increasingly preferred</a:t>
            </a:r>
            <a:endParaRPr lang="en-US" sz="1200" dirty="0"/>
          </a:p>
        </p:txBody>
      </p:sp>
      <p:sp>
        <p:nvSpPr>
          <p:cNvPr id="7" name="Text 4"/>
          <p:cNvSpPr/>
          <p:nvPr/>
        </p:nvSpPr>
        <p:spPr>
          <a:xfrm>
            <a:off x="548640" y="4846320"/>
            <a:ext cx="5120640" cy="320040"/>
          </a:xfrm>
          <a:prstGeom prst="rect">
            <a:avLst/>
          </a:prstGeom>
          <a:noFill/>
          <a:ln/>
        </p:spPr>
        <p:txBody>
          <a:bodyPr wrap="square" lIns="0" tIns="0" rIns="0" bIns="0" rtlCol="0" anchor="ctr"/>
          <a:lstStyle/>
          <a:p>
            <a:pPr indent="0" marL="0">
              <a:buNone/>
            </a:pPr>
            <a:r>
              <a:rPr lang="en-US" sz="1200" b="1" spc="100" kern="0" dirty="0">
                <a:solidFill>
                  <a:srgbClr val="8C5A34"/>
                </a:solidFill>
                <a:latin typeface="Calibri" pitchFamily="34" charset="0"/>
                <a:ea typeface="Calibri" pitchFamily="34" charset="-122"/>
                <a:cs typeface="Calibri" pitchFamily="34" charset="-120"/>
              </a:rPr>
              <a:t>MARKET CONTEXT</a:t>
            </a:r>
            <a:endParaRPr lang="en-US" sz="1200" dirty="0"/>
          </a:p>
        </p:txBody>
      </p:sp>
      <p:sp>
        <p:nvSpPr>
          <p:cNvPr id="8" name="Text 5"/>
          <p:cNvSpPr/>
          <p:nvPr/>
        </p:nvSpPr>
        <p:spPr>
          <a:xfrm>
            <a:off x="548640" y="5193792"/>
            <a:ext cx="5486400" cy="1188720"/>
          </a:xfrm>
          <a:prstGeom prst="rect">
            <a:avLst/>
          </a:prstGeom>
          <a:noFill/>
          <a:ln/>
        </p:spPr>
        <p:txBody>
          <a:bodyPr wrap="square" lIns="0" tIns="0" rIns="0" bIns="0" rtlCol="0" anchor="ctr"/>
          <a:lstStyle/>
          <a:p>
            <a:pPr indent="0" marL="0">
              <a:lnSpc>
                <a:spcPct val="118000"/>
              </a:lnSpc>
              <a:buNone/>
            </a:pPr>
            <a:r>
              <a:rPr lang="en-US" sz="1150" dirty="0">
                <a:solidFill>
                  <a:srgbClr val="2B2118"/>
                </a:solidFill>
                <a:latin typeface="Calibri" pitchFamily="34" charset="0"/>
                <a:ea typeface="Calibri" pitchFamily="34" charset="-122"/>
                <a:cs typeface="Calibri" pitchFamily="34" charset="-120"/>
              </a:rPr>
              <a:t>Demand for fibre drums is steady-to-rising, driven by export-oriented chemical and pharma packaging, and by a broader shift toward recyclable, lighter-weight packaging over steel and plastic. Buyers are increasingly specifying finish quality and print-readiness alongside price.</a:t>
            </a:r>
            <a:endParaRPr lang="en-US" sz="1150" dirty="0"/>
          </a:p>
        </p:txBody>
      </p:sp>
      <p:sp>
        <p:nvSpPr>
          <p:cNvPr id="9" name="Text 6"/>
          <p:cNvSpPr/>
          <p:nvPr/>
        </p:nvSpPr>
        <p:spPr>
          <a:xfrm>
            <a:off x="6492240" y="1417320"/>
            <a:ext cx="5120640" cy="320040"/>
          </a:xfrm>
          <a:prstGeom prst="rect">
            <a:avLst/>
          </a:prstGeom>
          <a:noFill/>
          <a:ln/>
        </p:spPr>
        <p:txBody>
          <a:bodyPr wrap="square" lIns="0" tIns="0" rIns="0" bIns="0" rtlCol="0" anchor="ctr"/>
          <a:lstStyle/>
          <a:p>
            <a:pPr indent="0" marL="0">
              <a:buNone/>
            </a:pPr>
            <a:r>
              <a:rPr lang="en-US" sz="1200" b="1" dirty="0">
                <a:solidFill>
                  <a:srgbClr val="8C5A34"/>
                </a:solidFill>
                <a:latin typeface="Calibri" pitchFamily="34" charset="0"/>
                <a:ea typeface="Calibri" pitchFamily="34" charset="-122"/>
                <a:cs typeface="Calibri" pitchFamily="34" charset="-120"/>
              </a:rPr>
              <a:t>Current Revenue Mix by End-Use Segment</a:t>
            </a:r>
            <a:endParaRPr lang="en-US" sz="1200" dirty="0"/>
          </a:p>
        </p:txBody>
      </p:sp>
      <p:graphicFrame>
        <p:nvGraphicFramePr>
          <p:cNvPr id="10" name="Chart 0" descr=""/>
          <p:cNvGraphicFramePr/>
          <p:nvPr/>
        </p:nvGraphicFramePr>
        <p:xfrm>
          <a:off x="6400800" y="178308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6492240" y="5166360"/>
            <a:ext cx="64008" cy="914400"/>
          </a:xfrm>
          <a:prstGeom prst="rect">
            <a:avLst/>
          </a:prstGeom>
          <a:solidFill>
            <a:srgbClr val="C1440E"/>
          </a:solidFill>
          <a:ln/>
        </p:spPr>
      </p:sp>
      <p:sp>
        <p:nvSpPr>
          <p:cNvPr id="12" name="Text 8"/>
          <p:cNvSpPr/>
          <p:nvPr/>
        </p:nvSpPr>
        <p:spPr>
          <a:xfrm>
            <a:off x="6693408" y="5166360"/>
            <a:ext cx="4846320" cy="237744"/>
          </a:xfrm>
          <a:prstGeom prst="rect">
            <a:avLst/>
          </a:prstGeom>
          <a:noFill/>
          <a:ln/>
        </p:spPr>
        <p:txBody>
          <a:bodyPr wrap="square" lIns="0" tIns="0" rIns="0" bIns="0" rtlCol="0" anchor="ctr"/>
          <a:lstStyle/>
          <a:p>
            <a:pPr indent="0" marL="0">
              <a:buNone/>
            </a:pPr>
            <a:r>
              <a:rPr lang="en-US" sz="950" b="1" spc="150" kern="0" dirty="0">
                <a:solidFill>
                  <a:srgbClr val="C1440E"/>
                </a:solidFill>
                <a:latin typeface="Calibri" pitchFamily="34" charset="0"/>
                <a:ea typeface="Calibri" pitchFamily="34" charset="-122"/>
                <a:cs typeface="Calibri" pitchFamily="34" charset="-120"/>
              </a:rPr>
              <a:t>SO WHAT</a:t>
            </a:r>
            <a:endParaRPr lang="en-US" sz="950" dirty="0"/>
          </a:p>
        </p:txBody>
      </p:sp>
      <p:sp>
        <p:nvSpPr>
          <p:cNvPr id="13" name="Text 9"/>
          <p:cNvSpPr/>
          <p:nvPr/>
        </p:nvSpPr>
        <p:spPr>
          <a:xfrm>
            <a:off x="6693408" y="5413248"/>
            <a:ext cx="4846320" cy="667512"/>
          </a:xfrm>
          <a:prstGeom prst="rect">
            <a:avLst/>
          </a:prstGeom>
          <a:noFill/>
          <a:ln/>
        </p:spPr>
        <p:txBody>
          <a:bodyPr wrap="square" lIns="0" tIns="0" rIns="0" bIns="0" rtlCol="0" anchor="t"/>
          <a:lstStyle/>
          <a:p>
            <a:pPr indent="0" marL="0">
              <a:lnSpc>
                <a:spcPct val="115000"/>
              </a:lnSpc>
              <a:buNone/>
            </a:pPr>
            <a:r>
              <a:rPr lang="en-US" sz="1100" dirty="0">
                <a:solidFill>
                  <a:srgbClr val="2B2118"/>
                </a:solidFill>
                <a:latin typeface="Calibri" pitchFamily="34" charset="0"/>
                <a:ea typeface="Calibri" pitchFamily="34" charset="-122"/>
                <a:cs typeface="Calibri" pitchFamily="34" charset="-120"/>
              </a:rPr>
              <a:t>Export is the segment where finish and durability earn the best price, yet it is the smallest slice of the mix.</a:t>
            </a:r>
            <a:endParaRPr lang="en-US" sz="1100" dirty="0"/>
          </a:p>
        </p:txBody>
      </p:sp>
      <p:sp>
        <p:nvSpPr>
          <p:cNvPr id="14" name="Text 10"/>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15" name="Text 11"/>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MARKET POTENTIAL</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The market is growing fast, and the client's segments sit at its core</a:t>
            </a:r>
            <a:endParaRPr lang="en-US" sz="2400" dirty="0"/>
          </a:p>
        </p:txBody>
      </p:sp>
      <p:sp>
        <p:nvSpPr>
          <p:cNvPr id="5" name="Shape 2"/>
          <p:cNvSpPr/>
          <p:nvPr/>
        </p:nvSpPr>
        <p:spPr>
          <a:xfrm>
            <a:off x="548640" y="1371600"/>
            <a:ext cx="3611880" cy="1783080"/>
          </a:xfrm>
          <a:prstGeom prst="rect">
            <a:avLst/>
          </a:prstGeom>
          <a:solidFill>
            <a:srgbClr val="E9DCC3"/>
          </a:solidFill>
          <a:ln/>
        </p:spPr>
      </p:sp>
      <p:sp>
        <p:nvSpPr>
          <p:cNvPr id="6" name="Shape 3"/>
          <p:cNvSpPr/>
          <p:nvPr/>
        </p:nvSpPr>
        <p:spPr>
          <a:xfrm>
            <a:off x="548640" y="1371600"/>
            <a:ext cx="3611880" cy="73152"/>
          </a:xfrm>
          <a:prstGeom prst="rect">
            <a:avLst/>
          </a:prstGeom>
          <a:solidFill>
            <a:srgbClr val="C1440E"/>
          </a:solidFill>
          <a:ln/>
        </p:spPr>
      </p:sp>
      <p:sp>
        <p:nvSpPr>
          <p:cNvPr id="7" name="Text 4"/>
          <p:cNvSpPr/>
          <p:nvPr/>
        </p:nvSpPr>
        <p:spPr>
          <a:xfrm>
            <a:off x="731520" y="1508760"/>
            <a:ext cx="3246120" cy="502920"/>
          </a:xfrm>
          <a:prstGeom prst="rect">
            <a:avLst/>
          </a:prstGeom>
          <a:noFill/>
          <a:ln/>
        </p:spPr>
        <p:txBody>
          <a:bodyPr wrap="square" lIns="0" tIns="0" rIns="0" bIns="0" rtlCol="0" anchor="ctr"/>
          <a:lstStyle/>
          <a:p>
            <a:pPr indent="0" marL="0">
              <a:buNone/>
            </a:pPr>
            <a:r>
              <a:rPr lang="en-US" sz="1700" b="1" dirty="0">
                <a:solidFill>
                  <a:srgbClr val="4A2E1E"/>
                </a:solidFill>
                <a:latin typeface="Calibri" pitchFamily="34" charset="0"/>
                <a:ea typeface="Calibri" pitchFamily="34" charset="-122"/>
                <a:cs typeface="Calibri" pitchFamily="34" charset="-120"/>
              </a:rPr>
              <a:t>US$19.1B → US$46.4B</a:t>
            </a:r>
            <a:endParaRPr lang="en-US" sz="1700" dirty="0"/>
          </a:p>
        </p:txBody>
      </p:sp>
      <p:sp>
        <p:nvSpPr>
          <p:cNvPr id="8" name="Text 5"/>
          <p:cNvSpPr/>
          <p:nvPr/>
        </p:nvSpPr>
        <p:spPr>
          <a:xfrm>
            <a:off x="731520" y="2029968"/>
            <a:ext cx="3246120" cy="502920"/>
          </a:xfrm>
          <a:prstGeom prst="rect">
            <a:avLst/>
          </a:prstGeom>
          <a:noFill/>
          <a:ln/>
        </p:spPr>
        <p:txBody>
          <a:bodyPr wrap="square" lIns="0" tIns="0" rIns="0" bIns="0" rtlCol="0" anchor="ctr"/>
          <a:lstStyle/>
          <a:p>
            <a:pPr indent="0" marL="0">
              <a:lnSpc>
                <a:spcPct val="110000"/>
              </a:lnSpc>
              <a:buNone/>
            </a:pPr>
            <a:r>
              <a:rPr lang="en-US" sz="1050" dirty="0">
                <a:solidFill>
                  <a:srgbClr val="2B2118"/>
                </a:solidFill>
                <a:latin typeface="Calibri" pitchFamily="34" charset="0"/>
                <a:ea typeface="Calibri" pitchFamily="34" charset="-122"/>
                <a:cs typeface="Calibri" pitchFamily="34" charset="-120"/>
              </a:rPr>
              <a:t>India Paper Packaging Market, 2025 → 2030</a:t>
            </a:r>
            <a:endParaRPr lang="en-US" sz="1050" dirty="0"/>
          </a:p>
        </p:txBody>
      </p:sp>
      <p:sp>
        <p:nvSpPr>
          <p:cNvPr id="9" name="Text 6"/>
          <p:cNvSpPr/>
          <p:nvPr/>
        </p:nvSpPr>
        <p:spPr>
          <a:xfrm>
            <a:off x="731520" y="2560320"/>
            <a:ext cx="3246120" cy="274320"/>
          </a:xfrm>
          <a:prstGeom prst="rect">
            <a:avLst/>
          </a:prstGeom>
          <a:noFill/>
          <a:ln/>
        </p:spPr>
        <p:txBody>
          <a:bodyPr wrap="square" lIns="0" tIns="0" rIns="0" bIns="0" rtlCol="0" anchor="ctr"/>
          <a:lstStyle/>
          <a:p>
            <a:pPr indent="0" marL="0">
              <a:buNone/>
            </a:pPr>
            <a:r>
              <a:rPr lang="en-US" sz="1000" b="1" dirty="0">
                <a:solidFill>
                  <a:srgbClr val="C1440E"/>
                </a:solidFill>
                <a:latin typeface="Calibri" pitchFamily="34" charset="0"/>
                <a:ea typeface="Calibri" pitchFamily="34" charset="-122"/>
                <a:cs typeface="Calibri" pitchFamily="34" charset="-120"/>
              </a:rPr>
              <a:t>19.5% CAGR</a:t>
            </a:r>
            <a:endParaRPr lang="en-US" sz="1000" dirty="0"/>
          </a:p>
        </p:txBody>
      </p:sp>
      <p:sp>
        <p:nvSpPr>
          <p:cNvPr id="10" name="Text 7"/>
          <p:cNvSpPr/>
          <p:nvPr/>
        </p:nvSpPr>
        <p:spPr>
          <a:xfrm>
            <a:off x="731520" y="2862072"/>
            <a:ext cx="3246120" cy="256032"/>
          </a:xfrm>
          <a:prstGeom prst="rect">
            <a:avLst/>
          </a:prstGeom>
          <a:noFill/>
          <a:ln/>
        </p:spPr>
        <p:txBody>
          <a:bodyPr wrap="square" lIns="0" tIns="0" rIns="0" bIns="0" rtlCol="0" anchor="ctr"/>
          <a:lstStyle/>
          <a:p>
            <a:pPr indent="0" marL="0">
              <a:buNone/>
            </a:pPr>
            <a:r>
              <a:rPr lang="en-US" sz="850" i="1" dirty="0">
                <a:solidFill>
                  <a:srgbClr val="8C5A34"/>
                </a:solidFill>
                <a:latin typeface="Calibri" pitchFamily="34" charset="0"/>
                <a:ea typeface="Calibri" pitchFamily="34" charset="-122"/>
                <a:cs typeface="Calibri" pitchFamily="34" charset="-120"/>
              </a:rPr>
              <a:t>IBEF, Govt. of India</a:t>
            </a:r>
            <a:endParaRPr lang="en-US" sz="850" dirty="0"/>
          </a:p>
        </p:txBody>
      </p:sp>
      <p:sp>
        <p:nvSpPr>
          <p:cNvPr id="11" name="Shape 8"/>
          <p:cNvSpPr/>
          <p:nvPr/>
        </p:nvSpPr>
        <p:spPr>
          <a:xfrm>
            <a:off x="4270248" y="1371600"/>
            <a:ext cx="3611880" cy="1783080"/>
          </a:xfrm>
          <a:prstGeom prst="rect">
            <a:avLst/>
          </a:prstGeom>
          <a:solidFill>
            <a:srgbClr val="E9DCC3"/>
          </a:solidFill>
          <a:ln/>
        </p:spPr>
      </p:sp>
      <p:sp>
        <p:nvSpPr>
          <p:cNvPr id="12" name="Shape 9"/>
          <p:cNvSpPr/>
          <p:nvPr/>
        </p:nvSpPr>
        <p:spPr>
          <a:xfrm>
            <a:off x="4270248" y="1371600"/>
            <a:ext cx="3611880" cy="73152"/>
          </a:xfrm>
          <a:prstGeom prst="rect">
            <a:avLst/>
          </a:prstGeom>
          <a:solidFill>
            <a:srgbClr val="C1440E"/>
          </a:solidFill>
          <a:ln/>
        </p:spPr>
      </p:sp>
      <p:sp>
        <p:nvSpPr>
          <p:cNvPr id="13" name="Text 10"/>
          <p:cNvSpPr/>
          <p:nvPr/>
        </p:nvSpPr>
        <p:spPr>
          <a:xfrm>
            <a:off x="4453128" y="1508760"/>
            <a:ext cx="3246120" cy="502920"/>
          </a:xfrm>
          <a:prstGeom prst="rect">
            <a:avLst/>
          </a:prstGeom>
          <a:noFill/>
          <a:ln/>
        </p:spPr>
        <p:txBody>
          <a:bodyPr wrap="square" lIns="0" tIns="0" rIns="0" bIns="0" rtlCol="0" anchor="ctr"/>
          <a:lstStyle/>
          <a:p>
            <a:pPr indent="0" marL="0">
              <a:buNone/>
            </a:pPr>
            <a:r>
              <a:rPr lang="en-US" sz="1700" b="1" dirty="0">
                <a:solidFill>
                  <a:srgbClr val="4A2E1E"/>
                </a:solidFill>
                <a:latin typeface="Calibri" pitchFamily="34" charset="0"/>
                <a:ea typeface="Calibri" pitchFamily="34" charset="-122"/>
                <a:cs typeface="Calibri" pitchFamily="34" charset="-120"/>
              </a:rPr>
              <a:t>US$84B</a:t>
            </a:r>
            <a:endParaRPr lang="en-US" sz="1700" dirty="0"/>
          </a:p>
        </p:txBody>
      </p:sp>
      <p:sp>
        <p:nvSpPr>
          <p:cNvPr id="14" name="Text 11"/>
          <p:cNvSpPr/>
          <p:nvPr/>
        </p:nvSpPr>
        <p:spPr>
          <a:xfrm>
            <a:off x="4453128" y="2029968"/>
            <a:ext cx="3246120" cy="502920"/>
          </a:xfrm>
          <a:prstGeom prst="rect">
            <a:avLst/>
          </a:prstGeom>
          <a:noFill/>
          <a:ln/>
        </p:spPr>
        <p:txBody>
          <a:bodyPr wrap="square" lIns="0" tIns="0" rIns="0" bIns="0" rtlCol="0" anchor="ctr"/>
          <a:lstStyle/>
          <a:p>
            <a:pPr indent="0" marL="0">
              <a:lnSpc>
                <a:spcPct val="110000"/>
              </a:lnSpc>
              <a:buNone/>
            </a:pPr>
            <a:r>
              <a:rPr lang="en-US" sz="1050" dirty="0">
                <a:solidFill>
                  <a:srgbClr val="2B2118"/>
                </a:solidFill>
                <a:latin typeface="Calibri" pitchFamily="34" charset="0"/>
                <a:ea typeface="Calibri" pitchFamily="34" charset="-122"/>
                <a:cs typeface="Calibri" pitchFamily="34" charset="-120"/>
              </a:rPr>
              <a:t>India Packaging Industry, overall (2024)</a:t>
            </a:r>
            <a:endParaRPr lang="en-US" sz="1050" dirty="0"/>
          </a:p>
        </p:txBody>
      </p:sp>
      <p:sp>
        <p:nvSpPr>
          <p:cNvPr id="15" name="Text 12"/>
          <p:cNvSpPr/>
          <p:nvPr/>
        </p:nvSpPr>
        <p:spPr>
          <a:xfrm>
            <a:off x="4453128" y="2560320"/>
            <a:ext cx="3246120" cy="274320"/>
          </a:xfrm>
          <a:prstGeom prst="rect">
            <a:avLst/>
          </a:prstGeom>
          <a:noFill/>
          <a:ln/>
        </p:spPr>
        <p:txBody>
          <a:bodyPr wrap="square" lIns="0" tIns="0" rIns="0" bIns="0" rtlCol="0" anchor="ctr"/>
          <a:lstStyle/>
          <a:p>
            <a:pPr indent="0" marL="0">
              <a:buNone/>
            </a:pPr>
            <a:r>
              <a:rPr lang="en-US" sz="1000" b="1" dirty="0">
                <a:solidFill>
                  <a:srgbClr val="C1440E"/>
                </a:solidFill>
                <a:latin typeface="Calibri" pitchFamily="34" charset="0"/>
                <a:ea typeface="Calibri" pitchFamily="34" charset="-122"/>
                <a:cs typeface="Calibri" pitchFamily="34" charset="-120"/>
              </a:rPr>
              <a:t>5th-largest sector of the Indian economy</a:t>
            </a:r>
            <a:endParaRPr lang="en-US" sz="1000" dirty="0"/>
          </a:p>
        </p:txBody>
      </p:sp>
      <p:sp>
        <p:nvSpPr>
          <p:cNvPr id="16" name="Text 13"/>
          <p:cNvSpPr/>
          <p:nvPr/>
        </p:nvSpPr>
        <p:spPr>
          <a:xfrm>
            <a:off x="4453128" y="2862072"/>
            <a:ext cx="3246120" cy="256032"/>
          </a:xfrm>
          <a:prstGeom prst="rect">
            <a:avLst/>
          </a:prstGeom>
          <a:noFill/>
          <a:ln/>
        </p:spPr>
        <p:txBody>
          <a:bodyPr wrap="square" lIns="0" tIns="0" rIns="0" bIns="0" rtlCol="0" anchor="ctr"/>
          <a:lstStyle/>
          <a:p>
            <a:pPr indent="0" marL="0">
              <a:buNone/>
            </a:pPr>
            <a:r>
              <a:rPr lang="en-US" sz="850" i="1" dirty="0">
                <a:solidFill>
                  <a:srgbClr val="8C5A34"/>
                </a:solidFill>
                <a:latin typeface="Calibri" pitchFamily="34" charset="0"/>
                <a:ea typeface="Calibri" pitchFamily="34" charset="-122"/>
                <a:cs typeface="Calibri" pitchFamily="34" charset="-120"/>
              </a:rPr>
              <a:t>IBEF, Govt. of India</a:t>
            </a:r>
            <a:endParaRPr lang="en-US" sz="850" dirty="0"/>
          </a:p>
        </p:txBody>
      </p:sp>
      <p:sp>
        <p:nvSpPr>
          <p:cNvPr id="17" name="Shape 14"/>
          <p:cNvSpPr/>
          <p:nvPr/>
        </p:nvSpPr>
        <p:spPr>
          <a:xfrm>
            <a:off x="7991856" y="1371600"/>
            <a:ext cx="3611880" cy="1783080"/>
          </a:xfrm>
          <a:prstGeom prst="rect">
            <a:avLst/>
          </a:prstGeom>
          <a:solidFill>
            <a:srgbClr val="E9DCC3"/>
          </a:solidFill>
          <a:ln/>
        </p:spPr>
      </p:sp>
      <p:sp>
        <p:nvSpPr>
          <p:cNvPr id="18" name="Shape 15"/>
          <p:cNvSpPr/>
          <p:nvPr/>
        </p:nvSpPr>
        <p:spPr>
          <a:xfrm>
            <a:off x="7991856" y="1371600"/>
            <a:ext cx="3611880" cy="73152"/>
          </a:xfrm>
          <a:prstGeom prst="rect">
            <a:avLst/>
          </a:prstGeom>
          <a:solidFill>
            <a:srgbClr val="C1440E"/>
          </a:solidFill>
          <a:ln/>
        </p:spPr>
      </p:sp>
      <p:sp>
        <p:nvSpPr>
          <p:cNvPr id="19" name="Text 16"/>
          <p:cNvSpPr/>
          <p:nvPr/>
        </p:nvSpPr>
        <p:spPr>
          <a:xfrm>
            <a:off x="8174736" y="1508760"/>
            <a:ext cx="3246120" cy="502920"/>
          </a:xfrm>
          <a:prstGeom prst="rect">
            <a:avLst/>
          </a:prstGeom>
          <a:noFill/>
          <a:ln/>
        </p:spPr>
        <p:txBody>
          <a:bodyPr wrap="square" lIns="0" tIns="0" rIns="0" bIns="0" rtlCol="0" anchor="ctr"/>
          <a:lstStyle/>
          <a:p>
            <a:pPr indent="0" marL="0">
              <a:buNone/>
            </a:pPr>
            <a:r>
              <a:rPr lang="en-US" sz="1700" b="1" dirty="0">
                <a:solidFill>
                  <a:srgbClr val="4A2E1E"/>
                </a:solidFill>
                <a:latin typeface="Calibri" pitchFamily="34" charset="0"/>
                <a:ea typeface="Calibri" pitchFamily="34" charset="-122"/>
                <a:cs typeface="Calibri" pitchFamily="34" charset="-120"/>
              </a:rPr>
              <a:t>US$1.1–1.5B → US$1.7–2.4B</a:t>
            </a:r>
            <a:endParaRPr lang="en-US" sz="1700" dirty="0"/>
          </a:p>
        </p:txBody>
      </p:sp>
      <p:sp>
        <p:nvSpPr>
          <p:cNvPr id="20" name="Text 17"/>
          <p:cNvSpPr/>
          <p:nvPr/>
        </p:nvSpPr>
        <p:spPr>
          <a:xfrm>
            <a:off x="8174736" y="2029968"/>
            <a:ext cx="3246120" cy="502920"/>
          </a:xfrm>
          <a:prstGeom prst="rect">
            <a:avLst/>
          </a:prstGeom>
          <a:noFill/>
          <a:ln/>
        </p:spPr>
        <p:txBody>
          <a:bodyPr wrap="square" lIns="0" tIns="0" rIns="0" bIns="0" rtlCol="0" anchor="ctr"/>
          <a:lstStyle/>
          <a:p>
            <a:pPr indent="0" marL="0">
              <a:lnSpc>
                <a:spcPct val="110000"/>
              </a:lnSpc>
              <a:buNone/>
            </a:pPr>
            <a:r>
              <a:rPr lang="en-US" sz="1050" dirty="0">
                <a:solidFill>
                  <a:srgbClr val="2B2118"/>
                </a:solidFill>
                <a:latin typeface="Calibri" pitchFamily="34" charset="0"/>
                <a:ea typeface="Calibri" pitchFamily="34" charset="-122"/>
                <a:cs typeface="Calibri" pitchFamily="34" charset="-120"/>
              </a:rPr>
              <a:t>Global Fiber Drum Market, 2025 → early 2030s</a:t>
            </a:r>
            <a:endParaRPr lang="en-US" sz="1050" dirty="0"/>
          </a:p>
        </p:txBody>
      </p:sp>
      <p:sp>
        <p:nvSpPr>
          <p:cNvPr id="21" name="Text 18"/>
          <p:cNvSpPr/>
          <p:nvPr/>
        </p:nvSpPr>
        <p:spPr>
          <a:xfrm>
            <a:off x="8174736" y="2560320"/>
            <a:ext cx="3246120" cy="274320"/>
          </a:xfrm>
          <a:prstGeom prst="rect">
            <a:avLst/>
          </a:prstGeom>
          <a:noFill/>
          <a:ln/>
        </p:spPr>
        <p:txBody>
          <a:bodyPr wrap="square" lIns="0" tIns="0" rIns="0" bIns="0" rtlCol="0" anchor="ctr"/>
          <a:lstStyle/>
          <a:p>
            <a:pPr indent="0" marL="0">
              <a:buNone/>
            </a:pPr>
            <a:r>
              <a:rPr lang="en-US" sz="1000" b="1" dirty="0">
                <a:solidFill>
                  <a:srgbClr val="C1440E"/>
                </a:solidFill>
                <a:latin typeface="Calibri" pitchFamily="34" charset="0"/>
                <a:ea typeface="Calibri" pitchFamily="34" charset="-122"/>
                <a:cs typeface="Calibri" pitchFamily="34" charset="-120"/>
              </a:rPr>
              <a:t>~5–7% CAGR</a:t>
            </a:r>
            <a:endParaRPr lang="en-US" sz="1000" dirty="0"/>
          </a:p>
        </p:txBody>
      </p:sp>
      <p:sp>
        <p:nvSpPr>
          <p:cNvPr id="22" name="Text 19"/>
          <p:cNvSpPr/>
          <p:nvPr/>
        </p:nvSpPr>
        <p:spPr>
          <a:xfrm>
            <a:off x="8174736" y="2862072"/>
            <a:ext cx="3246120" cy="256032"/>
          </a:xfrm>
          <a:prstGeom prst="rect">
            <a:avLst/>
          </a:prstGeom>
          <a:noFill/>
          <a:ln/>
        </p:spPr>
        <p:txBody>
          <a:bodyPr wrap="square" lIns="0" tIns="0" rIns="0" bIns="0" rtlCol="0" anchor="ctr"/>
          <a:lstStyle/>
          <a:p>
            <a:pPr indent="0" marL="0">
              <a:buNone/>
            </a:pPr>
            <a:r>
              <a:rPr lang="en-US" sz="850" i="1" dirty="0">
                <a:solidFill>
                  <a:srgbClr val="8C5A34"/>
                </a:solidFill>
                <a:latin typeface="Calibri" pitchFamily="34" charset="0"/>
                <a:ea typeface="Calibri" pitchFamily="34" charset="-122"/>
                <a:cs typeface="Calibri" pitchFamily="34" charset="-120"/>
              </a:rPr>
              <a:t>SkyQuest, FMI, Allied Mkt. Research</a:t>
            </a:r>
            <a:endParaRPr lang="en-US" sz="850" dirty="0"/>
          </a:p>
        </p:txBody>
      </p:sp>
      <p:sp>
        <p:nvSpPr>
          <p:cNvPr id="23" name="Text 20"/>
          <p:cNvSpPr/>
          <p:nvPr/>
        </p:nvSpPr>
        <p:spPr>
          <a:xfrm>
            <a:off x="548640" y="3429000"/>
            <a:ext cx="5120640" cy="292608"/>
          </a:xfrm>
          <a:prstGeom prst="rect">
            <a:avLst/>
          </a:prstGeom>
          <a:noFill/>
          <a:ln/>
        </p:spPr>
        <p:txBody>
          <a:bodyPr wrap="square" lIns="0" tIns="0" rIns="0" bIns="0" rtlCol="0" anchor="ctr"/>
          <a:lstStyle/>
          <a:p>
            <a:pPr indent="0" marL="0">
              <a:buNone/>
            </a:pPr>
            <a:r>
              <a:rPr lang="en-US" sz="1150" b="1" dirty="0">
                <a:solidFill>
                  <a:srgbClr val="4A2E1E"/>
                </a:solidFill>
                <a:latin typeface="Calibri" pitchFamily="34" charset="0"/>
                <a:ea typeface="Calibri" pitchFamily="34" charset="-122"/>
                <a:cs typeface="Calibri" pitchFamily="34" charset="-120"/>
              </a:rPr>
              <a:t>India Paper Packaging Market (US$ Billion)</a:t>
            </a:r>
            <a:endParaRPr lang="en-US" sz="1150" dirty="0"/>
          </a:p>
        </p:txBody>
      </p:sp>
      <p:graphicFrame>
        <p:nvGraphicFramePr>
          <p:cNvPr id="24" name="Chart 0" descr=""/>
          <p:cNvGraphicFramePr/>
          <p:nvPr/>
        </p:nvGraphicFramePr>
        <p:xfrm>
          <a:off x="548640" y="3749040"/>
          <a:ext cx="5120640" cy="2331720"/>
        </p:xfrm>
        <a:graphic xmlns:a="http://schemas.openxmlformats.org/drawingml/2006/main">
          <a:graphicData uri="http://schemas.openxmlformats.org/drawingml/2006/chart">
            <c:chart xmlns:c="http://schemas.openxmlformats.org/drawingml/2006/chart" r:id="rId1"/>
          </a:graphicData>
        </a:graphic>
      </p:graphicFrame>
      <p:sp>
        <p:nvSpPr>
          <p:cNvPr id="25" name="Text 21"/>
          <p:cNvSpPr/>
          <p:nvPr/>
        </p:nvSpPr>
        <p:spPr>
          <a:xfrm>
            <a:off x="548640" y="6144768"/>
            <a:ext cx="5120640" cy="274320"/>
          </a:xfrm>
          <a:prstGeom prst="rect">
            <a:avLst/>
          </a:prstGeom>
          <a:noFill/>
          <a:ln/>
        </p:spPr>
        <p:txBody>
          <a:bodyPr wrap="square" lIns="0" tIns="0" rIns="0" bIns="0" rtlCol="0" anchor="ctr"/>
          <a:lstStyle/>
          <a:p>
            <a:pPr indent="0" marL="0">
              <a:buNone/>
            </a:pPr>
            <a:r>
              <a:rPr lang="en-US" sz="850" i="1" dirty="0">
                <a:solidFill>
                  <a:srgbClr val="8C5A34"/>
                </a:solidFill>
                <a:latin typeface="Calibri" pitchFamily="34" charset="0"/>
                <a:ea typeface="Calibri" pitchFamily="34" charset="-122"/>
                <a:cs typeface="Calibri" pitchFamily="34" charset="-120"/>
              </a:rPr>
              <a:t>Source: India Brand Equity Foundation (IBEF), Ministry of Commerce &amp; Industry, Govt. of India, Aug 2025.</a:t>
            </a:r>
            <a:endParaRPr lang="en-US" sz="850" dirty="0"/>
          </a:p>
        </p:txBody>
      </p:sp>
      <p:sp>
        <p:nvSpPr>
          <p:cNvPr id="26" name="Shape 22"/>
          <p:cNvSpPr/>
          <p:nvPr/>
        </p:nvSpPr>
        <p:spPr>
          <a:xfrm>
            <a:off x="5943600" y="3429000"/>
            <a:ext cx="5715000" cy="3017520"/>
          </a:xfrm>
          <a:prstGeom prst="rect">
            <a:avLst/>
          </a:prstGeom>
          <a:solidFill>
            <a:srgbClr val="4A2E1E"/>
          </a:solidFill>
          <a:ln/>
        </p:spPr>
      </p:sp>
      <p:sp>
        <p:nvSpPr>
          <p:cNvPr id="27" name="Text 23"/>
          <p:cNvSpPr/>
          <p:nvPr/>
        </p:nvSpPr>
        <p:spPr>
          <a:xfrm>
            <a:off x="6172200" y="3593592"/>
            <a:ext cx="5257800" cy="292608"/>
          </a:xfrm>
          <a:prstGeom prst="rect">
            <a:avLst/>
          </a:prstGeom>
          <a:noFill/>
          <a:ln/>
        </p:spPr>
        <p:txBody>
          <a:bodyPr wrap="square" lIns="0" tIns="0" rIns="0" bIns="0" rtlCol="0" anchor="ctr"/>
          <a:lstStyle/>
          <a:p>
            <a:pPr indent="0" marL="0">
              <a:buNone/>
            </a:pPr>
            <a:r>
              <a:rPr lang="en-US" sz="1100" b="1" spc="100" kern="0" dirty="0">
                <a:solidFill>
                  <a:srgbClr val="C1440E"/>
                </a:solidFill>
                <a:latin typeface="Calibri" pitchFamily="34" charset="0"/>
                <a:ea typeface="Calibri" pitchFamily="34" charset="-122"/>
                <a:cs typeface="Calibri" pitchFamily="34" charset="-120"/>
              </a:rPr>
              <a:t>WHY THIS MATTERS FOR THE CLIENT</a:t>
            </a:r>
            <a:endParaRPr lang="en-US" sz="1100" dirty="0"/>
          </a:p>
        </p:txBody>
      </p:sp>
      <p:sp>
        <p:nvSpPr>
          <p:cNvPr id="28" name="Text 24"/>
          <p:cNvSpPr/>
          <p:nvPr/>
        </p:nvSpPr>
        <p:spPr>
          <a:xfrm>
            <a:off x="6172200" y="3977640"/>
            <a:ext cx="5257800" cy="2331720"/>
          </a:xfrm>
          <a:prstGeom prst="rect">
            <a:avLst/>
          </a:prstGeom>
          <a:noFill/>
          <a:ln/>
        </p:spPr>
        <p:txBody>
          <a:bodyPr wrap="square" lIns="0" tIns="0" rIns="0" bIns="0" rtlCol="0" anchor="t"/>
          <a:lstStyle/>
          <a:p>
            <a:pPr marL="152400" indent="-152400">
              <a:lnSpc>
                <a:spcPct val="115000"/>
              </a:lnSpc>
              <a:spcAft>
                <a:spcPts val="800"/>
              </a:spcAft>
              <a:buSzPct val="100000"/>
              <a:buChar char="•"/>
            </a:pPr>
            <a:r>
              <a:rPr lang="en-US" sz="1050" dirty="0">
                <a:solidFill>
                  <a:srgbClr val="EFE2D0"/>
                </a:solidFill>
                <a:latin typeface="Calibri" pitchFamily="34" charset="0"/>
                <a:ea typeface="Calibri" pitchFamily="34" charset="-122"/>
                <a:cs typeface="Calibri" pitchFamily="34" charset="-120"/>
              </a:rPr>
              <a:t>Chemicals is the largest global end-use segment for fiber drums, with pharma and food &amp; beverage the fastest-growing, directly aligned with the client's core customers</a:t>
            </a:r>
            <a:endParaRPr lang="en-US" sz="1050" dirty="0"/>
          </a:p>
          <a:p>
            <a:pPr marL="152400" indent="-152400">
              <a:lnSpc>
                <a:spcPct val="115000"/>
              </a:lnSpc>
              <a:spcAft>
                <a:spcPts val="800"/>
              </a:spcAft>
              <a:buSzPct val="100000"/>
              <a:buChar char="•"/>
            </a:pPr>
            <a:r>
              <a:rPr lang="en-US" sz="1050" dirty="0">
                <a:solidFill>
                  <a:srgbClr val="EFE2D0"/>
                </a:solidFill>
                <a:latin typeface="Calibri" pitchFamily="34" charset="0"/>
                <a:ea typeface="Calibri" pitchFamily="34" charset="-122"/>
                <a:cs typeface="Calibri" pitchFamily="34" charset="-120"/>
              </a:rPr>
              <a:t>India's fiber-drum demand is projected to grow as fast or faster than the global average, led by chemical and pharma export volumes</a:t>
            </a:r>
            <a:endParaRPr lang="en-US" sz="1050" dirty="0"/>
          </a:p>
          <a:p>
            <a:pPr marL="152400" indent="-152400">
              <a:lnSpc>
                <a:spcPct val="115000"/>
              </a:lnSpc>
              <a:spcAft>
                <a:spcPts val="800"/>
              </a:spcAft>
              <a:buSzPct val="100000"/>
              <a:buChar char="•"/>
            </a:pPr>
            <a:r>
              <a:rPr lang="en-US" sz="1050" dirty="0">
                <a:solidFill>
                  <a:srgbClr val="EFE2D0"/>
                </a:solidFill>
                <a:latin typeface="Calibri" pitchFamily="34" charset="0"/>
                <a:ea typeface="Calibri" pitchFamily="34" charset="-122"/>
                <a:cs typeface="Calibri" pitchFamily="34" charset="-120"/>
              </a:rPr>
              <a:t>~75% of India's paper production already uses recycled fibre, a structural tailwind for paper drums over plastic and steel as sustainability rules tighten</a:t>
            </a:r>
            <a:endParaRPr lang="en-US" sz="1050" dirty="0"/>
          </a:p>
          <a:p>
            <a:pPr marL="152400" indent="-152400">
              <a:lnSpc>
                <a:spcPct val="115000"/>
              </a:lnSpc>
              <a:spcAft>
                <a:spcPts val="800"/>
              </a:spcAft>
              <a:buSzPct val="100000"/>
              <a:buChar char="•"/>
            </a:pPr>
            <a:r>
              <a:rPr lang="en-US" sz="1050" dirty="0">
                <a:solidFill>
                  <a:srgbClr val="EFE2D0"/>
                </a:solidFill>
                <a:latin typeface="Calibri" pitchFamily="34" charset="0"/>
                <a:ea typeface="Calibri" pitchFamily="34" charset="-122"/>
                <a:cs typeface="Calibri" pitchFamily="34" charset="-120"/>
              </a:rPr>
              <a:t>100% FDI is permitted in paper &amp; packaging, and India's paper/paperboard exports have nearly tripled in a decade, reinforcing the export-segment push recommended on p.10</a:t>
            </a:r>
            <a:endParaRPr lang="en-US" sz="1050" dirty="0"/>
          </a:p>
          <a:p>
            <a:pPr marL="152400" indent="-152400">
              <a:lnSpc>
                <a:spcPct val="115000"/>
              </a:lnSpc>
              <a:spcAft>
                <a:spcPts val="800"/>
              </a:spcAft>
              <a:buSzPct val="100000"/>
              <a:buChar char="•"/>
            </a:pPr>
            <a:r>
              <a:rPr lang="en-US" sz="1050" dirty="0">
                <a:solidFill>
                  <a:srgbClr val="EFE2D0"/>
                </a:solidFill>
                <a:latin typeface="Calibri" pitchFamily="34" charset="0"/>
                <a:ea typeface="Calibri" pitchFamily="34" charset="-122"/>
                <a:cs typeface="Calibri" pitchFamily="34" charset="-120"/>
              </a:rPr>
              <a:t>Maharashtra is among the states with the highest paper-packaging demand, a home-market advantage for the client</a:t>
            </a:r>
            <a:endParaRPr lang="en-US" sz="1050" dirty="0"/>
          </a:p>
        </p:txBody>
      </p:sp>
      <p:sp>
        <p:nvSpPr>
          <p:cNvPr id="29" name="Text 25"/>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30" name="Text 2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THE CHALLENGE</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Three problems were squeezing margin, and they fed each other</a:t>
            </a:r>
            <a:endParaRPr lang="en-US" sz="2400" dirty="0"/>
          </a:p>
        </p:txBody>
      </p:sp>
      <p:sp>
        <p:nvSpPr>
          <p:cNvPr id="5" name="Shape 2"/>
          <p:cNvSpPr/>
          <p:nvPr/>
        </p:nvSpPr>
        <p:spPr>
          <a:xfrm>
            <a:off x="640080" y="1554480"/>
            <a:ext cx="530352" cy="530352"/>
          </a:xfrm>
          <a:prstGeom prst="ellipse">
            <a:avLst/>
          </a:prstGeom>
          <a:solidFill>
            <a:srgbClr val="C1440E"/>
          </a:solidFill>
          <a:ln/>
        </p:spPr>
      </p:sp>
      <p:sp>
        <p:nvSpPr>
          <p:cNvPr id="6" name="Text 3"/>
          <p:cNvSpPr/>
          <p:nvPr/>
        </p:nvSpPr>
        <p:spPr>
          <a:xfrm>
            <a:off x="640080" y="155448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p:nvPr/>
        </p:nvSpPr>
        <p:spPr>
          <a:xfrm>
            <a:off x="1371600" y="1499616"/>
            <a:ext cx="6400800" cy="365760"/>
          </a:xfrm>
          <a:prstGeom prst="rect">
            <a:avLst/>
          </a:prstGeom>
          <a:noFill/>
          <a:ln/>
        </p:spPr>
        <p:txBody>
          <a:bodyPr wrap="square" lIns="0" tIns="0" rIns="0" bIns="0" rtlCol="0" anchor="ctr"/>
          <a:lstStyle/>
          <a:p>
            <a:pPr indent="0" marL="0">
              <a:buNone/>
            </a:pPr>
            <a:r>
              <a:rPr lang="en-US" sz="1600" b="1" dirty="0">
                <a:solidFill>
                  <a:srgbClr val="4A2E1E"/>
                </a:solidFill>
                <a:latin typeface="Cambria" pitchFamily="34" charset="0"/>
                <a:ea typeface="Cambria" pitchFamily="34" charset="-122"/>
                <a:cs typeface="Cambria" pitchFamily="34" charset="-120"/>
              </a:rPr>
              <a:t>Intensifying regional competition</a:t>
            </a:r>
            <a:endParaRPr lang="en-US" sz="1600" dirty="0"/>
          </a:p>
        </p:txBody>
      </p:sp>
      <p:sp>
        <p:nvSpPr>
          <p:cNvPr id="8" name="Text 5"/>
          <p:cNvSpPr/>
          <p:nvPr/>
        </p:nvSpPr>
        <p:spPr>
          <a:xfrm>
            <a:off x="1371600" y="1847088"/>
            <a:ext cx="6400800" cy="548640"/>
          </a:xfrm>
          <a:prstGeom prst="rect">
            <a:avLst/>
          </a:prstGeom>
          <a:noFill/>
          <a:ln/>
        </p:spPr>
        <p:txBody>
          <a:bodyPr wrap="square" lIns="0" tIns="0" rIns="0" bIns="0" rtlCol="0" anchor="ctr"/>
          <a:lstStyle/>
          <a:p>
            <a:pPr indent="0" marL="0">
              <a:lnSpc>
                <a:spcPct val="115000"/>
              </a:lnSpc>
              <a:buNone/>
            </a:pPr>
            <a:r>
              <a:rPr lang="en-US" sz="1200" dirty="0">
                <a:solidFill>
                  <a:srgbClr val="2B2118"/>
                </a:solidFill>
                <a:latin typeface="Calibri" pitchFamily="34" charset="0"/>
                <a:ea typeface="Calibri" pitchFamily="34" charset="-122"/>
                <a:cs typeface="Calibri" pitchFamily="34" charset="-120"/>
              </a:rPr>
              <a:t>A growing number of nearby fibre-drum manufacturers began offering visually similar products.</a:t>
            </a:r>
            <a:endParaRPr lang="en-US" sz="1200" dirty="0"/>
          </a:p>
        </p:txBody>
      </p:sp>
      <p:sp>
        <p:nvSpPr>
          <p:cNvPr id="9" name="Text 6"/>
          <p:cNvSpPr/>
          <p:nvPr/>
        </p:nvSpPr>
        <p:spPr>
          <a:xfrm>
            <a:off x="1371600" y="2395728"/>
            <a:ext cx="6400800" cy="320040"/>
          </a:xfrm>
          <a:prstGeom prst="rect">
            <a:avLst/>
          </a:prstGeom>
          <a:noFill/>
          <a:ln/>
        </p:spPr>
        <p:txBody>
          <a:bodyPr wrap="square" lIns="0" tIns="0" rIns="0" bIns="0" rtlCol="0" anchor="ctr"/>
          <a:lstStyle/>
          <a:p>
            <a:pPr indent="0" marL="0">
              <a:buNone/>
            </a:pPr>
            <a:r>
              <a:rPr lang="en-US" sz="1050" b="1" i="1" dirty="0">
                <a:solidFill>
                  <a:srgbClr val="C1440E"/>
                </a:solidFill>
                <a:latin typeface="Calibri" pitchFamily="34" charset="0"/>
                <a:ea typeface="Calibri" pitchFamily="34" charset="-122"/>
                <a:cs typeface="Calibri" pitchFamily="34" charset="-120"/>
              </a:rPr>
              <a:t>3 new regional entrants identified in the past 18 months</a:t>
            </a:r>
            <a:endParaRPr lang="en-US" sz="1050" dirty="0"/>
          </a:p>
        </p:txBody>
      </p:sp>
      <p:sp>
        <p:nvSpPr>
          <p:cNvPr id="10" name="Shape 7"/>
          <p:cNvSpPr/>
          <p:nvPr/>
        </p:nvSpPr>
        <p:spPr>
          <a:xfrm>
            <a:off x="640080" y="2880360"/>
            <a:ext cx="530352" cy="530352"/>
          </a:xfrm>
          <a:prstGeom prst="ellipse">
            <a:avLst/>
          </a:prstGeom>
          <a:solidFill>
            <a:srgbClr val="C1440E"/>
          </a:solidFill>
          <a:ln/>
        </p:spPr>
      </p:sp>
      <p:sp>
        <p:nvSpPr>
          <p:cNvPr id="11" name="Text 8"/>
          <p:cNvSpPr/>
          <p:nvPr/>
        </p:nvSpPr>
        <p:spPr>
          <a:xfrm>
            <a:off x="640080" y="288036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9"/>
          <p:cNvSpPr/>
          <p:nvPr/>
        </p:nvSpPr>
        <p:spPr>
          <a:xfrm>
            <a:off x="1371600" y="2825496"/>
            <a:ext cx="6400800" cy="365760"/>
          </a:xfrm>
          <a:prstGeom prst="rect">
            <a:avLst/>
          </a:prstGeom>
          <a:noFill/>
          <a:ln/>
        </p:spPr>
        <p:txBody>
          <a:bodyPr wrap="square" lIns="0" tIns="0" rIns="0" bIns="0" rtlCol="0" anchor="ctr"/>
          <a:lstStyle/>
          <a:p>
            <a:pPr indent="0" marL="0">
              <a:buNone/>
            </a:pPr>
            <a:r>
              <a:rPr lang="en-US" sz="1600" b="1" dirty="0">
                <a:solidFill>
                  <a:srgbClr val="4A2E1E"/>
                </a:solidFill>
                <a:latin typeface="Cambria" pitchFamily="34" charset="0"/>
                <a:ea typeface="Cambria" pitchFamily="34" charset="-122"/>
                <a:cs typeface="Cambria" pitchFamily="34" charset="-120"/>
              </a:rPr>
              <a:t>Unrecognized quality edge</a:t>
            </a:r>
            <a:endParaRPr lang="en-US" sz="1600" dirty="0"/>
          </a:p>
        </p:txBody>
      </p:sp>
      <p:sp>
        <p:nvSpPr>
          <p:cNvPr id="13" name="Text 10"/>
          <p:cNvSpPr/>
          <p:nvPr/>
        </p:nvSpPr>
        <p:spPr>
          <a:xfrm>
            <a:off x="1371600" y="3172968"/>
            <a:ext cx="6400800" cy="548640"/>
          </a:xfrm>
          <a:prstGeom prst="rect">
            <a:avLst/>
          </a:prstGeom>
          <a:noFill/>
          <a:ln/>
        </p:spPr>
        <p:txBody>
          <a:bodyPr wrap="square" lIns="0" tIns="0" rIns="0" bIns="0" rtlCol="0" anchor="ctr"/>
          <a:lstStyle/>
          <a:p>
            <a:pPr indent="0" marL="0">
              <a:lnSpc>
                <a:spcPct val="115000"/>
              </a:lnSpc>
              <a:buNone/>
            </a:pPr>
            <a:r>
              <a:rPr lang="en-US" sz="1200" dirty="0">
                <a:solidFill>
                  <a:srgbClr val="2B2118"/>
                </a:solidFill>
                <a:latin typeface="Calibri" pitchFamily="34" charset="0"/>
                <a:ea typeface="Calibri" pitchFamily="34" charset="-122"/>
                <a:cs typeface="Calibri" pitchFamily="34" charset="-120"/>
              </a:rPr>
              <a:t>The client's varnish/wax finishing, printing-ready surface, and full-open lids weren't reflected in pricing or sales messaging.</a:t>
            </a:r>
            <a:endParaRPr lang="en-US" sz="1200" dirty="0"/>
          </a:p>
        </p:txBody>
      </p:sp>
      <p:sp>
        <p:nvSpPr>
          <p:cNvPr id="14" name="Text 11"/>
          <p:cNvSpPr/>
          <p:nvPr/>
        </p:nvSpPr>
        <p:spPr>
          <a:xfrm>
            <a:off x="1371600" y="3721608"/>
            <a:ext cx="6400800" cy="320040"/>
          </a:xfrm>
          <a:prstGeom prst="rect">
            <a:avLst/>
          </a:prstGeom>
          <a:noFill/>
          <a:ln/>
        </p:spPr>
        <p:txBody>
          <a:bodyPr wrap="square" lIns="0" tIns="0" rIns="0" bIns="0" rtlCol="0" anchor="ctr"/>
          <a:lstStyle/>
          <a:p>
            <a:pPr indent="0" marL="0">
              <a:buNone/>
            </a:pPr>
            <a:r>
              <a:rPr lang="en-US" sz="1050" b="1" i="1" dirty="0">
                <a:solidFill>
                  <a:srgbClr val="C1440E"/>
                </a:solidFill>
                <a:latin typeface="Calibri" pitchFamily="34" charset="0"/>
                <a:ea typeface="Calibri" pitchFamily="34" charset="-122"/>
                <a:cs typeface="Calibri" pitchFamily="34" charset="-120"/>
              </a:rPr>
              <a:t>Fewer than 1 in 5 quotations referenced these features explicitly</a:t>
            </a:r>
            <a:endParaRPr lang="en-US" sz="1050" dirty="0"/>
          </a:p>
        </p:txBody>
      </p:sp>
      <p:sp>
        <p:nvSpPr>
          <p:cNvPr id="15" name="Shape 12"/>
          <p:cNvSpPr/>
          <p:nvPr/>
        </p:nvSpPr>
        <p:spPr>
          <a:xfrm>
            <a:off x="640080" y="4206240"/>
            <a:ext cx="530352" cy="530352"/>
          </a:xfrm>
          <a:prstGeom prst="ellipse">
            <a:avLst/>
          </a:prstGeom>
          <a:solidFill>
            <a:srgbClr val="C1440E"/>
          </a:solidFill>
          <a:ln/>
        </p:spPr>
      </p:sp>
      <p:sp>
        <p:nvSpPr>
          <p:cNvPr id="16" name="Text 13"/>
          <p:cNvSpPr/>
          <p:nvPr/>
        </p:nvSpPr>
        <p:spPr>
          <a:xfrm>
            <a:off x="640080" y="420624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4"/>
          <p:cNvSpPr/>
          <p:nvPr/>
        </p:nvSpPr>
        <p:spPr>
          <a:xfrm>
            <a:off x="1371600" y="4151376"/>
            <a:ext cx="6400800" cy="365760"/>
          </a:xfrm>
          <a:prstGeom prst="rect">
            <a:avLst/>
          </a:prstGeom>
          <a:noFill/>
          <a:ln/>
        </p:spPr>
        <p:txBody>
          <a:bodyPr wrap="square" lIns="0" tIns="0" rIns="0" bIns="0" rtlCol="0" anchor="ctr"/>
          <a:lstStyle/>
          <a:p>
            <a:pPr indent="0" marL="0">
              <a:buNone/>
            </a:pPr>
            <a:r>
              <a:rPr lang="en-US" sz="1600" b="1" dirty="0">
                <a:solidFill>
                  <a:srgbClr val="4A2E1E"/>
                </a:solidFill>
                <a:latin typeface="Cambria" pitchFamily="34" charset="0"/>
                <a:ea typeface="Cambria" pitchFamily="34" charset="-122"/>
                <a:cs typeface="Cambria" pitchFamily="34" charset="-120"/>
              </a:rPr>
              <a:t>No structured benchmarking</a:t>
            </a:r>
            <a:endParaRPr lang="en-US" sz="1600" dirty="0"/>
          </a:p>
        </p:txBody>
      </p:sp>
      <p:sp>
        <p:nvSpPr>
          <p:cNvPr id="18" name="Text 15"/>
          <p:cNvSpPr/>
          <p:nvPr/>
        </p:nvSpPr>
        <p:spPr>
          <a:xfrm>
            <a:off x="1371600" y="4498848"/>
            <a:ext cx="6400800" cy="548640"/>
          </a:xfrm>
          <a:prstGeom prst="rect">
            <a:avLst/>
          </a:prstGeom>
          <a:noFill/>
          <a:ln/>
        </p:spPr>
        <p:txBody>
          <a:bodyPr wrap="square" lIns="0" tIns="0" rIns="0" bIns="0" rtlCol="0" anchor="ctr"/>
          <a:lstStyle/>
          <a:p>
            <a:pPr indent="0" marL="0">
              <a:lnSpc>
                <a:spcPct val="115000"/>
              </a:lnSpc>
              <a:buNone/>
            </a:pPr>
            <a:r>
              <a:rPr lang="en-US" sz="1200" dirty="0">
                <a:solidFill>
                  <a:srgbClr val="2B2118"/>
                </a:solidFill>
                <a:latin typeface="Calibri" pitchFamily="34" charset="0"/>
                <a:ea typeface="Calibri" pitchFamily="34" charset="-122"/>
                <a:cs typeface="Calibri" pitchFamily="34" charset="-120"/>
              </a:rPr>
              <a:t>Pricing decisions were made reactively, deal by deal, with no systematic view of competitor specs or price points.</a:t>
            </a:r>
            <a:endParaRPr lang="en-US" sz="1200" dirty="0"/>
          </a:p>
        </p:txBody>
      </p:sp>
      <p:sp>
        <p:nvSpPr>
          <p:cNvPr id="19" name="Text 16"/>
          <p:cNvSpPr/>
          <p:nvPr/>
        </p:nvSpPr>
        <p:spPr>
          <a:xfrm>
            <a:off x="1371600" y="5047488"/>
            <a:ext cx="6400800" cy="320040"/>
          </a:xfrm>
          <a:prstGeom prst="rect">
            <a:avLst/>
          </a:prstGeom>
          <a:noFill/>
          <a:ln/>
        </p:spPr>
        <p:txBody>
          <a:bodyPr wrap="square" lIns="0" tIns="0" rIns="0" bIns="0" rtlCol="0" anchor="ctr"/>
          <a:lstStyle/>
          <a:p>
            <a:pPr indent="0" marL="0">
              <a:buNone/>
            </a:pPr>
            <a:r>
              <a:rPr lang="en-US" sz="1050" b="1" i="1" dirty="0">
                <a:solidFill>
                  <a:srgbClr val="C1440E"/>
                </a:solidFill>
                <a:latin typeface="Calibri" pitchFamily="34" charset="0"/>
                <a:ea typeface="Calibri" pitchFamily="34" charset="-122"/>
                <a:cs typeface="Calibri" pitchFamily="34" charset="-120"/>
              </a:rPr>
              <a:t>RFQ win-rate index had slipped to 82 (baseline 100, two years prior)</a:t>
            </a:r>
            <a:endParaRPr lang="en-US" sz="1050" dirty="0"/>
          </a:p>
        </p:txBody>
      </p:sp>
      <p:sp>
        <p:nvSpPr>
          <p:cNvPr id="20" name="Shape 17"/>
          <p:cNvSpPr/>
          <p:nvPr/>
        </p:nvSpPr>
        <p:spPr>
          <a:xfrm>
            <a:off x="8138160" y="1554480"/>
            <a:ext cx="3520440" cy="4206240"/>
          </a:xfrm>
          <a:prstGeom prst="rect">
            <a:avLst/>
          </a:prstGeom>
          <a:solidFill>
            <a:srgbClr val="E9DCC3"/>
          </a:solidFill>
          <a:ln/>
        </p:spPr>
      </p:sp>
      <p:sp>
        <p:nvSpPr>
          <p:cNvPr id="21" name="Text 18"/>
          <p:cNvSpPr/>
          <p:nvPr/>
        </p:nvSpPr>
        <p:spPr>
          <a:xfrm>
            <a:off x="8366760" y="1783080"/>
            <a:ext cx="3108960" cy="320040"/>
          </a:xfrm>
          <a:prstGeom prst="rect">
            <a:avLst/>
          </a:prstGeom>
          <a:noFill/>
          <a:ln/>
        </p:spPr>
        <p:txBody>
          <a:bodyPr wrap="square" lIns="0" tIns="0" rIns="0" bIns="0" rtlCol="0" anchor="ctr"/>
          <a:lstStyle/>
          <a:p>
            <a:pPr indent="0" marL="0">
              <a:buNone/>
            </a:pPr>
            <a:r>
              <a:rPr lang="en-US" sz="1100" b="1" spc="120" kern="0" dirty="0">
                <a:solidFill>
                  <a:srgbClr val="C1440E"/>
                </a:solidFill>
                <a:latin typeface="Calibri" pitchFamily="34" charset="0"/>
                <a:ea typeface="Calibri" pitchFamily="34" charset="-122"/>
                <a:cs typeface="Calibri" pitchFamily="34" charset="-120"/>
              </a:rPr>
              <a:t>RESEARCH INSIGHT</a:t>
            </a:r>
            <a:endParaRPr lang="en-US" sz="1100" dirty="0"/>
          </a:p>
        </p:txBody>
      </p:sp>
      <p:sp>
        <p:nvSpPr>
          <p:cNvPr id="22" name="Text 19"/>
          <p:cNvSpPr/>
          <p:nvPr/>
        </p:nvSpPr>
        <p:spPr>
          <a:xfrm>
            <a:off x="8366760" y="2148840"/>
            <a:ext cx="3108960" cy="1828800"/>
          </a:xfrm>
          <a:prstGeom prst="rect">
            <a:avLst/>
          </a:prstGeom>
          <a:noFill/>
          <a:ln/>
        </p:spPr>
        <p:txBody>
          <a:bodyPr wrap="square" lIns="0" tIns="0" rIns="0" bIns="0" rtlCol="0" anchor="ctr"/>
          <a:lstStyle/>
          <a:p>
            <a:pPr indent="0" marL="0">
              <a:lnSpc>
                <a:spcPct val="125000"/>
              </a:lnSpc>
              <a:buNone/>
            </a:pPr>
            <a:r>
              <a:rPr lang="en-US" sz="1400" i="1" dirty="0">
                <a:solidFill>
                  <a:srgbClr val="4A2E1E"/>
                </a:solidFill>
                <a:latin typeface="Cambria" pitchFamily="34" charset="0"/>
                <a:ea typeface="Cambria" pitchFamily="34" charset="-122"/>
                <a:cs typeface="Cambria" pitchFamily="34" charset="-120"/>
              </a:rPr>
              <a:t>“Buyers consistently ranked printing-ready surface and full-open lid design above price, but only when finish quality was visible at the time of quotation.”</a:t>
            </a:r>
            <a:endParaRPr lang="en-US" sz="1400" dirty="0"/>
          </a:p>
        </p:txBody>
      </p:sp>
      <p:sp>
        <p:nvSpPr>
          <p:cNvPr id="23" name="Text 20"/>
          <p:cNvSpPr/>
          <p:nvPr/>
        </p:nvSpPr>
        <p:spPr>
          <a:xfrm>
            <a:off x="8366760" y="4160520"/>
            <a:ext cx="3108960" cy="548640"/>
          </a:xfrm>
          <a:prstGeom prst="rect">
            <a:avLst/>
          </a:prstGeom>
          <a:noFill/>
          <a:ln/>
        </p:spPr>
        <p:txBody>
          <a:bodyPr wrap="square" lIns="0" tIns="0" rIns="0" bIns="0" rtlCol="0" anchor="ctr"/>
          <a:lstStyle/>
          <a:p>
            <a:pPr indent="0" marL="0">
              <a:buNone/>
            </a:pPr>
            <a:r>
              <a:rPr lang="en-US" sz="950" i="1" dirty="0">
                <a:solidFill>
                  <a:srgbClr val="8C5A34"/>
                </a:solidFill>
                <a:latin typeface="Calibri" pitchFamily="34" charset="0"/>
                <a:ea typeface="Calibri" pitchFamily="34" charset="-122"/>
                <a:cs typeface="Calibri" pitchFamily="34" charset="-120"/>
              </a:rPr>
              <a:t>Paraphrased from buyer interviews during this engagement</a:t>
            </a:r>
            <a:endParaRPr lang="en-US" sz="950" dirty="0"/>
          </a:p>
        </p:txBody>
      </p:sp>
      <p:sp>
        <p:nvSpPr>
          <p:cNvPr id="24" name="Text 21"/>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25" name="Text 2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METHODOLOGY</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We combined desk research with what buyers and the shop floor told us</a:t>
            </a:r>
            <a:endParaRPr lang="en-US" sz="2400" dirty="0"/>
          </a:p>
        </p:txBody>
      </p:sp>
      <p:sp>
        <p:nvSpPr>
          <p:cNvPr id="5" name="Shape 2"/>
          <p:cNvSpPr/>
          <p:nvPr/>
        </p:nvSpPr>
        <p:spPr>
          <a:xfrm>
            <a:off x="640080" y="1600200"/>
            <a:ext cx="502920" cy="502920"/>
          </a:xfrm>
          <a:prstGeom prst="ellipse">
            <a:avLst/>
          </a:prstGeom>
          <a:solidFill>
            <a:srgbClr val="C1440E"/>
          </a:solidFill>
          <a:ln/>
        </p:spPr>
      </p:sp>
      <p:sp>
        <p:nvSpPr>
          <p:cNvPr id="6" name="Text 3"/>
          <p:cNvSpPr/>
          <p:nvPr/>
        </p:nvSpPr>
        <p:spPr>
          <a:xfrm>
            <a:off x="640080" y="1600200"/>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4"/>
          <p:cNvSpPr/>
          <p:nvPr/>
        </p:nvSpPr>
        <p:spPr>
          <a:xfrm>
            <a:off x="1371600" y="1545336"/>
            <a:ext cx="2834640" cy="1078992"/>
          </a:xfrm>
          <a:prstGeom prst="rect">
            <a:avLst/>
          </a:prstGeom>
          <a:noFill/>
          <a:ln/>
        </p:spPr>
        <p:txBody>
          <a:bodyPr wrap="square" lIns="0" tIns="0" rIns="0" bIns="0" rtlCol="0" anchor="t"/>
          <a:lstStyle/>
          <a:p>
            <a:pPr indent="0" marL="0">
              <a:lnSpc>
                <a:spcPct val="110000"/>
              </a:lnSpc>
              <a:buNone/>
            </a:pPr>
            <a:r>
              <a:rPr lang="en-US" sz="1500" b="1" dirty="0">
                <a:solidFill>
                  <a:srgbClr val="4A2E1E"/>
                </a:solidFill>
                <a:latin typeface="Cambria" pitchFamily="34" charset="0"/>
                <a:ea typeface="Cambria" pitchFamily="34" charset="-122"/>
                <a:cs typeface="Cambria" pitchFamily="34" charset="-120"/>
              </a:rPr>
              <a:t>Secondary Research</a:t>
            </a:r>
            <a:endParaRPr lang="en-US" sz="1500" dirty="0"/>
          </a:p>
        </p:txBody>
      </p:sp>
      <p:sp>
        <p:nvSpPr>
          <p:cNvPr id="8" name="Text 5"/>
          <p:cNvSpPr/>
          <p:nvPr/>
        </p:nvSpPr>
        <p:spPr>
          <a:xfrm>
            <a:off x="4434840" y="1545336"/>
            <a:ext cx="7178040" cy="1078992"/>
          </a:xfrm>
          <a:prstGeom prst="rect">
            <a:avLst/>
          </a:prstGeom>
          <a:noFill/>
          <a:ln/>
        </p:spPr>
        <p:txBody>
          <a:bodyPr wrap="square" lIns="0" tIns="0" rIns="0" bIns="0" rtlCol="0" anchor="t"/>
          <a:lstStyle/>
          <a:p>
            <a:pPr indent="0" marL="0">
              <a:lnSpc>
                <a:spcPct val="120000"/>
              </a:lnSpc>
              <a:buNone/>
            </a:pPr>
            <a:r>
              <a:rPr lang="en-US" sz="1200" dirty="0">
                <a:solidFill>
                  <a:srgbClr val="2B2118"/>
                </a:solidFill>
                <a:latin typeface="Calibri" pitchFamily="34" charset="0"/>
                <a:ea typeface="Calibri" pitchFamily="34" charset="-122"/>
                <a:cs typeface="Calibri" pitchFamily="34" charset="-120"/>
              </a:rPr>
              <a:t>Reviewed manufacturer listings, catalogues, and published specifications across 10+ regional fibre-drum producers via B2B trade platforms and sector directories.</a:t>
            </a:r>
            <a:endParaRPr lang="en-US" sz="1200" dirty="0"/>
          </a:p>
        </p:txBody>
      </p:sp>
      <p:sp>
        <p:nvSpPr>
          <p:cNvPr id="9" name="Shape 6"/>
          <p:cNvSpPr/>
          <p:nvPr/>
        </p:nvSpPr>
        <p:spPr>
          <a:xfrm>
            <a:off x="891540" y="2148840"/>
            <a:ext cx="0" cy="667512"/>
          </a:xfrm>
          <a:prstGeom prst="line">
            <a:avLst/>
          </a:prstGeom>
          <a:noFill/>
          <a:ln w="19050">
            <a:solidFill>
              <a:srgbClr val="D9C7A3"/>
            </a:solidFill>
            <a:prstDash val="dash"/>
          </a:ln>
        </p:spPr>
      </p:sp>
      <p:sp>
        <p:nvSpPr>
          <p:cNvPr id="10" name="Shape 7"/>
          <p:cNvSpPr/>
          <p:nvPr/>
        </p:nvSpPr>
        <p:spPr>
          <a:xfrm>
            <a:off x="640080" y="2770632"/>
            <a:ext cx="502920" cy="502920"/>
          </a:xfrm>
          <a:prstGeom prst="ellipse">
            <a:avLst/>
          </a:prstGeom>
          <a:solidFill>
            <a:srgbClr val="C1440E"/>
          </a:solidFill>
          <a:ln/>
        </p:spPr>
      </p:sp>
      <p:sp>
        <p:nvSpPr>
          <p:cNvPr id="11" name="Text 8"/>
          <p:cNvSpPr/>
          <p:nvPr/>
        </p:nvSpPr>
        <p:spPr>
          <a:xfrm>
            <a:off x="640080" y="2770632"/>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9"/>
          <p:cNvSpPr/>
          <p:nvPr/>
        </p:nvSpPr>
        <p:spPr>
          <a:xfrm>
            <a:off x="1371600" y="2715768"/>
            <a:ext cx="2834640" cy="1078992"/>
          </a:xfrm>
          <a:prstGeom prst="rect">
            <a:avLst/>
          </a:prstGeom>
          <a:noFill/>
          <a:ln/>
        </p:spPr>
        <p:txBody>
          <a:bodyPr wrap="square" lIns="0" tIns="0" rIns="0" bIns="0" rtlCol="0" anchor="t"/>
          <a:lstStyle/>
          <a:p>
            <a:pPr indent="0" marL="0">
              <a:lnSpc>
                <a:spcPct val="110000"/>
              </a:lnSpc>
              <a:buNone/>
            </a:pPr>
            <a:r>
              <a:rPr lang="en-US" sz="1500" b="1" dirty="0">
                <a:solidFill>
                  <a:srgbClr val="4A2E1E"/>
                </a:solidFill>
                <a:latin typeface="Cambria" pitchFamily="34" charset="0"/>
                <a:ea typeface="Cambria" pitchFamily="34" charset="-122"/>
                <a:cs typeface="Cambria" pitchFamily="34" charset="-120"/>
              </a:rPr>
              <a:t>Competitor Benchmarking</a:t>
            </a:r>
            <a:endParaRPr lang="en-US" sz="1500" dirty="0"/>
          </a:p>
        </p:txBody>
      </p:sp>
      <p:sp>
        <p:nvSpPr>
          <p:cNvPr id="13" name="Text 10"/>
          <p:cNvSpPr/>
          <p:nvPr/>
        </p:nvSpPr>
        <p:spPr>
          <a:xfrm>
            <a:off x="4434840" y="2715768"/>
            <a:ext cx="7178040" cy="1078992"/>
          </a:xfrm>
          <a:prstGeom prst="rect">
            <a:avLst/>
          </a:prstGeom>
          <a:noFill/>
          <a:ln/>
        </p:spPr>
        <p:txBody>
          <a:bodyPr wrap="square" lIns="0" tIns="0" rIns="0" bIns="0" rtlCol="0" anchor="t"/>
          <a:lstStyle/>
          <a:p>
            <a:pPr indent="0" marL="0">
              <a:lnSpc>
                <a:spcPct val="120000"/>
              </a:lnSpc>
              <a:buNone/>
            </a:pPr>
            <a:r>
              <a:rPr lang="en-US" sz="1200" dirty="0">
                <a:solidFill>
                  <a:srgbClr val="2B2118"/>
                </a:solidFill>
                <a:latin typeface="Calibri" pitchFamily="34" charset="0"/>
                <a:ea typeface="Calibri" pitchFamily="34" charset="-122"/>
                <a:cs typeface="Calibri" pitchFamily="34" charset="-120"/>
              </a:rPr>
              <a:t>Built a benchmarking matrix spanning diameter, height, capacity range, finish options, lid design, and indicative pricing for four close comparators.</a:t>
            </a:r>
            <a:endParaRPr lang="en-US" sz="1200" dirty="0"/>
          </a:p>
        </p:txBody>
      </p:sp>
      <p:sp>
        <p:nvSpPr>
          <p:cNvPr id="14" name="Shape 11"/>
          <p:cNvSpPr/>
          <p:nvPr/>
        </p:nvSpPr>
        <p:spPr>
          <a:xfrm>
            <a:off x="891540" y="3319272"/>
            <a:ext cx="0" cy="667512"/>
          </a:xfrm>
          <a:prstGeom prst="line">
            <a:avLst/>
          </a:prstGeom>
          <a:noFill/>
          <a:ln w="19050">
            <a:solidFill>
              <a:srgbClr val="D9C7A3"/>
            </a:solidFill>
            <a:prstDash val="dash"/>
          </a:ln>
        </p:spPr>
      </p:sp>
      <p:sp>
        <p:nvSpPr>
          <p:cNvPr id="15" name="Shape 12"/>
          <p:cNvSpPr/>
          <p:nvPr/>
        </p:nvSpPr>
        <p:spPr>
          <a:xfrm>
            <a:off x="640080" y="3941064"/>
            <a:ext cx="502920" cy="502920"/>
          </a:xfrm>
          <a:prstGeom prst="ellipse">
            <a:avLst/>
          </a:prstGeom>
          <a:solidFill>
            <a:srgbClr val="C1440E"/>
          </a:solidFill>
          <a:ln/>
        </p:spPr>
      </p:sp>
      <p:sp>
        <p:nvSpPr>
          <p:cNvPr id="16" name="Text 13"/>
          <p:cNvSpPr/>
          <p:nvPr/>
        </p:nvSpPr>
        <p:spPr>
          <a:xfrm>
            <a:off x="640080" y="3941064"/>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7" name="Text 14"/>
          <p:cNvSpPr/>
          <p:nvPr/>
        </p:nvSpPr>
        <p:spPr>
          <a:xfrm>
            <a:off x="1371600" y="3886200"/>
            <a:ext cx="2834640" cy="1078992"/>
          </a:xfrm>
          <a:prstGeom prst="rect">
            <a:avLst/>
          </a:prstGeom>
          <a:noFill/>
          <a:ln/>
        </p:spPr>
        <p:txBody>
          <a:bodyPr wrap="square" lIns="0" tIns="0" rIns="0" bIns="0" rtlCol="0" anchor="t"/>
          <a:lstStyle/>
          <a:p>
            <a:pPr indent="0" marL="0">
              <a:lnSpc>
                <a:spcPct val="110000"/>
              </a:lnSpc>
              <a:buNone/>
            </a:pPr>
            <a:r>
              <a:rPr lang="en-US" sz="1500" b="1" dirty="0">
                <a:solidFill>
                  <a:srgbClr val="4A2E1E"/>
                </a:solidFill>
                <a:latin typeface="Cambria" pitchFamily="34" charset="0"/>
                <a:ea typeface="Cambria" pitchFamily="34" charset="-122"/>
                <a:cs typeface="Cambria" pitchFamily="34" charset="-120"/>
              </a:rPr>
              <a:t>Factory Visit</a:t>
            </a:r>
            <a:endParaRPr lang="en-US" sz="1500" dirty="0"/>
          </a:p>
        </p:txBody>
      </p:sp>
      <p:sp>
        <p:nvSpPr>
          <p:cNvPr id="18" name="Text 15"/>
          <p:cNvSpPr/>
          <p:nvPr/>
        </p:nvSpPr>
        <p:spPr>
          <a:xfrm>
            <a:off x="4434840" y="3886200"/>
            <a:ext cx="7178040" cy="1078992"/>
          </a:xfrm>
          <a:prstGeom prst="rect">
            <a:avLst/>
          </a:prstGeom>
          <a:noFill/>
          <a:ln/>
        </p:spPr>
        <p:txBody>
          <a:bodyPr wrap="square" lIns="0" tIns="0" rIns="0" bIns="0" rtlCol="0" anchor="t"/>
          <a:lstStyle/>
          <a:p>
            <a:pPr indent="0" marL="0">
              <a:lnSpc>
                <a:spcPct val="120000"/>
              </a:lnSpc>
              <a:buNone/>
            </a:pPr>
            <a:r>
              <a:rPr lang="en-US" sz="1200" dirty="0">
                <a:solidFill>
                  <a:srgbClr val="2B2118"/>
                </a:solidFill>
                <a:latin typeface="Calibri" pitchFamily="34" charset="0"/>
                <a:ea typeface="Calibri" pitchFamily="34" charset="-122"/>
                <a:cs typeface="Calibri" pitchFamily="34" charset="-120"/>
              </a:rPr>
              <a:t>Conducted an on-site walkthrough of the client's production line and finishing process, and reviewed quality-control checkpoints and capacity utilization.</a:t>
            </a:r>
            <a:endParaRPr lang="en-US" sz="1200" dirty="0"/>
          </a:p>
        </p:txBody>
      </p:sp>
      <p:sp>
        <p:nvSpPr>
          <p:cNvPr id="19" name="Shape 16"/>
          <p:cNvSpPr/>
          <p:nvPr/>
        </p:nvSpPr>
        <p:spPr>
          <a:xfrm>
            <a:off x="891540" y="4489704"/>
            <a:ext cx="0" cy="667512"/>
          </a:xfrm>
          <a:prstGeom prst="line">
            <a:avLst/>
          </a:prstGeom>
          <a:noFill/>
          <a:ln w="19050">
            <a:solidFill>
              <a:srgbClr val="D9C7A3"/>
            </a:solidFill>
            <a:prstDash val="dash"/>
          </a:ln>
        </p:spPr>
      </p:sp>
      <p:sp>
        <p:nvSpPr>
          <p:cNvPr id="20" name="Shape 17"/>
          <p:cNvSpPr/>
          <p:nvPr/>
        </p:nvSpPr>
        <p:spPr>
          <a:xfrm>
            <a:off x="640080" y="5111496"/>
            <a:ext cx="502920" cy="502920"/>
          </a:xfrm>
          <a:prstGeom prst="ellipse">
            <a:avLst/>
          </a:prstGeom>
          <a:solidFill>
            <a:srgbClr val="C1440E"/>
          </a:solidFill>
          <a:ln/>
        </p:spPr>
      </p:sp>
      <p:sp>
        <p:nvSpPr>
          <p:cNvPr id="21" name="Text 18"/>
          <p:cNvSpPr/>
          <p:nvPr/>
        </p:nvSpPr>
        <p:spPr>
          <a:xfrm>
            <a:off x="640080" y="511149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19"/>
          <p:cNvSpPr/>
          <p:nvPr/>
        </p:nvSpPr>
        <p:spPr>
          <a:xfrm>
            <a:off x="1371600" y="5056632"/>
            <a:ext cx="2834640" cy="1078992"/>
          </a:xfrm>
          <a:prstGeom prst="rect">
            <a:avLst/>
          </a:prstGeom>
          <a:noFill/>
          <a:ln/>
        </p:spPr>
        <p:txBody>
          <a:bodyPr wrap="square" lIns="0" tIns="0" rIns="0" bIns="0" rtlCol="0" anchor="t"/>
          <a:lstStyle/>
          <a:p>
            <a:pPr indent="0" marL="0">
              <a:lnSpc>
                <a:spcPct val="110000"/>
              </a:lnSpc>
              <a:buNone/>
            </a:pPr>
            <a:r>
              <a:rPr lang="en-US" sz="1500" b="1" dirty="0">
                <a:solidFill>
                  <a:srgbClr val="4A2E1E"/>
                </a:solidFill>
                <a:latin typeface="Cambria" pitchFamily="34" charset="0"/>
                <a:ea typeface="Cambria" pitchFamily="34" charset="-122"/>
                <a:cs typeface="Cambria" pitchFamily="34" charset="-120"/>
              </a:rPr>
              <a:t>Customer-Perspective Research</a:t>
            </a:r>
            <a:endParaRPr lang="en-US" sz="1500" dirty="0"/>
          </a:p>
        </p:txBody>
      </p:sp>
      <p:sp>
        <p:nvSpPr>
          <p:cNvPr id="23" name="Text 20"/>
          <p:cNvSpPr/>
          <p:nvPr/>
        </p:nvSpPr>
        <p:spPr>
          <a:xfrm>
            <a:off x="4434840" y="5056632"/>
            <a:ext cx="7178040" cy="1078992"/>
          </a:xfrm>
          <a:prstGeom prst="rect">
            <a:avLst/>
          </a:prstGeom>
          <a:noFill/>
          <a:ln/>
        </p:spPr>
        <p:txBody>
          <a:bodyPr wrap="square" lIns="0" tIns="0" rIns="0" bIns="0" rtlCol="0" anchor="t"/>
          <a:lstStyle/>
          <a:p>
            <a:pPr indent="0" marL="0">
              <a:lnSpc>
                <a:spcPct val="120000"/>
              </a:lnSpc>
              <a:buNone/>
            </a:pPr>
            <a:r>
              <a:rPr lang="en-US" sz="1200" dirty="0">
                <a:solidFill>
                  <a:srgbClr val="2B2118"/>
                </a:solidFill>
                <a:latin typeface="Calibri" pitchFamily="34" charset="0"/>
                <a:ea typeface="Calibri" pitchFamily="34" charset="-122"/>
                <a:cs typeface="Calibri" pitchFamily="34" charset="-120"/>
              </a:rPr>
              <a:t>Held structured conversations with buyers across chemicals, pharma, and food-packaging segments to surface real purchase-decision criteria.</a:t>
            </a:r>
            <a:endParaRPr lang="en-US" sz="1200" dirty="0"/>
          </a:p>
        </p:txBody>
      </p:sp>
      <p:sp>
        <p:nvSpPr>
          <p:cNvPr id="24" name="Text 21"/>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25" name="Text 2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COMPETITIVE LANDSCAPE (PORTER'S FIVE FORCES)</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Rivalry and buyer power squeeze margin the most</a:t>
            </a:r>
            <a:endParaRPr lang="en-US" sz="2400" dirty="0"/>
          </a:p>
        </p:txBody>
      </p:sp>
      <p:sp>
        <p:nvSpPr>
          <p:cNvPr id="5" name="Shape 2"/>
          <p:cNvSpPr/>
          <p:nvPr/>
        </p:nvSpPr>
        <p:spPr>
          <a:xfrm>
            <a:off x="4453128" y="1481328"/>
            <a:ext cx="3291840" cy="1188720"/>
          </a:xfrm>
          <a:prstGeom prst="rect">
            <a:avLst/>
          </a:prstGeom>
          <a:solidFill>
            <a:srgbClr val="E9DCC3"/>
          </a:solidFill>
          <a:ln/>
        </p:spPr>
      </p:sp>
      <p:sp>
        <p:nvSpPr>
          <p:cNvPr id="6" name="Text 3"/>
          <p:cNvSpPr/>
          <p:nvPr/>
        </p:nvSpPr>
        <p:spPr>
          <a:xfrm>
            <a:off x="4590288" y="1572768"/>
            <a:ext cx="3017520" cy="292608"/>
          </a:xfrm>
          <a:prstGeom prst="rect">
            <a:avLst/>
          </a:prstGeom>
          <a:noFill/>
          <a:ln/>
        </p:spPr>
        <p:txBody>
          <a:bodyPr wrap="square" lIns="0" tIns="0" rIns="0" bIns="0" rtlCol="0" anchor="ctr"/>
          <a:lstStyle/>
          <a:p>
            <a:pPr indent="0" marL="0">
              <a:buNone/>
            </a:pPr>
            <a:r>
              <a:rPr lang="en-US" sz="1100" b="1" dirty="0">
                <a:solidFill>
                  <a:srgbClr val="4A2E1E"/>
                </a:solidFill>
                <a:latin typeface="Calibri" pitchFamily="34" charset="0"/>
                <a:ea typeface="Calibri" pitchFamily="34" charset="-122"/>
                <a:cs typeface="Calibri" pitchFamily="34" charset="-120"/>
              </a:rPr>
              <a:t>Threat of New Entrants</a:t>
            </a:r>
            <a:endParaRPr lang="en-US" sz="1100" dirty="0"/>
          </a:p>
        </p:txBody>
      </p:sp>
      <p:sp>
        <p:nvSpPr>
          <p:cNvPr id="7" name="Shape 4"/>
          <p:cNvSpPr/>
          <p:nvPr/>
        </p:nvSpPr>
        <p:spPr>
          <a:xfrm>
            <a:off x="4590288" y="1883664"/>
            <a:ext cx="1417320" cy="256032"/>
          </a:xfrm>
          <a:prstGeom prst="roundRect">
            <a:avLst>
              <a:gd name="adj" fmla="val 28571"/>
            </a:avLst>
          </a:prstGeom>
          <a:solidFill>
            <a:srgbClr val="8C5A34"/>
          </a:solidFill>
          <a:ln/>
        </p:spPr>
      </p:sp>
      <p:sp>
        <p:nvSpPr>
          <p:cNvPr id="8" name="Text 5"/>
          <p:cNvSpPr/>
          <p:nvPr/>
        </p:nvSpPr>
        <p:spPr>
          <a:xfrm>
            <a:off x="4590288" y="1883664"/>
            <a:ext cx="14173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MODERATE</a:t>
            </a:r>
            <a:endParaRPr lang="en-US" sz="1050" dirty="0"/>
          </a:p>
        </p:txBody>
      </p:sp>
      <p:sp>
        <p:nvSpPr>
          <p:cNvPr id="9" name="Text 6"/>
          <p:cNvSpPr/>
          <p:nvPr/>
        </p:nvSpPr>
        <p:spPr>
          <a:xfrm>
            <a:off x="4590288" y="2194560"/>
            <a:ext cx="3017520" cy="411480"/>
          </a:xfrm>
          <a:prstGeom prst="rect">
            <a:avLst/>
          </a:prstGeom>
          <a:noFill/>
          <a:ln/>
        </p:spPr>
        <p:txBody>
          <a:bodyPr wrap="square" lIns="0" tIns="0" rIns="0" bIns="0" rtlCol="0" anchor="ctr"/>
          <a:lstStyle/>
          <a:p>
            <a:pPr indent="0" marL="0">
              <a:lnSpc>
                <a:spcPct val="110000"/>
              </a:lnSpc>
              <a:buNone/>
            </a:pPr>
            <a:r>
              <a:rPr lang="en-US" sz="900" dirty="0">
                <a:solidFill>
                  <a:srgbClr val="2B2118"/>
                </a:solidFill>
                <a:latin typeface="Calibri" pitchFamily="34" charset="0"/>
                <a:ea typeface="Calibri" pitchFamily="34" charset="-122"/>
                <a:cs typeface="Calibri" pitchFamily="34" charset="-120"/>
              </a:rPr>
              <a:t>Low capital intensity, but finishing quality and buyer relationships raise the practical barrier.</a:t>
            </a:r>
            <a:endParaRPr lang="en-US" sz="900" dirty="0"/>
          </a:p>
        </p:txBody>
      </p:sp>
      <p:sp>
        <p:nvSpPr>
          <p:cNvPr id="10" name="Shape 7"/>
          <p:cNvSpPr/>
          <p:nvPr/>
        </p:nvSpPr>
        <p:spPr>
          <a:xfrm>
            <a:off x="4453128" y="5285232"/>
            <a:ext cx="3291840" cy="1097280"/>
          </a:xfrm>
          <a:prstGeom prst="rect">
            <a:avLst/>
          </a:prstGeom>
          <a:solidFill>
            <a:srgbClr val="E9DCC3"/>
          </a:solidFill>
          <a:ln/>
        </p:spPr>
      </p:sp>
      <p:sp>
        <p:nvSpPr>
          <p:cNvPr id="11" name="Text 8"/>
          <p:cNvSpPr/>
          <p:nvPr/>
        </p:nvSpPr>
        <p:spPr>
          <a:xfrm>
            <a:off x="4590288" y="5376672"/>
            <a:ext cx="3017520" cy="292608"/>
          </a:xfrm>
          <a:prstGeom prst="rect">
            <a:avLst/>
          </a:prstGeom>
          <a:noFill/>
          <a:ln/>
        </p:spPr>
        <p:txBody>
          <a:bodyPr wrap="square" lIns="0" tIns="0" rIns="0" bIns="0" rtlCol="0" anchor="ctr"/>
          <a:lstStyle/>
          <a:p>
            <a:pPr indent="0" marL="0">
              <a:buNone/>
            </a:pPr>
            <a:r>
              <a:rPr lang="en-US" sz="1100" b="1" dirty="0">
                <a:solidFill>
                  <a:srgbClr val="4A2E1E"/>
                </a:solidFill>
                <a:latin typeface="Calibri" pitchFamily="34" charset="0"/>
                <a:ea typeface="Calibri" pitchFamily="34" charset="-122"/>
                <a:cs typeface="Calibri" pitchFamily="34" charset="-120"/>
              </a:rPr>
              <a:t>Bargaining Power of Suppliers</a:t>
            </a:r>
            <a:endParaRPr lang="en-US" sz="1100" dirty="0"/>
          </a:p>
        </p:txBody>
      </p:sp>
      <p:sp>
        <p:nvSpPr>
          <p:cNvPr id="12" name="Shape 9"/>
          <p:cNvSpPr/>
          <p:nvPr/>
        </p:nvSpPr>
        <p:spPr>
          <a:xfrm>
            <a:off x="4590288" y="5687568"/>
            <a:ext cx="1417320" cy="256032"/>
          </a:xfrm>
          <a:prstGeom prst="roundRect">
            <a:avLst>
              <a:gd name="adj" fmla="val 28571"/>
            </a:avLst>
          </a:prstGeom>
          <a:solidFill>
            <a:srgbClr val="3F6B4A"/>
          </a:solidFill>
          <a:ln/>
        </p:spPr>
      </p:sp>
      <p:sp>
        <p:nvSpPr>
          <p:cNvPr id="13" name="Text 10"/>
          <p:cNvSpPr/>
          <p:nvPr/>
        </p:nvSpPr>
        <p:spPr>
          <a:xfrm>
            <a:off x="4590288" y="5687568"/>
            <a:ext cx="14173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LOW–MODERATE</a:t>
            </a:r>
            <a:endParaRPr lang="en-US" sz="1050" dirty="0"/>
          </a:p>
        </p:txBody>
      </p:sp>
      <p:sp>
        <p:nvSpPr>
          <p:cNvPr id="14" name="Text 11"/>
          <p:cNvSpPr/>
          <p:nvPr/>
        </p:nvSpPr>
        <p:spPr>
          <a:xfrm>
            <a:off x="4590288" y="5998464"/>
            <a:ext cx="3017520" cy="320040"/>
          </a:xfrm>
          <a:prstGeom prst="rect">
            <a:avLst/>
          </a:prstGeom>
          <a:noFill/>
          <a:ln/>
        </p:spPr>
        <p:txBody>
          <a:bodyPr wrap="square" lIns="0" tIns="0" rIns="0" bIns="0" rtlCol="0" anchor="ctr"/>
          <a:lstStyle/>
          <a:p>
            <a:pPr indent="0" marL="0">
              <a:lnSpc>
                <a:spcPct val="110000"/>
              </a:lnSpc>
              <a:buNone/>
            </a:pPr>
            <a:r>
              <a:rPr lang="en-US" sz="900" dirty="0">
                <a:solidFill>
                  <a:srgbClr val="2B2118"/>
                </a:solidFill>
                <a:latin typeface="Calibri" pitchFamily="34" charset="0"/>
                <a:ea typeface="Calibri" pitchFamily="34" charset="-122"/>
                <a:cs typeface="Calibri" pitchFamily="34" charset="-120"/>
              </a:rPr>
              <a:t>Kraft paper is a multi-sourced commodity input, though pulp prices add cost volatility.</a:t>
            </a:r>
            <a:endParaRPr lang="en-US" sz="900" dirty="0"/>
          </a:p>
        </p:txBody>
      </p:sp>
      <p:sp>
        <p:nvSpPr>
          <p:cNvPr id="15" name="Shape 12"/>
          <p:cNvSpPr/>
          <p:nvPr/>
        </p:nvSpPr>
        <p:spPr>
          <a:xfrm>
            <a:off x="502920" y="3273552"/>
            <a:ext cx="3200400" cy="1371600"/>
          </a:xfrm>
          <a:prstGeom prst="rect">
            <a:avLst/>
          </a:prstGeom>
          <a:solidFill>
            <a:srgbClr val="E9DCC3"/>
          </a:solidFill>
          <a:ln/>
        </p:spPr>
      </p:sp>
      <p:sp>
        <p:nvSpPr>
          <p:cNvPr id="16" name="Text 13"/>
          <p:cNvSpPr/>
          <p:nvPr/>
        </p:nvSpPr>
        <p:spPr>
          <a:xfrm>
            <a:off x="640080" y="3364992"/>
            <a:ext cx="2926080" cy="292608"/>
          </a:xfrm>
          <a:prstGeom prst="rect">
            <a:avLst/>
          </a:prstGeom>
          <a:noFill/>
          <a:ln/>
        </p:spPr>
        <p:txBody>
          <a:bodyPr wrap="square" lIns="0" tIns="0" rIns="0" bIns="0" rtlCol="0" anchor="ctr"/>
          <a:lstStyle/>
          <a:p>
            <a:pPr indent="0" marL="0">
              <a:buNone/>
            </a:pPr>
            <a:r>
              <a:rPr lang="en-US" sz="1100" b="1" dirty="0">
                <a:solidFill>
                  <a:srgbClr val="4A2E1E"/>
                </a:solidFill>
                <a:latin typeface="Calibri" pitchFamily="34" charset="0"/>
                <a:ea typeface="Calibri" pitchFamily="34" charset="-122"/>
                <a:cs typeface="Calibri" pitchFamily="34" charset="-120"/>
              </a:rPr>
              <a:t>Bargaining Power of Buyers</a:t>
            </a:r>
            <a:endParaRPr lang="en-US" sz="1100" dirty="0"/>
          </a:p>
        </p:txBody>
      </p:sp>
      <p:sp>
        <p:nvSpPr>
          <p:cNvPr id="17" name="Shape 14"/>
          <p:cNvSpPr/>
          <p:nvPr/>
        </p:nvSpPr>
        <p:spPr>
          <a:xfrm>
            <a:off x="640080" y="3675888"/>
            <a:ext cx="1417320" cy="256032"/>
          </a:xfrm>
          <a:prstGeom prst="roundRect">
            <a:avLst>
              <a:gd name="adj" fmla="val 28571"/>
            </a:avLst>
          </a:prstGeom>
          <a:solidFill>
            <a:srgbClr val="C1440E"/>
          </a:solidFill>
          <a:ln/>
        </p:spPr>
      </p:sp>
      <p:sp>
        <p:nvSpPr>
          <p:cNvPr id="18" name="Text 15"/>
          <p:cNvSpPr/>
          <p:nvPr/>
        </p:nvSpPr>
        <p:spPr>
          <a:xfrm>
            <a:off x="640080" y="3675888"/>
            <a:ext cx="14173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MODERATE–HIGH</a:t>
            </a:r>
            <a:endParaRPr lang="en-US" sz="1050" dirty="0"/>
          </a:p>
        </p:txBody>
      </p:sp>
      <p:sp>
        <p:nvSpPr>
          <p:cNvPr id="19" name="Text 16"/>
          <p:cNvSpPr/>
          <p:nvPr/>
        </p:nvSpPr>
        <p:spPr>
          <a:xfrm>
            <a:off x="640080" y="3986784"/>
            <a:ext cx="2926080" cy="594360"/>
          </a:xfrm>
          <a:prstGeom prst="rect">
            <a:avLst/>
          </a:prstGeom>
          <a:noFill/>
          <a:ln/>
        </p:spPr>
        <p:txBody>
          <a:bodyPr wrap="square" lIns="0" tIns="0" rIns="0" bIns="0" rtlCol="0" anchor="ctr"/>
          <a:lstStyle/>
          <a:p>
            <a:pPr indent="0" marL="0">
              <a:lnSpc>
                <a:spcPct val="110000"/>
              </a:lnSpc>
              <a:buNone/>
            </a:pPr>
            <a:r>
              <a:rPr lang="en-US" sz="900" dirty="0">
                <a:solidFill>
                  <a:srgbClr val="2B2118"/>
                </a:solidFill>
                <a:latin typeface="Calibri" pitchFamily="34" charset="0"/>
                <a:ea typeface="Calibri" pitchFamily="34" charset="-122"/>
                <a:cs typeface="Calibri" pitchFamily="34" charset="-120"/>
              </a:rPr>
              <a:t>Industrial buyers can switch manufacturers easily unless finish and lid quality are clearly differentiated.</a:t>
            </a:r>
            <a:endParaRPr lang="en-US" sz="900" dirty="0"/>
          </a:p>
        </p:txBody>
      </p:sp>
      <p:sp>
        <p:nvSpPr>
          <p:cNvPr id="20" name="Shape 17"/>
          <p:cNvSpPr/>
          <p:nvPr/>
        </p:nvSpPr>
        <p:spPr>
          <a:xfrm>
            <a:off x="8458200" y="3273552"/>
            <a:ext cx="3246120" cy="1371600"/>
          </a:xfrm>
          <a:prstGeom prst="rect">
            <a:avLst/>
          </a:prstGeom>
          <a:solidFill>
            <a:srgbClr val="E9DCC3"/>
          </a:solidFill>
          <a:ln/>
        </p:spPr>
      </p:sp>
      <p:sp>
        <p:nvSpPr>
          <p:cNvPr id="21" name="Text 18"/>
          <p:cNvSpPr/>
          <p:nvPr/>
        </p:nvSpPr>
        <p:spPr>
          <a:xfrm>
            <a:off x="8595360" y="3364992"/>
            <a:ext cx="2971800" cy="292608"/>
          </a:xfrm>
          <a:prstGeom prst="rect">
            <a:avLst/>
          </a:prstGeom>
          <a:noFill/>
          <a:ln/>
        </p:spPr>
        <p:txBody>
          <a:bodyPr wrap="square" lIns="0" tIns="0" rIns="0" bIns="0" rtlCol="0" anchor="ctr"/>
          <a:lstStyle/>
          <a:p>
            <a:pPr indent="0" marL="0">
              <a:buNone/>
            </a:pPr>
            <a:r>
              <a:rPr lang="en-US" sz="1100" b="1" dirty="0">
                <a:solidFill>
                  <a:srgbClr val="4A2E1E"/>
                </a:solidFill>
                <a:latin typeface="Calibri" pitchFamily="34" charset="0"/>
                <a:ea typeface="Calibri" pitchFamily="34" charset="-122"/>
                <a:cs typeface="Calibri" pitchFamily="34" charset="-120"/>
              </a:rPr>
              <a:t>Threat of Substitutes</a:t>
            </a:r>
            <a:endParaRPr lang="en-US" sz="1100" dirty="0"/>
          </a:p>
        </p:txBody>
      </p:sp>
      <p:sp>
        <p:nvSpPr>
          <p:cNvPr id="22" name="Shape 19"/>
          <p:cNvSpPr/>
          <p:nvPr/>
        </p:nvSpPr>
        <p:spPr>
          <a:xfrm>
            <a:off x="8595360" y="3675888"/>
            <a:ext cx="1417320" cy="256032"/>
          </a:xfrm>
          <a:prstGeom prst="roundRect">
            <a:avLst>
              <a:gd name="adj" fmla="val 28571"/>
            </a:avLst>
          </a:prstGeom>
          <a:solidFill>
            <a:srgbClr val="8C5A34"/>
          </a:solidFill>
          <a:ln/>
        </p:spPr>
      </p:sp>
      <p:sp>
        <p:nvSpPr>
          <p:cNvPr id="23" name="Text 20"/>
          <p:cNvSpPr/>
          <p:nvPr/>
        </p:nvSpPr>
        <p:spPr>
          <a:xfrm>
            <a:off x="8595360" y="3675888"/>
            <a:ext cx="14173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MODERATE</a:t>
            </a:r>
            <a:endParaRPr lang="en-US" sz="1050" dirty="0"/>
          </a:p>
        </p:txBody>
      </p:sp>
      <p:sp>
        <p:nvSpPr>
          <p:cNvPr id="24" name="Text 21"/>
          <p:cNvSpPr/>
          <p:nvPr/>
        </p:nvSpPr>
        <p:spPr>
          <a:xfrm>
            <a:off x="8595360" y="3986784"/>
            <a:ext cx="2971800" cy="594360"/>
          </a:xfrm>
          <a:prstGeom prst="rect">
            <a:avLst/>
          </a:prstGeom>
          <a:noFill/>
          <a:ln/>
        </p:spPr>
        <p:txBody>
          <a:bodyPr wrap="square" lIns="0" tIns="0" rIns="0" bIns="0" rtlCol="0" anchor="ctr"/>
          <a:lstStyle/>
          <a:p>
            <a:pPr indent="0" marL="0">
              <a:lnSpc>
                <a:spcPct val="110000"/>
              </a:lnSpc>
              <a:buNone/>
            </a:pPr>
            <a:r>
              <a:rPr lang="en-US" sz="900" dirty="0">
                <a:solidFill>
                  <a:srgbClr val="2B2118"/>
                </a:solidFill>
                <a:latin typeface="Calibri" pitchFamily="34" charset="0"/>
                <a:ea typeface="Calibri" pitchFamily="34" charset="-122"/>
                <a:cs typeface="Calibri" pitchFamily="34" charset="-120"/>
              </a:rPr>
              <a:t>Plastic and steel drums compete on durability, but fibre drums remain preferred on cost and recyclability.</a:t>
            </a:r>
            <a:endParaRPr lang="en-US" sz="900" dirty="0"/>
          </a:p>
        </p:txBody>
      </p:sp>
      <p:sp>
        <p:nvSpPr>
          <p:cNvPr id="25" name="Shape 22"/>
          <p:cNvSpPr/>
          <p:nvPr/>
        </p:nvSpPr>
        <p:spPr>
          <a:xfrm>
            <a:off x="4526280" y="3364992"/>
            <a:ext cx="3108960" cy="1188720"/>
          </a:xfrm>
          <a:prstGeom prst="rect">
            <a:avLst/>
          </a:prstGeom>
          <a:solidFill>
            <a:srgbClr val="4A2E1E"/>
          </a:solidFill>
          <a:ln/>
        </p:spPr>
      </p:sp>
      <p:sp>
        <p:nvSpPr>
          <p:cNvPr id="26" name="Text 23"/>
          <p:cNvSpPr/>
          <p:nvPr/>
        </p:nvSpPr>
        <p:spPr>
          <a:xfrm>
            <a:off x="4526280" y="3529584"/>
            <a:ext cx="3108960" cy="292608"/>
          </a:xfrm>
          <a:prstGeom prst="rect">
            <a:avLst/>
          </a:prstGeom>
          <a:noFill/>
          <a:ln/>
        </p:spPr>
        <p:txBody>
          <a:bodyPr wrap="square" lIns="0" tIns="0" rIns="0" bIns="0" rtlCol="0" anchor="ctr"/>
          <a:lstStyle/>
          <a:p>
            <a:pPr algn="ctr" indent="0" marL="0">
              <a:buNone/>
            </a:pPr>
            <a:r>
              <a:rPr lang="en-US" sz="1200" b="1" spc="100" kern="0" dirty="0">
                <a:solidFill>
                  <a:srgbClr val="C1440E"/>
                </a:solidFill>
                <a:latin typeface="Calibri" pitchFamily="34" charset="0"/>
                <a:ea typeface="Calibri" pitchFamily="34" charset="-122"/>
                <a:cs typeface="Calibri" pitchFamily="34" charset="-120"/>
              </a:rPr>
              <a:t>INDUSTRY RIVALRY</a:t>
            </a:r>
            <a:endParaRPr lang="en-US" sz="1200" dirty="0"/>
          </a:p>
        </p:txBody>
      </p:sp>
      <p:sp>
        <p:nvSpPr>
          <p:cNvPr id="27" name="Shape 24"/>
          <p:cNvSpPr/>
          <p:nvPr/>
        </p:nvSpPr>
        <p:spPr>
          <a:xfrm>
            <a:off x="5577840" y="3867912"/>
            <a:ext cx="1005840" cy="274320"/>
          </a:xfrm>
          <a:prstGeom prst="roundRect">
            <a:avLst>
              <a:gd name="adj" fmla="val 26667"/>
            </a:avLst>
          </a:prstGeom>
          <a:solidFill>
            <a:srgbClr val="C1440E"/>
          </a:solidFill>
          <a:ln/>
        </p:spPr>
      </p:sp>
      <p:sp>
        <p:nvSpPr>
          <p:cNvPr id="28" name="Text 25"/>
          <p:cNvSpPr/>
          <p:nvPr/>
        </p:nvSpPr>
        <p:spPr>
          <a:xfrm>
            <a:off x="5577840" y="3867912"/>
            <a:ext cx="1005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9" name="Text 26"/>
          <p:cNvSpPr/>
          <p:nvPr/>
        </p:nvSpPr>
        <p:spPr>
          <a:xfrm>
            <a:off x="4709160" y="4206240"/>
            <a:ext cx="2743200" cy="320040"/>
          </a:xfrm>
          <a:prstGeom prst="rect">
            <a:avLst/>
          </a:prstGeom>
          <a:noFill/>
          <a:ln/>
        </p:spPr>
        <p:txBody>
          <a:bodyPr wrap="square" lIns="0" tIns="0" rIns="0" bIns="0" rtlCol="0" anchor="ctr"/>
          <a:lstStyle/>
          <a:p>
            <a:pPr algn="ctr" indent="0" marL="0">
              <a:buNone/>
            </a:pPr>
            <a:r>
              <a:rPr lang="en-US" sz="850" dirty="0">
                <a:solidFill>
                  <a:srgbClr val="E9DCC3"/>
                </a:solidFill>
                <a:latin typeface="Calibri" pitchFamily="34" charset="0"/>
                <a:ea typeface="Calibri" pitchFamily="34" charset="-122"/>
                <a:cs typeface="Calibri" pitchFamily="34" charset="-120"/>
              </a:rPr>
              <a:t>Rising number of regional producers, thinning differentiation</a:t>
            </a:r>
            <a:endParaRPr lang="en-US" sz="850" dirty="0"/>
          </a:p>
        </p:txBody>
      </p:sp>
      <p:sp>
        <p:nvSpPr>
          <p:cNvPr id="30" name="Shape 27"/>
          <p:cNvSpPr/>
          <p:nvPr/>
        </p:nvSpPr>
        <p:spPr>
          <a:xfrm>
            <a:off x="6080760" y="2670048"/>
            <a:ext cx="0" cy="694944"/>
          </a:xfrm>
          <a:prstGeom prst="line">
            <a:avLst/>
          </a:prstGeom>
          <a:noFill/>
          <a:ln w="19050">
            <a:solidFill>
              <a:srgbClr val="D9C7A3"/>
            </a:solidFill>
            <a:prstDash val="solid"/>
          </a:ln>
        </p:spPr>
      </p:sp>
      <p:sp>
        <p:nvSpPr>
          <p:cNvPr id="31" name="Shape 28"/>
          <p:cNvSpPr/>
          <p:nvPr/>
        </p:nvSpPr>
        <p:spPr>
          <a:xfrm>
            <a:off x="6080760" y="4553712"/>
            <a:ext cx="0" cy="731520"/>
          </a:xfrm>
          <a:prstGeom prst="line">
            <a:avLst/>
          </a:prstGeom>
          <a:noFill/>
          <a:ln w="19050">
            <a:solidFill>
              <a:srgbClr val="D9C7A3"/>
            </a:solidFill>
            <a:prstDash val="solid"/>
          </a:ln>
        </p:spPr>
      </p:sp>
      <p:sp>
        <p:nvSpPr>
          <p:cNvPr id="32" name="Shape 29"/>
          <p:cNvSpPr/>
          <p:nvPr/>
        </p:nvSpPr>
        <p:spPr>
          <a:xfrm>
            <a:off x="3703320" y="3959352"/>
            <a:ext cx="822960" cy="0"/>
          </a:xfrm>
          <a:prstGeom prst="line">
            <a:avLst/>
          </a:prstGeom>
          <a:noFill/>
          <a:ln w="19050">
            <a:solidFill>
              <a:srgbClr val="D9C7A3"/>
            </a:solidFill>
            <a:prstDash val="solid"/>
          </a:ln>
        </p:spPr>
      </p:sp>
      <p:sp>
        <p:nvSpPr>
          <p:cNvPr id="33" name="Shape 30"/>
          <p:cNvSpPr/>
          <p:nvPr/>
        </p:nvSpPr>
        <p:spPr>
          <a:xfrm>
            <a:off x="7635240" y="3959352"/>
            <a:ext cx="822960" cy="0"/>
          </a:xfrm>
          <a:prstGeom prst="line">
            <a:avLst/>
          </a:prstGeom>
          <a:noFill/>
          <a:ln w="19050">
            <a:solidFill>
              <a:srgbClr val="D9C7A3"/>
            </a:solidFill>
            <a:prstDash val="solid"/>
          </a:ln>
        </p:spPr>
      </p:sp>
      <p:sp>
        <p:nvSpPr>
          <p:cNvPr id="34" name="Text 31"/>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35" name="Text 3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BENCHMARKING</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Same or better spec, yet priced 6–10% below competitors</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1965960"/>
                <a:gridCol w="1371600"/>
                <a:gridCol w="1371600"/>
                <a:gridCol w="1371600"/>
                <a:gridCol w="132588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Attribute</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4A2E1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Client</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4A2E1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Competitor A</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4A2E1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Competitor B</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4A2E1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Competitor C</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4A2E1E"/>
                    </a:solidFill>
                  </a:tcPr>
                </a:tc>
              </a:tr>
              <a:tr h="566928">
                <a:tc>
                  <a:txBody>
                    <a:bodyPr/>
                    <a:lstStyle/>
                    <a:p>
                      <a:pPr indent="0" marL="0">
                        <a:buNone/>
                      </a:pPr>
                      <a:r>
                        <a:rPr lang="en-US" sz="1050" b="1" dirty="0">
                          <a:solidFill>
                            <a:srgbClr val="2B2118"/>
                          </a:solidFill>
                          <a:latin typeface="Calibri" pitchFamily="34" charset="0"/>
                          <a:ea typeface="Calibri" pitchFamily="34" charset="-122"/>
                          <a:cs typeface="Calibri" pitchFamily="34" charset="-120"/>
                        </a:rPr>
                        <a:t>Surface finish</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Varnish &amp; wax on request</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Plain kraft only</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Wax on request</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Plain kraft only</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r h="566928">
                <a:tc>
                  <a:txBody>
                    <a:bodyPr/>
                    <a:lstStyle/>
                    <a:p>
                      <a:pPr indent="0" marL="0">
                        <a:buNone/>
                      </a:pPr>
                      <a:r>
                        <a:rPr lang="en-US" sz="1050" b="1" dirty="0">
                          <a:solidFill>
                            <a:srgbClr val="2B2118"/>
                          </a:solidFill>
                          <a:latin typeface="Calibri" pitchFamily="34" charset="0"/>
                          <a:ea typeface="Calibri" pitchFamily="34" charset="-122"/>
                          <a:cs typeface="Calibri" pitchFamily="34" charset="-120"/>
                        </a:rPr>
                        <a:t>Lid design</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Full-open</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Partial-open</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Fixed</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Full-open</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r>
              <a:tr h="566928">
                <a:tc>
                  <a:txBody>
                    <a:bodyPr/>
                    <a:lstStyle/>
                    <a:p>
                      <a:pPr indent="0" marL="0">
                        <a:buNone/>
                      </a:pPr>
                      <a:r>
                        <a:rPr lang="en-US" sz="1050" b="1" dirty="0">
                          <a:solidFill>
                            <a:srgbClr val="2B2118"/>
                          </a:solidFill>
                          <a:latin typeface="Calibri" pitchFamily="34" charset="0"/>
                          <a:ea typeface="Calibri" pitchFamily="34" charset="-122"/>
                          <a:cs typeface="Calibri" pitchFamily="34" charset="-120"/>
                        </a:rPr>
                        <a:t>Printing-ready surface</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r h="566928">
                <a:tc>
                  <a:txBody>
                    <a:bodyPr/>
                    <a:lstStyle/>
                    <a:p>
                      <a:pPr indent="0" marL="0">
                        <a:buNone/>
                      </a:pPr>
                      <a:r>
                        <a:rPr lang="en-US" sz="1050" b="1" dirty="0">
                          <a:solidFill>
                            <a:srgbClr val="2B2118"/>
                          </a:solidFill>
                          <a:latin typeface="Calibri" pitchFamily="34" charset="0"/>
                          <a:ea typeface="Calibri" pitchFamily="34" charset="-122"/>
                          <a:cs typeface="Calibri" pitchFamily="34" charset="-120"/>
                        </a:rPr>
                        <a:t>Capacity range (L)</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7–225</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15–150</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10–200</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20–180</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r>
              <a:tr h="566928">
                <a:tc>
                  <a:txBody>
                    <a:bodyPr/>
                    <a:lstStyle/>
                    <a:p>
                      <a:pPr indent="0" marL="0">
                        <a:buNone/>
                      </a:pPr>
                      <a:r>
                        <a:rPr lang="en-US" sz="1050" b="1" dirty="0">
                          <a:solidFill>
                            <a:srgbClr val="2B2118"/>
                          </a:solidFill>
                          <a:latin typeface="Calibri" pitchFamily="34" charset="0"/>
                          <a:ea typeface="Calibri" pitchFamily="34" charset="-122"/>
                          <a:cs typeface="Calibri" pitchFamily="34" charset="-120"/>
                        </a:rPr>
                        <a:t>Indicative price, 50 L tier (₹)</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230</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245</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bl>
          </a:graphicData>
        </a:graphic>
      </p:graphicFrame>
      <p:sp>
        <p:nvSpPr>
          <p:cNvPr id="6" name="Shape 2"/>
          <p:cNvSpPr/>
          <p:nvPr/>
        </p:nvSpPr>
        <p:spPr>
          <a:xfrm>
            <a:off x="548640" y="5257800"/>
            <a:ext cx="64008" cy="868680"/>
          </a:xfrm>
          <a:prstGeom prst="rect">
            <a:avLst/>
          </a:prstGeom>
          <a:solidFill>
            <a:srgbClr val="C1440E"/>
          </a:solidFill>
          <a:ln/>
        </p:spPr>
      </p:sp>
      <p:sp>
        <p:nvSpPr>
          <p:cNvPr id="7" name="Text 3"/>
          <p:cNvSpPr/>
          <p:nvPr/>
        </p:nvSpPr>
        <p:spPr>
          <a:xfrm>
            <a:off x="749808" y="5257800"/>
            <a:ext cx="7132320" cy="237744"/>
          </a:xfrm>
          <a:prstGeom prst="rect">
            <a:avLst/>
          </a:prstGeom>
          <a:noFill/>
          <a:ln/>
        </p:spPr>
        <p:txBody>
          <a:bodyPr wrap="square" lIns="0" tIns="0" rIns="0" bIns="0" rtlCol="0" anchor="ctr"/>
          <a:lstStyle/>
          <a:p>
            <a:pPr indent="0" marL="0">
              <a:buNone/>
            </a:pPr>
            <a:r>
              <a:rPr lang="en-US" sz="950" b="1" spc="150" kern="0" dirty="0">
                <a:solidFill>
                  <a:srgbClr val="C1440E"/>
                </a:solidFill>
                <a:latin typeface="Calibri" pitchFamily="34" charset="0"/>
                <a:ea typeface="Calibri" pitchFamily="34" charset="-122"/>
                <a:cs typeface="Calibri" pitchFamily="34" charset="-120"/>
              </a:rPr>
              <a:t>SO WHAT</a:t>
            </a:r>
            <a:endParaRPr lang="en-US" sz="950" dirty="0"/>
          </a:p>
        </p:txBody>
      </p:sp>
      <p:sp>
        <p:nvSpPr>
          <p:cNvPr id="8" name="Text 4"/>
          <p:cNvSpPr/>
          <p:nvPr/>
        </p:nvSpPr>
        <p:spPr>
          <a:xfrm>
            <a:off x="749808" y="5504688"/>
            <a:ext cx="7132320" cy="621792"/>
          </a:xfrm>
          <a:prstGeom prst="rect">
            <a:avLst/>
          </a:prstGeom>
          <a:noFill/>
          <a:ln/>
        </p:spPr>
        <p:txBody>
          <a:bodyPr wrap="square" lIns="0" tIns="0" rIns="0" bIns="0" rtlCol="0" anchor="t"/>
          <a:lstStyle/>
          <a:p>
            <a:pPr indent="0" marL="0">
              <a:lnSpc>
                <a:spcPct val="115000"/>
              </a:lnSpc>
              <a:buNone/>
            </a:pPr>
            <a:r>
              <a:rPr lang="en-US" sz="1100" dirty="0">
                <a:solidFill>
                  <a:srgbClr val="2B2118"/>
                </a:solidFill>
                <a:latin typeface="Calibri" pitchFamily="34" charset="0"/>
                <a:ea typeface="Calibri" pitchFamily="34" charset="-122"/>
                <a:cs typeface="Calibri" pitchFamily="34" charset="-120"/>
              </a:rPr>
              <a:t>At 50 L the client charges ₹230 while competitors charge ₹240–255, and the client matches or beats every one of them on finish, lid design and print surface.</a:t>
            </a:r>
            <a:endParaRPr lang="en-US" sz="1100" dirty="0"/>
          </a:p>
        </p:txBody>
      </p:sp>
      <p:sp>
        <p:nvSpPr>
          <p:cNvPr id="9" name="Text 5"/>
          <p:cNvSpPr/>
          <p:nvPr/>
        </p:nvSpPr>
        <p:spPr>
          <a:xfrm>
            <a:off x="8229600" y="1417320"/>
            <a:ext cx="3383280" cy="320040"/>
          </a:xfrm>
          <a:prstGeom prst="rect">
            <a:avLst/>
          </a:prstGeom>
          <a:noFill/>
          <a:ln/>
        </p:spPr>
        <p:txBody>
          <a:bodyPr wrap="square" lIns="0" tIns="0" rIns="0" bIns="0" rtlCol="0" anchor="ctr"/>
          <a:lstStyle/>
          <a:p>
            <a:pPr indent="0" marL="0">
              <a:buNone/>
            </a:pPr>
            <a:r>
              <a:rPr lang="en-US" sz="1150" b="1" dirty="0">
                <a:solidFill>
                  <a:srgbClr val="4A2E1E"/>
                </a:solidFill>
                <a:latin typeface="Calibri" pitchFamily="34" charset="0"/>
                <a:ea typeface="Calibri" pitchFamily="34" charset="-122"/>
                <a:cs typeface="Calibri" pitchFamily="34" charset="-120"/>
              </a:rPr>
              <a:t>Indicative Price by Capacity Tier (₹/drum)</a:t>
            </a:r>
            <a:endParaRPr lang="en-US" sz="1150" dirty="0"/>
          </a:p>
        </p:txBody>
      </p:sp>
      <p:graphicFrame>
        <p:nvGraphicFramePr>
          <p:cNvPr id="10" name="Chart 0" descr=""/>
          <p:cNvGraphicFramePr/>
          <p:nvPr/>
        </p:nvGraphicFramePr>
        <p:xfrm>
          <a:off x="8138160" y="1783080"/>
          <a:ext cx="3566160" cy="4206240"/>
        </p:xfrm>
        <a:graphic xmlns:a="http://schemas.openxmlformats.org/drawingml/2006/main">
          <a:graphicData uri="http://schemas.openxmlformats.org/drawingml/2006/chart">
            <c:chart xmlns:c="http://schemas.openxmlformats.org/drawingml/2006/chart" r:id="rId1"/>
          </a:graphicData>
        </a:graphic>
      </p:graphicFrame>
      <p:sp>
        <p:nvSpPr>
          <p:cNvPr id="11" name="Text 6"/>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12" name="Text 7"/>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SWOT</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Strong product, weak selling: the gap is commercial, not technical</a:t>
            </a:r>
            <a:endParaRPr lang="en-US" sz="2400" dirty="0"/>
          </a:p>
        </p:txBody>
      </p:sp>
      <p:sp>
        <p:nvSpPr>
          <p:cNvPr id="5" name="Shape 2"/>
          <p:cNvSpPr/>
          <p:nvPr/>
        </p:nvSpPr>
        <p:spPr>
          <a:xfrm>
            <a:off x="548640" y="1463040"/>
            <a:ext cx="5623560" cy="2331720"/>
          </a:xfrm>
          <a:prstGeom prst="rect">
            <a:avLst/>
          </a:prstGeom>
          <a:solidFill>
            <a:srgbClr val="E9DCC3"/>
          </a:solidFill>
          <a:ln/>
        </p:spPr>
      </p:sp>
      <p:sp>
        <p:nvSpPr>
          <p:cNvPr id="6" name="Shape 3"/>
          <p:cNvSpPr/>
          <p:nvPr/>
        </p:nvSpPr>
        <p:spPr>
          <a:xfrm>
            <a:off x="548640" y="1463040"/>
            <a:ext cx="5623560" cy="384048"/>
          </a:xfrm>
          <a:prstGeom prst="rect">
            <a:avLst/>
          </a:prstGeom>
          <a:solidFill>
            <a:srgbClr val="3F6B4A"/>
          </a:solidFill>
          <a:ln/>
        </p:spPr>
      </p:sp>
      <p:sp>
        <p:nvSpPr>
          <p:cNvPr id="7" name="Text 4"/>
          <p:cNvSpPr/>
          <p:nvPr/>
        </p:nvSpPr>
        <p:spPr>
          <a:xfrm>
            <a:off x="731520" y="1463040"/>
            <a:ext cx="5303520" cy="384048"/>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STRENGTHS</a:t>
            </a:r>
            <a:endParaRPr lang="en-US" sz="1250" dirty="0"/>
          </a:p>
        </p:txBody>
      </p:sp>
      <p:sp>
        <p:nvSpPr>
          <p:cNvPr id="8" name="Text 5"/>
          <p:cNvSpPr/>
          <p:nvPr/>
        </p:nvSpPr>
        <p:spPr>
          <a:xfrm>
            <a:off x="731520" y="1965960"/>
            <a:ext cx="5257800" cy="1737360"/>
          </a:xfrm>
          <a:prstGeom prst="rect">
            <a:avLst/>
          </a:prstGeom>
          <a:noFill/>
          <a:ln/>
        </p:spPr>
        <p:txBody>
          <a:bodyPr wrap="square" lIns="0" tIns="0" rIns="0" bIns="0" rtlCol="0" anchor="t"/>
          <a:lstStyle/>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Varnish/wax finishing option, uncommon among regional peers</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Full-open lid design for easy fill/empty</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Wide capacity range (7–225 L) from one production line</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Established relationships across chemicals, pharma, and food accounts</a:t>
            </a:r>
            <a:endParaRPr lang="en-US" sz="1100" dirty="0"/>
          </a:p>
        </p:txBody>
      </p:sp>
      <p:sp>
        <p:nvSpPr>
          <p:cNvPr id="9" name="Shape 6"/>
          <p:cNvSpPr/>
          <p:nvPr/>
        </p:nvSpPr>
        <p:spPr>
          <a:xfrm>
            <a:off x="5989320" y="1463040"/>
            <a:ext cx="5623560" cy="2331720"/>
          </a:xfrm>
          <a:prstGeom prst="rect">
            <a:avLst/>
          </a:prstGeom>
          <a:solidFill>
            <a:srgbClr val="E9DCC3"/>
          </a:solidFill>
          <a:ln/>
        </p:spPr>
      </p:sp>
      <p:sp>
        <p:nvSpPr>
          <p:cNvPr id="10" name="Shape 7"/>
          <p:cNvSpPr/>
          <p:nvPr/>
        </p:nvSpPr>
        <p:spPr>
          <a:xfrm>
            <a:off x="5989320" y="1463040"/>
            <a:ext cx="5623560" cy="384048"/>
          </a:xfrm>
          <a:prstGeom prst="rect">
            <a:avLst/>
          </a:prstGeom>
          <a:solidFill>
            <a:srgbClr val="C1440E"/>
          </a:solidFill>
          <a:ln/>
        </p:spPr>
      </p:sp>
      <p:sp>
        <p:nvSpPr>
          <p:cNvPr id="11" name="Text 8"/>
          <p:cNvSpPr/>
          <p:nvPr/>
        </p:nvSpPr>
        <p:spPr>
          <a:xfrm>
            <a:off x="6172200" y="1463040"/>
            <a:ext cx="5303520" cy="384048"/>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WEAKNESSES</a:t>
            </a:r>
            <a:endParaRPr lang="en-US" sz="1250" dirty="0"/>
          </a:p>
        </p:txBody>
      </p:sp>
      <p:sp>
        <p:nvSpPr>
          <p:cNvPr id="12" name="Text 9"/>
          <p:cNvSpPr/>
          <p:nvPr/>
        </p:nvSpPr>
        <p:spPr>
          <a:xfrm>
            <a:off x="6172200" y="1965960"/>
            <a:ext cx="5257800" cy="1737360"/>
          </a:xfrm>
          <a:prstGeom prst="rect">
            <a:avLst/>
          </a:prstGeom>
          <a:noFill/>
          <a:ln/>
        </p:spPr>
        <p:txBody>
          <a:bodyPr wrap="square" lIns="0" tIns="0" rIns="0" bIns="0" rtlCol="0" anchor="t"/>
          <a:lstStyle/>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No structured competitor or pricing benchmarking in place</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Limited digital presence / catalogue for buyer discovery</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Quality differentiators not reflected in quotations</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Sales team not yet briefed on a value-based pitch</a:t>
            </a:r>
            <a:endParaRPr lang="en-US" sz="1100" dirty="0"/>
          </a:p>
        </p:txBody>
      </p:sp>
      <p:sp>
        <p:nvSpPr>
          <p:cNvPr id="13" name="Shape 10"/>
          <p:cNvSpPr/>
          <p:nvPr/>
        </p:nvSpPr>
        <p:spPr>
          <a:xfrm>
            <a:off x="548640" y="3977640"/>
            <a:ext cx="5623560" cy="2331720"/>
          </a:xfrm>
          <a:prstGeom prst="rect">
            <a:avLst/>
          </a:prstGeom>
          <a:solidFill>
            <a:srgbClr val="E9DCC3"/>
          </a:solidFill>
          <a:ln/>
        </p:spPr>
      </p:sp>
      <p:sp>
        <p:nvSpPr>
          <p:cNvPr id="14" name="Shape 11"/>
          <p:cNvSpPr/>
          <p:nvPr/>
        </p:nvSpPr>
        <p:spPr>
          <a:xfrm>
            <a:off x="548640" y="3977640"/>
            <a:ext cx="5623560" cy="384048"/>
          </a:xfrm>
          <a:prstGeom prst="rect">
            <a:avLst/>
          </a:prstGeom>
          <a:solidFill>
            <a:srgbClr val="8C5A34"/>
          </a:solidFill>
          <a:ln/>
        </p:spPr>
      </p:sp>
      <p:sp>
        <p:nvSpPr>
          <p:cNvPr id="15" name="Text 12"/>
          <p:cNvSpPr/>
          <p:nvPr/>
        </p:nvSpPr>
        <p:spPr>
          <a:xfrm>
            <a:off x="731520" y="3977640"/>
            <a:ext cx="5303520" cy="384048"/>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OPPORTUNITIES</a:t>
            </a:r>
            <a:endParaRPr lang="en-US" sz="1250" dirty="0"/>
          </a:p>
        </p:txBody>
      </p:sp>
      <p:sp>
        <p:nvSpPr>
          <p:cNvPr id="16" name="Text 13"/>
          <p:cNvSpPr/>
          <p:nvPr/>
        </p:nvSpPr>
        <p:spPr>
          <a:xfrm>
            <a:off x="731520" y="4480560"/>
            <a:ext cx="5257800" cy="1737360"/>
          </a:xfrm>
          <a:prstGeom prst="rect">
            <a:avLst/>
          </a:prstGeom>
          <a:noFill/>
          <a:ln/>
        </p:spPr>
        <p:txBody>
          <a:bodyPr wrap="square" lIns="0" tIns="0" rIns="0" bIns="0" rtlCol="0" anchor="t"/>
          <a:lstStyle/>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Export-packaging demand growing faster than domestic mix</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Buyers increasingly value recyclable, lightweight packaging</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Bundling finish + print-readiness as a premium tier</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India's paper-packaging market projected to more than double by 2030 (IBEF)</a:t>
            </a:r>
            <a:endParaRPr lang="en-US" sz="1100" dirty="0"/>
          </a:p>
        </p:txBody>
      </p:sp>
      <p:sp>
        <p:nvSpPr>
          <p:cNvPr id="17" name="Shape 14"/>
          <p:cNvSpPr/>
          <p:nvPr/>
        </p:nvSpPr>
        <p:spPr>
          <a:xfrm>
            <a:off x="5989320" y="3977640"/>
            <a:ext cx="5623560" cy="2331720"/>
          </a:xfrm>
          <a:prstGeom prst="rect">
            <a:avLst/>
          </a:prstGeom>
          <a:solidFill>
            <a:srgbClr val="E9DCC3"/>
          </a:solidFill>
          <a:ln/>
        </p:spPr>
      </p:sp>
      <p:sp>
        <p:nvSpPr>
          <p:cNvPr id="18" name="Shape 15"/>
          <p:cNvSpPr/>
          <p:nvPr/>
        </p:nvSpPr>
        <p:spPr>
          <a:xfrm>
            <a:off x="5989320" y="3977640"/>
            <a:ext cx="5623560" cy="384048"/>
          </a:xfrm>
          <a:prstGeom prst="rect">
            <a:avLst/>
          </a:prstGeom>
          <a:solidFill>
            <a:srgbClr val="50656B"/>
          </a:solidFill>
          <a:ln/>
        </p:spPr>
      </p:sp>
      <p:sp>
        <p:nvSpPr>
          <p:cNvPr id="19" name="Text 16"/>
          <p:cNvSpPr/>
          <p:nvPr/>
        </p:nvSpPr>
        <p:spPr>
          <a:xfrm>
            <a:off x="6172200" y="3977640"/>
            <a:ext cx="5303520" cy="384048"/>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THREATS</a:t>
            </a:r>
            <a:endParaRPr lang="en-US" sz="1250" dirty="0"/>
          </a:p>
        </p:txBody>
      </p:sp>
      <p:sp>
        <p:nvSpPr>
          <p:cNvPr id="20" name="Text 17"/>
          <p:cNvSpPr/>
          <p:nvPr/>
        </p:nvSpPr>
        <p:spPr>
          <a:xfrm>
            <a:off x="6172200" y="4480560"/>
            <a:ext cx="5257800" cy="1737360"/>
          </a:xfrm>
          <a:prstGeom prst="rect">
            <a:avLst/>
          </a:prstGeom>
          <a:noFill/>
          <a:ln/>
        </p:spPr>
        <p:txBody>
          <a:bodyPr wrap="square" lIns="0" tIns="0" rIns="0" bIns="0" rtlCol="0" anchor="t"/>
          <a:lstStyle/>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Plastic and steel drums as durability-driven substitutes</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Kraft paper (pulp) input-cost volatility</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New regional entrants competing purely on price</a:t>
            </a:r>
            <a:endParaRPr lang="en-US" sz="1100" dirty="0"/>
          </a:p>
          <a:p>
            <a:pPr marL="152400" indent="-152400">
              <a:lnSpc>
                <a:spcPct val="115000"/>
              </a:lnSpc>
              <a:spcAft>
                <a:spcPts val="600"/>
              </a:spcAft>
              <a:buSzPct val="100000"/>
              <a:buChar char="•"/>
            </a:pPr>
            <a:r>
              <a:rPr lang="en-US" sz="1100" dirty="0">
                <a:solidFill>
                  <a:srgbClr val="2B2118"/>
                </a:solidFill>
                <a:latin typeface="Calibri" pitchFamily="34" charset="0"/>
                <a:ea typeface="Calibri" pitchFamily="34" charset="-122"/>
                <a:cs typeface="Calibri" pitchFamily="34" charset="-120"/>
              </a:rPr>
              <a:t>Competitors could copy finish/lid features once visibly promoted</a:t>
            </a:r>
            <a:endParaRPr lang="en-US" sz="1100" dirty="0"/>
          </a:p>
        </p:txBody>
      </p:sp>
      <p:sp>
        <p:nvSpPr>
          <p:cNvPr id="21" name="Text 18"/>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22" name="Text 19"/>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RECOMMENDATIONS</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Show the difference first, then charge for it</a:t>
            </a:r>
            <a:endParaRPr lang="en-US" sz="2400" dirty="0"/>
          </a:p>
        </p:txBody>
      </p:sp>
      <p:sp>
        <p:nvSpPr>
          <p:cNvPr id="5" name="Shape 2"/>
          <p:cNvSpPr/>
          <p:nvPr/>
        </p:nvSpPr>
        <p:spPr>
          <a:xfrm>
            <a:off x="548640" y="1463040"/>
            <a:ext cx="5166360" cy="2743200"/>
          </a:xfrm>
          <a:prstGeom prst="rect">
            <a:avLst/>
          </a:prstGeom>
          <a:solidFill>
            <a:srgbClr val="E9DCC3"/>
          </a:solidFill>
          <a:ln/>
        </p:spPr>
      </p:sp>
      <p:sp>
        <p:nvSpPr>
          <p:cNvPr id="6" name="Shape 3"/>
          <p:cNvSpPr/>
          <p:nvPr/>
        </p:nvSpPr>
        <p:spPr>
          <a:xfrm>
            <a:off x="822960" y="1719072"/>
            <a:ext cx="457200" cy="457200"/>
          </a:xfrm>
          <a:prstGeom prst="ellipse">
            <a:avLst/>
          </a:prstGeom>
          <a:solidFill>
            <a:srgbClr val="4A2E1E"/>
          </a:solidFill>
          <a:ln/>
        </p:spPr>
      </p:sp>
      <p:sp>
        <p:nvSpPr>
          <p:cNvPr id="7" name="Text 4"/>
          <p:cNvSpPr/>
          <p:nvPr/>
        </p:nvSpPr>
        <p:spPr>
          <a:xfrm>
            <a:off x="822960" y="17190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8" name="Text 5"/>
          <p:cNvSpPr/>
          <p:nvPr/>
        </p:nvSpPr>
        <p:spPr>
          <a:xfrm>
            <a:off x="1417320" y="1737360"/>
            <a:ext cx="4114800" cy="411480"/>
          </a:xfrm>
          <a:prstGeom prst="rect">
            <a:avLst/>
          </a:prstGeom>
          <a:noFill/>
          <a:ln/>
        </p:spPr>
        <p:txBody>
          <a:bodyPr wrap="square" lIns="0" tIns="0" rIns="0" bIns="0" rtlCol="0" anchor="ctr"/>
          <a:lstStyle/>
          <a:p>
            <a:pPr indent="0" marL="0">
              <a:buNone/>
            </a:pPr>
            <a:r>
              <a:rPr lang="en-US" sz="1600" b="1" dirty="0">
                <a:solidFill>
                  <a:srgbClr val="4A2E1E"/>
                </a:solidFill>
                <a:latin typeface="Cambria" pitchFamily="34" charset="0"/>
                <a:ea typeface="Cambria" pitchFamily="34" charset="-122"/>
                <a:cs typeface="Cambria" pitchFamily="34" charset="-120"/>
              </a:rPr>
              <a:t>Product Differentiation</a:t>
            </a:r>
            <a:endParaRPr lang="en-US" sz="1600" dirty="0"/>
          </a:p>
        </p:txBody>
      </p:sp>
      <p:sp>
        <p:nvSpPr>
          <p:cNvPr id="9" name="Text 6"/>
          <p:cNvSpPr/>
          <p:nvPr/>
        </p:nvSpPr>
        <p:spPr>
          <a:xfrm>
            <a:off x="822960" y="2286000"/>
            <a:ext cx="4617720" cy="1737360"/>
          </a:xfrm>
          <a:prstGeom prst="rect">
            <a:avLst/>
          </a:prstGeom>
          <a:noFill/>
          <a:ln/>
        </p:spPr>
        <p:txBody>
          <a:bodyPr wrap="square" lIns="0" tIns="0" rIns="0" bIns="0" rtlCol="0" anchor="t"/>
          <a:lstStyle/>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Lead with varnish/wax finishing and printing-ready surface as named, sellable features</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Promote full-open lid design as a handling advantage for chemical, food, and metal-powder customers</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Use the full 7–225 L range to cover more customer specs without new tooling</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Issue simple spec sheets so buyers compare on features, not price alone</a:t>
            </a:r>
            <a:endParaRPr lang="en-US" sz="1150" dirty="0"/>
          </a:p>
        </p:txBody>
      </p:sp>
      <p:sp>
        <p:nvSpPr>
          <p:cNvPr id="10" name="Shape 7"/>
          <p:cNvSpPr/>
          <p:nvPr/>
        </p:nvSpPr>
        <p:spPr>
          <a:xfrm>
            <a:off x="6355080" y="1463040"/>
            <a:ext cx="5166360" cy="2743200"/>
          </a:xfrm>
          <a:prstGeom prst="rect">
            <a:avLst/>
          </a:prstGeom>
          <a:solidFill>
            <a:srgbClr val="E9DCC3"/>
          </a:solidFill>
          <a:ln/>
        </p:spPr>
      </p:sp>
      <p:sp>
        <p:nvSpPr>
          <p:cNvPr id="11" name="Shape 8"/>
          <p:cNvSpPr/>
          <p:nvPr/>
        </p:nvSpPr>
        <p:spPr>
          <a:xfrm>
            <a:off x="6629400" y="1719072"/>
            <a:ext cx="457200" cy="457200"/>
          </a:xfrm>
          <a:prstGeom prst="ellipse">
            <a:avLst/>
          </a:prstGeom>
          <a:solidFill>
            <a:srgbClr val="4A2E1E"/>
          </a:solidFill>
          <a:ln/>
        </p:spPr>
      </p:sp>
      <p:sp>
        <p:nvSpPr>
          <p:cNvPr id="12" name="Text 9"/>
          <p:cNvSpPr/>
          <p:nvPr/>
        </p:nvSpPr>
        <p:spPr>
          <a:xfrm>
            <a:off x="6629400" y="17190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0"/>
          <p:cNvSpPr/>
          <p:nvPr/>
        </p:nvSpPr>
        <p:spPr>
          <a:xfrm>
            <a:off x="7223760" y="1737360"/>
            <a:ext cx="4114800" cy="411480"/>
          </a:xfrm>
          <a:prstGeom prst="rect">
            <a:avLst/>
          </a:prstGeom>
          <a:noFill/>
          <a:ln/>
        </p:spPr>
        <p:txBody>
          <a:bodyPr wrap="square" lIns="0" tIns="0" rIns="0" bIns="0" rtlCol="0" anchor="ctr"/>
          <a:lstStyle/>
          <a:p>
            <a:pPr indent="0" marL="0">
              <a:buNone/>
            </a:pPr>
            <a:r>
              <a:rPr lang="en-US" sz="1600" b="1" dirty="0">
                <a:solidFill>
                  <a:srgbClr val="4A2E1E"/>
                </a:solidFill>
                <a:latin typeface="Cambria" pitchFamily="34" charset="0"/>
                <a:ea typeface="Cambria" pitchFamily="34" charset="-122"/>
                <a:cs typeface="Cambria" pitchFamily="34" charset="-120"/>
              </a:rPr>
              <a:t>Pricing &amp; Value Proposition</a:t>
            </a:r>
            <a:endParaRPr lang="en-US" sz="1600" dirty="0"/>
          </a:p>
        </p:txBody>
      </p:sp>
      <p:sp>
        <p:nvSpPr>
          <p:cNvPr id="14" name="Text 11"/>
          <p:cNvSpPr/>
          <p:nvPr/>
        </p:nvSpPr>
        <p:spPr>
          <a:xfrm>
            <a:off x="6629400" y="2286000"/>
            <a:ext cx="4617720" cy="1737360"/>
          </a:xfrm>
          <a:prstGeom prst="rect">
            <a:avLst/>
          </a:prstGeom>
          <a:noFill/>
          <a:ln/>
        </p:spPr>
        <p:txBody>
          <a:bodyPr wrap="square" lIns="0" tIns="0" rIns="0" bIns="0" rtlCol="0" anchor="t"/>
          <a:lstStyle/>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Move from flat, reactive pricing to tiers aligned with capacity and finish level</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Bundle value-adds (waxing, printing) into premium tiers instead of quoting them as discounts</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Anchor quotes to the competitor benchmark, not cost-plus alone, to defend margin</a:t>
            </a:r>
            <a:endParaRPr lang="en-US" sz="1150" dirty="0"/>
          </a:p>
          <a:p>
            <a:pPr marL="177800" indent="-177800">
              <a:lnSpc>
                <a:spcPct val="112000"/>
              </a:lnSpc>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Position explicitly for export packaging, where finish and durability carry more weight</a:t>
            </a:r>
            <a:endParaRPr lang="en-US" sz="1150" dirty="0"/>
          </a:p>
        </p:txBody>
      </p:sp>
      <p:sp>
        <p:nvSpPr>
          <p:cNvPr id="15" name="Text 12"/>
          <p:cNvSpPr/>
          <p:nvPr/>
        </p:nvSpPr>
        <p:spPr>
          <a:xfrm>
            <a:off x="548640" y="4434840"/>
            <a:ext cx="7315200" cy="320040"/>
          </a:xfrm>
          <a:prstGeom prst="rect">
            <a:avLst/>
          </a:prstGeom>
          <a:noFill/>
          <a:ln/>
        </p:spPr>
        <p:txBody>
          <a:bodyPr wrap="square" lIns="0" tIns="0" rIns="0" bIns="0" rtlCol="0" anchor="ctr"/>
          <a:lstStyle/>
          <a:p>
            <a:pPr indent="0" marL="0">
              <a:buNone/>
            </a:pPr>
            <a:r>
              <a:rPr lang="en-US" sz="1200" b="1" dirty="0">
                <a:solidFill>
                  <a:srgbClr val="4A2E1E"/>
                </a:solidFill>
                <a:latin typeface="Calibri" pitchFamily="34" charset="0"/>
                <a:ea typeface="Calibri" pitchFamily="34" charset="-122"/>
                <a:cs typeface="Calibri" pitchFamily="34" charset="-120"/>
              </a:rPr>
              <a:t>Price walk, 50 L drum (₹)</a:t>
            </a:r>
            <a:endParaRPr lang="en-US" sz="1200" dirty="0"/>
          </a:p>
        </p:txBody>
      </p:sp>
      <p:sp>
        <p:nvSpPr>
          <p:cNvPr id="16" name="Shape 13"/>
          <p:cNvSpPr/>
          <p:nvPr/>
        </p:nvSpPr>
        <p:spPr>
          <a:xfrm>
            <a:off x="548640" y="4846320"/>
            <a:ext cx="1554480" cy="1051560"/>
          </a:xfrm>
          <a:prstGeom prst="rect">
            <a:avLst/>
          </a:prstGeom>
          <a:solidFill>
            <a:srgbClr val="D9C7A3"/>
          </a:solidFill>
          <a:ln/>
        </p:spPr>
      </p:sp>
      <p:sp>
        <p:nvSpPr>
          <p:cNvPr id="17" name="Text 14"/>
          <p:cNvSpPr/>
          <p:nvPr/>
        </p:nvSpPr>
        <p:spPr>
          <a:xfrm>
            <a:off x="548640" y="4956048"/>
            <a:ext cx="1554480" cy="365760"/>
          </a:xfrm>
          <a:prstGeom prst="rect">
            <a:avLst/>
          </a:prstGeom>
          <a:noFill/>
          <a:ln/>
        </p:spPr>
        <p:txBody>
          <a:bodyPr wrap="square" lIns="0" tIns="0" rIns="0" bIns="0" rtlCol="0" anchor="ctr"/>
          <a:lstStyle/>
          <a:p>
            <a:pPr algn="ctr" indent="0" marL="0">
              <a:buNone/>
            </a:pPr>
            <a:r>
              <a:rPr lang="en-US" sz="1600" b="1" dirty="0">
                <a:solidFill>
                  <a:srgbClr val="2B2118"/>
                </a:solidFill>
                <a:latin typeface="Calibri" pitchFamily="34" charset="0"/>
                <a:ea typeface="Calibri" pitchFamily="34" charset="-122"/>
                <a:cs typeface="Calibri" pitchFamily="34" charset="-120"/>
              </a:rPr>
              <a:t>₹230</a:t>
            </a:r>
            <a:endParaRPr lang="en-US" sz="1600" dirty="0"/>
          </a:p>
        </p:txBody>
      </p:sp>
      <p:sp>
        <p:nvSpPr>
          <p:cNvPr id="18" name="Text 15"/>
          <p:cNvSpPr/>
          <p:nvPr/>
        </p:nvSpPr>
        <p:spPr>
          <a:xfrm>
            <a:off x="548640" y="5321808"/>
            <a:ext cx="1554480" cy="502920"/>
          </a:xfrm>
          <a:prstGeom prst="rect">
            <a:avLst/>
          </a:prstGeom>
          <a:noFill/>
          <a:ln/>
        </p:spPr>
        <p:txBody>
          <a:bodyPr wrap="square" lIns="0" tIns="0" rIns="0" bIns="0" rtlCol="0" anchor="ctr"/>
          <a:lstStyle/>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Prior</a:t>
            </a:r>
            <a:endParaRPr lang="en-US" sz="950" dirty="0"/>
          </a:p>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price</a:t>
            </a:r>
            <a:endParaRPr lang="en-US" sz="950" dirty="0"/>
          </a:p>
        </p:txBody>
      </p:sp>
      <p:sp>
        <p:nvSpPr>
          <p:cNvPr id="19" name="Shape 16"/>
          <p:cNvSpPr/>
          <p:nvPr/>
        </p:nvSpPr>
        <p:spPr>
          <a:xfrm>
            <a:off x="2240280" y="4846320"/>
            <a:ext cx="1737360" cy="1051560"/>
          </a:xfrm>
          <a:prstGeom prst="rect">
            <a:avLst/>
          </a:prstGeom>
          <a:solidFill>
            <a:srgbClr val="D9C7A3"/>
          </a:solidFill>
          <a:ln/>
        </p:spPr>
      </p:sp>
      <p:sp>
        <p:nvSpPr>
          <p:cNvPr id="20" name="Text 17"/>
          <p:cNvSpPr/>
          <p:nvPr/>
        </p:nvSpPr>
        <p:spPr>
          <a:xfrm>
            <a:off x="2240280" y="4956048"/>
            <a:ext cx="1737360" cy="365760"/>
          </a:xfrm>
          <a:prstGeom prst="rect">
            <a:avLst/>
          </a:prstGeom>
          <a:noFill/>
          <a:ln/>
        </p:spPr>
        <p:txBody>
          <a:bodyPr wrap="square" lIns="0" tIns="0" rIns="0" bIns="0" rtlCol="0" anchor="ctr"/>
          <a:lstStyle/>
          <a:p>
            <a:pPr algn="ctr" indent="0" marL="0">
              <a:buNone/>
            </a:pPr>
            <a:r>
              <a:rPr lang="en-US" sz="1600" b="1" dirty="0">
                <a:solidFill>
                  <a:srgbClr val="2B2118"/>
                </a:solidFill>
                <a:latin typeface="Calibri" pitchFamily="34" charset="0"/>
                <a:ea typeface="Calibri" pitchFamily="34" charset="-122"/>
                <a:cs typeface="Calibri" pitchFamily="34" charset="-120"/>
              </a:rPr>
              <a:t>+₹15</a:t>
            </a:r>
            <a:endParaRPr lang="en-US" sz="1600" dirty="0"/>
          </a:p>
        </p:txBody>
      </p:sp>
      <p:sp>
        <p:nvSpPr>
          <p:cNvPr id="21" name="Text 18"/>
          <p:cNvSpPr/>
          <p:nvPr/>
        </p:nvSpPr>
        <p:spPr>
          <a:xfrm>
            <a:off x="2240280" y="5321808"/>
            <a:ext cx="1737360" cy="502920"/>
          </a:xfrm>
          <a:prstGeom prst="rect">
            <a:avLst/>
          </a:prstGeom>
          <a:noFill/>
          <a:ln/>
        </p:spPr>
        <p:txBody>
          <a:bodyPr wrap="square" lIns="0" tIns="0" rIns="0" bIns="0" rtlCol="0" anchor="ctr"/>
          <a:lstStyle/>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 Finish premium</a:t>
            </a:r>
            <a:endParaRPr lang="en-US" sz="950" dirty="0"/>
          </a:p>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(varnish / wax)</a:t>
            </a:r>
            <a:endParaRPr lang="en-US" sz="950" dirty="0"/>
          </a:p>
        </p:txBody>
      </p:sp>
      <p:sp>
        <p:nvSpPr>
          <p:cNvPr id="22" name="Shape 19"/>
          <p:cNvSpPr/>
          <p:nvPr/>
        </p:nvSpPr>
        <p:spPr>
          <a:xfrm>
            <a:off x="4114800" y="4846320"/>
            <a:ext cx="1737360" cy="1051560"/>
          </a:xfrm>
          <a:prstGeom prst="rect">
            <a:avLst/>
          </a:prstGeom>
          <a:solidFill>
            <a:srgbClr val="D9C7A3"/>
          </a:solidFill>
          <a:ln/>
        </p:spPr>
      </p:sp>
      <p:sp>
        <p:nvSpPr>
          <p:cNvPr id="23" name="Text 20"/>
          <p:cNvSpPr/>
          <p:nvPr/>
        </p:nvSpPr>
        <p:spPr>
          <a:xfrm>
            <a:off x="4114800" y="4956048"/>
            <a:ext cx="1737360" cy="365760"/>
          </a:xfrm>
          <a:prstGeom prst="rect">
            <a:avLst/>
          </a:prstGeom>
          <a:noFill/>
          <a:ln/>
        </p:spPr>
        <p:txBody>
          <a:bodyPr wrap="square" lIns="0" tIns="0" rIns="0" bIns="0" rtlCol="0" anchor="ctr"/>
          <a:lstStyle/>
          <a:p>
            <a:pPr algn="ctr" indent="0" marL="0">
              <a:buNone/>
            </a:pPr>
            <a:r>
              <a:rPr lang="en-US" sz="1600" b="1" dirty="0">
                <a:solidFill>
                  <a:srgbClr val="2B2118"/>
                </a:solidFill>
                <a:latin typeface="Calibri" pitchFamily="34" charset="0"/>
                <a:ea typeface="Calibri" pitchFamily="34" charset="-122"/>
                <a:cs typeface="Calibri" pitchFamily="34" charset="-120"/>
              </a:rPr>
              <a:t>+₹10</a:t>
            </a:r>
            <a:endParaRPr lang="en-US" sz="1600" dirty="0"/>
          </a:p>
        </p:txBody>
      </p:sp>
      <p:sp>
        <p:nvSpPr>
          <p:cNvPr id="24" name="Text 21"/>
          <p:cNvSpPr/>
          <p:nvPr/>
        </p:nvSpPr>
        <p:spPr>
          <a:xfrm>
            <a:off x="4114800" y="5321808"/>
            <a:ext cx="1737360" cy="502920"/>
          </a:xfrm>
          <a:prstGeom prst="rect">
            <a:avLst/>
          </a:prstGeom>
          <a:noFill/>
          <a:ln/>
        </p:spPr>
        <p:txBody>
          <a:bodyPr wrap="square" lIns="0" tIns="0" rIns="0" bIns="0" rtlCol="0" anchor="ctr"/>
          <a:lstStyle/>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 Print-ready and</a:t>
            </a:r>
            <a:endParaRPr lang="en-US" sz="950" dirty="0"/>
          </a:p>
          <a:p>
            <a:pPr algn="ctr" indent="0" marL="0">
              <a:lnSpc>
                <a:spcPct val="105000"/>
              </a:lnSpc>
              <a:buNone/>
            </a:pPr>
            <a:r>
              <a:rPr lang="en-US" sz="950" dirty="0">
                <a:solidFill>
                  <a:srgbClr val="2B2118"/>
                </a:solidFill>
                <a:latin typeface="Calibri" pitchFamily="34" charset="0"/>
                <a:ea typeface="Calibri" pitchFamily="34" charset="-122"/>
                <a:cs typeface="Calibri" pitchFamily="34" charset="-120"/>
              </a:rPr>
              <a:t>full-open lid</a:t>
            </a:r>
            <a:endParaRPr lang="en-US" sz="950" dirty="0"/>
          </a:p>
        </p:txBody>
      </p:sp>
      <p:sp>
        <p:nvSpPr>
          <p:cNvPr id="25" name="Shape 22"/>
          <p:cNvSpPr/>
          <p:nvPr/>
        </p:nvSpPr>
        <p:spPr>
          <a:xfrm>
            <a:off x="5989320" y="4846320"/>
            <a:ext cx="1554480" cy="1051560"/>
          </a:xfrm>
          <a:prstGeom prst="rect">
            <a:avLst/>
          </a:prstGeom>
          <a:solidFill>
            <a:srgbClr val="C1440E"/>
          </a:solidFill>
          <a:ln/>
        </p:spPr>
      </p:sp>
      <p:sp>
        <p:nvSpPr>
          <p:cNvPr id="26" name="Text 23"/>
          <p:cNvSpPr/>
          <p:nvPr/>
        </p:nvSpPr>
        <p:spPr>
          <a:xfrm>
            <a:off x="5989320" y="4956048"/>
            <a:ext cx="1554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₹255</a:t>
            </a:r>
            <a:endParaRPr lang="en-US" sz="1600" dirty="0"/>
          </a:p>
        </p:txBody>
      </p:sp>
      <p:sp>
        <p:nvSpPr>
          <p:cNvPr id="27" name="Text 24"/>
          <p:cNvSpPr/>
          <p:nvPr/>
        </p:nvSpPr>
        <p:spPr>
          <a:xfrm>
            <a:off x="5989320" y="5321808"/>
            <a:ext cx="1554480" cy="502920"/>
          </a:xfrm>
          <a:prstGeom prst="rect">
            <a:avLst/>
          </a:prstGeom>
          <a:noFill/>
          <a:ln/>
        </p:spPr>
        <p:txBody>
          <a:bodyPr wrap="square" lIns="0" tIns="0" rIns="0" bIns="0" rtlCol="0" anchor="ctr"/>
          <a:lstStyle/>
          <a:p>
            <a:pPr algn="ctr" indent="0" marL="0">
              <a:lnSpc>
                <a:spcPct val="105000"/>
              </a:lnSpc>
              <a:buNone/>
            </a:pPr>
            <a:r>
              <a:rPr lang="en-US" sz="950" dirty="0">
                <a:solidFill>
                  <a:srgbClr val="FFFFFF"/>
                </a:solidFill>
                <a:latin typeface="Calibri" pitchFamily="34" charset="0"/>
                <a:ea typeface="Calibri" pitchFamily="34" charset="-122"/>
                <a:cs typeface="Calibri" pitchFamily="34" charset="-120"/>
              </a:rPr>
              <a:t>= Target</a:t>
            </a:r>
            <a:endParaRPr lang="en-US" sz="950" dirty="0"/>
          </a:p>
          <a:p>
            <a:pPr algn="ctr" indent="0" marL="0">
              <a:lnSpc>
                <a:spcPct val="105000"/>
              </a:lnSpc>
              <a:buNone/>
            </a:pPr>
            <a:r>
              <a:rPr lang="en-US" sz="950" dirty="0">
                <a:solidFill>
                  <a:srgbClr val="FFFFFF"/>
                </a:solidFill>
                <a:latin typeface="Calibri" pitchFamily="34" charset="0"/>
                <a:ea typeface="Calibri" pitchFamily="34" charset="-122"/>
                <a:cs typeface="Calibri" pitchFamily="34" charset="-120"/>
              </a:rPr>
              <a:t>price</a:t>
            </a:r>
            <a:endParaRPr lang="en-US" sz="950" dirty="0"/>
          </a:p>
        </p:txBody>
      </p:sp>
      <p:sp>
        <p:nvSpPr>
          <p:cNvPr id="28" name="Shape 25"/>
          <p:cNvSpPr/>
          <p:nvPr/>
        </p:nvSpPr>
        <p:spPr>
          <a:xfrm>
            <a:off x="8001000" y="4846320"/>
            <a:ext cx="64008" cy="1051560"/>
          </a:xfrm>
          <a:prstGeom prst="rect">
            <a:avLst/>
          </a:prstGeom>
          <a:solidFill>
            <a:srgbClr val="C1440E"/>
          </a:solidFill>
          <a:ln/>
        </p:spPr>
      </p:sp>
      <p:sp>
        <p:nvSpPr>
          <p:cNvPr id="29" name="Text 26"/>
          <p:cNvSpPr/>
          <p:nvPr/>
        </p:nvSpPr>
        <p:spPr>
          <a:xfrm>
            <a:off x="8202168" y="4846320"/>
            <a:ext cx="3383280" cy="237744"/>
          </a:xfrm>
          <a:prstGeom prst="rect">
            <a:avLst/>
          </a:prstGeom>
          <a:noFill/>
          <a:ln/>
        </p:spPr>
        <p:txBody>
          <a:bodyPr wrap="square" lIns="0" tIns="0" rIns="0" bIns="0" rtlCol="0" anchor="ctr"/>
          <a:lstStyle/>
          <a:p>
            <a:pPr indent="0" marL="0">
              <a:buNone/>
            </a:pPr>
            <a:r>
              <a:rPr lang="en-US" sz="950" b="1" spc="150" kern="0" dirty="0">
                <a:solidFill>
                  <a:srgbClr val="C1440E"/>
                </a:solidFill>
                <a:latin typeface="Calibri" pitchFamily="34" charset="0"/>
                <a:ea typeface="Calibri" pitchFamily="34" charset="-122"/>
                <a:cs typeface="Calibri" pitchFamily="34" charset="-120"/>
              </a:rPr>
              <a:t>SO WHAT</a:t>
            </a:r>
            <a:endParaRPr lang="en-US" sz="950" dirty="0"/>
          </a:p>
        </p:txBody>
      </p:sp>
      <p:sp>
        <p:nvSpPr>
          <p:cNvPr id="30" name="Text 27"/>
          <p:cNvSpPr/>
          <p:nvPr/>
        </p:nvSpPr>
        <p:spPr>
          <a:xfrm>
            <a:off x="8202168" y="5093208"/>
            <a:ext cx="3383280" cy="804672"/>
          </a:xfrm>
          <a:prstGeom prst="rect">
            <a:avLst/>
          </a:prstGeom>
          <a:noFill/>
          <a:ln/>
        </p:spPr>
        <p:txBody>
          <a:bodyPr wrap="square" lIns="0" tIns="0" rIns="0" bIns="0" rtlCol="0" anchor="t"/>
          <a:lstStyle/>
          <a:p>
            <a:pPr indent="0" marL="0">
              <a:lnSpc>
                <a:spcPct val="115000"/>
              </a:lnSpc>
              <a:buNone/>
            </a:pPr>
            <a:r>
              <a:rPr lang="en-US" sz="1100" dirty="0">
                <a:solidFill>
                  <a:srgbClr val="2B2118"/>
                </a:solidFill>
                <a:latin typeface="Calibri" pitchFamily="34" charset="0"/>
                <a:ea typeface="Calibri" pitchFamily="34" charset="-122"/>
                <a:cs typeface="Calibri" pitchFamily="34" charset="-120"/>
              </a:rPr>
              <a:t>The target sits at the top of the ₹240–255 range competitors charge, about 11% above the old price, and is backed by the spec.</a:t>
            </a:r>
            <a:endParaRPr lang="en-US" sz="1100" dirty="0"/>
          </a:p>
        </p:txBody>
      </p:sp>
      <p:sp>
        <p:nvSpPr>
          <p:cNvPr id="31" name="Text 28"/>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32" name="Text 29"/>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ROADMAP</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Reprice in three phases so existing accounts aren't shocked</a:t>
            </a:r>
            <a:endParaRPr lang="en-US" sz="2400" dirty="0"/>
          </a:p>
        </p:txBody>
      </p:sp>
      <p:sp>
        <p:nvSpPr>
          <p:cNvPr id="5" name="Shape 2"/>
          <p:cNvSpPr/>
          <p:nvPr/>
        </p:nvSpPr>
        <p:spPr>
          <a:xfrm>
            <a:off x="548640" y="1600200"/>
            <a:ext cx="3520440" cy="4434840"/>
          </a:xfrm>
          <a:prstGeom prst="rect">
            <a:avLst/>
          </a:prstGeom>
          <a:solidFill>
            <a:srgbClr val="E9DCC3"/>
          </a:solidFill>
          <a:ln/>
        </p:spPr>
      </p:sp>
      <p:sp>
        <p:nvSpPr>
          <p:cNvPr id="6" name="Shape 3"/>
          <p:cNvSpPr/>
          <p:nvPr/>
        </p:nvSpPr>
        <p:spPr>
          <a:xfrm>
            <a:off x="548640" y="1600200"/>
            <a:ext cx="3520440" cy="868680"/>
          </a:xfrm>
          <a:prstGeom prst="rect">
            <a:avLst/>
          </a:prstGeom>
          <a:solidFill>
            <a:srgbClr val="4A2E1E"/>
          </a:solidFill>
          <a:ln/>
        </p:spPr>
      </p:sp>
      <p:sp>
        <p:nvSpPr>
          <p:cNvPr id="7" name="Text 4"/>
          <p:cNvSpPr/>
          <p:nvPr/>
        </p:nvSpPr>
        <p:spPr>
          <a:xfrm>
            <a:off x="777240" y="1709928"/>
            <a:ext cx="3063240" cy="256032"/>
          </a:xfrm>
          <a:prstGeom prst="rect">
            <a:avLst/>
          </a:prstGeom>
          <a:noFill/>
          <a:ln/>
        </p:spPr>
        <p:txBody>
          <a:bodyPr wrap="square" lIns="0" tIns="0" rIns="0" bIns="0" rtlCol="0" anchor="ctr"/>
          <a:lstStyle/>
          <a:p>
            <a:pPr indent="0" marL="0">
              <a:buNone/>
            </a:pPr>
            <a:r>
              <a:rPr lang="en-US" sz="1050" b="1" spc="150" kern="0" dirty="0">
                <a:solidFill>
                  <a:srgbClr val="C1440E"/>
                </a:solidFill>
                <a:latin typeface="Calibri" pitchFamily="34" charset="0"/>
                <a:ea typeface="Calibri" pitchFamily="34" charset="-122"/>
                <a:cs typeface="Calibri" pitchFamily="34" charset="-120"/>
              </a:rPr>
              <a:t>PHASE 1</a:t>
            </a:r>
            <a:endParaRPr lang="en-US" sz="1050" dirty="0"/>
          </a:p>
        </p:txBody>
      </p:sp>
      <p:sp>
        <p:nvSpPr>
          <p:cNvPr id="8" name="Text 5"/>
          <p:cNvSpPr/>
          <p:nvPr/>
        </p:nvSpPr>
        <p:spPr>
          <a:xfrm>
            <a:off x="777240" y="1947672"/>
            <a:ext cx="306324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Quick Wins</a:t>
            </a:r>
            <a:endParaRPr lang="en-US" sz="1500" dirty="0"/>
          </a:p>
        </p:txBody>
      </p:sp>
      <p:sp>
        <p:nvSpPr>
          <p:cNvPr id="9" name="Text 6"/>
          <p:cNvSpPr/>
          <p:nvPr/>
        </p:nvSpPr>
        <p:spPr>
          <a:xfrm>
            <a:off x="777240" y="2221992"/>
            <a:ext cx="3063240" cy="228600"/>
          </a:xfrm>
          <a:prstGeom prst="rect">
            <a:avLst/>
          </a:prstGeom>
          <a:noFill/>
          <a:ln/>
        </p:spPr>
        <p:txBody>
          <a:bodyPr wrap="square" lIns="0" tIns="0" rIns="0" bIns="0" rtlCol="0" anchor="ctr"/>
          <a:lstStyle/>
          <a:p>
            <a:pPr indent="0" marL="0">
              <a:buNone/>
            </a:pPr>
            <a:r>
              <a:rPr lang="en-US" sz="1000" i="1" dirty="0">
                <a:solidFill>
                  <a:srgbClr val="D9B48F"/>
                </a:solidFill>
                <a:latin typeface="Calibri" pitchFamily="34" charset="0"/>
                <a:ea typeface="Calibri" pitchFamily="34" charset="-122"/>
                <a:cs typeface="Calibri" pitchFamily="34" charset="-120"/>
              </a:rPr>
              <a:t>Months 0–3</a:t>
            </a:r>
            <a:endParaRPr lang="en-US" sz="1000" dirty="0"/>
          </a:p>
        </p:txBody>
      </p:sp>
      <p:sp>
        <p:nvSpPr>
          <p:cNvPr id="10" name="Text 7"/>
          <p:cNvSpPr/>
          <p:nvPr/>
        </p:nvSpPr>
        <p:spPr>
          <a:xfrm>
            <a:off x="777240" y="2606040"/>
            <a:ext cx="3063240" cy="260604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Publish spec sheets highlighting finish, lid design, and print-readiness</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Re-anchor active quotations to the new benchmark</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Brief the sales team on the value-based pitch</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Audit the last 6 months of lost RFQs to confirm the price-gap pattern</a:t>
            </a:r>
            <a:endParaRPr lang="en-US" sz="1050" dirty="0"/>
          </a:p>
        </p:txBody>
      </p:sp>
      <p:sp>
        <p:nvSpPr>
          <p:cNvPr id="11" name="Shape 8"/>
          <p:cNvSpPr/>
          <p:nvPr/>
        </p:nvSpPr>
        <p:spPr>
          <a:xfrm>
            <a:off x="777240" y="5257800"/>
            <a:ext cx="3063240" cy="0"/>
          </a:xfrm>
          <a:prstGeom prst="line">
            <a:avLst/>
          </a:prstGeom>
          <a:noFill/>
          <a:ln w="12700">
            <a:solidFill>
              <a:srgbClr val="D9C7A3"/>
            </a:solidFill>
            <a:prstDash val="solid"/>
          </a:ln>
        </p:spPr>
      </p:sp>
      <p:sp>
        <p:nvSpPr>
          <p:cNvPr id="12" name="Text 9"/>
          <p:cNvSpPr/>
          <p:nvPr/>
        </p:nvSpPr>
        <p:spPr>
          <a:xfrm>
            <a:off x="777240" y="5330952"/>
            <a:ext cx="3063240" cy="292608"/>
          </a:xfrm>
          <a:prstGeom prst="rect">
            <a:avLst/>
          </a:prstGeom>
          <a:noFill/>
          <a:ln/>
        </p:spPr>
        <p:txBody>
          <a:bodyPr wrap="square" lIns="0" tIns="0" rIns="0" bIns="0" rtlCol="0" anchor="ctr"/>
          <a:lstStyle/>
          <a:p>
            <a:pPr indent="0" marL="0">
              <a:buNone/>
            </a:pPr>
            <a:r>
              <a:rPr lang="en-US" sz="900" b="1" i="1" dirty="0">
                <a:solidFill>
                  <a:srgbClr val="8C5A34"/>
                </a:solidFill>
                <a:latin typeface="Calibri" pitchFamily="34" charset="0"/>
                <a:ea typeface="Calibri" pitchFamily="34" charset="-122"/>
                <a:cs typeface="Calibri" pitchFamily="34" charset="-120"/>
              </a:rPr>
              <a:t>Owner: Sales &amp; Production leads</a:t>
            </a:r>
            <a:endParaRPr lang="en-US" sz="900" dirty="0"/>
          </a:p>
        </p:txBody>
      </p:sp>
      <p:sp>
        <p:nvSpPr>
          <p:cNvPr id="13" name="Text 10"/>
          <p:cNvSpPr/>
          <p:nvPr/>
        </p:nvSpPr>
        <p:spPr>
          <a:xfrm>
            <a:off x="777240" y="5605272"/>
            <a:ext cx="3063240" cy="365760"/>
          </a:xfrm>
          <a:prstGeom prst="rect">
            <a:avLst/>
          </a:prstGeom>
          <a:noFill/>
          <a:ln/>
        </p:spPr>
        <p:txBody>
          <a:bodyPr wrap="square" lIns="0" tIns="0" rIns="0" bIns="0" rtlCol="0" anchor="ctr"/>
          <a:lstStyle/>
          <a:p>
            <a:pPr indent="0" marL="0">
              <a:lnSpc>
                <a:spcPct val="110000"/>
              </a:lnSpc>
              <a:buNone/>
            </a:pPr>
            <a:r>
              <a:rPr lang="en-US" sz="900" i="1" dirty="0">
                <a:solidFill>
                  <a:srgbClr val="8C5A34"/>
                </a:solidFill>
                <a:latin typeface="Calibri" pitchFamily="34" charset="0"/>
                <a:ea typeface="Calibri" pitchFamily="34" charset="-122"/>
                <a:cs typeface="Calibri" pitchFamily="34" charset="-120"/>
              </a:rPr>
              <a:t>Target: Spec sheets live; benchmark applied to 100% of new quotes</a:t>
            </a:r>
            <a:endParaRPr lang="en-US" sz="900" dirty="0"/>
          </a:p>
        </p:txBody>
      </p:sp>
      <p:sp>
        <p:nvSpPr>
          <p:cNvPr id="14" name="Text 11"/>
          <p:cNvSpPr/>
          <p:nvPr/>
        </p:nvSpPr>
        <p:spPr>
          <a:xfrm>
            <a:off x="4069080" y="3291840"/>
            <a:ext cx="228600" cy="457200"/>
          </a:xfrm>
          <a:prstGeom prst="rect">
            <a:avLst/>
          </a:prstGeom>
          <a:noFill/>
          <a:ln/>
        </p:spPr>
        <p:txBody>
          <a:bodyPr wrap="square" lIns="0" tIns="0" rIns="0" bIns="0" rtlCol="0" anchor="ctr"/>
          <a:lstStyle/>
          <a:p>
            <a:pPr algn="ctr" indent="0" marL="0">
              <a:buNone/>
            </a:pPr>
            <a:r>
              <a:rPr lang="en-US" sz="1800" b="1" dirty="0">
                <a:solidFill>
                  <a:srgbClr val="C1440E"/>
                </a:solidFill>
                <a:latin typeface="Calibri" pitchFamily="34" charset="0"/>
                <a:ea typeface="Calibri" pitchFamily="34" charset="-122"/>
                <a:cs typeface="Calibri" pitchFamily="34" charset="-120"/>
              </a:rPr>
              <a:t>→</a:t>
            </a:r>
            <a:endParaRPr lang="en-US" sz="1800" dirty="0"/>
          </a:p>
        </p:txBody>
      </p:sp>
      <p:sp>
        <p:nvSpPr>
          <p:cNvPr id="15" name="Shape 12"/>
          <p:cNvSpPr/>
          <p:nvPr/>
        </p:nvSpPr>
        <p:spPr>
          <a:xfrm>
            <a:off x="4297680" y="1600200"/>
            <a:ext cx="3520440" cy="4434840"/>
          </a:xfrm>
          <a:prstGeom prst="rect">
            <a:avLst/>
          </a:prstGeom>
          <a:solidFill>
            <a:srgbClr val="E9DCC3"/>
          </a:solidFill>
          <a:ln/>
        </p:spPr>
      </p:sp>
      <p:sp>
        <p:nvSpPr>
          <p:cNvPr id="16" name="Shape 13"/>
          <p:cNvSpPr/>
          <p:nvPr/>
        </p:nvSpPr>
        <p:spPr>
          <a:xfrm>
            <a:off x="4297680" y="1600200"/>
            <a:ext cx="3520440" cy="868680"/>
          </a:xfrm>
          <a:prstGeom prst="rect">
            <a:avLst/>
          </a:prstGeom>
          <a:solidFill>
            <a:srgbClr val="4A2E1E"/>
          </a:solidFill>
          <a:ln/>
        </p:spPr>
      </p:sp>
      <p:sp>
        <p:nvSpPr>
          <p:cNvPr id="17" name="Text 14"/>
          <p:cNvSpPr/>
          <p:nvPr/>
        </p:nvSpPr>
        <p:spPr>
          <a:xfrm>
            <a:off x="4526280" y="1709928"/>
            <a:ext cx="3063240" cy="256032"/>
          </a:xfrm>
          <a:prstGeom prst="rect">
            <a:avLst/>
          </a:prstGeom>
          <a:noFill/>
          <a:ln/>
        </p:spPr>
        <p:txBody>
          <a:bodyPr wrap="square" lIns="0" tIns="0" rIns="0" bIns="0" rtlCol="0" anchor="ctr"/>
          <a:lstStyle/>
          <a:p>
            <a:pPr indent="0" marL="0">
              <a:buNone/>
            </a:pPr>
            <a:r>
              <a:rPr lang="en-US" sz="1050" b="1" spc="150" kern="0" dirty="0">
                <a:solidFill>
                  <a:srgbClr val="C1440E"/>
                </a:solidFill>
                <a:latin typeface="Calibri" pitchFamily="34" charset="0"/>
                <a:ea typeface="Calibri" pitchFamily="34" charset="-122"/>
                <a:cs typeface="Calibri" pitchFamily="34" charset="-120"/>
              </a:rPr>
              <a:t>PHASE 2</a:t>
            </a:r>
            <a:endParaRPr lang="en-US" sz="1050" dirty="0"/>
          </a:p>
        </p:txBody>
      </p:sp>
      <p:sp>
        <p:nvSpPr>
          <p:cNvPr id="18" name="Text 15"/>
          <p:cNvSpPr/>
          <p:nvPr/>
        </p:nvSpPr>
        <p:spPr>
          <a:xfrm>
            <a:off x="4526280" y="1947672"/>
            <a:ext cx="306324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Core Rollout</a:t>
            </a:r>
            <a:endParaRPr lang="en-US" sz="1500" dirty="0"/>
          </a:p>
        </p:txBody>
      </p:sp>
      <p:sp>
        <p:nvSpPr>
          <p:cNvPr id="19" name="Text 16"/>
          <p:cNvSpPr/>
          <p:nvPr/>
        </p:nvSpPr>
        <p:spPr>
          <a:xfrm>
            <a:off x="4526280" y="2221992"/>
            <a:ext cx="3063240" cy="228600"/>
          </a:xfrm>
          <a:prstGeom prst="rect">
            <a:avLst/>
          </a:prstGeom>
          <a:noFill/>
          <a:ln/>
        </p:spPr>
        <p:txBody>
          <a:bodyPr wrap="square" lIns="0" tIns="0" rIns="0" bIns="0" rtlCol="0" anchor="ctr"/>
          <a:lstStyle/>
          <a:p>
            <a:pPr indent="0" marL="0">
              <a:buNone/>
            </a:pPr>
            <a:r>
              <a:rPr lang="en-US" sz="1000" i="1" dirty="0">
                <a:solidFill>
                  <a:srgbClr val="D9B48F"/>
                </a:solidFill>
                <a:latin typeface="Calibri" pitchFamily="34" charset="0"/>
                <a:ea typeface="Calibri" pitchFamily="34" charset="-122"/>
                <a:cs typeface="Calibri" pitchFamily="34" charset="-120"/>
              </a:rPr>
              <a:t>Months 3–6</a:t>
            </a:r>
            <a:endParaRPr lang="en-US" sz="1000" dirty="0"/>
          </a:p>
        </p:txBody>
      </p:sp>
      <p:sp>
        <p:nvSpPr>
          <p:cNvPr id="20" name="Text 17"/>
          <p:cNvSpPr/>
          <p:nvPr/>
        </p:nvSpPr>
        <p:spPr>
          <a:xfrm>
            <a:off x="4526280" y="2606040"/>
            <a:ext cx="3063240" cy="260604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Roll out tiered pricing across the full capacity range</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Bundle finish/print options into premium tiers</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Target export-packaging accounts with a dedicated offer</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Train distributors/agents on the new spec-led pitch</a:t>
            </a:r>
            <a:endParaRPr lang="en-US" sz="1050" dirty="0"/>
          </a:p>
        </p:txBody>
      </p:sp>
      <p:sp>
        <p:nvSpPr>
          <p:cNvPr id="21" name="Shape 18"/>
          <p:cNvSpPr/>
          <p:nvPr/>
        </p:nvSpPr>
        <p:spPr>
          <a:xfrm>
            <a:off x="4526280" y="5257800"/>
            <a:ext cx="3063240" cy="0"/>
          </a:xfrm>
          <a:prstGeom prst="line">
            <a:avLst/>
          </a:prstGeom>
          <a:noFill/>
          <a:ln w="12700">
            <a:solidFill>
              <a:srgbClr val="D9C7A3"/>
            </a:solidFill>
            <a:prstDash val="solid"/>
          </a:ln>
        </p:spPr>
      </p:sp>
      <p:sp>
        <p:nvSpPr>
          <p:cNvPr id="22" name="Text 19"/>
          <p:cNvSpPr/>
          <p:nvPr/>
        </p:nvSpPr>
        <p:spPr>
          <a:xfrm>
            <a:off x="4526280" y="5330952"/>
            <a:ext cx="3063240" cy="292608"/>
          </a:xfrm>
          <a:prstGeom prst="rect">
            <a:avLst/>
          </a:prstGeom>
          <a:noFill/>
          <a:ln/>
        </p:spPr>
        <p:txBody>
          <a:bodyPr wrap="square" lIns="0" tIns="0" rIns="0" bIns="0" rtlCol="0" anchor="ctr"/>
          <a:lstStyle/>
          <a:p>
            <a:pPr indent="0" marL="0">
              <a:buNone/>
            </a:pPr>
            <a:r>
              <a:rPr lang="en-US" sz="900" b="1" i="1" dirty="0">
                <a:solidFill>
                  <a:srgbClr val="8C5A34"/>
                </a:solidFill>
                <a:latin typeface="Calibri" pitchFamily="34" charset="0"/>
                <a:ea typeface="Calibri" pitchFamily="34" charset="-122"/>
                <a:cs typeface="Calibri" pitchFamily="34" charset="-120"/>
              </a:rPr>
              <a:t>Owner: Sales leadership, with Production on capacity</a:t>
            </a:r>
            <a:endParaRPr lang="en-US" sz="900" dirty="0"/>
          </a:p>
        </p:txBody>
      </p:sp>
      <p:sp>
        <p:nvSpPr>
          <p:cNvPr id="23" name="Text 20"/>
          <p:cNvSpPr/>
          <p:nvPr/>
        </p:nvSpPr>
        <p:spPr>
          <a:xfrm>
            <a:off x="4526280" y="5605272"/>
            <a:ext cx="3063240" cy="365760"/>
          </a:xfrm>
          <a:prstGeom prst="rect">
            <a:avLst/>
          </a:prstGeom>
          <a:noFill/>
          <a:ln/>
        </p:spPr>
        <p:txBody>
          <a:bodyPr wrap="square" lIns="0" tIns="0" rIns="0" bIns="0" rtlCol="0" anchor="ctr"/>
          <a:lstStyle/>
          <a:p>
            <a:pPr indent="0" marL="0">
              <a:lnSpc>
                <a:spcPct val="110000"/>
              </a:lnSpc>
              <a:buNone/>
            </a:pPr>
            <a:r>
              <a:rPr lang="en-US" sz="900" i="1" dirty="0">
                <a:solidFill>
                  <a:srgbClr val="8C5A34"/>
                </a:solidFill>
                <a:latin typeface="Calibri" pitchFamily="34" charset="0"/>
                <a:ea typeface="Calibri" pitchFamily="34" charset="-122"/>
                <a:cs typeface="Calibri" pitchFamily="34" charset="-120"/>
              </a:rPr>
              <a:t>Target: Tiered pricing live across all capacity bands</a:t>
            </a:r>
            <a:endParaRPr lang="en-US" sz="900" dirty="0"/>
          </a:p>
        </p:txBody>
      </p:sp>
      <p:sp>
        <p:nvSpPr>
          <p:cNvPr id="24" name="Text 21"/>
          <p:cNvSpPr/>
          <p:nvPr/>
        </p:nvSpPr>
        <p:spPr>
          <a:xfrm>
            <a:off x="7818120" y="3291840"/>
            <a:ext cx="228600" cy="457200"/>
          </a:xfrm>
          <a:prstGeom prst="rect">
            <a:avLst/>
          </a:prstGeom>
          <a:noFill/>
          <a:ln/>
        </p:spPr>
        <p:txBody>
          <a:bodyPr wrap="square" lIns="0" tIns="0" rIns="0" bIns="0" rtlCol="0" anchor="ctr"/>
          <a:lstStyle/>
          <a:p>
            <a:pPr algn="ctr" indent="0" marL="0">
              <a:buNone/>
            </a:pPr>
            <a:r>
              <a:rPr lang="en-US" sz="1800" b="1" dirty="0">
                <a:solidFill>
                  <a:srgbClr val="C1440E"/>
                </a:solidFill>
                <a:latin typeface="Calibri" pitchFamily="34" charset="0"/>
                <a:ea typeface="Calibri" pitchFamily="34" charset="-122"/>
                <a:cs typeface="Calibri" pitchFamily="34" charset="-120"/>
              </a:rPr>
              <a:t>→</a:t>
            </a:r>
            <a:endParaRPr lang="en-US" sz="1800" dirty="0"/>
          </a:p>
        </p:txBody>
      </p:sp>
      <p:sp>
        <p:nvSpPr>
          <p:cNvPr id="25" name="Shape 22"/>
          <p:cNvSpPr/>
          <p:nvPr/>
        </p:nvSpPr>
        <p:spPr>
          <a:xfrm>
            <a:off x="8046720" y="1600200"/>
            <a:ext cx="3520440" cy="4434840"/>
          </a:xfrm>
          <a:prstGeom prst="rect">
            <a:avLst/>
          </a:prstGeom>
          <a:solidFill>
            <a:srgbClr val="E9DCC3"/>
          </a:solidFill>
          <a:ln/>
        </p:spPr>
      </p:sp>
      <p:sp>
        <p:nvSpPr>
          <p:cNvPr id="26" name="Shape 23"/>
          <p:cNvSpPr/>
          <p:nvPr/>
        </p:nvSpPr>
        <p:spPr>
          <a:xfrm>
            <a:off x="8046720" y="1600200"/>
            <a:ext cx="3520440" cy="868680"/>
          </a:xfrm>
          <a:prstGeom prst="rect">
            <a:avLst/>
          </a:prstGeom>
          <a:solidFill>
            <a:srgbClr val="4A2E1E"/>
          </a:solidFill>
          <a:ln/>
        </p:spPr>
      </p:sp>
      <p:sp>
        <p:nvSpPr>
          <p:cNvPr id="27" name="Text 24"/>
          <p:cNvSpPr/>
          <p:nvPr/>
        </p:nvSpPr>
        <p:spPr>
          <a:xfrm>
            <a:off x="8275320" y="1709928"/>
            <a:ext cx="3063240" cy="256032"/>
          </a:xfrm>
          <a:prstGeom prst="rect">
            <a:avLst/>
          </a:prstGeom>
          <a:noFill/>
          <a:ln/>
        </p:spPr>
        <p:txBody>
          <a:bodyPr wrap="square" lIns="0" tIns="0" rIns="0" bIns="0" rtlCol="0" anchor="ctr"/>
          <a:lstStyle/>
          <a:p>
            <a:pPr indent="0" marL="0">
              <a:buNone/>
            </a:pPr>
            <a:r>
              <a:rPr lang="en-US" sz="1050" b="1" spc="150" kern="0" dirty="0">
                <a:solidFill>
                  <a:srgbClr val="C1440E"/>
                </a:solidFill>
                <a:latin typeface="Calibri" pitchFamily="34" charset="0"/>
                <a:ea typeface="Calibri" pitchFamily="34" charset="-122"/>
                <a:cs typeface="Calibri" pitchFamily="34" charset="-120"/>
              </a:rPr>
              <a:t>PHASE 3</a:t>
            </a:r>
            <a:endParaRPr lang="en-US" sz="1050" dirty="0"/>
          </a:p>
        </p:txBody>
      </p:sp>
      <p:sp>
        <p:nvSpPr>
          <p:cNvPr id="28" name="Text 25"/>
          <p:cNvSpPr/>
          <p:nvPr/>
        </p:nvSpPr>
        <p:spPr>
          <a:xfrm>
            <a:off x="8275320" y="1947672"/>
            <a:ext cx="306324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Scale &amp; Monitor</a:t>
            </a:r>
            <a:endParaRPr lang="en-US" sz="1500" dirty="0"/>
          </a:p>
        </p:txBody>
      </p:sp>
      <p:sp>
        <p:nvSpPr>
          <p:cNvPr id="29" name="Text 26"/>
          <p:cNvSpPr/>
          <p:nvPr/>
        </p:nvSpPr>
        <p:spPr>
          <a:xfrm>
            <a:off x="8275320" y="2221992"/>
            <a:ext cx="3063240" cy="228600"/>
          </a:xfrm>
          <a:prstGeom prst="rect">
            <a:avLst/>
          </a:prstGeom>
          <a:noFill/>
          <a:ln/>
        </p:spPr>
        <p:txBody>
          <a:bodyPr wrap="square" lIns="0" tIns="0" rIns="0" bIns="0" rtlCol="0" anchor="ctr"/>
          <a:lstStyle/>
          <a:p>
            <a:pPr indent="0" marL="0">
              <a:buNone/>
            </a:pPr>
            <a:r>
              <a:rPr lang="en-US" sz="1000" i="1" dirty="0">
                <a:solidFill>
                  <a:srgbClr val="D9B48F"/>
                </a:solidFill>
                <a:latin typeface="Calibri" pitchFamily="34" charset="0"/>
                <a:ea typeface="Calibri" pitchFamily="34" charset="-122"/>
                <a:cs typeface="Calibri" pitchFamily="34" charset="-120"/>
              </a:rPr>
              <a:t>Months 6–12</a:t>
            </a:r>
            <a:endParaRPr lang="en-US" sz="1000" dirty="0"/>
          </a:p>
        </p:txBody>
      </p:sp>
      <p:sp>
        <p:nvSpPr>
          <p:cNvPr id="30" name="Text 27"/>
          <p:cNvSpPr/>
          <p:nvPr/>
        </p:nvSpPr>
        <p:spPr>
          <a:xfrm>
            <a:off x="8275320" y="2606040"/>
            <a:ext cx="3063240" cy="260604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Track RFQ win-rate and realized price indices monthly</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Refresh competitor benchmarking on a quarterly cycle</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Expand export-segment share as a standing KPI</a:t>
            </a:r>
            <a:endParaRPr lang="en-US" sz="1050" dirty="0"/>
          </a:p>
          <a:p>
            <a:pPr marL="152400" indent="-152400">
              <a:lnSpc>
                <a:spcPct val="112000"/>
              </a:lnSpc>
              <a:spcAft>
                <a:spcPts val="800"/>
              </a:spcAft>
              <a:buSzPct val="100000"/>
              <a:buChar char="•"/>
            </a:pPr>
            <a:r>
              <a:rPr lang="en-US" sz="1050" dirty="0">
                <a:solidFill>
                  <a:srgbClr val="2B2118"/>
                </a:solidFill>
                <a:latin typeface="Calibri" pitchFamily="34" charset="0"/>
                <a:ea typeface="Calibri" pitchFamily="34" charset="-122"/>
                <a:cs typeface="Calibri" pitchFamily="34" charset="-120"/>
              </a:rPr>
              <a:t>Revisit pricing bridge annually against input-cost moves</a:t>
            </a:r>
            <a:endParaRPr lang="en-US" sz="1050" dirty="0"/>
          </a:p>
        </p:txBody>
      </p:sp>
      <p:sp>
        <p:nvSpPr>
          <p:cNvPr id="31" name="Shape 28"/>
          <p:cNvSpPr/>
          <p:nvPr/>
        </p:nvSpPr>
        <p:spPr>
          <a:xfrm>
            <a:off x="8275320" y="5257800"/>
            <a:ext cx="3063240" cy="0"/>
          </a:xfrm>
          <a:prstGeom prst="line">
            <a:avLst/>
          </a:prstGeom>
          <a:noFill/>
          <a:ln w="12700">
            <a:solidFill>
              <a:srgbClr val="D9C7A3"/>
            </a:solidFill>
            <a:prstDash val="solid"/>
          </a:ln>
        </p:spPr>
      </p:sp>
      <p:sp>
        <p:nvSpPr>
          <p:cNvPr id="32" name="Text 29"/>
          <p:cNvSpPr/>
          <p:nvPr/>
        </p:nvSpPr>
        <p:spPr>
          <a:xfrm>
            <a:off x="8275320" y="5330952"/>
            <a:ext cx="3063240" cy="292608"/>
          </a:xfrm>
          <a:prstGeom prst="rect">
            <a:avLst/>
          </a:prstGeom>
          <a:noFill/>
          <a:ln/>
        </p:spPr>
        <p:txBody>
          <a:bodyPr wrap="square" lIns="0" tIns="0" rIns="0" bIns="0" rtlCol="0" anchor="ctr"/>
          <a:lstStyle/>
          <a:p>
            <a:pPr indent="0" marL="0">
              <a:buNone/>
            </a:pPr>
            <a:r>
              <a:rPr lang="en-US" sz="900" b="1" i="1" dirty="0">
                <a:solidFill>
                  <a:srgbClr val="8C5A34"/>
                </a:solidFill>
                <a:latin typeface="Calibri" pitchFamily="34" charset="0"/>
                <a:ea typeface="Calibri" pitchFamily="34" charset="-122"/>
                <a:cs typeface="Calibri" pitchFamily="34" charset="-120"/>
              </a:rPr>
              <a:t>Owner: Client leadership; quarterly review cadence</a:t>
            </a:r>
            <a:endParaRPr lang="en-US" sz="900" dirty="0"/>
          </a:p>
        </p:txBody>
      </p:sp>
      <p:sp>
        <p:nvSpPr>
          <p:cNvPr id="33" name="Text 30"/>
          <p:cNvSpPr/>
          <p:nvPr/>
        </p:nvSpPr>
        <p:spPr>
          <a:xfrm>
            <a:off x="8275320" y="5605272"/>
            <a:ext cx="3063240" cy="365760"/>
          </a:xfrm>
          <a:prstGeom prst="rect">
            <a:avLst/>
          </a:prstGeom>
          <a:noFill/>
          <a:ln/>
        </p:spPr>
        <p:txBody>
          <a:bodyPr wrap="square" lIns="0" tIns="0" rIns="0" bIns="0" rtlCol="0" anchor="ctr"/>
          <a:lstStyle/>
          <a:p>
            <a:pPr indent="0" marL="0">
              <a:lnSpc>
                <a:spcPct val="110000"/>
              </a:lnSpc>
              <a:buNone/>
            </a:pPr>
            <a:r>
              <a:rPr lang="en-US" sz="900" i="1" dirty="0">
                <a:solidFill>
                  <a:srgbClr val="8C5A34"/>
                </a:solidFill>
                <a:latin typeface="Calibri" pitchFamily="34" charset="0"/>
                <a:ea typeface="Calibri" pitchFamily="34" charset="-122"/>
                <a:cs typeface="Calibri" pitchFamily="34" charset="-120"/>
              </a:rPr>
              <a:t>Target: Profitability index ≥130, sustained</a:t>
            </a:r>
            <a:endParaRPr lang="en-US" sz="900" dirty="0"/>
          </a:p>
        </p:txBody>
      </p:sp>
      <p:sp>
        <p:nvSpPr>
          <p:cNvPr id="34" name="Text 31"/>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35" name="Text 3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2E1E"/>
        </a:solidFill>
      </p:bgPr>
    </p:bg>
    <p:spTree>
      <p:nvGrpSpPr>
        <p:cNvPr id="1" name=""/>
        <p:cNvGrpSpPr/>
        <p:nvPr/>
      </p:nvGrpSpPr>
      <p:grpSpPr>
        <a:xfrm>
          <a:off x="0" y="0"/>
          <a:ext cx="0" cy="0"/>
          <a:chOff x="0" y="0"/>
          <a:chExt cx="0" cy="0"/>
        </a:xfrm>
      </p:grpSpPr>
      <p:sp>
        <p:nvSpPr>
          <p:cNvPr id="3" name="Text 0"/>
          <p:cNvSpPr/>
          <p:nvPr/>
        </p:nvSpPr>
        <p:spPr>
          <a:xfrm>
            <a:off x="64008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IMPACT</a:t>
            </a:r>
            <a:endParaRPr lang="en-US" sz="1050" dirty="0"/>
          </a:p>
        </p:txBody>
      </p:sp>
      <p:sp>
        <p:nvSpPr>
          <p:cNvPr id="4" name="Text 1"/>
          <p:cNvSpPr/>
          <p:nvPr/>
        </p:nvSpPr>
        <p:spPr>
          <a:xfrm>
            <a:off x="640080" y="548640"/>
            <a:ext cx="10972800" cy="566928"/>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Profitability rose about 30% once pricing matched the product</a:t>
            </a:r>
            <a:endParaRPr lang="en-US" sz="2400" dirty="0"/>
          </a:p>
        </p:txBody>
      </p:sp>
      <p:sp>
        <p:nvSpPr>
          <p:cNvPr id="5" name="Shape 2"/>
          <p:cNvSpPr/>
          <p:nvPr/>
        </p:nvSpPr>
        <p:spPr>
          <a:xfrm>
            <a:off x="640080" y="1600200"/>
            <a:ext cx="1737360" cy="1371600"/>
          </a:xfrm>
          <a:prstGeom prst="rect">
            <a:avLst/>
          </a:prstGeom>
          <a:solidFill>
            <a:srgbClr val="3A2417"/>
          </a:solidFill>
          <a:ln w="9525">
            <a:solidFill>
              <a:srgbClr val="8C5A34"/>
            </a:solidFill>
            <a:prstDash val="solid"/>
          </a:ln>
        </p:spPr>
      </p:sp>
      <p:sp>
        <p:nvSpPr>
          <p:cNvPr id="6" name="Text 3"/>
          <p:cNvSpPr/>
          <p:nvPr/>
        </p:nvSpPr>
        <p:spPr>
          <a:xfrm>
            <a:off x="777240" y="1719072"/>
            <a:ext cx="1463040" cy="502920"/>
          </a:xfrm>
          <a:prstGeom prst="rect">
            <a:avLst/>
          </a:prstGeom>
          <a:noFill/>
          <a:ln/>
        </p:spPr>
        <p:txBody>
          <a:bodyPr wrap="square" lIns="0" tIns="0" rIns="0" bIns="0" rtlCol="0" anchor="ctr"/>
          <a:lstStyle/>
          <a:p>
            <a:pPr indent="0" marL="0">
              <a:buNone/>
            </a:pPr>
            <a:r>
              <a:rPr lang="en-US" sz="1600" b="1" dirty="0">
                <a:solidFill>
                  <a:srgbClr val="C1440E"/>
                </a:solidFill>
                <a:latin typeface="Calibri" pitchFamily="34" charset="0"/>
                <a:ea typeface="Calibri" pitchFamily="34" charset="-122"/>
                <a:cs typeface="Calibri" pitchFamily="34" charset="-120"/>
              </a:rPr>
              <a:t>100 → 130</a:t>
            </a:r>
            <a:endParaRPr lang="en-US" sz="1600" dirty="0"/>
          </a:p>
        </p:txBody>
      </p:sp>
      <p:sp>
        <p:nvSpPr>
          <p:cNvPr id="7" name="Text 4"/>
          <p:cNvSpPr/>
          <p:nvPr/>
        </p:nvSpPr>
        <p:spPr>
          <a:xfrm>
            <a:off x="777240" y="2286000"/>
            <a:ext cx="1463040" cy="594360"/>
          </a:xfrm>
          <a:prstGeom prst="rect">
            <a:avLst/>
          </a:prstGeom>
          <a:noFill/>
          <a:ln/>
        </p:spPr>
        <p:txBody>
          <a:bodyPr wrap="square" lIns="0" tIns="0" rIns="0" bIns="0" rtlCol="0" anchor="ctr"/>
          <a:lstStyle/>
          <a:p>
            <a:pPr indent="0" marL="0">
              <a:lnSpc>
                <a:spcPct val="110000"/>
              </a:lnSpc>
              <a:buNone/>
            </a:pPr>
            <a:r>
              <a:rPr lang="en-US" sz="950" dirty="0">
                <a:solidFill>
                  <a:srgbClr val="EFE2D0"/>
                </a:solidFill>
                <a:latin typeface="Calibri" pitchFamily="34" charset="0"/>
                <a:ea typeface="Calibri" pitchFamily="34" charset="-122"/>
                <a:cs typeface="Calibri" pitchFamily="34" charset="-120"/>
              </a:rPr>
              <a:t>Profitability Index</a:t>
            </a:r>
            <a:endParaRPr lang="en-US" sz="950" dirty="0"/>
          </a:p>
        </p:txBody>
      </p:sp>
      <p:sp>
        <p:nvSpPr>
          <p:cNvPr id="8" name="Shape 5"/>
          <p:cNvSpPr/>
          <p:nvPr/>
        </p:nvSpPr>
        <p:spPr>
          <a:xfrm>
            <a:off x="2487168" y="1600200"/>
            <a:ext cx="1737360" cy="1371600"/>
          </a:xfrm>
          <a:prstGeom prst="rect">
            <a:avLst/>
          </a:prstGeom>
          <a:solidFill>
            <a:srgbClr val="3A2417"/>
          </a:solidFill>
          <a:ln w="9525">
            <a:solidFill>
              <a:srgbClr val="8C5A34"/>
            </a:solidFill>
            <a:prstDash val="solid"/>
          </a:ln>
        </p:spPr>
      </p:sp>
      <p:sp>
        <p:nvSpPr>
          <p:cNvPr id="9" name="Text 6"/>
          <p:cNvSpPr/>
          <p:nvPr/>
        </p:nvSpPr>
        <p:spPr>
          <a:xfrm>
            <a:off x="2624328" y="1719072"/>
            <a:ext cx="1463040" cy="502920"/>
          </a:xfrm>
          <a:prstGeom prst="rect">
            <a:avLst/>
          </a:prstGeom>
          <a:noFill/>
          <a:ln/>
        </p:spPr>
        <p:txBody>
          <a:bodyPr wrap="square" lIns="0" tIns="0" rIns="0" bIns="0" rtlCol="0" anchor="ctr"/>
          <a:lstStyle/>
          <a:p>
            <a:pPr indent="0" marL="0">
              <a:buNone/>
            </a:pPr>
            <a:r>
              <a:rPr lang="en-US" sz="1600" b="1" dirty="0">
                <a:solidFill>
                  <a:srgbClr val="C1440E"/>
                </a:solidFill>
                <a:latin typeface="Calibri" pitchFamily="34" charset="0"/>
                <a:ea typeface="Calibri" pitchFamily="34" charset="-122"/>
                <a:cs typeface="Calibri" pitchFamily="34" charset="-120"/>
              </a:rPr>
              <a:t>100 → 124</a:t>
            </a:r>
            <a:endParaRPr lang="en-US" sz="1600" dirty="0"/>
          </a:p>
        </p:txBody>
      </p:sp>
      <p:sp>
        <p:nvSpPr>
          <p:cNvPr id="10" name="Text 7"/>
          <p:cNvSpPr/>
          <p:nvPr/>
        </p:nvSpPr>
        <p:spPr>
          <a:xfrm>
            <a:off x="2624328" y="2286000"/>
            <a:ext cx="1463040" cy="594360"/>
          </a:xfrm>
          <a:prstGeom prst="rect">
            <a:avLst/>
          </a:prstGeom>
          <a:noFill/>
          <a:ln/>
        </p:spPr>
        <p:txBody>
          <a:bodyPr wrap="square" lIns="0" tIns="0" rIns="0" bIns="0" rtlCol="0" anchor="ctr"/>
          <a:lstStyle/>
          <a:p>
            <a:pPr indent="0" marL="0">
              <a:lnSpc>
                <a:spcPct val="110000"/>
              </a:lnSpc>
              <a:buNone/>
            </a:pPr>
            <a:r>
              <a:rPr lang="en-US" sz="950" dirty="0">
                <a:solidFill>
                  <a:srgbClr val="EFE2D0"/>
                </a:solidFill>
                <a:latin typeface="Calibri" pitchFamily="34" charset="0"/>
                <a:ea typeface="Calibri" pitchFamily="34" charset="-122"/>
                <a:cs typeface="Calibri" pitchFamily="34" charset="-120"/>
              </a:rPr>
              <a:t>RFQ Win-Rate Index</a:t>
            </a:r>
            <a:endParaRPr lang="en-US" sz="950" dirty="0"/>
          </a:p>
        </p:txBody>
      </p:sp>
      <p:sp>
        <p:nvSpPr>
          <p:cNvPr id="11" name="Shape 8"/>
          <p:cNvSpPr/>
          <p:nvPr/>
        </p:nvSpPr>
        <p:spPr>
          <a:xfrm>
            <a:off x="4334256" y="1600200"/>
            <a:ext cx="1737360" cy="1371600"/>
          </a:xfrm>
          <a:prstGeom prst="rect">
            <a:avLst/>
          </a:prstGeom>
          <a:solidFill>
            <a:srgbClr val="3A2417"/>
          </a:solidFill>
          <a:ln w="9525">
            <a:solidFill>
              <a:srgbClr val="8C5A34"/>
            </a:solidFill>
            <a:prstDash val="solid"/>
          </a:ln>
        </p:spPr>
      </p:sp>
      <p:sp>
        <p:nvSpPr>
          <p:cNvPr id="12" name="Text 9"/>
          <p:cNvSpPr/>
          <p:nvPr/>
        </p:nvSpPr>
        <p:spPr>
          <a:xfrm>
            <a:off x="4471416" y="1719072"/>
            <a:ext cx="1463040" cy="502920"/>
          </a:xfrm>
          <a:prstGeom prst="rect">
            <a:avLst/>
          </a:prstGeom>
          <a:noFill/>
          <a:ln/>
        </p:spPr>
        <p:txBody>
          <a:bodyPr wrap="square" lIns="0" tIns="0" rIns="0" bIns="0" rtlCol="0" anchor="ctr"/>
          <a:lstStyle/>
          <a:p>
            <a:pPr indent="0" marL="0">
              <a:buNone/>
            </a:pPr>
            <a:r>
              <a:rPr lang="en-US" sz="1600" b="1" dirty="0">
                <a:solidFill>
                  <a:srgbClr val="C1440E"/>
                </a:solidFill>
                <a:latin typeface="Calibri" pitchFamily="34" charset="0"/>
                <a:ea typeface="Calibri" pitchFamily="34" charset="-122"/>
                <a:cs typeface="Calibri" pitchFamily="34" charset="-120"/>
              </a:rPr>
              <a:t>15% → 24%</a:t>
            </a:r>
            <a:endParaRPr lang="en-US" sz="1600" dirty="0"/>
          </a:p>
        </p:txBody>
      </p:sp>
      <p:sp>
        <p:nvSpPr>
          <p:cNvPr id="13" name="Text 10"/>
          <p:cNvSpPr/>
          <p:nvPr/>
        </p:nvSpPr>
        <p:spPr>
          <a:xfrm>
            <a:off x="4471416" y="2286000"/>
            <a:ext cx="1463040" cy="594360"/>
          </a:xfrm>
          <a:prstGeom prst="rect">
            <a:avLst/>
          </a:prstGeom>
          <a:noFill/>
          <a:ln/>
        </p:spPr>
        <p:txBody>
          <a:bodyPr wrap="square" lIns="0" tIns="0" rIns="0" bIns="0" rtlCol="0" anchor="ctr"/>
          <a:lstStyle/>
          <a:p>
            <a:pPr indent="0" marL="0">
              <a:lnSpc>
                <a:spcPct val="110000"/>
              </a:lnSpc>
              <a:buNone/>
            </a:pPr>
            <a:r>
              <a:rPr lang="en-US" sz="950" dirty="0">
                <a:solidFill>
                  <a:srgbClr val="EFE2D0"/>
                </a:solidFill>
                <a:latin typeface="Calibri" pitchFamily="34" charset="0"/>
                <a:ea typeface="Calibri" pitchFamily="34" charset="-122"/>
                <a:cs typeface="Calibri" pitchFamily="34" charset="-120"/>
              </a:rPr>
              <a:t>Export Revenue Share</a:t>
            </a:r>
            <a:endParaRPr lang="en-US" sz="950" dirty="0"/>
          </a:p>
        </p:txBody>
      </p:sp>
      <p:sp>
        <p:nvSpPr>
          <p:cNvPr id="14" name="Shape 11"/>
          <p:cNvSpPr/>
          <p:nvPr/>
        </p:nvSpPr>
        <p:spPr>
          <a:xfrm>
            <a:off x="6181344" y="1600200"/>
            <a:ext cx="1737360" cy="1371600"/>
          </a:xfrm>
          <a:prstGeom prst="rect">
            <a:avLst/>
          </a:prstGeom>
          <a:solidFill>
            <a:srgbClr val="3A2417"/>
          </a:solidFill>
          <a:ln w="9525">
            <a:solidFill>
              <a:srgbClr val="8C5A34"/>
            </a:solidFill>
            <a:prstDash val="solid"/>
          </a:ln>
        </p:spPr>
      </p:sp>
      <p:sp>
        <p:nvSpPr>
          <p:cNvPr id="15" name="Text 12"/>
          <p:cNvSpPr/>
          <p:nvPr/>
        </p:nvSpPr>
        <p:spPr>
          <a:xfrm>
            <a:off x="6318504" y="1719072"/>
            <a:ext cx="1463040" cy="502920"/>
          </a:xfrm>
          <a:prstGeom prst="rect">
            <a:avLst/>
          </a:prstGeom>
          <a:noFill/>
          <a:ln/>
        </p:spPr>
        <p:txBody>
          <a:bodyPr wrap="square" lIns="0" tIns="0" rIns="0" bIns="0" rtlCol="0" anchor="ctr"/>
          <a:lstStyle/>
          <a:p>
            <a:pPr indent="0" marL="0">
              <a:buNone/>
            </a:pPr>
            <a:r>
              <a:rPr lang="en-US" sz="1600" b="1" dirty="0">
                <a:solidFill>
                  <a:srgbClr val="C1440E"/>
                </a:solidFill>
                <a:latin typeface="Calibri" pitchFamily="34" charset="0"/>
                <a:ea typeface="Calibri" pitchFamily="34" charset="-122"/>
                <a:cs typeface="Calibri" pitchFamily="34" charset="-120"/>
              </a:rPr>
              <a:t>100 → 112</a:t>
            </a:r>
            <a:endParaRPr lang="en-US" sz="1600" dirty="0"/>
          </a:p>
        </p:txBody>
      </p:sp>
      <p:sp>
        <p:nvSpPr>
          <p:cNvPr id="16" name="Text 13"/>
          <p:cNvSpPr/>
          <p:nvPr/>
        </p:nvSpPr>
        <p:spPr>
          <a:xfrm>
            <a:off x="6318504" y="2286000"/>
            <a:ext cx="1463040" cy="594360"/>
          </a:xfrm>
          <a:prstGeom prst="rect">
            <a:avLst/>
          </a:prstGeom>
          <a:noFill/>
          <a:ln/>
        </p:spPr>
        <p:txBody>
          <a:bodyPr wrap="square" lIns="0" tIns="0" rIns="0" bIns="0" rtlCol="0" anchor="ctr"/>
          <a:lstStyle/>
          <a:p>
            <a:pPr indent="0" marL="0">
              <a:lnSpc>
                <a:spcPct val="110000"/>
              </a:lnSpc>
              <a:buNone/>
            </a:pPr>
            <a:r>
              <a:rPr lang="en-US" sz="950" dirty="0">
                <a:solidFill>
                  <a:srgbClr val="EFE2D0"/>
                </a:solidFill>
                <a:latin typeface="Calibri" pitchFamily="34" charset="0"/>
                <a:ea typeface="Calibri" pitchFamily="34" charset="-122"/>
                <a:cs typeface="Calibri" pitchFamily="34" charset="-120"/>
              </a:rPr>
              <a:t>Avg. Realized Price Index</a:t>
            </a:r>
            <a:endParaRPr lang="en-US" sz="950" dirty="0"/>
          </a:p>
        </p:txBody>
      </p:sp>
      <p:sp>
        <p:nvSpPr>
          <p:cNvPr id="17" name="Text 14"/>
          <p:cNvSpPr/>
          <p:nvPr/>
        </p:nvSpPr>
        <p:spPr>
          <a:xfrm>
            <a:off x="640080" y="3200400"/>
            <a:ext cx="7315200" cy="320040"/>
          </a:xfrm>
          <a:prstGeom prst="rect">
            <a:avLst/>
          </a:prstGeom>
          <a:noFill/>
          <a:ln/>
        </p:spPr>
        <p:txBody>
          <a:bodyPr wrap="square" lIns="0" tIns="0" rIns="0" bIns="0" rtlCol="0" anchor="ctr"/>
          <a:lstStyle/>
          <a:p>
            <a:pPr indent="0" marL="0">
              <a:buNone/>
            </a:pPr>
            <a:r>
              <a:rPr lang="en-US" sz="1250" b="1" dirty="0">
                <a:solidFill>
                  <a:srgbClr val="D9B48F"/>
                </a:solidFill>
                <a:latin typeface="Calibri" pitchFamily="34" charset="0"/>
                <a:ea typeface="Calibri" pitchFamily="34" charset="-122"/>
                <a:cs typeface="Calibri" pitchFamily="34" charset="-120"/>
              </a:rPr>
              <a:t>Profitability Index: Before vs. After (Baseline = 100)</a:t>
            </a:r>
            <a:endParaRPr lang="en-US" sz="1250" dirty="0"/>
          </a:p>
        </p:txBody>
      </p:sp>
      <p:graphicFrame>
        <p:nvGraphicFramePr>
          <p:cNvPr id="18" name="Chart 0" descr=""/>
          <p:cNvGraphicFramePr/>
          <p:nvPr/>
        </p:nvGraphicFramePr>
        <p:xfrm>
          <a:off x="640080" y="3547872"/>
          <a:ext cx="7132320" cy="251460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8092440" y="1600200"/>
            <a:ext cx="3520440" cy="4617720"/>
          </a:xfrm>
          <a:prstGeom prst="rect">
            <a:avLst/>
          </a:prstGeom>
          <a:solidFill>
            <a:srgbClr val="3A2417"/>
          </a:solidFill>
          <a:ln w="9525">
            <a:solidFill>
              <a:srgbClr val="8C5A34"/>
            </a:solidFill>
            <a:prstDash val="solid"/>
          </a:ln>
        </p:spPr>
      </p:sp>
      <p:sp>
        <p:nvSpPr>
          <p:cNvPr id="20" name="Text 16"/>
          <p:cNvSpPr/>
          <p:nvPr/>
        </p:nvSpPr>
        <p:spPr>
          <a:xfrm>
            <a:off x="8321040" y="1810512"/>
            <a:ext cx="3063240" cy="292608"/>
          </a:xfrm>
          <a:prstGeom prst="rect">
            <a:avLst/>
          </a:prstGeom>
          <a:noFill/>
          <a:ln/>
        </p:spPr>
        <p:txBody>
          <a:bodyPr wrap="square" lIns="0" tIns="0" rIns="0" bIns="0" rtlCol="0" anchor="ctr"/>
          <a:lstStyle/>
          <a:p>
            <a:pPr indent="0" marL="0">
              <a:buNone/>
            </a:pPr>
            <a:r>
              <a:rPr lang="en-US" sz="1050" b="1" spc="100" kern="0" dirty="0">
                <a:solidFill>
                  <a:srgbClr val="C1440E"/>
                </a:solidFill>
                <a:latin typeface="Calibri" pitchFamily="34" charset="0"/>
                <a:ea typeface="Calibri" pitchFamily="34" charset="-122"/>
                <a:cs typeface="Calibri" pitchFamily="34" charset="-120"/>
              </a:rPr>
              <a:t>WHAT DROVE THE RESULT</a:t>
            </a:r>
            <a:endParaRPr lang="en-US" sz="1050" dirty="0"/>
          </a:p>
        </p:txBody>
      </p:sp>
      <p:sp>
        <p:nvSpPr>
          <p:cNvPr id="21" name="Text 17"/>
          <p:cNvSpPr/>
          <p:nvPr/>
        </p:nvSpPr>
        <p:spPr>
          <a:xfrm>
            <a:off x="8321040" y="2194560"/>
            <a:ext cx="3063240" cy="3840480"/>
          </a:xfrm>
          <a:prstGeom prst="rect">
            <a:avLst/>
          </a:prstGeom>
          <a:noFill/>
          <a:ln/>
        </p:spPr>
        <p:txBody>
          <a:bodyPr wrap="square" lIns="0" tIns="0" rIns="0" bIns="0" rtlCol="0" anchor="t"/>
          <a:lstStyle/>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Defensible, tiered pricing replaced reactive, deal-by-deal quoting</a:t>
            </a:r>
            <a:endParaRPr lang="en-US" sz="1100" dirty="0"/>
          </a:p>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Clear positioning around finish, printability, and lid design</a:t>
            </a:r>
            <a:endParaRPr lang="en-US" sz="1100" dirty="0"/>
          </a:p>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Sharper focus on the higher-margin export-packaging segment</a:t>
            </a:r>
            <a:endParaRPr lang="en-US" sz="1100" dirty="0"/>
          </a:p>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Quarterly benchmarking cadence keeps pricing anchored going forward</a:t>
            </a:r>
            <a:endParaRPr lang="en-US" sz="1100" dirty="0"/>
          </a:p>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Spec sheets gave buyers a visible reason to pay for finish and lid design</a:t>
            </a:r>
            <a:endParaRPr lang="en-US" sz="1100" dirty="0"/>
          </a:p>
          <a:p>
            <a:pPr marL="152400" indent="-152400">
              <a:lnSpc>
                <a:spcPct val="120000"/>
              </a:lnSpc>
              <a:spcAft>
                <a:spcPts val="1200"/>
              </a:spcAft>
              <a:buSzPct val="100000"/>
              <a:buChar char="•"/>
            </a:pPr>
            <a:r>
              <a:rPr lang="en-US" sz="1100" dirty="0">
                <a:solidFill>
                  <a:srgbClr val="EFE2D0"/>
                </a:solidFill>
                <a:latin typeface="Calibri" pitchFamily="34" charset="0"/>
                <a:ea typeface="Calibri" pitchFamily="34" charset="-122"/>
                <a:cs typeface="Calibri" pitchFamily="34" charset="-120"/>
              </a:rPr>
              <a:t>Export accounts gained a dedicated offer, lifting their share of revenue from 15% to 24%</a:t>
            </a:r>
            <a:endParaRPr lang="en-US" sz="1100" dirty="0"/>
          </a:p>
        </p:txBody>
      </p:sp>
      <p:sp>
        <p:nvSpPr>
          <p:cNvPr id="22" name="Text 18"/>
          <p:cNvSpPr/>
          <p:nvPr/>
        </p:nvSpPr>
        <p:spPr>
          <a:xfrm>
            <a:off x="640080" y="6263640"/>
            <a:ext cx="7315200" cy="274320"/>
          </a:xfrm>
          <a:prstGeom prst="rect">
            <a:avLst/>
          </a:prstGeom>
          <a:noFill/>
          <a:ln/>
        </p:spPr>
        <p:txBody>
          <a:bodyPr wrap="square" lIns="0" tIns="0" rIns="0" bIns="0" rtlCol="0" anchor="ctr"/>
          <a:lstStyle/>
          <a:p>
            <a:pPr indent="0" marL="0">
              <a:buNone/>
            </a:pPr>
            <a:r>
              <a:rPr lang="en-US" sz="900" i="1" dirty="0">
                <a:solidFill>
                  <a:srgbClr val="9C7B5C"/>
                </a:solidFill>
                <a:latin typeface="Calibri" pitchFamily="34" charset="0"/>
                <a:ea typeface="Calibri" pitchFamily="34" charset="-122"/>
                <a:cs typeface="Calibri" pitchFamily="34" charset="-120"/>
              </a:rPr>
              <a:t>Indices are baselined to 100 at engagement start to preserve client confidentiality.</a:t>
            </a:r>
            <a:endParaRPr lang="en-US" sz="900" dirty="0"/>
          </a:p>
        </p:txBody>
      </p:sp>
      <p:sp>
        <p:nvSpPr>
          <p:cNvPr id="23" name="Text 19"/>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9C7B5C"/>
                </a:solidFill>
                <a:latin typeface="Calibri" pitchFamily="34" charset="0"/>
                <a:ea typeface="Calibri" pitchFamily="34" charset="-122"/>
                <a:cs typeface="Calibri" pitchFamily="34" charset="-120"/>
              </a:rPr>
              <a:t>Strictly Private &amp; Confidential</a:t>
            </a:r>
            <a:endParaRPr lang="en-US" sz="900" dirty="0"/>
          </a:p>
        </p:txBody>
      </p:sp>
      <p:sp>
        <p:nvSpPr>
          <p:cNvPr id="24" name="Text 20"/>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9C7B5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p:bgPr>
    </p:bg>
    <p:spTree>
      <p:nvGrpSpPr>
        <p:cNvPr id="1" name=""/>
        <p:cNvGrpSpPr/>
        <p:nvPr/>
      </p:nvGrpSpPr>
      <p:grpSpPr>
        <a:xfrm>
          <a:off x="0" y="0"/>
          <a:ext cx="0" cy="0"/>
          <a:chOff x="0" y="0"/>
          <a:chExt cx="0" cy="0"/>
        </a:xfrm>
      </p:grpSpPr>
      <p:sp>
        <p:nvSpPr>
          <p:cNvPr id="3" name="Text 0"/>
          <p:cNvSpPr/>
          <p:nvPr/>
        </p:nvSpPr>
        <p:spPr>
          <a:xfrm>
            <a:off x="548640" y="292608"/>
            <a:ext cx="7315200" cy="237744"/>
          </a:xfrm>
          <a:prstGeom prst="rect">
            <a:avLst/>
          </a:prstGeom>
          <a:noFill/>
          <a:ln/>
        </p:spPr>
        <p:txBody>
          <a:bodyPr wrap="square" lIns="0" tIns="0" rIns="0" bIns="0" rtlCol="0" anchor="ctr"/>
          <a:lstStyle/>
          <a:p>
            <a:pPr indent="0" marL="0">
              <a:buNone/>
            </a:pPr>
            <a:r>
              <a:rPr lang="en-US" sz="1050" b="1" spc="200" kern="0" dirty="0">
                <a:solidFill>
                  <a:srgbClr val="C1440E"/>
                </a:solidFill>
                <a:latin typeface="Calibri" pitchFamily="34" charset="0"/>
                <a:ea typeface="Calibri" pitchFamily="34" charset="-122"/>
                <a:cs typeface="Calibri" pitchFamily="34" charset="-120"/>
              </a:rPr>
              <a:t>APPENDIX</a:t>
            </a:r>
            <a:endParaRPr lang="en-US" sz="1050" dirty="0"/>
          </a:p>
        </p:txBody>
      </p:sp>
      <p:sp>
        <p:nvSpPr>
          <p:cNvPr id="4" name="Text 1"/>
          <p:cNvSpPr/>
          <p:nvPr/>
        </p:nvSpPr>
        <p:spPr>
          <a:xfrm>
            <a:off x="548640" y="548640"/>
            <a:ext cx="11064240" cy="566928"/>
          </a:xfrm>
          <a:prstGeom prst="rect">
            <a:avLst/>
          </a:prstGeom>
          <a:noFill/>
          <a:ln/>
        </p:spPr>
        <p:txBody>
          <a:bodyPr wrap="square" lIns="0" tIns="0" rIns="0" bIns="0" rtlCol="0" anchor="t"/>
          <a:lstStyle/>
          <a:p>
            <a:pPr indent="0" marL="0">
              <a:buNone/>
            </a:pPr>
            <a:r>
              <a:rPr lang="en-US" sz="2400" b="1" dirty="0">
                <a:solidFill>
                  <a:srgbClr val="4A2E1E"/>
                </a:solidFill>
                <a:latin typeface="Cambria" pitchFamily="34" charset="0"/>
                <a:ea typeface="Cambria" pitchFamily="34" charset="-122"/>
                <a:cs typeface="Cambria" pitchFamily="34" charset="-120"/>
              </a:rPr>
              <a:t>Where the numbers come from</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8686800"/>
              </a:tblGrid>
              <a:tr h="713232">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Primary research</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On-site factory visit at the client's plant; structured interviews with buyers across chemicals, pharma, and food-packaging segments.</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r h="822960">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Competitor data</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Listings, catalogues, and published specifications for 10+ regional fibre-drum manufacturers on B2B trade platforms and sector directories; four closest comparators benchmarked (anonymized as Competitors A–C and category average).</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r>
              <a:tr h="822960">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India market data</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India Brand Equity Foundation (IBEF), Ministry of Commerce &amp; Industry, Govt. of India: paper packaging market size and 2030 projection, overall packaging industry size, FDI policy, paper/paperboard export trends (Aug 2025).</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r h="822960">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Fiber drum market estimates</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Third-party market research: SkyQuest, Future Market Insights, Allied Market Research / 360iResearch, Strategic Packaging Insights (2025). Estimates differ by firm, so ranges are shown rather than a single figure.</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r>
              <a:tr h="566928">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Frameworks applied</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Porter's Five Forces, SWOT, competitive benchmarking matrix, capacity-tier price comparison, price-walk analysis.</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9DCC3"/>
                    </a:solidFill>
                  </a:tcPr>
                </a:tc>
              </a:tr>
              <a:tr h="566928">
                <a:tc>
                  <a:txBody>
                    <a:bodyPr/>
                    <a:lstStyle/>
                    <a:p>
                      <a:pPr indent="0" marL="0">
                        <a:buNone/>
                      </a:pPr>
                      <a:r>
                        <a:rPr lang="en-US" sz="1100" b="1" dirty="0">
                          <a:solidFill>
                            <a:srgbClr val="4A2E1E"/>
                          </a:solidFill>
                          <a:latin typeface="Calibri" pitchFamily="34" charset="0"/>
                          <a:ea typeface="Calibri" pitchFamily="34" charset="-122"/>
                          <a:cs typeface="Calibri" pitchFamily="34" charset="-120"/>
                        </a:rPr>
                        <a:t>Confidentiality treatment</a:t>
                      </a:r>
                      <a:endParaRPr lang="en-US" sz="110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c>
                  <a:txBody>
                    <a:bodyPr/>
                    <a:lstStyle/>
                    <a:p>
                      <a:pPr indent="0" marL="0">
                        <a:buNone/>
                      </a:pPr>
                      <a:r>
                        <a:rPr lang="en-US" sz="1050" dirty="0">
                          <a:solidFill>
                            <a:srgbClr val="2B2118"/>
                          </a:solidFill>
                          <a:latin typeface="Calibri" pitchFamily="34" charset="0"/>
                          <a:ea typeface="Calibri" pitchFamily="34" charset="-122"/>
                          <a:cs typeface="Calibri" pitchFamily="34" charset="-120"/>
                        </a:rPr>
                        <a:t>Client identity withheld; profitability, win-rate, and realized-price outcomes shown as indices (baseline = 100); competitors anonymized.</a:t>
                      </a:r>
                      <a:endParaRPr lang="en-US" sz="1050" dirty="0">
                        <a:latin typeface="Calibri" charset="0"/>
                        <a:ea typeface="Calibri" charset="0"/>
                        <a:cs typeface="Calibri" charset="0"/>
                      </a:endParaRPr>
                    </a:p>
                  </a:txBody>
                  <a:tcPr marL="91440" marR="91440" marT="45720" marB="4572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FAF6EE"/>
                    </a:solidFill>
                  </a:tcPr>
                </a:tc>
              </a:tr>
            </a:tbl>
          </a:graphicData>
        </a:graphic>
      </p:graphicFrame>
      <p:sp>
        <p:nvSpPr>
          <p:cNvPr id="6" name="Text 2"/>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8C5A34"/>
                </a:solidFill>
                <a:latin typeface="Calibri" pitchFamily="34" charset="0"/>
                <a:ea typeface="Calibri" pitchFamily="34" charset="-122"/>
                <a:cs typeface="Calibri" pitchFamily="34" charset="-120"/>
              </a:rPr>
              <a:t>Strictly Private &amp; Confidential</a:t>
            </a:r>
            <a:endParaRPr lang="en-US" sz="900" dirty="0"/>
          </a:p>
        </p:txBody>
      </p:sp>
      <p:sp>
        <p:nvSpPr>
          <p:cNvPr id="7" name="Text 3"/>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8C5A3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2E1E"/>
        </a:solidFill>
      </p:bgPr>
    </p:bg>
    <p:spTree>
      <p:nvGrpSpPr>
        <p:cNvPr id="1" name=""/>
        <p:cNvGrpSpPr/>
        <p:nvPr/>
      </p:nvGrpSpPr>
      <p:grpSpPr>
        <a:xfrm>
          <a:off x="0" y="0"/>
          <a:ext cx="0" cy="0"/>
          <a:chOff x="0" y="0"/>
          <a:chExt cx="0" cy="0"/>
        </a:xfrm>
      </p:grpSpPr>
      <p:sp>
        <p:nvSpPr>
          <p:cNvPr id="3" name="Text 0"/>
          <p:cNvSpPr/>
          <p:nvPr/>
        </p:nvSpPr>
        <p:spPr>
          <a:xfrm>
            <a:off x="822960" y="1828800"/>
            <a:ext cx="5486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1"/>
          <p:cNvSpPr/>
          <p:nvPr/>
        </p:nvSpPr>
        <p:spPr>
          <a:xfrm>
            <a:off x="822960" y="2606040"/>
            <a:ext cx="5486400" cy="457200"/>
          </a:xfrm>
          <a:prstGeom prst="rect">
            <a:avLst/>
          </a:prstGeom>
          <a:noFill/>
          <a:ln/>
        </p:spPr>
        <p:txBody>
          <a:bodyPr wrap="square" lIns="0" tIns="0" rIns="0" bIns="0" rtlCol="0" anchor="ctr"/>
          <a:lstStyle/>
          <a:p>
            <a:pPr indent="0" marL="0">
              <a:buNone/>
            </a:pPr>
            <a:r>
              <a:rPr lang="en-US" sz="1500" i="1" dirty="0">
                <a:solidFill>
                  <a:srgbClr val="D9B48F"/>
                </a:solidFill>
                <a:latin typeface="Calibri" pitchFamily="34" charset="0"/>
                <a:ea typeface="Calibri" pitchFamily="34" charset="-122"/>
                <a:cs typeface="Calibri" pitchFamily="34" charset="-120"/>
              </a:rPr>
              <a:t>Questions and follow-on discussion welcome.</a:t>
            </a:r>
            <a:endParaRPr lang="en-US" sz="1500" dirty="0"/>
          </a:p>
        </p:txBody>
      </p:sp>
      <p:sp>
        <p:nvSpPr>
          <p:cNvPr id="5" name="Shape 2"/>
          <p:cNvSpPr/>
          <p:nvPr/>
        </p:nvSpPr>
        <p:spPr>
          <a:xfrm>
            <a:off x="822960" y="3337560"/>
            <a:ext cx="4114800" cy="0"/>
          </a:xfrm>
          <a:prstGeom prst="line">
            <a:avLst/>
          </a:prstGeom>
          <a:noFill/>
          <a:ln w="12700">
            <a:solidFill>
              <a:srgbClr val="8C5A34"/>
            </a:solidFill>
            <a:prstDash val="solid"/>
          </a:ln>
        </p:spPr>
      </p:sp>
      <p:sp>
        <p:nvSpPr>
          <p:cNvPr id="6" name="Text 3"/>
          <p:cNvSpPr/>
          <p:nvPr/>
        </p:nvSpPr>
        <p:spPr>
          <a:xfrm>
            <a:off x="822960" y="352044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Tejal Mugul</a:t>
            </a:r>
            <a:endParaRPr lang="en-US" sz="1600" dirty="0"/>
          </a:p>
        </p:txBody>
      </p:sp>
      <p:sp>
        <p:nvSpPr>
          <p:cNvPr id="7" name="Text 4"/>
          <p:cNvSpPr/>
          <p:nvPr/>
        </p:nvSpPr>
        <p:spPr>
          <a:xfrm>
            <a:off x="822960" y="3886200"/>
            <a:ext cx="5486400" cy="320040"/>
          </a:xfrm>
          <a:prstGeom prst="rect">
            <a:avLst/>
          </a:prstGeom>
          <a:noFill/>
          <a:ln/>
        </p:spPr>
        <p:txBody>
          <a:bodyPr wrap="square" lIns="0" tIns="0" rIns="0" bIns="0" rtlCol="0" anchor="ctr"/>
          <a:lstStyle/>
          <a:p>
            <a:pPr indent="0" marL="0">
              <a:buNone/>
            </a:pPr>
            <a:r>
              <a:rPr lang="en-US" sz="1200" i="1" dirty="0">
                <a:solidFill>
                  <a:srgbClr val="D9B48F"/>
                </a:solidFill>
                <a:latin typeface="Calibri" pitchFamily="34" charset="0"/>
                <a:ea typeface="Calibri" pitchFamily="34" charset="-122"/>
                <a:cs typeface="Calibri" pitchFamily="34" charset="-120"/>
              </a:rPr>
              <a:t>Competitive Intelligence &amp; Market Research Consultant</a:t>
            </a:r>
            <a:endParaRPr lang="en-US" sz="1200" dirty="0"/>
          </a:p>
        </p:txBody>
      </p:sp>
      <p:sp>
        <p:nvSpPr>
          <p:cNvPr id="8" name="Shape 5"/>
          <p:cNvSpPr/>
          <p:nvPr/>
        </p:nvSpPr>
        <p:spPr>
          <a:xfrm>
            <a:off x="6675120" y="1280160"/>
            <a:ext cx="4937760" cy="4023360"/>
          </a:xfrm>
          <a:prstGeom prst="rect">
            <a:avLst/>
          </a:prstGeom>
          <a:solidFill>
            <a:srgbClr val="3A2417"/>
          </a:solidFill>
          <a:ln w="9525">
            <a:solidFill>
              <a:srgbClr val="8C5A34"/>
            </a:solidFill>
            <a:prstDash val="solid"/>
          </a:ln>
        </p:spPr>
      </p:sp>
      <p:sp>
        <p:nvSpPr>
          <p:cNvPr id="9" name="Text 6"/>
          <p:cNvSpPr/>
          <p:nvPr/>
        </p:nvSpPr>
        <p:spPr>
          <a:xfrm>
            <a:off x="6949440" y="1463040"/>
            <a:ext cx="4389120" cy="292608"/>
          </a:xfrm>
          <a:prstGeom prst="rect">
            <a:avLst/>
          </a:prstGeom>
          <a:noFill/>
          <a:ln/>
        </p:spPr>
        <p:txBody>
          <a:bodyPr wrap="square" lIns="0" tIns="0" rIns="0" bIns="0" rtlCol="0" anchor="ctr"/>
          <a:lstStyle/>
          <a:p>
            <a:pPr indent="0" marL="0">
              <a:buNone/>
            </a:pPr>
            <a:r>
              <a:rPr lang="en-US" sz="1050" b="1" spc="100" kern="0" dirty="0">
                <a:solidFill>
                  <a:srgbClr val="C1440E"/>
                </a:solidFill>
                <a:latin typeface="Calibri" pitchFamily="34" charset="0"/>
                <a:ea typeface="Calibri" pitchFamily="34" charset="-122"/>
                <a:cs typeface="Calibri" pitchFamily="34" charset="-120"/>
              </a:rPr>
              <a:t>THE ENGAGEMENT AT A GLANCE</a:t>
            </a:r>
            <a:endParaRPr lang="en-US" sz="1050" dirty="0"/>
          </a:p>
        </p:txBody>
      </p:sp>
      <p:sp>
        <p:nvSpPr>
          <p:cNvPr id="10" name="Text 7"/>
          <p:cNvSpPr/>
          <p:nvPr/>
        </p:nvSpPr>
        <p:spPr>
          <a:xfrm>
            <a:off x="6949440" y="187452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Problem</a:t>
            </a:r>
            <a:endParaRPr lang="en-US" sz="1050" dirty="0"/>
          </a:p>
        </p:txBody>
      </p:sp>
      <p:sp>
        <p:nvSpPr>
          <p:cNvPr id="11" name="Text 8"/>
          <p:cNvSpPr/>
          <p:nvPr/>
        </p:nvSpPr>
        <p:spPr>
          <a:xfrm>
            <a:off x="8046720" y="187452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Better specs than peers, priced as if not</a:t>
            </a:r>
            <a:endParaRPr lang="en-US" sz="1050" dirty="0"/>
          </a:p>
        </p:txBody>
      </p:sp>
      <p:sp>
        <p:nvSpPr>
          <p:cNvPr id="12" name="Text 9"/>
          <p:cNvSpPr/>
          <p:nvPr/>
        </p:nvSpPr>
        <p:spPr>
          <a:xfrm>
            <a:off x="6949440" y="242316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Approach</a:t>
            </a:r>
            <a:endParaRPr lang="en-US" sz="1050" dirty="0"/>
          </a:p>
        </p:txBody>
      </p:sp>
      <p:sp>
        <p:nvSpPr>
          <p:cNvPr id="13" name="Text 10"/>
          <p:cNvSpPr/>
          <p:nvPr/>
        </p:nvSpPr>
        <p:spPr>
          <a:xfrm>
            <a:off x="8046720" y="242316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Desk research, benchmarking, factory visit, buyer interviews</a:t>
            </a:r>
            <a:endParaRPr lang="en-US" sz="1050" dirty="0"/>
          </a:p>
        </p:txBody>
      </p:sp>
      <p:sp>
        <p:nvSpPr>
          <p:cNvPr id="14" name="Text 11"/>
          <p:cNvSpPr/>
          <p:nvPr/>
        </p:nvSpPr>
        <p:spPr>
          <a:xfrm>
            <a:off x="6949440" y="297180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Insight</a:t>
            </a:r>
            <a:endParaRPr lang="en-US" sz="1050" dirty="0"/>
          </a:p>
        </p:txBody>
      </p:sp>
      <p:sp>
        <p:nvSpPr>
          <p:cNvPr id="15" name="Text 12"/>
          <p:cNvSpPr/>
          <p:nvPr/>
        </p:nvSpPr>
        <p:spPr>
          <a:xfrm>
            <a:off x="8046720" y="297180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Buyers rank finish and lid design above price when visible at quotation</a:t>
            </a:r>
            <a:endParaRPr lang="en-US" sz="1050" dirty="0"/>
          </a:p>
        </p:txBody>
      </p:sp>
      <p:sp>
        <p:nvSpPr>
          <p:cNvPr id="16" name="Text 13"/>
          <p:cNvSpPr/>
          <p:nvPr/>
        </p:nvSpPr>
        <p:spPr>
          <a:xfrm>
            <a:off x="6949440" y="352044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Move</a:t>
            </a:r>
            <a:endParaRPr lang="en-US" sz="1050" dirty="0"/>
          </a:p>
        </p:txBody>
      </p:sp>
      <p:sp>
        <p:nvSpPr>
          <p:cNvPr id="17" name="Text 14"/>
          <p:cNvSpPr/>
          <p:nvPr/>
        </p:nvSpPr>
        <p:spPr>
          <a:xfrm>
            <a:off x="8046720" y="352044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Tiered, benchmark-anchored pricing; export-segment focus</a:t>
            </a:r>
            <a:endParaRPr lang="en-US" sz="1050" dirty="0"/>
          </a:p>
        </p:txBody>
      </p:sp>
      <p:sp>
        <p:nvSpPr>
          <p:cNvPr id="18" name="Text 15"/>
          <p:cNvSpPr/>
          <p:nvPr/>
        </p:nvSpPr>
        <p:spPr>
          <a:xfrm>
            <a:off x="6949440" y="406908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Result</a:t>
            </a:r>
            <a:endParaRPr lang="en-US" sz="1050" dirty="0"/>
          </a:p>
        </p:txBody>
      </p:sp>
      <p:sp>
        <p:nvSpPr>
          <p:cNvPr id="19" name="Text 16"/>
          <p:cNvSpPr/>
          <p:nvPr/>
        </p:nvSpPr>
        <p:spPr>
          <a:xfrm>
            <a:off x="8046720" y="406908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Profitability index 100 → 130</a:t>
            </a:r>
            <a:endParaRPr lang="en-US" sz="1050" dirty="0"/>
          </a:p>
        </p:txBody>
      </p:sp>
      <p:sp>
        <p:nvSpPr>
          <p:cNvPr id="20" name="Text 17"/>
          <p:cNvSpPr/>
          <p:nvPr/>
        </p:nvSpPr>
        <p:spPr>
          <a:xfrm>
            <a:off x="6949440" y="4617720"/>
            <a:ext cx="1097280" cy="502920"/>
          </a:xfrm>
          <a:prstGeom prst="rect">
            <a:avLst/>
          </a:prstGeom>
          <a:noFill/>
          <a:ln/>
        </p:spPr>
        <p:txBody>
          <a:bodyPr wrap="square" lIns="0" tIns="0" rIns="0" bIns="0" rtlCol="0" anchor="t"/>
          <a:lstStyle/>
          <a:p>
            <a:pPr indent="0" marL="0">
              <a:buNone/>
            </a:pPr>
            <a:r>
              <a:rPr lang="en-US" sz="1050" b="1" dirty="0">
                <a:solidFill>
                  <a:srgbClr val="D9B48F"/>
                </a:solidFill>
                <a:latin typeface="Calibri" pitchFamily="34" charset="0"/>
                <a:ea typeface="Calibri" pitchFamily="34" charset="-122"/>
                <a:cs typeface="Calibri" pitchFamily="34" charset="-120"/>
              </a:rPr>
              <a:t>Market</a:t>
            </a:r>
            <a:endParaRPr lang="en-US" sz="1050" dirty="0"/>
          </a:p>
        </p:txBody>
      </p:sp>
      <p:sp>
        <p:nvSpPr>
          <p:cNvPr id="21" name="Text 18"/>
          <p:cNvSpPr/>
          <p:nvPr/>
        </p:nvSpPr>
        <p:spPr>
          <a:xfrm>
            <a:off x="8046720" y="4617720"/>
            <a:ext cx="3383280" cy="50292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India paper packaging: US$19.1B → US$46.4B by 2030 (IBEF)</a:t>
            </a:r>
            <a:endParaRPr lang="en-US" sz="1050" dirty="0"/>
          </a:p>
        </p:txBody>
      </p:sp>
      <p:sp>
        <p:nvSpPr>
          <p:cNvPr id="22" name="Text 19"/>
          <p:cNvSpPr/>
          <p:nvPr/>
        </p:nvSpPr>
        <p:spPr>
          <a:xfrm>
            <a:off x="822960" y="5669280"/>
            <a:ext cx="10424160" cy="640080"/>
          </a:xfrm>
          <a:prstGeom prst="rect">
            <a:avLst/>
          </a:prstGeom>
          <a:noFill/>
          <a:ln/>
        </p:spPr>
        <p:txBody>
          <a:bodyPr wrap="square" lIns="0" tIns="0" rIns="0" bIns="0" rtlCol="0" anchor="ctr"/>
          <a:lstStyle/>
          <a:p>
            <a:pPr indent="0" marL="0">
              <a:lnSpc>
                <a:spcPct val="120000"/>
              </a:lnSpc>
              <a:buNone/>
            </a:pPr>
            <a:r>
              <a:rPr lang="en-US" sz="1000" i="1" dirty="0">
                <a:solidFill>
                  <a:srgbClr val="9C7B5C"/>
                </a:solidFill>
                <a:latin typeface="Calibri" pitchFamily="34" charset="0"/>
                <a:ea typeface="Calibri" pitchFamily="34" charset="-122"/>
                <a:cs typeface="Calibri" pitchFamily="34" charset="-120"/>
              </a:rPr>
              <a:t>Note: the client's identity and underlying financial figures have been withheld and indexed to preserve confidentiality. The analytical approach, findings, and recommendations reflect the actual engagement.</a:t>
            </a:r>
            <a:endParaRPr lang="en-US" sz="1000" dirty="0"/>
          </a:p>
        </p:txBody>
      </p:sp>
      <p:sp>
        <p:nvSpPr>
          <p:cNvPr id="23" name="Text 20"/>
          <p:cNvSpPr/>
          <p:nvPr/>
        </p:nvSpPr>
        <p:spPr>
          <a:xfrm>
            <a:off x="457200" y="6528816"/>
            <a:ext cx="5486400" cy="274320"/>
          </a:xfrm>
          <a:prstGeom prst="rect">
            <a:avLst/>
          </a:prstGeom>
          <a:noFill/>
          <a:ln/>
        </p:spPr>
        <p:txBody>
          <a:bodyPr wrap="square" lIns="0" tIns="0" rIns="0" bIns="0" rtlCol="0" anchor="ctr"/>
          <a:lstStyle/>
          <a:p>
            <a:pPr algn="l" indent="0" marL="0">
              <a:buNone/>
            </a:pPr>
            <a:r>
              <a:rPr lang="en-US" sz="900" i="1" dirty="0">
                <a:solidFill>
                  <a:srgbClr val="9C7B5C"/>
                </a:solidFill>
                <a:latin typeface="Calibri" pitchFamily="34" charset="0"/>
                <a:ea typeface="Calibri" pitchFamily="34" charset="-122"/>
                <a:cs typeface="Calibri" pitchFamily="34" charset="-120"/>
              </a:rPr>
              <a:t>Strictly Private &amp; Confidential</a:t>
            </a:r>
            <a:endParaRPr lang="en-US" sz="900" dirty="0"/>
          </a:p>
        </p:txBody>
      </p:sp>
      <p:sp>
        <p:nvSpPr>
          <p:cNvPr id="24" name="Text 21"/>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900" dirty="0">
                <a:solidFill>
                  <a:srgbClr val="9C7B5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2026-09-28T03:35:26Z</dcterms:created>
  <dcterms:modified xsi:type="dcterms:W3CDTF">2026-09-28T03:35:26Z</dcterms:modified>
</cp:coreProperties>
</file>