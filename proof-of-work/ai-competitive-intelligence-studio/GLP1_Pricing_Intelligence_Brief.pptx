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 Price ($/month)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4F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Foundayo
(oral, Lilly)</c:v>
                  </c:pt>
                  <c:pt idx="1">
                    <c:v>Ozempic
(Novo)</c:v>
                  </c:pt>
                  <c:pt idx="2">
                    <c:v>Rybelsus
(Novo)</c:v>
                  </c:pt>
                  <c:pt idx="3">
                    <c:v>Zepbound
(Lilly, pre-MFN)</c:v>
                  </c:pt>
                  <c:pt idx="4">
                    <c:v>Mounjaro
(Lilly)</c:v>
                  </c:pt>
                  <c:pt idx="5">
                    <c:v>Wegovy
(Novo)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649</c:v>
                </c:pt>
                <c:pt idx="1">
                  <c:v>1028</c:v>
                </c:pt>
                <c:pt idx="2">
                  <c:v>1028</c:v>
                </c:pt>
                <c:pt idx="3">
                  <c:v>1080</c:v>
                </c:pt>
                <c:pt idx="4">
                  <c:v>1086</c:v>
                </c:pt>
                <c:pt idx="5">
                  <c:v>1349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4F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7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282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4F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4F4A"/>
                </a:solidFill>
                <a:latin typeface="Arial"/>
              </a:rPr>
              <a:t>Ozempic (1mg, 4 doses)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Ozempic, $/month (list price)</c:v>
                </c:pt>
              </c:strCache>
            </c:strRef>
          </c:tx>
          <c:spPr>
            <a:solidFill>
              <a:srgbClr val="0B4F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0B4F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United
States</c:v>
                  </c:pt>
                  <c:pt idx="1">
                    <c:v>Japan</c:v>
                  </c:pt>
                  <c:pt idx="2">
                    <c:v>Sweden</c:v>
                  </c:pt>
                  <c:pt idx="3">
                    <c:v>United
Kingdom</c:v>
                  </c:pt>
                  <c:pt idx="4">
                    <c:v>Australia</c:v>
                  </c:pt>
                  <c:pt idx="5">
                    <c:v>France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936</c:v>
                </c:pt>
                <c:pt idx="1">
                  <c:v>169</c:v>
                </c:pt>
                <c:pt idx="2">
                  <c:v>94</c:v>
                </c:pt>
                <c:pt idx="3">
                  <c:v>94</c:v>
                </c:pt>
                <c:pt idx="4">
                  <c:v>94</c:v>
                </c:pt>
                <c:pt idx="5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50" u="none">
                  <a:solidFill>
                    <a:srgbClr val="0B4F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4F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4F4A"/>
                </a:solidFill>
                <a:latin typeface="Arial"/>
              </a:rPr>
              <a:t>Wegovy (2.4mg) &amp; Mounjaro (15mg)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Wegovy / Mounjaro, $/month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B4F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Wegovy:
US</c:v>
                  </c:pt>
                  <c:pt idx="1">
                    <c:v>Wegovy:
Germany</c:v>
                  </c:pt>
                  <c:pt idx="2">
                    <c:v>Wegovy:
Netherlands</c:v>
                  </c:pt>
                  <c:pt idx="3">
                    <c:v>Mounjaro:
US</c:v>
                  </c:pt>
                  <c:pt idx="4">
                    <c:v>Mounjaro:
Netherlands</c:v>
                  </c:pt>
                  <c:pt idx="5">
                    <c:v>Mounjaro:
Japan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1349</c:v>
                </c:pt>
                <c:pt idx="1">
                  <c:v>328</c:v>
                </c:pt>
                <c:pt idx="2">
                  <c:v>296</c:v>
                </c:pt>
                <c:pt idx="3">
                  <c:v>1023</c:v>
                </c:pt>
                <c:pt idx="4">
                  <c:v>444</c:v>
                </c:pt>
                <c:pt idx="5">
                  <c:v>319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0B4F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B4F4A"/>
                </a:solidFill>
                <a:latin typeface="Arial"/>
              </a:defRPr>
            </a:pPr>
            <a:r>
              <a:rPr sz="1150" b="0" i="0" u="none" strike="noStrike">
                <a:solidFill>
                  <a:srgbClr val="0B4F4A"/>
                </a:solidFill>
                <a:latin typeface="Arial"/>
              </a:rPr>
              <a:t>Weekly Dose Price, ₹ (2026)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India, weekly dose price, ₹</c:v>
                </c:pt>
              </c:strCache>
            </c:strRef>
          </c:tx>
          <c:spPr>
            <a:solidFill>
              <a:srgbClr val="0B4F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4F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8A3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Ozempic 0.25mg
(before Mar 2026)</c:v>
                  </c:pt>
                  <c:pt idx="1">
                    <c:v>Ozempic 0.25mg
(after Mar 2026)</c:v>
                  </c:pt>
                  <c:pt idx="2">
                    <c:v>Generic semaglutide
(as low as, post-patent)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2200</c:v>
                </c:pt>
                <c:pt idx="1">
                  <c:v>1415</c:v>
                </c:pt>
                <c:pt idx="2">
                  <c:v>1170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4F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4F4A"/>
                </a:solidFill>
                <a:latin typeface="Arial"/>
              </a:rPr>
              <a:t>Annual Revenue, $ Billions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bubble3D val="0"/>
            <c:spPr>
              <a:solidFill>
                <a:srgbClr val="0B4F4A"/>
              </a:solidFill>
              <a:effectLst/>
            </c:spPr>
          </c:dPt>
          <c:dLbls>
            <c:dLbl>
              <c:idx val="0"/>
              <c:numFmt formatCode="&quot;$&quot;#,##0.0&quot;B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$&quot;#,##0.0&quot;B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&quot;$&quot;#,##0.0&quot;B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Mounjaro + Zepbound
(Lilly, 2025)</c:v>
                </c:pt>
                <c:pt idx="1">
                  <c:v>Keytruda
(Merck, 2025, prior #1)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36.5</c:v>
                </c:pt>
                <c:pt idx="1">
                  <c:v>31.6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754880" cy="475488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-868680"/>
            <a:ext cx="3200400" cy="3200400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377440" cy="2377440"/>
          </a:xfrm>
          <a:prstGeom prst="ellipse">
            <a:avLst/>
          </a:prstGeom>
          <a:solidFill>
            <a:srgbClr val="0E5C5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6" name="Image 0" descr="/home/claude/glp1brief/icons/syri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149102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INTELLIGENCE BRIEF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GLP-1 &amp; Weight-Loss Drug Pricing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Cash-Pay, Insurance, and Global Price Benchmarking Across the Branded GLP-1 Category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310896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Tejal Mugul  |  Market Research &amp; Competitive Intelligence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Life Sciences Pricing Analysis  |  Published July 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5074920"/>
            <a:ext cx="8778240" cy="502920"/>
          </a:xfrm>
          <a:prstGeom prst="roundRect">
            <a:avLst>
              <a:gd name="adj" fmla="val 10909"/>
            </a:avLst>
          </a:prstGeom>
          <a:solidFill>
            <a:srgbClr val="0A423E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5074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verified against CMS.gov, FDA.gov, WhiteHouse.gov, HHS.gov, company SEC filings, and manufacturer press releases — see Sources &amp; Methodology.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 Built This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self-directed brief, built the way an actual client deliverable would be — not a slide exercise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sits exactly where I want to work: fast-moving, politically charged, and covered in fragments across dozens of sources rather than one clean place.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the way I'd approach a live client engagement — pull only primary sources, model the pricing structure the way a payer or manufacturer actually experiences it, and compress it into something a stakeholder can act on in one sitting.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8" name="Image 0" descr="/home/claude/glp1brief/icons/filemedic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317434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Primary-Source Discipline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0507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traced to CMS, FDA, WhiteHouse.gov, or a company filing — zero aggregator or affiliate sites.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4389120" y="28803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3108960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13" name="Image 1" descr="/home/claude/glp1brief/icons/handhol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00" y="317434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Access Strategy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17720" y="40507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vs. self-pay vs. payer-copay tiering, modeled the way CI and access teams actually track it.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8275320" y="28803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03920" y="3108960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18" name="Image 2" descr="/home/claude/glp1brief/icon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300" y="317434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Regulatory Fluency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503920" y="40507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 negotiation, MFN deals, and the Medicare GLP-1 Bridge, read straight from the source regulations.</a:t>
            </a:r>
            <a:endParaRPr lang="en-US" sz="870" dirty="0"/>
          </a:p>
        </p:txBody>
      </p:sp>
      <p:sp>
        <p:nvSpPr>
          <p:cNvPr id="21" name="Shape 16"/>
          <p:cNvSpPr/>
          <p:nvPr/>
        </p:nvSpPr>
        <p:spPr>
          <a:xfrm>
            <a:off x="502920" y="461772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23" name="Image 3" descr="/home/claude/glp1brief/icons/glob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0" y="4911700"/>
            <a:ext cx="372161" cy="3721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" y="5440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Benchmarking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31520" y="57881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comparison built on a methodology sourced to each government's own drug-pricing body.</a:t>
            </a:r>
            <a:endParaRPr lang="en-US" sz="870" dirty="0"/>
          </a:p>
        </p:txBody>
      </p:sp>
      <p:sp>
        <p:nvSpPr>
          <p:cNvPr id="26" name="Shape 20"/>
          <p:cNvSpPr/>
          <p:nvPr/>
        </p:nvSpPr>
        <p:spPr>
          <a:xfrm>
            <a:off x="4389120" y="461772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17720" y="4846320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28" name="Image 4" descr="/home/claude/glp1brief/icons/chartli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100" y="4911700"/>
            <a:ext cx="372161" cy="37216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17720" y="5440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Communication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617720" y="57881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slides built to brief a stakeholder in one sitting — not bury them in data.</a:t>
            </a:r>
            <a:endParaRPr lang="en-US" sz="870" dirty="0"/>
          </a:p>
        </p:txBody>
      </p:sp>
      <p:sp>
        <p:nvSpPr>
          <p:cNvPr id="31" name="Shape 24"/>
          <p:cNvSpPr/>
          <p:nvPr/>
        </p:nvSpPr>
        <p:spPr>
          <a:xfrm>
            <a:off x="8275320" y="461772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503920" y="4846320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33" name="Image 5" descr="/home/claude/glp1brief/icons/flas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9300" y="4911700"/>
            <a:ext cx="372161" cy="37216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503920" y="5440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Market Synthesis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503920" y="57881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category where the facts changed twice over the course of researching it.</a:t>
            </a:r>
            <a:endParaRPr lang="en-US" sz="870" dirty="0"/>
          </a:p>
        </p:txBody>
      </p:sp>
      <p:sp>
        <p:nvSpPr>
          <p:cNvPr id="36" name="Text 28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a pricing or access strategy team needs to know about the GLP-1 category right now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4F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258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manufacturers, six brands, one price war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Nordisk and Eli Lilly control the branded category; current US list prices span $649–$1,349/month across Ozempic, Wegovy, Rybelsus, Mounjaro, Zepbound, and Foundayo (company filings, 2026).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167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4F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214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Cash-pay channels already undercut list by 60–75%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direct-to-consumer programs (NovoCare, LillyDirect) price the same molecules at $149–$499/month — a parallel price structure that now does more volume work than list price (Novo Nordisk, Feb 2026).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626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4F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91693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just became a $50/month payer — for three drugs only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CMS's Medicare GLP-1 Bridge (live July 1, 2026) caps eligible beneficiaries' cost at $50/month for Wegovy, Zepbound (KwikPen), and Foundayo — but not for Ozempic or Mounjaro, which remain diabetes-only Part D drugs (CMS.gov).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758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4F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71246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deeper cut is already locked in for 2027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Nordisk will cut Wegovy/Ozempic/Rybelsus list prices to a flat $675/month on Jan 1, 2027; separately, the IRA's negotiated Medicare price for the same three drugs is $274 for a 30-day supply — a 71% cut from 2024 levels (CMS.gov, Novo Nordisk).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553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4F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5079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entrants are resetting the price floor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Lilly's Foundayo (orforglipron), FDA-approved April 1, 2026, launched at $649 list / $149 self-pay starter dose / $25 with commercial coverage — undercutting injectables (FDA.gov, Eli Lilly).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349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4F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5303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patent cliff hit harder and faster than expected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Novo's India semaglutide patent expired March 20, 2026; generics undercut the brand by up to 80% within weeks, and Novo has warned of a 5–13% India-driven sales impact in 2026 (Reuters, CNBC, Novo Nordisk SEC filing).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Landscape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branded products, two manufacturers, three molecules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3429000"/>
        </p:xfrm>
        <a:graphic>
          <a:graphicData uri="http://schemas.openxmlformats.org/drawingml/2006/table">
            <a:tbl>
              <a:tblPr/>
              <a:tblGrid>
                <a:gridCol w="1371600"/>
                <a:gridCol w="1691640"/>
                <a:gridCol w="1783080"/>
                <a:gridCol w="2423160"/>
                <a:gridCol w="2148840"/>
                <a:gridCol w="173736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Manufacturer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Molecule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Indication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US List Price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Ozempic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Novo Nordisk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Semaglutide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Weekly injectable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Type 2 diabetes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$1,028/mo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Wegovy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Novo Nordisk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Semaglutide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Weekly injectable + oral pill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Obesity / weight mgmt.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$1,349/mo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Rybelsus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Novo Nordisk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Oral semaglutide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Daily tablet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Type 2 diabetes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$1,028/mo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Mounjaro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Eli Lilly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Tirzepatide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Weekly injectable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Type 2 diabetes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$1,086/mo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Zepbound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Eli Lilly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Tirzepatide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Weekly injectable (pen + vial)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Obesity / weight mgmt.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&gt;$1,080/mo (pre-MFN)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Foundayo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Eli Lilly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Orforglipron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Daily tablet (non-peptide)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Obesity, approved Apr 2026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</a:rPr>
                        <a:t>$649/mo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2F7F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13892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note: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List/WAC prices per Novo Nordisk corporate press release (Feb 24, 2026) and Reuters reporting of Eli Lilly pricing disclosures (Apr 2025). Zepbound's pre-MFN list was described by the White House/Eli Lilly as “more than $1,080” in the Nov 2025 pricing agreement; Lilly has not published a single WAC figure.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Months That Reset the Category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Regulatory, policy, and product milestones, November 2025 – January 2027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234440" y="3520440"/>
            <a:ext cx="9738360" cy="0"/>
          </a:xfrm>
          <a:prstGeom prst="line">
            <a:avLst/>
          </a:prstGeom>
          <a:noFill/>
          <a:ln w="31750">
            <a:solidFill>
              <a:srgbClr val="E3E9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3282696"/>
            <a:ext cx="475488" cy="475488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6" name="Image 0" descr="/home/claude/glp1brief/icons/lan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509" y="3344509"/>
            <a:ext cx="351861" cy="3518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House MFN deal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82880" y="2834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&amp; Novo agree to Most-Favored-Nation pricing; Medicare/Medicaid GLP-1 price set at $245/mo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619756" y="3282696"/>
            <a:ext cx="475488" cy="475488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11" name="Image 1" descr="/home/claude/glp1brief/icons/pill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569" y="3344509"/>
            <a:ext cx="351861" cy="3518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34540" y="3813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897380" y="4087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Wegovy approved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805940" y="45445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approves Novo's oral semaglutide pill — first oral GLP-1 for weight loss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242816" y="3282696"/>
            <a:ext cx="475488" cy="475488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16" name="Image 2" descr="/home/claude/glp1brief/icons/glob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629" y="3344509"/>
            <a:ext cx="351861" cy="3518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5760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52044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TrumpRx launches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429000" y="2834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platform opens; Novo announces 2027 list-price cut to $675/mo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865876" y="3282696"/>
            <a:ext cx="475488" cy="475488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21" name="Image 3" descr="/home/claude/glp1brief/icons/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689" y="3344509"/>
            <a:ext cx="351861" cy="3518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80660" y="3813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143500" y="4087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patent cliff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052060" y="45445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Semaglutide patent (IN262697B) expires; generics undercut brand by up to 80%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7488936" y="3282696"/>
            <a:ext cx="475488" cy="475488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26" name="Image 4" descr="/home/claude/glp1brief/icons/syrin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0749" y="3344509"/>
            <a:ext cx="351861" cy="3518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037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76656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Foundayo approved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675120" y="2834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approves Lilly's orforglipron — first non-peptide oral GLP-1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9111996" y="3282696"/>
            <a:ext cx="475488" cy="475488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31" name="Image 5" descr="/home/claude/glp1brief/icons/handholdin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3809" y="3344509"/>
            <a:ext cx="351861" cy="3518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26780" y="3813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389620" y="4087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GLP-1 Bridge live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8298180" y="45445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begins $50/month copay for Wegovy, Zepbound (KwikPen), Foundayo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10735056" y="3282696"/>
            <a:ext cx="475488" cy="475488"/>
          </a:xfrm>
          <a:prstGeom prst="ellipse">
            <a:avLst/>
          </a:prstGeom>
          <a:solidFill>
            <a:srgbClr val="C98A3E"/>
          </a:solidFill>
          <a:ln/>
        </p:spPr>
      </p:sp>
      <p:pic>
        <p:nvPicPr>
          <p:cNvPr id="36" name="Image 6" descr="/home/claude/glp1brief/icons/filemedical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6869" y="3344509"/>
            <a:ext cx="351861" cy="35186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1498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1001268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 negotiated price effective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9921240" y="2834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Medicare's negotiated $274 price (semaglutide) and Novo's $675 list cut both take effect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List Price Benchmarking, 2026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list / WAC price, $ per month — before any discount, rebate, or coverage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43800" y="169164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gap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Wegovy (obesity) lists 31% above Ozempic (diabetes) — same molecule, different label, different price.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Mounjaro's $1,086 list is the exact figure Eli Lilly gave Reuters directly (Apr 2025) — not an estimate.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Foundayo's flat $649 list, regardless of dose, is a deliberate simplicity play against injectable tiering.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None of these figures reflect what most patients pay — see the price cascade, next slide.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Price Cascade: List to Actual Cost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four sequential discount layers compress the price a patient or Medicare actually pays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Wegovy (semaglutide, obesity)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485339"/>
            <a:ext cx="1051560" cy="3138221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11019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$1,349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5696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55648" y="4811670"/>
            <a:ext cx="1051560" cy="81189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1664208" y="453735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27048" y="5696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MFN self-pay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(NovoCare)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08376" y="4053286"/>
            <a:ext cx="1051560" cy="157027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2916936" y="377896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79776" y="5696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list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2027)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61104" y="5507243"/>
            <a:ext cx="1051560" cy="116317"/>
          </a:xfrm>
          <a:prstGeom prst="rect">
            <a:avLst/>
          </a:prstGeom>
          <a:solidFill>
            <a:srgbClr val="C98A3E"/>
          </a:solidFill>
          <a:ln/>
        </p:spPr>
      </p:sp>
      <p:sp>
        <p:nvSpPr>
          <p:cNvPr id="15" name="Text 13"/>
          <p:cNvSpPr/>
          <p:nvPr/>
        </p:nvSpPr>
        <p:spPr>
          <a:xfrm>
            <a:off x="4169664" y="5232923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32504" y="5696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copay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5623560"/>
            <a:ext cx="4809744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71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Foundayo (orforglipron, oral)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485339"/>
            <a:ext cx="1051560" cy="3138221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211019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$649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5696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(WAC, flat)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16368" y="4903075"/>
            <a:ext cx="1051560" cy="72048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7424928" y="4628755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87768" y="5696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(LillyDirect)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769096" y="5502673"/>
            <a:ext cx="1051560" cy="120887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8677656" y="5228353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40496" y="5696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card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(commercial)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021824" y="5381786"/>
            <a:ext cx="1051560" cy="241774"/>
          </a:xfrm>
          <a:prstGeom prst="rect">
            <a:avLst/>
          </a:prstGeom>
          <a:solidFill>
            <a:srgbClr val="C98A3E"/>
          </a:solidFill>
          <a:ln/>
        </p:spPr>
      </p:sp>
      <p:sp>
        <p:nvSpPr>
          <p:cNvPr id="29" name="Text 27"/>
          <p:cNvSpPr/>
          <p:nvPr/>
        </p:nvSpPr>
        <p:spPr>
          <a:xfrm>
            <a:off x="9930384" y="510746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793224" y="5696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copay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63640" y="5623560"/>
            <a:ext cx="4809744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Driving the Discount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commercial and policy levers compressing list price toward real transaction price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856232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6" name="Image 0" descr="/home/claude/glp1brief/icons/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2" y="192161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Favored Nation Agreements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Nordisk and Eli Lilly signed MFN pricing deals with the White House (Nov 2025), setting a $245/month Medicare and Medicaid GLP-1 price — below even the IRA's negotiated rate (WhiteHouse.gov, CMS.gov).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856232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11" name="Image 1" descr="/home/claude/glp1brief/icons/gl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332" y="192161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013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TrumpRx Direct-to-Consumer Platform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92240" y="2468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Feb 5, 2026, TrumpRx.gov lets patients buy GLP-1s and other high-cost drugs directly at MFN-aligned cash prices, bypassing standard insurance billing (WhiteHouse.gov).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79476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2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58952" y="4050792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16" name="Image 2" descr="/home/claude/glp1brief/icons/gif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32" y="4116172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9592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Savings Cards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4663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commercially insured patients can pay as little as $25/month on Wegovy or Foundayo savings cards — government-program patients are excluded from these cards (Novo Nordisk, Eli Lilly).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7920" y="379476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2F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473952" y="4050792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21" name="Image 3" descr="/home/claude/glp1brief/icons/filemedic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332" y="4116172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99592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 Medicare Price Negotiation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92240" y="4663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CMS's negotiated Maximum Fair Price for Ozempic/Rybelsus/Wegovy is $274 for a 30-day supply, a 71% cut from the 2024 baseline, effective January 1, 2027 (CMS.gov).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Price Benchmarking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list prices run 3–10x government-sourced peer-market prices for the same molecule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46304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069080"/>
            <a:ext cx="11201400" cy="1920240"/>
          </a:xfrm>
          <a:prstGeom prst="roundRect">
            <a:avLst>
              <a:gd name="adj" fmla="val 2857"/>
            </a:avLst>
          </a:prstGeom>
          <a:solidFill>
            <a:srgbClr val="F2F7F6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4160520"/>
            <a:ext cx="10744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methodology note:  </a:t>
            </a:r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Peer-country figures are from the Peterson-KFF Health System Tracker's peer-nation analysis, which sourced each country's price directly from its own drug-pricing authority — France (Légifrance), Germany (G-BA), Japan (MHLW), Netherlands (Farmacotherapeutisch Kompas), Sweden (TLV), and the UK (NICE) — using exchange rates as of June 30, 2023. US figures shown here are the same vintage ($936 Ozempic / $1,349 Wegovy / $1,023 Mounjaro) for a true apples-to-apples comparison; Novo Nordisk's own 2026 US list price for Ozempic is now $1,028 and Eli Lilly cites $1,086 for Mounjaro — meaning the US-vs-peer gap has widened, not narrowed, since 2023.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India: The Fastest Price Compression Globally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patent expiry date collapsed India semaglutide pricing within weeks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cliff, exact date: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Nordisk's India product patent (IN262697B) on semaglutide expired March 20, 2026, opening the field to Natco, Dr. Reddy's, Torrent, Sun Pharma, Cipla, and others (ip fray legal press; Novo Nordisk SEC Form 6-K, Q1 2026).
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price cut ahead of expiry: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cut Ozempic and Wegovy's lowest (0.25mg) dose in India to ₹1,415/week from ₹2,200 and ₹2,712 respectively — average reductions of 23.8% (Ozempic) and 27% (Wegovy) (Reuters, Mar 31, 2026).
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undercut by up to 80%: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five domestic drugmakers launched generic semaglutide within days of patent expiry, some priced as low as $14/month (CNBC, Mar 23, 2026; Seeking Alpha citing Reuters).
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financial impact acknowledged: 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itself warned in February 2026 that international patent losses (India, Canada, China, Brazil) could cut 2026 sales by 5–13% (CNBC, citing Novo Nordisk guidance).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263640" y="1600200"/>
          <a:ext cx="5394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4663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generic price shown is an approximate “as low as $14/month” figure converted at ~₹84/USD; exact per-dose generic pricing varies by manufacturer and was not itemized in primary reporting.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India: Tirzepatide's Rapid Local Scale-Up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is patent-protected in India — and still became the country's top-selling medicine by value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₹3,500–₹4,375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price range for Mounjaro's lowest doses (2.5mg / 5mg vials), March 2025 (Reuters, quoting Eli Lilly directly)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2F7F6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783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₹100 crore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Mounjaro's monthly sales value in India by October 2025 (~$11.4M) — India's #1 selling drug by value that month, per Pharmarack data (Reuters)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75320" y="160020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783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503920" y="25146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among all medicines sold in India by value, ahead of GSK's Augmentin — achieved on far fewer units sold (85,000 vs. 5.8M) (Reuters)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11155680" cy="2148840"/>
          </a:xfrm>
          <a:prstGeom prst="roundRect">
            <a:avLst>
              <a:gd name="adj" fmla="val 2553"/>
            </a:avLst>
          </a:prstGeom>
          <a:solidFill>
            <a:srgbClr val="062E2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14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pricing strategy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is not generic-exposed in India — tirzepatide's local patent remains in force — yet it out-earned every other drug in the country within seven months of launch. That decouples the “India = low-price volume play” assumption: Lilly proved a premium-priced, patent-protected GLP-1 can still win India on unit economics alone, while Novo is fighting a parallel, patent-expired price war on semaglutide. The two companies are now running structurally different India strategies for the same category.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Oral Entrants Are Resetting the Price Floor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injection barrier was also a pricing barrier — removing one is starting to move the other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Foundayo (orforglipron)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Oral Wegovy (semaglutide)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Manufacturer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Eli Lilly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Novo Nordisk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FDA approval date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April 1, 2026 (FDA.gov, NDA 220934)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December 2025 (FDA.gov)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List price (WAC)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$649/month, flat across all doses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Tracks injectable Wegovy list tier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Self-pay entry price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$149/month starter dose (LillyDirect)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$149–$299/month by dose (NovoCare)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Commercial savings-card price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$25/month (Eli Lilly, PRNewswire Apr 1, 2026)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Not separately disclosed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Trial efficacy (weight loss)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~11% body weight vs. placebo (ATTAIN-1/2, per FDA review)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16–17% body weight vs. placebo (per FDA review)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read: manufacturers are pricing oral GLP-1s as adoption drivers, not premium products — a break from injectable-era pricing logic, and the clearest signal yet that the category is shifting from scarcity pricing to volume pricing.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 &amp; Access Landscape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expanding and narrowing at the same time, depending on the payer — and even which drug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4343400"/>
          </a:xfrm>
          <a:prstGeom prst="roundRect">
            <a:avLst>
              <a:gd name="adj" fmla="val 1519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6" name="Image 0" descr="/home/claude/glp1brief/icons/lan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190250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CMS's GLP-1 Bridge (live July 1, 2026 – Dec 31, 2027) caps eligible beneficiaries' cost at $50/month — but only for Wegovy (injection + tablets), Zepbound KwikPen, and Foundayo, when prescribed for weight management. Ozempic and Mounjaro remain standard Part D diabetes drugs, not part of the Bridge (CMS.gov).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4343400"/>
          </a:xfrm>
          <a:prstGeom prst="roundRect">
            <a:avLst>
              <a:gd name="adj" fmla="val 1519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828800"/>
            <a:ext cx="566928" cy="566928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11" name="Image 1" descr="/home/claude/glp1brief/icons/handhol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41" y="190250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Medicaid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01752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CMS's parallel BALANCE Model extends GLP-1 access into Medicaid as early as May 2026 for states that opt in, and into Medicare Part D from January 2027 — the Bridge is explicitly designed as a stopgap ahead of that permanent structure (CMS.gov FAQ).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75320" y="1600200"/>
            <a:ext cx="3611880" cy="4343400"/>
          </a:xfrm>
          <a:prstGeom prst="roundRect">
            <a:avLst>
              <a:gd name="adj" fmla="val 1519"/>
            </a:avLst>
          </a:prstGeom>
          <a:solidFill>
            <a:srgbClr val="F2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9640" y="1828800"/>
            <a:ext cx="566928" cy="566928"/>
          </a:xfrm>
          <a:prstGeom prst="ellipse">
            <a:avLst/>
          </a:prstGeom>
          <a:solidFill>
            <a:srgbClr val="0B4F4A"/>
          </a:solidFill>
          <a:ln/>
        </p:spPr>
      </p:sp>
      <p:pic>
        <p:nvPicPr>
          <p:cNvPr id="16" name="Image 2" descr="/home/claude/glp1brief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341" y="190250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Insurance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9640" y="301752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large commercial insurers list Wegovy on formulary but require prior authorization and documented BMI ≥ 30 (or ≥ 27 with a qualifying comorbidity) — unchanged by the Medicare/Medicaid policy shifts.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Money Behind the Pricing War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Lilly's incretin franchise overtook the world's best-selling drug in early 2026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691640"/>
            <a:ext cx="5623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2026: Lilly revenue up 56% YoY
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 Lilly reported $19.8B in worldwide Q1 2026 revenue, a 56% year-over-year increase driven by a 65% jump in volume — largely the tirzepatide franchise (SEC Form 8-K, Feb 4, 2026).
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alone: $8.7B in Q1 2026
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quarter surpassed Keytruda's $7.9B, making Mounjaro individually the world's best-selling drug for that quarter — before even counting Zepbound.
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Novo's counter-pressure
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has guided to a 5–13% 2026 sales hit from international patent losses — meaning the same category driving Lilly's growth is actively eroding Novo's, a direct read on why Novo is cutting list prices faster than Lilly.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Pricing Implications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stakeholder should take away from the current pricing environment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8778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Implication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Manufacturers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Direct-to-consumer channels (TrumpRx, LillyDirect, NovoCare) are now the primary volume lever, not list price. Expect further list-price cuts as the Jan 2027 IRA negotiated price and Novo's own $675 list take hold simultaneously.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Payers / PBMs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Budget-impact models built on list price are now materially stale — and drug-specific: the $50 Bridge copay applies to Wegovy, Zepbound (KwikPen only), and Foundayo, not Ozempic or Mounjaro. Re-baseline by drug, not by category.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Employers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Before renewing a PBM contract, benchmark plan pricing against manufacturer savings-card programs and direct-pay data — the gap has widened enough to change the make-or-buy decision on formulary coverage.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New entrants (generics, compounders)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India shows how fast a patent cliff converts to price collapse (80% within weeks) — but Mounjaro's continued India dominance shows patent-protected premium pricing can still win share. Entry strategy should be molecule-specific, not category-wide.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brief relies on government, regulatory, and company primary sources only — no aggregator or affiliate pricing sites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55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regulatory (primary)
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CMS.gov — Medicare GLP-1 Bridge program pages, Medicare Drug Price Negotiation Program fact sheets &amp; infographics (IPAY 2027)  •  FDA.gov / accessdata.fda.gov — Foundayo (orforglipron) NDA approval letter and label  •  WhiteHouse.gov — MFN pricing fact sheets, TrumpRx.gov launch materials  •  HHS.gov — MFN policy implementation notice.
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primary sources
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Nordisk corporate press release (Feb 24, 2026, list-price cut announcement)  •  Novo Nordisk SEC Form 6-K (Q1 2026)  •  Eli Lilly investor.lilly.com release (Nov 2025 MFN agreement)  •  Eli Lilly PRNewswire release (Apr 1, 2026, Foundayo launch)  •  Eli Lilly SEC Form 8-K (Feb 4, 2026, Q4/FY2025 earnings).
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wire sources
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Peterson-KFF Health System Tracker — international list-price comparison, methodology sourced to each country's own drug-pricing authority  •  Reuters — India pricing, patent-expiry, and Mounjaro sales reporting (via multiple wire pickups)  •  CNBC — India generic launch and Novo sales-impact guidance.
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
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represent list/WAC, manufacturer self-pay, and payer copay tiers as publicly reported through July 2026, with international comparisons dated to their original June 2023 exchange-rate vintage where noted. GLP-1 pricing changes frequently — verify against primary sources before use in a client deliverable.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PRICING INTELLIGENCE BRIEF  |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2026-08-01T11:38:54Z</dcterms:created>
  <dcterms:modified xsi:type="dcterms:W3CDTF">2026-08-01T11:38:54Z</dcterms:modified>
</cp:coreProperties>
</file>