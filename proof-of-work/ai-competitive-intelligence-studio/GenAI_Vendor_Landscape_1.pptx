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AI Bookings / Revenue Run-Rate ($B)</c:v>
                </c:pt>
              </c:strCache>
            </c:strRef>
          </c:tx>
          <c:spPr>
            <a:solidFill>
              <a:srgbClr val="BC5B39"/>
            </a:solidFill>
            <a:effectLst/>
          </c:spPr>
          <c:invertIfNegative val="0"/>
          <c:dLbls>
            <c:numFmt formatCode="&quot;$&quot;0.0&quot;B&quot;" sourceLinked="0"/>
            <c:txPr>
              <a:bodyPr/>
              <a:lstStyle/>
              <a:p>
                <a:pPr>
                  <a:defRPr b="1" i="0" strike="noStrike" sz="1100" u="none">
                    <a:solidFill>
                      <a:srgbClr val="1F2D3D"/>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Accenture
(FY25 bookings)</c:v>
                  </c:pt>
                  <c:pt idx="1">
                    <c:v>IBM
(cumulative book
of business)</c:v>
                  </c:pt>
                  <c:pt idx="2">
                    <c:v>TCS
(ann. run-rate)</c:v>
                  </c:pt>
                  <c:pt idx="3">
                    <c:v>Infosys
(ann. run-rate,
implied)</c:v>
                  </c:pt>
                  <c:pt idx="4">
                    <c:v>Cognizant
(TTM bookings,
total co.)</c:v>
                  </c:pt>
                </c:lvl>
              </c:multiLvlStrCache>
            </c:multiLvlStrRef>
          </c:cat>
          <c:val>
            <c:numRef>
              <c:f>Sheet1!$B$2:$B$6</c:f>
              <c:numCache>
                <c:formatCode>General</c:formatCode>
                <c:ptCount val="5"/>
                <c:pt idx="0">
                  <c:v>5.9</c:v>
                </c:pt>
                <c:pt idx="1">
                  <c:v>12.5</c:v>
                </c:pt>
                <c:pt idx="2">
                  <c:v>2.6</c:v>
                </c:pt>
                <c:pt idx="3">
                  <c:v>1.67</c:v>
                </c:pt>
                <c:pt idx="4">
                  <c:v>29.1</c:v>
                </c:pt>
              </c:numCache>
            </c:numRef>
          </c:val>
        </c:ser>
        <c:dLbls>
          <c:numFmt formatCode="&quot;$&quot;0.0&quot;B&quot;" sourceLinked="0"/>
          <c:txPr>
            <a:bodyPr/>
            <a:lstStyle/>
            <a:p>
              <a:pPr>
                <a:defRPr b="1" i="0" strike="noStrike" sz="1100" u="none">
                  <a:solidFill>
                    <a:srgbClr val="1F2D3D"/>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F4F1EC"/>
              </a:solidFill>
              <a:prstDash val="solid"/>
              <a:round/>
            </a:ln>
          </c:spPr>
        </c:majorGridlines>
        <c:numFmt formatCode="&quot;$&quot;#,##0&quot;B&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5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826"/>
        </a:solidFill>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1F2D3D"/>
          </a:solidFill>
          <a:ln/>
        </p:spPr>
      </p:sp>
      <p:sp>
        <p:nvSpPr>
          <p:cNvPr id="3" name="Shape 1"/>
          <p:cNvSpPr/>
          <p:nvPr/>
        </p:nvSpPr>
        <p:spPr>
          <a:xfrm>
            <a:off x="10195560" y="-868680"/>
            <a:ext cx="3200400" cy="3200400"/>
          </a:xfrm>
          <a:prstGeom prst="ellipse">
            <a:avLst/>
          </a:prstGeom>
          <a:solidFill>
            <a:srgbClr val="26384A"/>
          </a:solidFill>
          <a:ln/>
        </p:spPr>
      </p:sp>
      <p:sp>
        <p:nvSpPr>
          <p:cNvPr id="4" name="Shape 2"/>
          <p:cNvSpPr/>
          <p:nvPr/>
        </p:nvSpPr>
        <p:spPr>
          <a:xfrm>
            <a:off x="-1097280" y="5120640"/>
            <a:ext cx="2377440" cy="2377440"/>
          </a:xfrm>
          <a:prstGeom prst="ellipse">
            <a:avLst/>
          </a:prstGeom>
          <a:solidFill>
            <a:srgbClr val="26384A"/>
          </a:solidFill>
          <a:ln/>
        </p:spPr>
      </p:sp>
      <p:sp>
        <p:nvSpPr>
          <p:cNvPr id="5" name="Shape 3"/>
          <p:cNvSpPr/>
          <p:nvPr/>
        </p:nvSpPr>
        <p:spPr>
          <a:xfrm>
            <a:off x="822960" y="1417320"/>
            <a:ext cx="566928" cy="566928"/>
          </a:xfrm>
          <a:prstGeom prst="ellipse">
            <a:avLst/>
          </a:prstGeom>
          <a:solidFill>
            <a:srgbClr val="26384A"/>
          </a:solidFill>
          <a:ln/>
        </p:spPr>
      </p:sp>
      <p:pic>
        <p:nvPicPr>
          <p:cNvPr id="6" name="Image 0" descr="/home/claude/genai_quadrant/icons/layergroup_white.png">    </p:cNvPr>
          <p:cNvPicPr>
            <a:picLocks noChangeAspect="1"/>
          </p:cNvPicPr>
          <p:nvPr/>
        </p:nvPicPr>
        <p:blipFill>
          <a:blip r:embed="rId1"/>
          <a:stretch>
            <a:fillRect/>
          </a:stretch>
        </p:blipFill>
        <p:spPr>
          <a:xfrm>
            <a:off x="896661" y="1491021"/>
            <a:ext cx="419527" cy="419527"/>
          </a:xfrm>
          <a:prstGeom prst="rect">
            <a:avLst/>
          </a:prstGeom>
        </p:spPr>
      </p:pic>
      <p:sp>
        <p:nvSpPr>
          <p:cNvPr id="7" name="Text 4"/>
          <p:cNvSpPr/>
          <p:nvPr/>
        </p:nvSpPr>
        <p:spPr>
          <a:xfrm>
            <a:off x="1554480" y="1463040"/>
            <a:ext cx="7315200" cy="457200"/>
          </a:xfrm>
          <a:prstGeom prst="rect">
            <a:avLst/>
          </a:prstGeom>
          <a:noFill/>
          <a:ln/>
        </p:spPr>
        <p:txBody>
          <a:bodyPr wrap="square" lIns="0" tIns="0" rIns="0" bIns="0" rtlCol="0" anchor="ctr"/>
          <a:lstStyle/>
          <a:p>
            <a:pPr indent="0" marL="0">
              <a:buNone/>
            </a:pPr>
            <a:r>
              <a:rPr lang="en-US" sz="1400" b="1" spc="300" kern="0" dirty="0">
                <a:solidFill>
                  <a:srgbClr val="BC5B39"/>
                </a:solidFill>
                <a:latin typeface="Calibri" pitchFamily="34" charset="0"/>
                <a:ea typeface="Calibri" pitchFamily="34" charset="-122"/>
                <a:cs typeface="Calibri" pitchFamily="34" charset="-120"/>
              </a:rPr>
              <a:t>VENDOR LANDSCAPE ASSESSMENT</a:t>
            </a:r>
            <a:endParaRPr lang="en-US" sz="1400" dirty="0"/>
          </a:p>
        </p:txBody>
      </p:sp>
      <p:sp>
        <p:nvSpPr>
          <p:cNvPr id="8" name="Text 5"/>
          <p:cNvSpPr/>
          <p:nvPr/>
        </p:nvSpPr>
        <p:spPr>
          <a:xfrm>
            <a:off x="822960" y="2286000"/>
            <a:ext cx="10058400" cy="10058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IT Services &amp; GenAI Vendor Landscape</a:t>
            </a:r>
            <a:endParaRPr lang="en-US" sz="3600" dirty="0"/>
          </a:p>
        </p:txBody>
      </p:sp>
      <p:sp>
        <p:nvSpPr>
          <p:cNvPr id="9" name="Text 6"/>
          <p:cNvSpPr/>
          <p:nvPr/>
        </p:nvSpPr>
        <p:spPr>
          <a:xfrm>
            <a:off x="822960" y="3154680"/>
            <a:ext cx="9601200" cy="548640"/>
          </a:xfrm>
          <a:prstGeom prst="rect">
            <a:avLst/>
          </a:prstGeom>
          <a:noFill/>
          <a:ln/>
        </p:spPr>
        <p:txBody>
          <a:bodyPr wrap="square" lIns="0" tIns="0" rIns="0" bIns="0" rtlCol="0" anchor="ctr"/>
          <a:lstStyle/>
          <a:p>
            <a:pPr indent="0" marL="0">
              <a:buNone/>
            </a:pPr>
            <a:r>
              <a:rPr lang="en-US" sz="1500" dirty="0">
                <a:solidFill>
                  <a:srgbClr val="D9CFC0"/>
                </a:solidFill>
                <a:latin typeface="Calibri" pitchFamily="34" charset="0"/>
                <a:ea typeface="Calibri" pitchFamily="34" charset="-122"/>
                <a:cs typeface="Calibri" pitchFamily="34" charset="-120"/>
              </a:rPr>
              <a:t>A Capability × Market Presence Quadrant — 10 Global Systems Integrators &amp; Big Four Firms</a:t>
            </a:r>
            <a:endParaRPr lang="en-US" sz="1500" dirty="0"/>
          </a:p>
        </p:txBody>
      </p:sp>
      <p:sp>
        <p:nvSpPr>
          <p:cNvPr id="10" name="Shape 7"/>
          <p:cNvSpPr/>
          <p:nvPr/>
        </p:nvSpPr>
        <p:spPr>
          <a:xfrm>
            <a:off x="822960" y="3886200"/>
            <a:ext cx="3108960" cy="0"/>
          </a:xfrm>
          <a:prstGeom prst="line">
            <a:avLst/>
          </a:prstGeom>
          <a:noFill/>
          <a:ln w="25400">
            <a:solidFill>
              <a:srgbClr val="BC5B39"/>
            </a:solidFill>
            <a:prstDash val="solid"/>
          </a:ln>
        </p:spPr>
      </p:sp>
      <p:sp>
        <p:nvSpPr>
          <p:cNvPr id="11" name="Text 8"/>
          <p:cNvSpPr/>
          <p:nvPr/>
        </p:nvSpPr>
        <p:spPr>
          <a:xfrm>
            <a:off x="822960" y="4069080"/>
            <a:ext cx="7315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Tejal Mugul  |  Market Research &amp; Competitive Intelligence</a:t>
            </a:r>
            <a:endParaRPr lang="en-US" sz="1300" dirty="0"/>
          </a:p>
        </p:txBody>
      </p:sp>
      <p:sp>
        <p:nvSpPr>
          <p:cNvPr id="12" name="Text 9"/>
          <p:cNvSpPr/>
          <p:nvPr/>
        </p:nvSpPr>
        <p:spPr>
          <a:xfrm>
            <a:off x="822960" y="4389120"/>
            <a:ext cx="7315200" cy="320040"/>
          </a:xfrm>
          <a:prstGeom prst="rect">
            <a:avLst/>
          </a:prstGeom>
          <a:noFill/>
          <a:ln/>
        </p:spPr>
        <p:txBody>
          <a:bodyPr wrap="square" lIns="0" tIns="0" rIns="0" bIns="0" rtlCol="0" anchor="ctr"/>
          <a:lstStyle/>
          <a:p>
            <a:pPr indent="0" marL="0">
              <a:buNone/>
            </a:pPr>
            <a:r>
              <a:rPr lang="en-US" sz="1100" dirty="0">
                <a:solidFill>
                  <a:srgbClr val="D9C7B8"/>
                </a:solidFill>
                <a:latin typeface="Calibri" pitchFamily="34" charset="0"/>
                <a:ea typeface="Calibri" pitchFamily="34" charset="-122"/>
                <a:cs typeface="Calibri" pitchFamily="34" charset="-120"/>
              </a:rPr>
              <a:t>Independent Provider Assessment  |  Published August 2026</a:t>
            </a:r>
            <a:endParaRPr lang="en-US" sz="1100" dirty="0"/>
          </a:p>
        </p:txBody>
      </p:sp>
      <p:sp>
        <p:nvSpPr>
          <p:cNvPr id="13" name="Shape 10"/>
          <p:cNvSpPr/>
          <p:nvPr/>
        </p:nvSpPr>
        <p:spPr>
          <a:xfrm>
            <a:off x="822960" y="5029200"/>
            <a:ext cx="9509760" cy="548640"/>
          </a:xfrm>
          <a:prstGeom prst="roundRect">
            <a:avLst>
              <a:gd name="adj" fmla="val 10000"/>
            </a:avLst>
          </a:prstGeom>
          <a:solidFill>
            <a:srgbClr val="16222F"/>
          </a:solidFill>
          <a:ln/>
        </p:spPr>
      </p:sp>
      <p:sp>
        <p:nvSpPr>
          <p:cNvPr id="14" name="Text 11"/>
          <p:cNvSpPr/>
          <p:nvPr/>
        </p:nvSpPr>
        <p:spPr>
          <a:xfrm>
            <a:off x="1005840" y="5029200"/>
            <a:ext cx="9144000" cy="548640"/>
          </a:xfrm>
          <a:prstGeom prst="rect">
            <a:avLst/>
          </a:prstGeom>
          <a:noFill/>
          <a:ln/>
        </p:spPr>
        <p:txBody>
          <a:bodyPr wrap="square" lIns="0" tIns="0" rIns="0" bIns="0" rtlCol="0" anchor="ctr"/>
          <a:lstStyle/>
          <a:p>
            <a:pPr indent="0" marL="0">
              <a:buNone/>
            </a:pPr>
            <a:r>
              <a:rPr lang="en-US" sz="950" i="1" dirty="0">
                <a:solidFill>
                  <a:srgbClr val="D9C7B8"/>
                </a:solidFill>
                <a:latin typeface="Calibri" pitchFamily="34" charset="0"/>
                <a:ea typeface="Calibri" pitchFamily="34" charset="-122"/>
                <a:cs typeface="Calibri" pitchFamily="34" charset="-120"/>
              </a:rPr>
              <a:t>This is an independent, self-directed assessment built entirely from public disclosures — not a reproduction of any analyst firm's proprietary quadrant. See Methodology, slide 2.</a:t>
            </a:r>
            <a:endParaRPr lang="en-US" sz="950" dirty="0"/>
          </a:p>
        </p:txBody>
      </p:sp>
      <p:sp>
        <p:nvSpPr>
          <p:cNvPr id="15" name="Text 12"/>
          <p:cNvSpPr/>
          <p:nvPr/>
        </p:nvSpPr>
        <p:spPr>
          <a:xfrm>
            <a:off x="822960" y="6446520"/>
            <a:ext cx="8229600" cy="274320"/>
          </a:xfrm>
          <a:prstGeom prst="rect">
            <a:avLst/>
          </a:prstGeom>
          <a:noFill/>
          <a:ln/>
        </p:spPr>
        <p:txBody>
          <a:bodyPr wrap="square" lIns="0" tIns="0" rIns="0" bIns="0" rtlCol="0" anchor="ctr"/>
          <a:lstStyle/>
          <a:p>
            <a:pPr indent="0" marL="0">
              <a:buNone/>
            </a:pPr>
            <a:r>
              <a:rPr lang="en-US" sz="900" dirty="0">
                <a:solidFill>
                  <a:srgbClr val="D9C7B8"/>
                </a:solidFill>
                <a:latin typeface="Calibri" pitchFamily="34" charset="0"/>
                <a:ea typeface="Calibri" pitchFamily="34" charset="-122"/>
                <a:cs typeface="Calibri" pitchFamily="34" charset="-120"/>
              </a:rPr>
              <a:t>GENAI VENDOR LANDSCAPE  |  AN INDEPENDENT ASSESSMENT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Why I Built This — and How It Was Scored</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An original scoring framework, built from public disclosures, not a copy of any analyst firm's quadrant</a:t>
            </a:r>
            <a:endParaRPr lang="en-US" sz="1150" dirty="0"/>
          </a:p>
        </p:txBody>
      </p:sp>
      <p:sp>
        <p:nvSpPr>
          <p:cNvPr id="4" name="Shape 2"/>
          <p:cNvSpPr/>
          <p:nvPr/>
        </p:nvSpPr>
        <p:spPr>
          <a:xfrm>
            <a:off x="502920" y="1371600"/>
            <a:ext cx="11155680" cy="1005840"/>
          </a:xfrm>
          <a:prstGeom prst="roundRect">
            <a:avLst>
              <a:gd name="adj" fmla="val 5455"/>
            </a:avLst>
          </a:prstGeom>
          <a:solidFill>
            <a:srgbClr val="F8F6F2"/>
          </a:solidFill>
          <a:ln/>
        </p:spPr>
      </p:sp>
      <p:sp>
        <p:nvSpPr>
          <p:cNvPr id="5" name="Text 3"/>
          <p:cNvSpPr/>
          <p:nvPr/>
        </p:nvSpPr>
        <p:spPr>
          <a:xfrm>
            <a:off x="777240" y="1481328"/>
            <a:ext cx="10607040" cy="822960"/>
          </a:xfrm>
          <a:prstGeom prst="rect">
            <a:avLst/>
          </a:prstGeom>
          <a:noFill/>
          <a:ln/>
        </p:spPr>
        <p:txBody>
          <a:bodyPr wrap="square" lIns="0" tIns="0" rIns="0" bIns="0" rtlCol="0" anchor="t"/>
          <a:lstStyle/>
          <a:p>
            <a:pPr indent="0" marL="0">
              <a:lnSpc>
                <a:spcPct val="122000"/>
              </a:lnSpc>
              <a:buNone/>
            </a:pPr>
            <a:r>
              <a:rPr lang="en-US" sz="1100" dirty="0">
                <a:solidFill>
                  <a:srgbClr val="2B2B2B"/>
                </a:solidFill>
                <a:latin typeface="Calibri" pitchFamily="34" charset="0"/>
                <a:ea typeface="Calibri" pitchFamily="34" charset="-122"/>
                <a:cs typeface="Calibri" pitchFamily="34" charset="-120"/>
              </a:rPr>
              <a:t>ISG-style quadrants are a format I'll need to work with in advisory and CI roles — so I built one from scratch. </a:t>
            </a:r>
            <a:pPr indent="0" marL="0">
              <a:lnSpc>
                <a:spcPct val="122000"/>
              </a:lnSpc>
              <a:buNone/>
            </a:pPr>
            <a:r>
              <a:rPr lang="en-US" sz="1100" dirty="0">
                <a:solidFill>
                  <a:srgbClr val="2B2B2B"/>
                </a:solidFill>
                <a:latin typeface="Calibri" pitchFamily="34" charset="0"/>
                <a:ea typeface="Calibri" pitchFamily="34" charset="-122"/>
                <a:cs typeface="Calibri" pitchFamily="34" charset="-120"/>
              </a:rPr>
              <a:t>Every score here traces to a cited public source (earnings releases, investor decks, press releases) — the full rubric and evidence log are in the companion Excel workbook.</a:t>
            </a:r>
            <a:endParaRPr lang="en-US" sz="1100" dirty="0"/>
          </a:p>
        </p:txBody>
      </p:sp>
      <p:sp>
        <p:nvSpPr>
          <p:cNvPr id="6" name="Shape 4"/>
          <p:cNvSpPr/>
          <p:nvPr/>
        </p:nvSpPr>
        <p:spPr>
          <a:xfrm>
            <a:off x="502920" y="2606040"/>
            <a:ext cx="3611880" cy="3337560"/>
          </a:xfrm>
          <a:prstGeom prst="roundRect">
            <a:avLst>
              <a:gd name="adj" fmla="val 1644"/>
            </a:avLst>
          </a:prstGeom>
          <a:solidFill>
            <a:srgbClr val="FFFFFF"/>
          </a:solidFill>
          <a:ln w="12700">
            <a:solidFill>
              <a:srgbClr val="F4F1EC"/>
            </a:solidFill>
            <a:prstDash val="solid"/>
          </a:ln>
        </p:spPr>
      </p:sp>
      <p:sp>
        <p:nvSpPr>
          <p:cNvPr id="7" name="Shape 5"/>
          <p:cNvSpPr/>
          <p:nvPr/>
        </p:nvSpPr>
        <p:spPr>
          <a:xfrm>
            <a:off x="758952" y="2834640"/>
            <a:ext cx="502920" cy="502920"/>
          </a:xfrm>
          <a:prstGeom prst="ellipse">
            <a:avLst/>
          </a:prstGeom>
          <a:solidFill>
            <a:srgbClr val="1F2D3D"/>
          </a:solidFill>
          <a:ln/>
        </p:spPr>
      </p:sp>
      <p:pic>
        <p:nvPicPr>
          <p:cNvPr id="8" name="Image 0" descr="/home/claude/genai_quadrant/icons/chartline_white.png">    </p:cNvPr>
          <p:cNvPicPr>
            <a:picLocks noChangeAspect="1"/>
          </p:cNvPicPr>
          <p:nvPr/>
        </p:nvPicPr>
        <p:blipFill>
          <a:blip r:embed="rId1"/>
          <a:stretch>
            <a:fillRect/>
          </a:stretch>
        </p:blipFill>
        <p:spPr>
          <a:xfrm>
            <a:off x="824332" y="2900020"/>
            <a:ext cx="372161" cy="372161"/>
          </a:xfrm>
          <a:prstGeom prst="rect">
            <a:avLst/>
          </a:prstGeom>
        </p:spPr>
      </p:pic>
      <p:sp>
        <p:nvSpPr>
          <p:cNvPr id="9" name="Text 6"/>
          <p:cNvSpPr/>
          <p:nvPr/>
        </p:nvSpPr>
        <p:spPr>
          <a:xfrm>
            <a:off x="758952" y="3456432"/>
            <a:ext cx="3108960" cy="594360"/>
          </a:xfrm>
          <a:prstGeom prst="rect">
            <a:avLst/>
          </a:prstGeom>
          <a:noFill/>
          <a:ln/>
        </p:spPr>
        <p:txBody>
          <a:bodyPr wrap="square" lIns="0" tIns="0" rIns="0" bIns="0" rtlCol="0" anchor="t"/>
          <a:lstStyle/>
          <a:p>
            <a:pPr indent="0" marL="0">
              <a:buNone/>
            </a:pPr>
            <a:r>
              <a:rPr lang="en-US" sz="1300" b="1" dirty="0">
                <a:solidFill>
                  <a:srgbClr val="1F2D3D"/>
                </a:solidFill>
                <a:latin typeface="Calibri" pitchFamily="34" charset="0"/>
                <a:ea typeface="Calibri" pitchFamily="34" charset="-122"/>
                <a:cs typeface="Calibri" pitchFamily="34" charset="-120"/>
              </a:rPr>
              <a:t>Market Presence (Y-axis)</a:t>
            </a:r>
            <a:endParaRPr lang="en-US" sz="1300" dirty="0"/>
          </a:p>
        </p:txBody>
      </p:sp>
      <p:sp>
        <p:nvSpPr>
          <p:cNvPr id="10" name="Text 7"/>
          <p:cNvSpPr/>
          <p:nvPr/>
        </p:nvSpPr>
        <p:spPr>
          <a:xfrm>
            <a:off x="758952" y="4069080"/>
            <a:ext cx="3108960" cy="178308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40% Scale (revenue/headcount) + 40% AI Commercial Traction (disclosed GenAI bookings/revenue) + 20% Disclosure Maturity (does the vendor publish a trackable AI KPI at all).</a:t>
            </a:r>
            <a:endParaRPr lang="en-US" sz="1000" dirty="0"/>
          </a:p>
        </p:txBody>
      </p:sp>
      <p:sp>
        <p:nvSpPr>
          <p:cNvPr id="11" name="Shape 8"/>
          <p:cNvSpPr/>
          <p:nvPr/>
        </p:nvSpPr>
        <p:spPr>
          <a:xfrm>
            <a:off x="4389120" y="2606040"/>
            <a:ext cx="3611880" cy="3337560"/>
          </a:xfrm>
          <a:prstGeom prst="roundRect">
            <a:avLst>
              <a:gd name="adj" fmla="val 1644"/>
            </a:avLst>
          </a:prstGeom>
          <a:solidFill>
            <a:srgbClr val="FFFFFF"/>
          </a:solidFill>
          <a:ln w="12700">
            <a:solidFill>
              <a:srgbClr val="F4F1EC"/>
            </a:solidFill>
            <a:prstDash val="solid"/>
          </a:ln>
        </p:spPr>
      </p:sp>
      <p:sp>
        <p:nvSpPr>
          <p:cNvPr id="12" name="Shape 9"/>
          <p:cNvSpPr/>
          <p:nvPr/>
        </p:nvSpPr>
        <p:spPr>
          <a:xfrm>
            <a:off x="4645152" y="2834640"/>
            <a:ext cx="502920" cy="502920"/>
          </a:xfrm>
          <a:prstGeom prst="ellipse">
            <a:avLst/>
          </a:prstGeom>
          <a:solidFill>
            <a:srgbClr val="1F2D3D"/>
          </a:solidFill>
          <a:ln/>
        </p:spPr>
      </p:sp>
      <p:pic>
        <p:nvPicPr>
          <p:cNvPr id="13" name="Image 1" descr="/home/claude/genai_quadrant/icons/layergroup_white.png">    </p:cNvPr>
          <p:cNvPicPr>
            <a:picLocks noChangeAspect="1"/>
          </p:cNvPicPr>
          <p:nvPr/>
        </p:nvPicPr>
        <p:blipFill>
          <a:blip r:embed="rId2"/>
          <a:stretch>
            <a:fillRect/>
          </a:stretch>
        </p:blipFill>
        <p:spPr>
          <a:xfrm>
            <a:off x="4710532" y="2900020"/>
            <a:ext cx="372161" cy="372161"/>
          </a:xfrm>
          <a:prstGeom prst="rect">
            <a:avLst/>
          </a:prstGeom>
        </p:spPr>
      </p:pic>
      <p:sp>
        <p:nvSpPr>
          <p:cNvPr id="14" name="Text 10"/>
          <p:cNvSpPr/>
          <p:nvPr/>
        </p:nvSpPr>
        <p:spPr>
          <a:xfrm>
            <a:off x="4645152" y="3456432"/>
            <a:ext cx="3108960" cy="594360"/>
          </a:xfrm>
          <a:prstGeom prst="rect">
            <a:avLst/>
          </a:prstGeom>
          <a:noFill/>
          <a:ln/>
        </p:spPr>
        <p:txBody>
          <a:bodyPr wrap="square" lIns="0" tIns="0" rIns="0" bIns="0" rtlCol="0" anchor="t"/>
          <a:lstStyle/>
          <a:p>
            <a:pPr indent="0" marL="0">
              <a:buNone/>
            </a:pPr>
            <a:r>
              <a:rPr lang="en-US" sz="1300" b="1" dirty="0">
                <a:solidFill>
                  <a:srgbClr val="1F2D3D"/>
                </a:solidFill>
                <a:latin typeface="Calibri" pitchFamily="34" charset="0"/>
                <a:ea typeface="Calibri" pitchFamily="34" charset="-122"/>
                <a:cs typeface="Calibri" pitchFamily="34" charset="-120"/>
              </a:rPr>
              <a:t>Capability (X-axis)</a:t>
            </a:r>
            <a:endParaRPr lang="en-US" sz="1300" dirty="0"/>
          </a:p>
        </p:txBody>
      </p:sp>
      <p:sp>
        <p:nvSpPr>
          <p:cNvPr id="15" name="Text 11"/>
          <p:cNvSpPr/>
          <p:nvPr/>
        </p:nvSpPr>
        <p:spPr>
          <a:xfrm>
            <a:off x="4645152" y="4069080"/>
            <a:ext cx="3108960" cy="178308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35% Platform Depth (branded proprietary AI platform) + 25% Partner Ecosystem Breadth + 20% Analyst/Industry Recognition + 20% AI Talent Scale (disclosed AI-dedicated headcount).</a:t>
            </a:r>
            <a:endParaRPr lang="en-US" sz="1000" dirty="0"/>
          </a:p>
        </p:txBody>
      </p:sp>
      <p:sp>
        <p:nvSpPr>
          <p:cNvPr id="16" name="Shape 12"/>
          <p:cNvSpPr/>
          <p:nvPr/>
        </p:nvSpPr>
        <p:spPr>
          <a:xfrm>
            <a:off x="8275320" y="2606040"/>
            <a:ext cx="3611880" cy="3337560"/>
          </a:xfrm>
          <a:prstGeom prst="roundRect">
            <a:avLst>
              <a:gd name="adj" fmla="val 1644"/>
            </a:avLst>
          </a:prstGeom>
          <a:solidFill>
            <a:srgbClr val="FFFFFF"/>
          </a:solidFill>
          <a:ln w="12700">
            <a:solidFill>
              <a:srgbClr val="F4F1EC"/>
            </a:solidFill>
            <a:prstDash val="solid"/>
          </a:ln>
        </p:spPr>
      </p:sp>
      <p:sp>
        <p:nvSpPr>
          <p:cNvPr id="17" name="Shape 13"/>
          <p:cNvSpPr/>
          <p:nvPr/>
        </p:nvSpPr>
        <p:spPr>
          <a:xfrm>
            <a:off x="8531352" y="2834640"/>
            <a:ext cx="502920" cy="502920"/>
          </a:xfrm>
          <a:prstGeom prst="ellipse">
            <a:avLst/>
          </a:prstGeom>
          <a:solidFill>
            <a:srgbClr val="1F2D3D"/>
          </a:solidFill>
          <a:ln/>
        </p:spPr>
      </p:sp>
      <p:pic>
        <p:nvPicPr>
          <p:cNvPr id="18" name="Image 2" descr="/home/claude/genai_quadrant/icons/balance_white.png">    </p:cNvPr>
          <p:cNvPicPr>
            <a:picLocks noChangeAspect="1"/>
          </p:cNvPicPr>
          <p:nvPr/>
        </p:nvPicPr>
        <p:blipFill>
          <a:blip r:embed="rId3"/>
          <a:stretch>
            <a:fillRect/>
          </a:stretch>
        </p:blipFill>
        <p:spPr>
          <a:xfrm>
            <a:off x="8596732" y="2900020"/>
            <a:ext cx="372161" cy="372161"/>
          </a:xfrm>
          <a:prstGeom prst="rect">
            <a:avLst/>
          </a:prstGeom>
        </p:spPr>
      </p:pic>
      <p:sp>
        <p:nvSpPr>
          <p:cNvPr id="19" name="Text 14"/>
          <p:cNvSpPr/>
          <p:nvPr/>
        </p:nvSpPr>
        <p:spPr>
          <a:xfrm>
            <a:off x="8531352" y="3456432"/>
            <a:ext cx="3108960" cy="594360"/>
          </a:xfrm>
          <a:prstGeom prst="rect">
            <a:avLst/>
          </a:prstGeom>
          <a:noFill/>
          <a:ln/>
        </p:spPr>
        <p:txBody>
          <a:bodyPr wrap="square" lIns="0" tIns="0" rIns="0" bIns="0" rtlCol="0" anchor="t"/>
          <a:lstStyle/>
          <a:p>
            <a:pPr indent="0" marL="0">
              <a:buNone/>
            </a:pPr>
            <a:r>
              <a:rPr lang="en-US" sz="1300" b="1" dirty="0">
                <a:solidFill>
                  <a:srgbClr val="1F2D3D"/>
                </a:solidFill>
                <a:latin typeface="Calibri" pitchFamily="34" charset="0"/>
                <a:ea typeface="Calibri" pitchFamily="34" charset="-122"/>
                <a:cs typeface="Calibri" pitchFamily="34" charset="-120"/>
              </a:rPr>
              <a:t>A limitation, stated openly</a:t>
            </a:r>
            <a:endParaRPr lang="en-US" sz="1300" dirty="0"/>
          </a:p>
        </p:txBody>
      </p:sp>
      <p:sp>
        <p:nvSpPr>
          <p:cNvPr id="20" name="Text 15"/>
          <p:cNvSpPr/>
          <p:nvPr/>
        </p:nvSpPr>
        <p:spPr>
          <a:xfrm>
            <a:off x="8531352" y="4069080"/>
            <a:ext cx="3108960" cy="178308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Public SI companies (Accenture, TCS, etc.) report quarterly AI KPIs to investors. Big Four firms are private partnerships disclosing only via press announcements — less granular, no recurring cadence. Their scores reflect that structural gap, not necessarily less real capability.</a:t>
            </a:r>
            <a:endParaRPr lang="en-US" sz="1000" dirty="0"/>
          </a:p>
        </p:txBody>
      </p:sp>
      <p:sp>
        <p:nvSpPr>
          <p:cNvPr id="21" name="Text 16"/>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22" name="Text 17"/>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Executive Summary</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Five findings from scoring 10 vendors on public GenAI disclosure alone</a:t>
            </a:r>
            <a:endParaRPr lang="en-US" sz="1150" dirty="0"/>
          </a:p>
        </p:txBody>
      </p:sp>
      <p:sp>
        <p:nvSpPr>
          <p:cNvPr id="4" name="Shape 2"/>
          <p:cNvSpPr/>
          <p:nvPr/>
        </p:nvSpPr>
        <p:spPr>
          <a:xfrm>
            <a:off x="502920" y="1417320"/>
            <a:ext cx="384048" cy="384048"/>
          </a:xfrm>
          <a:prstGeom prst="roundRect">
            <a:avLst>
              <a:gd name="adj" fmla="val 19048"/>
            </a:avLst>
          </a:prstGeom>
          <a:solidFill>
            <a:srgbClr val="1F2D3D"/>
          </a:solidFill>
          <a:ln/>
        </p:spPr>
      </p:sp>
      <p:sp>
        <p:nvSpPr>
          <p:cNvPr id="5" name="Text 3"/>
          <p:cNvSpPr/>
          <p:nvPr/>
        </p:nvSpPr>
        <p:spPr>
          <a:xfrm>
            <a:off x="50292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371600"/>
            <a:ext cx="10607040" cy="868680"/>
          </a:xfrm>
          <a:prstGeom prst="rect">
            <a:avLst/>
          </a:prstGeom>
          <a:noFill/>
          <a:ln/>
        </p:spPr>
        <p:txBody>
          <a:bodyPr wrap="square" lIns="0" tIns="0" rIns="0" bIns="0" rtlCol="0" anchor="t"/>
          <a:lstStyle/>
          <a:p>
            <a:pPr indent="0" marL="0">
              <a:lnSpc>
                <a:spcPct val="112000"/>
              </a:lnSpc>
              <a:buNone/>
            </a:pPr>
            <a:r>
              <a:rPr lang="en-US" sz="1250" b="1" dirty="0">
                <a:solidFill>
                  <a:srgbClr val="1F2D3D"/>
                </a:solidFill>
                <a:latin typeface="Calibri" pitchFamily="34" charset="0"/>
                <a:ea typeface="Calibri" pitchFamily="34" charset="-122"/>
                <a:cs typeface="Calibri" pitchFamily="34" charset="-120"/>
              </a:rPr>
              <a:t>Four vendors clear both bars: Accenture, IBM, EY, and PwC
</a:t>
            </a:r>
            <a:endParaRPr lang="en-US" sz="1250" dirty="0"/>
          </a:p>
          <a:p>
            <a:pPr indent="0" marL="0">
              <a:lnSpc>
                <a:spcPct val="112000"/>
              </a:lnSpc>
              <a:buNone/>
            </a:pPr>
            <a:r>
              <a:rPr lang="en-US" sz="1070" dirty="0">
                <a:solidFill>
                  <a:srgbClr val="2B2B2B"/>
                </a:solidFill>
                <a:latin typeface="Calibri" pitchFamily="34" charset="0"/>
                <a:ea typeface="Calibri" pitchFamily="34" charset="-122"/>
                <a:cs typeface="Calibri" pitchFamily="34" charset="-120"/>
              </a:rPr>
              <a:t>Each scores above the peer-set median on both Market Presence and Capability — landing in the “Scale Leaders” quadrant. Accenture leads by a wide margin on both axes.</a:t>
            </a:r>
            <a:endParaRPr lang="en-US" sz="1250" dirty="0"/>
          </a:p>
        </p:txBody>
      </p:sp>
      <p:sp>
        <p:nvSpPr>
          <p:cNvPr id="7" name="Shape 5"/>
          <p:cNvSpPr/>
          <p:nvPr/>
        </p:nvSpPr>
        <p:spPr>
          <a:xfrm>
            <a:off x="502920" y="2350008"/>
            <a:ext cx="384048" cy="384048"/>
          </a:xfrm>
          <a:prstGeom prst="roundRect">
            <a:avLst>
              <a:gd name="adj" fmla="val 19048"/>
            </a:avLst>
          </a:prstGeom>
          <a:solidFill>
            <a:srgbClr val="1F2D3D"/>
          </a:solidFill>
          <a:ln/>
        </p:spPr>
      </p:sp>
      <p:sp>
        <p:nvSpPr>
          <p:cNvPr id="8" name="Text 6"/>
          <p:cNvSpPr/>
          <p:nvPr/>
        </p:nvSpPr>
        <p:spPr>
          <a:xfrm>
            <a:off x="502920" y="2350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51560" y="2304288"/>
            <a:ext cx="10607040" cy="868680"/>
          </a:xfrm>
          <a:prstGeom prst="rect">
            <a:avLst/>
          </a:prstGeom>
          <a:noFill/>
          <a:ln/>
        </p:spPr>
        <p:txBody>
          <a:bodyPr wrap="square" lIns="0" tIns="0" rIns="0" bIns="0" rtlCol="0" anchor="t"/>
          <a:lstStyle/>
          <a:p>
            <a:pPr indent="0" marL="0">
              <a:lnSpc>
                <a:spcPct val="112000"/>
              </a:lnSpc>
              <a:buNone/>
            </a:pPr>
            <a:r>
              <a:rPr lang="en-US" sz="1250" b="1" dirty="0">
                <a:solidFill>
                  <a:srgbClr val="1F2D3D"/>
                </a:solidFill>
                <a:latin typeface="Calibri" pitchFamily="34" charset="0"/>
                <a:ea typeface="Calibri" pitchFamily="34" charset="-122"/>
                <a:cs typeface="Calibri" pitchFamily="34" charset="-120"/>
              </a:rPr>
              <a:t>Infosys is the standout Innovation Leader
</a:t>
            </a:r>
            <a:endParaRPr lang="en-US" sz="1250" dirty="0"/>
          </a:p>
          <a:p>
            <a:pPr indent="0" marL="0">
              <a:lnSpc>
                <a:spcPct val="112000"/>
              </a:lnSpc>
              <a:buNone/>
            </a:pPr>
            <a:r>
              <a:rPr lang="en-US" sz="1070" dirty="0">
                <a:solidFill>
                  <a:srgbClr val="2B2B2B"/>
                </a:solidFill>
                <a:latin typeface="Calibri" pitchFamily="34" charset="0"/>
                <a:ea typeface="Calibri" pitchFamily="34" charset="-122"/>
                <a:cs typeface="Calibri" pitchFamily="34" charset="-120"/>
              </a:rPr>
              <a:t>Smaller commercial footprint than the Scale Leaders, but Topaz's 200+ pre-built agents and a fresh OpenAI partnership pull its Capability score (7.0) above the peer median despite a Presence score below it.</a:t>
            </a:r>
            <a:endParaRPr lang="en-US" sz="1250" dirty="0"/>
          </a:p>
        </p:txBody>
      </p:sp>
      <p:sp>
        <p:nvSpPr>
          <p:cNvPr id="10" name="Shape 8"/>
          <p:cNvSpPr/>
          <p:nvPr/>
        </p:nvSpPr>
        <p:spPr>
          <a:xfrm>
            <a:off x="502920" y="3282696"/>
            <a:ext cx="384048" cy="384048"/>
          </a:xfrm>
          <a:prstGeom prst="roundRect">
            <a:avLst>
              <a:gd name="adj" fmla="val 19048"/>
            </a:avLst>
          </a:prstGeom>
          <a:solidFill>
            <a:srgbClr val="1F2D3D"/>
          </a:solidFill>
          <a:ln/>
        </p:spPr>
      </p:sp>
      <p:sp>
        <p:nvSpPr>
          <p:cNvPr id="11" name="Text 9"/>
          <p:cNvSpPr/>
          <p:nvPr/>
        </p:nvSpPr>
        <p:spPr>
          <a:xfrm>
            <a:off x="502920" y="3282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51560" y="3236976"/>
            <a:ext cx="10607040" cy="868680"/>
          </a:xfrm>
          <a:prstGeom prst="rect">
            <a:avLst/>
          </a:prstGeom>
          <a:noFill/>
          <a:ln/>
        </p:spPr>
        <p:txBody>
          <a:bodyPr wrap="square" lIns="0" tIns="0" rIns="0" bIns="0" rtlCol="0" anchor="t"/>
          <a:lstStyle/>
          <a:p>
            <a:pPr indent="0" marL="0">
              <a:lnSpc>
                <a:spcPct val="112000"/>
              </a:lnSpc>
              <a:buNone/>
            </a:pPr>
            <a:r>
              <a:rPr lang="en-US" sz="1250" b="1" dirty="0">
                <a:solidFill>
                  <a:srgbClr val="1F2D3D"/>
                </a:solidFill>
                <a:latin typeface="Calibri" pitchFamily="34" charset="0"/>
                <a:ea typeface="Calibri" pitchFamily="34" charset="-122"/>
                <a:cs typeface="Calibri" pitchFamily="34" charset="-120"/>
              </a:rPr>
              <a:t>Big Four firms split sharply — EY and PwC lead, Deloitte lags on this methodology
</a:t>
            </a:r>
            <a:endParaRPr lang="en-US" sz="1250" dirty="0"/>
          </a:p>
          <a:p>
            <a:pPr indent="0" marL="0">
              <a:lnSpc>
                <a:spcPct val="112000"/>
              </a:lnSpc>
              <a:buNone/>
            </a:pPr>
            <a:r>
              <a:rPr lang="en-US" sz="1070" dirty="0">
                <a:solidFill>
                  <a:srgbClr val="2B2B2B"/>
                </a:solidFill>
                <a:latin typeface="Calibri" pitchFamily="34" charset="0"/>
                <a:ea typeface="Calibri" pitchFamily="34" charset="-122"/>
                <a:cs typeface="Calibri" pitchFamily="34" charset="-120"/>
              </a:rPr>
              <a:t>EY's NVIDIA on-prem bet and PwC's OpenAI reseller status are more specific, more evidenced commitments than Deloitte's in the sources reviewed — which pulled Deloitte into Emerging Contenders despite comparable investment dollars.</a:t>
            </a:r>
            <a:endParaRPr lang="en-US" sz="1250" dirty="0"/>
          </a:p>
        </p:txBody>
      </p:sp>
      <p:sp>
        <p:nvSpPr>
          <p:cNvPr id="13" name="Shape 11"/>
          <p:cNvSpPr/>
          <p:nvPr/>
        </p:nvSpPr>
        <p:spPr>
          <a:xfrm>
            <a:off x="502920" y="4215384"/>
            <a:ext cx="384048" cy="384048"/>
          </a:xfrm>
          <a:prstGeom prst="roundRect">
            <a:avLst>
              <a:gd name="adj" fmla="val 19048"/>
            </a:avLst>
          </a:prstGeom>
          <a:solidFill>
            <a:srgbClr val="1F2D3D"/>
          </a:solidFill>
          <a:ln/>
        </p:spPr>
      </p:sp>
      <p:sp>
        <p:nvSpPr>
          <p:cNvPr id="14" name="Text 12"/>
          <p:cNvSpPr/>
          <p:nvPr/>
        </p:nvSpPr>
        <p:spPr>
          <a:xfrm>
            <a:off x="502920" y="4215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51560" y="4169664"/>
            <a:ext cx="10607040" cy="868680"/>
          </a:xfrm>
          <a:prstGeom prst="rect">
            <a:avLst/>
          </a:prstGeom>
          <a:noFill/>
          <a:ln/>
        </p:spPr>
        <p:txBody>
          <a:bodyPr wrap="square" lIns="0" tIns="0" rIns="0" bIns="0" rtlCol="0" anchor="t"/>
          <a:lstStyle/>
          <a:p>
            <a:pPr indent="0" marL="0">
              <a:lnSpc>
                <a:spcPct val="112000"/>
              </a:lnSpc>
              <a:buNone/>
            </a:pPr>
            <a:r>
              <a:rPr lang="en-US" sz="1250" b="1" dirty="0">
                <a:solidFill>
                  <a:srgbClr val="1F2D3D"/>
                </a:solidFill>
                <a:latin typeface="Calibri" pitchFamily="34" charset="0"/>
                <a:ea typeface="Calibri" pitchFamily="34" charset="-122"/>
                <a:cs typeface="Calibri" pitchFamily="34" charset="-120"/>
              </a:rPr>
              <a:t>Indian heritage SIs are bifurcating: TCS separates from Infosys and Wipro
</a:t>
            </a:r>
            <a:endParaRPr lang="en-US" sz="1250" dirty="0"/>
          </a:p>
          <a:p>
            <a:pPr indent="0" marL="0">
              <a:lnSpc>
                <a:spcPct val="112000"/>
              </a:lnSpc>
              <a:buNone/>
            </a:pPr>
            <a:r>
              <a:rPr lang="en-US" sz="1070" dirty="0">
                <a:solidFill>
                  <a:srgbClr val="2B2B2B"/>
                </a:solidFill>
                <a:latin typeface="Calibri" pitchFamily="34" charset="0"/>
                <a:ea typeface="Calibri" pitchFamily="34" charset="-122"/>
                <a:cs typeface="Calibri" pitchFamily="34" charset="-120"/>
              </a:rPr>
              <a:t>TCS's $2.6B AI revenue run-rate lands it in Scale Players; Wipro's comparatively thin public AI disclosure lands it in Emerging Contenders — the same tier as Cognizant, despite Cognizant's larger revenue base.</a:t>
            </a:r>
            <a:endParaRPr lang="en-US" sz="1250" dirty="0"/>
          </a:p>
        </p:txBody>
      </p:sp>
      <p:sp>
        <p:nvSpPr>
          <p:cNvPr id="16" name="Shape 14"/>
          <p:cNvSpPr/>
          <p:nvPr/>
        </p:nvSpPr>
        <p:spPr>
          <a:xfrm>
            <a:off x="502920" y="5148072"/>
            <a:ext cx="384048" cy="384048"/>
          </a:xfrm>
          <a:prstGeom prst="roundRect">
            <a:avLst>
              <a:gd name="adj" fmla="val 19048"/>
            </a:avLst>
          </a:prstGeom>
          <a:solidFill>
            <a:srgbClr val="1F2D3D"/>
          </a:solidFill>
          <a:ln/>
        </p:spPr>
      </p:sp>
      <p:sp>
        <p:nvSpPr>
          <p:cNvPr id="17" name="Text 15"/>
          <p:cNvSpPr/>
          <p:nvPr/>
        </p:nvSpPr>
        <p:spPr>
          <a:xfrm>
            <a:off x="502920" y="5148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51560" y="5102352"/>
            <a:ext cx="10607040" cy="868680"/>
          </a:xfrm>
          <a:prstGeom prst="rect">
            <a:avLst/>
          </a:prstGeom>
          <a:noFill/>
          <a:ln/>
        </p:spPr>
        <p:txBody>
          <a:bodyPr wrap="square" lIns="0" tIns="0" rIns="0" bIns="0" rtlCol="0" anchor="t"/>
          <a:lstStyle/>
          <a:p>
            <a:pPr indent="0" marL="0">
              <a:lnSpc>
                <a:spcPct val="112000"/>
              </a:lnSpc>
              <a:buNone/>
            </a:pPr>
            <a:r>
              <a:rPr lang="en-US" sz="1250" b="1" dirty="0">
                <a:solidFill>
                  <a:srgbClr val="1F2D3D"/>
                </a:solidFill>
                <a:latin typeface="Calibri" pitchFamily="34" charset="0"/>
                <a:ea typeface="Calibri" pitchFamily="34" charset="-122"/>
                <a:cs typeface="Calibri" pitchFamily="34" charset="-120"/>
              </a:rPr>
              <a:t>Disclosure regime, not just capability, is doing real work in this ranking
</a:t>
            </a:r>
            <a:endParaRPr lang="en-US" sz="1250" dirty="0"/>
          </a:p>
          <a:p>
            <a:pPr indent="0" marL="0">
              <a:lnSpc>
                <a:spcPct val="112000"/>
              </a:lnSpc>
              <a:buNone/>
            </a:pPr>
            <a:r>
              <a:rPr lang="en-US" sz="1070" dirty="0">
                <a:solidFill>
                  <a:srgbClr val="2B2B2B"/>
                </a:solidFill>
                <a:latin typeface="Calibri" pitchFamily="34" charset="0"/>
                <a:ea typeface="Calibri" pitchFamily="34" charset="-122"/>
                <a:cs typeface="Calibri" pitchFamily="34" charset="-120"/>
              </a:rPr>
              <a:t>The public-company vs. private-partnership disclosure gap is the single biggest methodology caveat — read the full note on slide 2 before treating this as a pure capability ranking.</a:t>
            </a:r>
            <a:endParaRPr lang="en-US" sz="1250" dirty="0"/>
          </a:p>
        </p:txBody>
      </p:sp>
      <p:sp>
        <p:nvSpPr>
          <p:cNvPr id="19" name="Text 17"/>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20" name="Text 18"/>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The GenAI Vendor Quadrant</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Capability (x-axis) vs. Market Presence (y-axis) — split on this peer set's median, not a fixed threshold</a:t>
            </a:r>
            <a:endParaRPr lang="en-US" sz="1150" dirty="0"/>
          </a:p>
        </p:txBody>
      </p:sp>
      <p:sp>
        <p:nvSpPr>
          <p:cNvPr id="4" name="Shape 2"/>
          <p:cNvSpPr/>
          <p:nvPr/>
        </p:nvSpPr>
        <p:spPr>
          <a:xfrm>
            <a:off x="5855118" y="1600200"/>
            <a:ext cx="4843362" cy="2028892"/>
          </a:xfrm>
          <a:prstGeom prst="rect">
            <a:avLst/>
          </a:prstGeom>
          <a:solidFill>
            <a:srgbClr val="F5EDE6"/>
          </a:solidFill>
          <a:ln/>
        </p:spPr>
      </p:sp>
      <p:sp>
        <p:nvSpPr>
          <p:cNvPr id="5" name="Shape 3"/>
          <p:cNvSpPr/>
          <p:nvPr/>
        </p:nvSpPr>
        <p:spPr>
          <a:xfrm>
            <a:off x="1234440" y="1600200"/>
            <a:ext cx="4620678" cy="2028892"/>
          </a:xfrm>
          <a:prstGeom prst="rect">
            <a:avLst/>
          </a:prstGeom>
          <a:solidFill>
            <a:srgbClr val="F8F6F2"/>
          </a:solidFill>
          <a:ln/>
        </p:spPr>
      </p:sp>
      <p:sp>
        <p:nvSpPr>
          <p:cNvPr id="6" name="Shape 4"/>
          <p:cNvSpPr/>
          <p:nvPr/>
        </p:nvSpPr>
        <p:spPr>
          <a:xfrm>
            <a:off x="5855118" y="3629092"/>
            <a:ext cx="4843362" cy="2177348"/>
          </a:xfrm>
          <a:prstGeom prst="rect">
            <a:avLst/>
          </a:prstGeom>
          <a:solidFill>
            <a:srgbClr val="F7F1E8"/>
          </a:solidFill>
          <a:ln/>
        </p:spPr>
      </p:sp>
      <p:sp>
        <p:nvSpPr>
          <p:cNvPr id="7" name="Shape 5"/>
          <p:cNvSpPr/>
          <p:nvPr/>
        </p:nvSpPr>
        <p:spPr>
          <a:xfrm>
            <a:off x="1234440" y="3629092"/>
            <a:ext cx="4620678" cy="2177348"/>
          </a:xfrm>
          <a:prstGeom prst="rect">
            <a:avLst/>
          </a:prstGeom>
          <a:solidFill>
            <a:srgbClr val="F5F3EF"/>
          </a:solidFill>
          <a:ln/>
        </p:spPr>
      </p:sp>
      <p:sp>
        <p:nvSpPr>
          <p:cNvPr id="8" name="Shape 6"/>
          <p:cNvSpPr/>
          <p:nvPr/>
        </p:nvSpPr>
        <p:spPr>
          <a:xfrm>
            <a:off x="1234440" y="5806440"/>
            <a:ext cx="9464040" cy="0"/>
          </a:xfrm>
          <a:prstGeom prst="line">
            <a:avLst/>
          </a:prstGeom>
          <a:noFill/>
          <a:ln w="15875">
            <a:solidFill>
              <a:srgbClr val="2B2B2B"/>
            </a:solidFill>
            <a:prstDash val="solid"/>
          </a:ln>
        </p:spPr>
      </p:sp>
      <p:sp>
        <p:nvSpPr>
          <p:cNvPr id="9" name="Shape 7"/>
          <p:cNvSpPr/>
          <p:nvPr/>
        </p:nvSpPr>
        <p:spPr>
          <a:xfrm>
            <a:off x="1234440" y="1600200"/>
            <a:ext cx="0" cy="4206240"/>
          </a:xfrm>
          <a:prstGeom prst="line">
            <a:avLst/>
          </a:prstGeom>
          <a:noFill/>
          <a:ln w="15875">
            <a:solidFill>
              <a:srgbClr val="2B2B2B"/>
            </a:solidFill>
            <a:prstDash val="solid"/>
          </a:ln>
        </p:spPr>
      </p:sp>
      <p:sp>
        <p:nvSpPr>
          <p:cNvPr id="10" name="Shape 8"/>
          <p:cNvSpPr/>
          <p:nvPr/>
        </p:nvSpPr>
        <p:spPr>
          <a:xfrm>
            <a:off x="5855118" y="1600200"/>
            <a:ext cx="0" cy="4206240"/>
          </a:xfrm>
          <a:prstGeom prst="line">
            <a:avLst/>
          </a:prstGeom>
          <a:noFill/>
          <a:ln w="12700">
            <a:solidFill>
              <a:srgbClr val="F4F1EC"/>
            </a:solidFill>
            <a:prstDash val="dash"/>
          </a:ln>
        </p:spPr>
      </p:sp>
      <p:sp>
        <p:nvSpPr>
          <p:cNvPr id="11" name="Shape 9"/>
          <p:cNvSpPr/>
          <p:nvPr/>
        </p:nvSpPr>
        <p:spPr>
          <a:xfrm>
            <a:off x="1234440" y="3629092"/>
            <a:ext cx="9464040" cy="0"/>
          </a:xfrm>
          <a:prstGeom prst="line">
            <a:avLst/>
          </a:prstGeom>
          <a:noFill/>
          <a:ln w="12700">
            <a:solidFill>
              <a:srgbClr val="F4F1EC"/>
            </a:solidFill>
            <a:prstDash val="dash"/>
          </a:ln>
        </p:spPr>
      </p:sp>
      <p:sp>
        <p:nvSpPr>
          <p:cNvPr id="12" name="Text 10"/>
          <p:cNvSpPr/>
          <p:nvPr/>
        </p:nvSpPr>
        <p:spPr>
          <a:xfrm>
            <a:off x="8321040" y="1673352"/>
            <a:ext cx="2286000" cy="274320"/>
          </a:xfrm>
          <a:prstGeom prst="rect">
            <a:avLst/>
          </a:prstGeom>
          <a:noFill/>
          <a:ln/>
        </p:spPr>
        <p:txBody>
          <a:bodyPr wrap="square" lIns="0" tIns="0" rIns="0" bIns="0" rtlCol="0" anchor="ctr"/>
          <a:lstStyle/>
          <a:p>
            <a:pPr algn="r" indent="0" marL="0">
              <a:buNone/>
            </a:pPr>
            <a:r>
              <a:rPr lang="en-US" sz="1000" b="1" spc="100" kern="0" dirty="0">
                <a:solidFill>
                  <a:srgbClr val="BC5B39"/>
                </a:solidFill>
                <a:latin typeface="Calibri" pitchFamily="34" charset="0"/>
                <a:ea typeface="Calibri" pitchFamily="34" charset="-122"/>
                <a:cs typeface="Calibri" pitchFamily="34" charset="-120"/>
              </a:rPr>
              <a:t>SCALE LEADERS</a:t>
            </a:r>
            <a:endParaRPr lang="en-US" sz="1000" dirty="0"/>
          </a:p>
        </p:txBody>
      </p:sp>
      <p:sp>
        <p:nvSpPr>
          <p:cNvPr id="13" name="Text 11"/>
          <p:cNvSpPr/>
          <p:nvPr/>
        </p:nvSpPr>
        <p:spPr>
          <a:xfrm>
            <a:off x="1325880" y="1673352"/>
            <a:ext cx="2560320" cy="274320"/>
          </a:xfrm>
          <a:prstGeom prst="rect">
            <a:avLst/>
          </a:prstGeom>
          <a:noFill/>
          <a:ln/>
        </p:spPr>
        <p:txBody>
          <a:bodyPr wrap="square" lIns="0" tIns="0" rIns="0" bIns="0" rtlCol="0" anchor="ctr"/>
          <a:lstStyle/>
          <a:p>
            <a:pPr indent="0" marL="0">
              <a:buNone/>
            </a:pPr>
            <a:r>
              <a:rPr lang="en-US" sz="1000" b="1" spc="100" kern="0" dirty="0">
                <a:solidFill>
                  <a:srgbClr val="1F2D3D"/>
                </a:solidFill>
                <a:latin typeface="Calibri" pitchFamily="34" charset="0"/>
                <a:ea typeface="Calibri" pitchFamily="34" charset="-122"/>
                <a:cs typeface="Calibri" pitchFamily="34" charset="-120"/>
              </a:rPr>
              <a:t>INNOVATION LEADERS</a:t>
            </a:r>
            <a:endParaRPr lang="en-US" sz="1000" dirty="0"/>
          </a:p>
        </p:txBody>
      </p:sp>
      <p:sp>
        <p:nvSpPr>
          <p:cNvPr id="14" name="Text 12"/>
          <p:cNvSpPr/>
          <p:nvPr/>
        </p:nvSpPr>
        <p:spPr>
          <a:xfrm>
            <a:off x="8321040" y="5513832"/>
            <a:ext cx="2286000" cy="274320"/>
          </a:xfrm>
          <a:prstGeom prst="rect">
            <a:avLst/>
          </a:prstGeom>
          <a:noFill/>
          <a:ln/>
        </p:spPr>
        <p:txBody>
          <a:bodyPr wrap="square" lIns="0" tIns="0" rIns="0" bIns="0" rtlCol="0" anchor="ctr"/>
          <a:lstStyle/>
          <a:p>
            <a:pPr algn="r" indent="0" marL="0">
              <a:buNone/>
            </a:pPr>
            <a:r>
              <a:rPr lang="en-US" sz="1000" b="1" spc="100" kern="0" dirty="0">
                <a:solidFill>
                  <a:srgbClr val="B8862B"/>
                </a:solidFill>
                <a:latin typeface="Calibri" pitchFamily="34" charset="0"/>
                <a:ea typeface="Calibri" pitchFamily="34" charset="-122"/>
                <a:cs typeface="Calibri" pitchFamily="34" charset="-120"/>
              </a:rPr>
              <a:t>SCALE PLAYERS</a:t>
            </a:r>
            <a:endParaRPr lang="en-US" sz="1000" dirty="0"/>
          </a:p>
        </p:txBody>
      </p:sp>
      <p:sp>
        <p:nvSpPr>
          <p:cNvPr id="15" name="Text 13"/>
          <p:cNvSpPr/>
          <p:nvPr/>
        </p:nvSpPr>
        <p:spPr>
          <a:xfrm>
            <a:off x="1325880" y="5513832"/>
            <a:ext cx="2743200" cy="274320"/>
          </a:xfrm>
          <a:prstGeom prst="rect">
            <a:avLst/>
          </a:prstGeom>
          <a:noFill/>
          <a:ln/>
        </p:spPr>
        <p:txBody>
          <a:bodyPr wrap="square" lIns="0" tIns="0" rIns="0" bIns="0" rtlCol="0" anchor="ctr"/>
          <a:lstStyle/>
          <a:p>
            <a:pPr indent="0" marL="0">
              <a:buNone/>
            </a:pPr>
            <a:r>
              <a:rPr lang="en-US" sz="1000" b="1" spc="100" kern="0" dirty="0">
                <a:solidFill>
                  <a:srgbClr val="6B6258"/>
                </a:solidFill>
                <a:latin typeface="Calibri" pitchFamily="34" charset="0"/>
                <a:ea typeface="Calibri" pitchFamily="34" charset="-122"/>
                <a:cs typeface="Calibri" pitchFamily="34" charset="-120"/>
              </a:rPr>
              <a:t>EMERGING CONTENDERS</a:t>
            </a:r>
            <a:endParaRPr lang="en-US" sz="1000" dirty="0"/>
          </a:p>
        </p:txBody>
      </p:sp>
      <p:sp>
        <p:nvSpPr>
          <p:cNvPr id="16" name="Text 14"/>
          <p:cNvSpPr/>
          <p:nvPr/>
        </p:nvSpPr>
        <p:spPr>
          <a:xfrm>
            <a:off x="1234440" y="5916168"/>
            <a:ext cx="9464040" cy="27432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Capability →</a:t>
            </a:r>
            <a:endParaRPr lang="en-US" sz="1100" dirty="0"/>
          </a:p>
        </p:txBody>
      </p:sp>
      <p:sp>
        <p:nvSpPr>
          <p:cNvPr id="17" name="Text 15"/>
          <p:cNvSpPr/>
          <p:nvPr/>
        </p:nvSpPr>
        <p:spPr>
          <a:xfrm rot="16200000">
            <a:off x="-2331720" y="3566160"/>
            <a:ext cx="4937760" cy="27432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Market Presence →</a:t>
            </a:r>
            <a:endParaRPr lang="en-US" sz="1100" dirty="0"/>
          </a:p>
        </p:txBody>
      </p:sp>
      <p:sp>
        <p:nvSpPr>
          <p:cNvPr id="18" name="Shape 16"/>
          <p:cNvSpPr/>
          <p:nvPr/>
        </p:nvSpPr>
        <p:spPr>
          <a:xfrm>
            <a:off x="9123829" y="1664746"/>
            <a:ext cx="365760" cy="365760"/>
          </a:xfrm>
          <a:prstGeom prst="ellipse">
            <a:avLst/>
          </a:prstGeom>
          <a:solidFill>
            <a:srgbClr val="BC5B39"/>
          </a:solidFill>
          <a:ln w="19050">
            <a:solidFill>
              <a:srgbClr val="FFFFFF"/>
            </a:solidFill>
            <a:prstDash val="solid"/>
          </a:ln>
        </p:spPr>
      </p:sp>
      <p:sp>
        <p:nvSpPr>
          <p:cNvPr id="19" name="Text 17"/>
          <p:cNvSpPr/>
          <p:nvPr/>
        </p:nvSpPr>
        <p:spPr>
          <a:xfrm>
            <a:off x="8620909" y="2057938"/>
            <a:ext cx="1371600" cy="228600"/>
          </a:xfrm>
          <a:prstGeom prst="rect">
            <a:avLst/>
          </a:prstGeom>
          <a:noFill/>
          <a:ln/>
        </p:spPr>
        <p:txBody>
          <a:bodyPr wrap="square" lIns="0" tIns="0" rIns="0" bIns="0" rtlCol="0" anchor="ctr"/>
          <a:lstStyle/>
          <a:p>
            <a:pPr algn="ctr" indent="0" marL="0">
              <a:buNone/>
            </a:pPr>
            <a:r>
              <a:rPr lang="en-US" sz="850" b="1" dirty="0">
                <a:solidFill>
                  <a:srgbClr val="2B2B2B"/>
                </a:solidFill>
                <a:latin typeface="Calibri" pitchFamily="34" charset="0"/>
                <a:ea typeface="Calibri" pitchFamily="34" charset="-122"/>
                <a:cs typeface="Calibri" pitchFamily="34" charset="-120"/>
              </a:rPr>
              <a:t>Accenture</a:t>
            </a:r>
            <a:endParaRPr lang="en-US" sz="850" dirty="0"/>
          </a:p>
        </p:txBody>
      </p:sp>
      <p:sp>
        <p:nvSpPr>
          <p:cNvPr id="20" name="Shape 18"/>
          <p:cNvSpPr/>
          <p:nvPr/>
        </p:nvSpPr>
        <p:spPr>
          <a:xfrm>
            <a:off x="7119680" y="2258568"/>
            <a:ext cx="365760" cy="365760"/>
          </a:xfrm>
          <a:prstGeom prst="ellipse">
            <a:avLst/>
          </a:prstGeom>
          <a:solidFill>
            <a:srgbClr val="BC5B39"/>
          </a:solidFill>
          <a:ln w="19050">
            <a:solidFill>
              <a:srgbClr val="FFFFFF"/>
            </a:solidFill>
            <a:prstDash val="solid"/>
          </a:ln>
        </p:spPr>
      </p:sp>
      <p:sp>
        <p:nvSpPr>
          <p:cNvPr id="21" name="Text 19"/>
          <p:cNvSpPr/>
          <p:nvPr/>
        </p:nvSpPr>
        <p:spPr>
          <a:xfrm>
            <a:off x="6616760" y="2651760"/>
            <a:ext cx="1371600" cy="228600"/>
          </a:xfrm>
          <a:prstGeom prst="rect">
            <a:avLst/>
          </a:prstGeom>
          <a:noFill/>
          <a:ln/>
        </p:spPr>
        <p:txBody>
          <a:bodyPr wrap="square" lIns="0" tIns="0" rIns="0" bIns="0" rtlCol="0" anchor="ctr"/>
          <a:lstStyle/>
          <a:p>
            <a:pPr algn="ctr" indent="0" marL="0">
              <a:buNone/>
            </a:pPr>
            <a:r>
              <a:rPr lang="en-US" sz="850" b="1" dirty="0">
                <a:solidFill>
                  <a:srgbClr val="2B2B2B"/>
                </a:solidFill>
                <a:latin typeface="Calibri" pitchFamily="34" charset="0"/>
                <a:ea typeface="Calibri" pitchFamily="34" charset="-122"/>
                <a:cs typeface="Calibri" pitchFamily="34" charset="-120"/>
              </a:rPr>
              <a:t>IBM</a:t>
            </a:r>
            <a:endParaRPr lang="en-US" sz="850" dirty="0"/>
          </a:p>
        </p:txBody>
      </p:sp>
      <p:sp>
        <p:nvSpPr>
          <p:cNvPr id="22" name="Shape 20"/>
          <p:cNvSpPr/>
          <p:nvPr/>
        </p:nvSpPr>
        <p:spPr>
          <a:xfrm>
            <a:off x="5449555" y="3248272"/>
            <a:ext cx="365760" cy="365760"/>
          </a:xfrm>
          <a:prstGeom prst="ellipse">
            <a:avLst/>
          </a:prstGeom>
          <a:solidFill>
            <a:srgbClr val="B8862B"/>
          </a:solidFill>
          <a:ln w="19050">
            <a:solidFill>
              <a:srgbClr val="FFFFFF"/>
            </a:solidFill>
            <a:prstDash val="solid"/>
          </a:ln>
        </p:spPr>
      </p:sp>
      <p:sp>
        <p:nvSpPr>
          <p:cNvPr id="23" name="Text 21"/>
          <p:cNvSpPr/>
          <p:nvPr/>
        </p:nvSpPr>
        <p:spPr>
          <a:xfrm>
            <a:off x="4946635" y="2992240"/>
            <a:ext cx="1371600" cy="228600"/>
          </a:xfrm>
          <a:prstGeom prst="rect">
            <a:avLst/>
          </a:prstGeom>
          <a:noFill/>
          <a:ln/>
        </p:spPr>
        <p:txBody>
          <a:bodyPr wrap="square" lIns="0" tIns="0" rIns="0" bIns="0" rtlCol="0" anchor="ctr"/>
          <a:lstStyle/>
          <a:p>
            <a:pPr algn="ctr" indent="0" marL="0">
              <a:buNone/>
            </a:pPr>
            <a:r>
              <a:rPr lang="en-US" sz="850" b="1" dirty="0">
                <a:solidFill>
                  <a:srgbClr val="2B2B2B"/>
                </a:solidFill>
                <a:latin typeface="Calibri" pitchFamily="34" charset="0"/>
                <a:ea typeface="Calibri" pitchFamily="34" charset="-122"/>
                <a:cs typeface="Calibri" pitchFamily="34" charset="-120"/>
              </a:rPr>
              <a:t>TCS</a:t>
            </a:r>
            <a:endParaRPr lang="en-US" sz="850" dirty="0"/>
          </a:p>
        </p:txBody>
      </p:sp>
      <p:sp>
        <p:nvSpPr>
          <p:cNvPr id="24" name="Shape 22"/>
          <p:cNvSpPr/>
          <p:nvPr/>
        </p:nvSpPr>
        <p:spPr>
          <a:xfrm>
            <a:off x="6618642" y="3842094"/>
            <a:ext cx="365760" cy="365760"/>
          </a:xfrm>
          <a:prstGeom prst="ellipse">
            <a:avLst/>
          </a:prstGeom>
          <a:solidFill>
            <a:srgbClr val="1F2D3D"/>
          </a:solidFill>
          <a:ln w="19050">
            <a:solidFill>
              <a:srgbClr val="FFFFFF"/>
            </a:solidFill>
            <a:prstDash val="solid"/>
          </a:ln>
        </p:spPr>
      </p:sp>
      <p:sp>
        <p:nvSpPr>
          <p:cNvPr id="25" name="Text 23"/>
          <p:cNvSpPr/>
          <p:nvPr/>
        </p:nvSpPr>
        <p:spPr>
          <a:xfrm>
            <a:off x="6115722" y="4235286"/>
            <a:ext cx="1371600" cy="228600"/>
          </a:xfrm>
          <a:prstGeom prst="rect">
            <a:avLst/>
          </a:prstGeom>
          <a:noFill/>
          <a:ln/>
        </p:spPr>
        <p:txBody>
          <a:bodyPr wrap="square" lIns="0" tIns="0" rIns="0" bIns="0" rtlCol="0" anchor="ctr"/>
          <a:lstStyle/>
          <a:p>
            <a:pPr algn="ctr" indent="0" marL="0">
              <a:buNone/>
            </a:pPr>
            <a:r>
              <a:rPr lang="en-US" sz="850" b="1" dirty="0">
                <a:solidFill>
                  <a:srgbClr val="2B2B2B"/>
                </a:solidFill>
                <a:latin typeface="Calibri" pitchFamily="34" charset="0"/>
                <a:ea typeface="Calibri" pitchFamily="34" charset="-122"/>
                <a:cs typeface="Calibri" pitchFamily="34" charset="-120"/>
              </a:rPr>
              <a:t>Infosys</a:t>
            </a:r>
            <a:endParaRPr lang="en-US" sz="850" dirty="0"/>
          </a:p>
        </p:txBody>
      </p:sp>
      <p:sp>
        <p:nvSpPr>
          <p:cNvPr id="26" name="Shape 24"/>
          <p:cNvSpPr/>
          <p:nvPr/>
        </p:nvSpPr>
        <p:spPr>
          <a:xfrm>
            <a:off x="5059859" y="3446212"/>
            <a:ext cx="365760" cy="365760"/>
          </a:xfrm>
          <a:prstGeom prst="ellipse">
            <a:avLst/>
          </a:prstGeom>
          <a:solidFill>
            <a:srgbClr val="B8862B"/>
          </a:solidFill>
          <a:ln w="19050">
            <a:solidFill>
              <a:srgbClr val="FFFFFF"/>
            </a:solidFill>
            <a:prstDash val="solid"/>
          </a:ln>
        </p:spPr>
      </p:sp>
      <p:sp>
        <p:nvSpPr>
          <p:cNvPr id="27" name="Text 25"/>
          <p:cNvSpPr/>
          <p:nvPr/>
        </p:nvSpPr>
        <p:spPr>
          <a:xfrm>
            <a:off x="3642539" y="3519364"/>
            <a:ext cx="868680" cy="228600"/>
          </a:xfrm>
          <a:prstGeom prst="rect">
            <a:avLst/>
          </a:prstGeom>
          <a:noFill/>
          <a:ln/>
        </p:spPr>
        <p:txBody>
          <a:bodyPr wrap="square" lIns="0" tIns="0" rIns="0" bIns="0" rtlCol="0" anchor="ctr"/>
          <a:lstStyle/>
          <a:p>
            <a:pPr algn="r" indent="0" marL="0">
              <a:buNone/>
            </a:pPr>
            <a:r>
              <a:rPr lang="en-US" sz="850" b="1" dirty="0">
                <a:solidFill>
                  <a:srgbClr val="2B2B2B"/>
                </a:solidFill>
                <a:latin typeface="Calibri" pitchFamily="34" charset="0"/>
                <a:ea typeface="Calibri" pitchFamily="34" charset="-122"/>
                <a:cs typeface="Calibri" pitchFamily="34" charset="-120"/>
              </a:rPr>
              <a:t>Capgemini</a:t>
            </a:r>
            <a:endParaRPr lang="en-US" sz="850" dirty="0"/>
          </a:p>
        </p:txBody>
      </p:sp>
      <p:sp>
        <p:nvSpPr>
          <p:cNvPr id="28" name="Shape 26"/>
          <p:cNvSpPr/>
          <p:nvPr/>
        </p:nvSpPr>
        <p:spPr>
          <a:xfrm>
            <a:off x="4781505" y="3644153"/>
            <a:ext cx="365760" cy="365760"/>
          </a:xfrm>
          <a:prstGeom prst="ellipse">
            <a:avLst/>
          </a:prstGeom>
          <a:solidFill>
            <a:srgbClr val="6B6258"/>
          </a:solidFill>
          <a:ln w="19050">
            <a:solidFill>
              <a:srgbClr val="FFFFFF"/>
            </a:solidFill>
            <a:prstDash val="solid"/>
          </a:ln>
        </p:spPr>
      </p:sp>
      <p:sp>
        <p:nvSpPr>
          <p:cNvPr id="29" name="Text 27"/>
          <p:cNvSpPr/>
          <p:nvPr/>
        </p:nvSpPr>
        <p:spPr>
          <a:xfrm>
            <a:off x="3364185" y="3717305"/>
            <a:ext cx="868680" cy="228600"/>
          </a:xfrm>
          <a:prstGeom prst="rect">
            <a:avLst/>
          </a:prstGeom>
          <a:noFill/>
          <a:ln/>
        </p:spPr>
        <p:txBody>
          <a:bodyPr wrap="square" lIns="0" tIns="0" rIns="0" bIns="0" rtlCol="0" anchor="ctr"/>
          <a:lstStyle/>
          <a:p>
            <a:pPr algn="r" indent="0" marL="0">
              <a:buNone/>
            </a:pPr>
            <a:r>
              <a:rPr lang="en-US" sz="850" b="1" dirty="0">
                <a:solidFill>
                  <a:srgbClr val="2B2B2B"/>
                </a:solidFill>
                <a:latin typeface="Calibri" pitchFamily="34" charset="0"/>
                <a:ea typeface="Calibri" pitchFamily="34" charset="-122"/>
                <a:cs typeface="Calibri" pitchFamily="34" charset="-120"/>
              </a:rPr>
              <a:t>Cognizant</a:t>
            </a:r>
            <a:endParaRPr lang="en-US" sz="850" dirty="0"/>
          </a:p>
        </p:txBody>
      </p:sp>
      <p:sp>
        <p:nvSpPr>
          <p:cNvPr id="30" name="Shape 28"/>
          <p:cNvSpPr/>
          <p:nvPr/>
        </p:nvSpPr>
        <p:spPr>
          <a:xfrm>
            <a:off x="3668089" y="4633856"/>
            <a:ext cx="365760" cy="365760"/>
          </a:xfrm>
          <a:prstGeom prst="ellipse">
            <a:avLst/>
          </a:prstGeom>
          <a:solidFill>
            <a:srgbClr val="6B6258"/>
          </a:solidFill>
          <a:ln w="19050">
            <a:solidFill>
              <a:srgbClr val="FFFFFF"/>
            </a:solidFill>
            <a:prstDash val="solid"/>
          </a:ln>
        </p:spPr>
      </p:sp>
      <p:sp>
        <p:nvSpPr>
          <p:cNvPr id="31" name="Text 29"/>
          <p:cNvSpPr/>
          <p:nvPr/>
        </p:nvSpPr>
        <p:spPr>
          <a:xfrm>
            <a:off x="3165169" y="5027048"/>
            <a:ext cx="1371600" cy="228600"/>
          </a:xfrm>
          <a:prstGeom prst="rect">
            <a:avLst/>
          </a:prstGeom>
          <a:noFill/>
          <a:ln/>
        </p:spPr>
        <p:txBody>
          <a:bodyPr wrap="square" lIns="0" tIns="0" rIns="0" bIns="0" rtlCol="0" anchor="ctr"/>
          <a:lstStyle/>
          <a:p>
            <a:pPr algn="ctr" indent="0" marL="0">
              <a:buNone/>
            </a:pPr>
            <a:r>
              <a:rPr lang="en-US" sz="850" b="1" dirty="0">
                <a:solidFill>
                  <a:srgbClr val="2B2B2B"/>
                </a:solidFill>
                <a:latin typeface="Calibri" pitchFamily="34" charset="0"/>
                <a:ea typeface="Calibri" pitchFamily="34" charset="-122"/>
                <a:cs typeface="Calibri" pitchFamily="34" charset="-120"/>
              </a:rPr>
              <a:t>Wipro</a:t>
            </a:r>
            <a:endParaRPr lang="en-US" sz="850" dirty="0"/>
          </a:p>
        </p:txBody>
      </p:sp>
      <p:sp>
        <p:nvSpPr>
          <p:cNvPr id="32" name="Shape 30"/>
          <p:cNvSpPr/>
          <p:nvPr/>
        </p:nvSpPr>
        <p:spPr>
          <a:xfrm>
            <a:off x="5226872" y="3644153"/>
            <a:ext cx="365760" cy="365760"/>
          </a:xfrm>
          <a:prstGeom prst="ellipse">
            <a:avLst/>
          </a:prstGeom>
          <a:solidFill>
            <a:srgbClr val="6B6258"/>
          </a:solidFill>
          <a:ln w="19050">
            <a:solidFill>
              <a:srgbClr val="FFFFFF"/>
            </a:solidFill>
            <a:prstDash val="solid"/>
          </a:ln>
        </p:spPr>
      </p:sp>
      <p:sp>
        <p:nvSpPr>
          <p:cNvPr id="33" name="Text 31"/>
          <p:cNvSpPr/>
          <p:nvPr/>
        </p:nvSpPr>
        <p:spPr>
          <a:xfrm>
            <a:off x="5684072" y="3717305"/>
            <a:ext cx="1005840" cy="228600"/>
          </a:xfrm>
          <a:prstGeom prst="rect">
            <a:avLst/>
          </a:prstGeom>
          <a:noFill/>
          <a:ln/>
        </p:spPr>
        <p:txBody>
          <a:bodyPr wrap="square" lIns="0" tIns="0" rIns="0" bIns="0" rtlCol="0" anchor="ctr"/>
          <a:lstStyle/>
          <a:p>
            <a:pPr algn="l" indent="0" marL="0">
              <a:buNone/>
            </a:pPr>
            <a:r>
              <a:rPr lang="en-US" sz="850" b="1" dirty="0">
                <a:solidFill>
                  <a:srgbClr val="2B2B2B"/>
                </a:solidFill>
                <a:latin typeface="Calibri" pitchFamily="34" charset="0"/>
                <a:ea typeface="Calibri" pitchFamily="34" charset="-122"/>
                <a:cs typeface="Calibri" pitchFamily="34" charset="-120"/>
              </a:rPr>
              <a:t>Deloitte</a:t>
            </a:r>
            <a:endParaRPr lang="en-US" sz="850" dirty="0"/>
          </a:p>
        </p:txBody>
      </p:sp>
      <p:sp>
        <p:nvSpPr>
          <p:cNvPr id="34" name="Shape 32"/>
          <p:cNvSpPr/>
          <p:nvPr/>
        </p:nvSpPr>
        <p:spPr>
          <a:xfrm>
            <a:off x="6785655" y="3446212"/>
            <a:ext cx="365760" cy="365760"/>
          </a:xfrm>
          <a:prstGeom prst="ellipse">
            <a:avLst/>
          </a:prstGeom>
          <a:solidFill>
            <a:srgbClr val="BC5B39"/>
          </a:solidFill>
          <a:ln w="19050">
            <a:solidFill>
              <a:srgbClr val="FFFFFF"/>
            </a:solidFill>
            <a:prstDash val="solid"/>
          </a:ln>
        </p:spPr>
      </p:sp>
      <p:sp>
        <p:nvSpPr>
          <p:cNvPr id="35" name="Text 33"/>
          <p:cNvSpPr/>
          <p:nvPr/>
        </p:nvSpPr>
        <p:spPr>
          <a:xfrm>
            <a:off x="5368335" y="3519364"/>
            <a:ext cx="868680" cy="228600"/>
          </a:xfrm>
          <a:prstGeom prst="rect">
            <a:avLst/>
          </a:prstGeom>
          <a:noFill/>
          <a:ln/>
        </p:spPr>
        <p:txBody>
          <a:bodyPr wrap="square" lIns="0" tIns="0" rIns="0" bIns="0" rtlCol="0" anchor="ctr"/>
          <a:lstStyle/>
          <a:p>
            <a:pPr algn="r" indent="0" marL="0">
              <a:buNone/>
            </a:pPr>
            <a:r>
              <a:rPr lang="en-US" sz="850" b="1" dirty="0">
                <a:solidFill>
                  <a:srgbClr val="2B2B2B"/>
                </a:solidFill>
                <a:latin typeface="Calibri" pitchFamily="34" charset="0"/>
                <a:ea typeface="Calibri" pitchFamily="34" charset="-122"/>
                <a:cs typeface="Calibri" pitchFamily="34" charset="-120"/>
              </a:rPr>
              <a:t>EY</a:t>
            </a:r>
            <a:endParaRPr lang="en-US" sz="850" dirty="0"/>
          </a:p>
        </p:txBody>
      </p:sp>
      <p:sp>
        <p:nvSpPr>
          <p:cNvPr id="36" name="Shape 34"/>
          <p:cNvSpPr/>
          <p:nvPr/>
        </p:nvSpPr>
        <p:spPr>
          <a:xfrm>
            <a:off x="5894922" y="3149301"/>
            <a:ext cx="365760" cy="365760"/>
          </a:xfrm>
          <a:prstGeom prst="ellipse">
            <a:avLst/>
          </a:prstGeom>
          <a:solidFill>
            <a:srgbClr val="BC5B39"/>
          </a:solidFill>
          <a:ln w="19050">
            <a:solidFill>
              <a:srgbClr val="FFFFFF"/>
            </a:solidFill>
            <a:prstDash val="solid"/>
          </a:ln>
        </p:spPr>
      </p:sp>
      <p:sp>
        <p:nvSpPr>
          <p:cNvPr id="37" name="Text 35"/>
          <p:cNvSpPr/>
          <p:nvPr/>
        </p:nvSpPr>
        <p:spPr>
          <a:xfrm>
            <a:off x="6352122" y="3222453"/>
            <a:ext cx="1005840" cy="228600"/>
          </a:xfrm>
          <a:prstGeom prst="rect">
            <a:avLst/>
          </a:prstGeom>
          <a:noFill/>
          <a:ln/>
        </p:spPr>
        <p:txBody>
          <a:bodyPr wrap="square" lIns="0" tIns="0" rIns="0" bIns="0" rtlCol="0" anchor="ctr"/>
          <a:lstStyle/>
          <a:p>
            <a:pPr algn="l" indent="0" marL="0">
              <a:buNone/>
            </a:pPr>
            <a:r>
              <a:rPr lang="en-US" sz="850" b="1" dirty="0">
                <a:solidFill>
                  <a:srgbClr val="2B2B2B"/>
                </a:solidFill>
                <a:latin typeface="Calibri" pitchFamily="34" charset="0"/>
                <a:ea typeface="Calibri" pitchFamily="34" charset="-122"/>
                <a:cs typeface="Calibri" pitchFamily="34" charset="-120"/>
              </a:rPr>
              <a:t>PwC</a:t>
            </a:r>
            <a:endParaRPr lang="en-US" sz="850" dirty="0"/>
          </a:p>
        </p:txBody>
      </p:sp>
      <p:sp>
        <p:nvSpPr>
          <p:cNvPr id="38" name="Text 36"/>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39" name="Text 37"/>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Scale Leaders: Accenture, IBM, EY, PwC</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Above-median on both Capability and Market Presence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3931920"/>
        </p:xfrm>
        <a:graphic>
          <a:graphicData uri="http://schemas.openxmlformats.org/drawingml/2006/table">
            <a:tbl>
              <a:tblPr/>
              <a:tblGrid>
                <a:gridCol w="1645920"/>
                <a:gridCol w="1554480"/>
                <a:gridCol w="1554480"/>
                <a:gridCol w="6400800"/>
              </a:tblGrid>
              <a:tr h="457200">
                <a:tc>
                  <a:txBody>
                    <a:bodyPr/>
                    <a:lstStyle/>
                    <a:p>
                      <a:pPr indent="0" marL="0">
                        <a:buNone/>
                      </a:pPr>
                      <a:r>
                        <a:rPr lang="en-US" sz="1200" b="1" dirty="0">
                          <a:solidFill>
                            <a:srgbClr val="FFFFFF"/>
                          </a:solidFill>
                        </a:rPr>
                        <a:t>Vendor</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algn="ctr" indent="0" marL="0">
                        <a:buNone/>
                      </a:pPr>
                      <a:r>
                        <a:rPr lang="en-US" sz="1200" b="1" dirty="0">
                          <a:solidFill>
                            <a:srgbClr val="FFFFFF"/>
                          </a:solidFill>
                        </a:rPr>
                        <a:t>Capability</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algn="ctr" indent="0" marL="0">
                        <a:buNone/>
                      </a:pPr>
                      <a:r>
                        <a:rPr lang="en-US" sz="1200" b="1" dirty="0">
                          <a:solidFill>
                            <a:srgbClr val="FFFFFF"/>
                          </a:solidFill>
                        </a:rPr>
                        <a:t>Presence</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indent="0" marL="0">
                        <a:buNone/>
                      </a:pPr>
                      <a:r>
                        <a:rPr lang="en-US" sz="1200" b="1" dirty="0">
                          <a:solidFill>
                            <a:srgbClr val="FFFFFF"/>
                          </a:solidFill>
                        </a:rPr>
                        <a:t>What sets them apart</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r>
              <a:tr h="868680">
                <a:tc>
                  <a:txBody>
                    <a:bodyPr/>
                    <a:lstStyle/>
                    <a:p>
                      <a:pPr indent="0" marL="0">
                        <a:buNone/>
                      </a:pPr>
                      <a:r>
                        <a:rPr lang="en-US" sz="1200" b="1" dirty="0">
                          <a:solidFill>
                            <a:srgbClr val="1F2D3D"/>
                          </a:solidFill>
                        </a:rPr>
                        <a:t>Accenture</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9.25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10.0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2B2B2B"/>
                          </a:solidFill>
                        </a:rPr>
                        <a:t>$5.9B FY25 GenAI bookings — largest disclosed AI bookings figure in the set; 8 named model partners; “AI Refinery” platform.</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868680">
                <a:tc>
                  <a:txBody>
                    <a:bodyPr/>
                    <a:lstStyle/>
                    <a:p>
                      <a:pPr indent="0" marL="0">
                        <a:buNone/>
                      </a:pPr>
                      <a:r>
                        <a:rPr lang="en-US" sz="1200" b="1" dirty="0">
                          <a:solidFill>
                            <a:srgbClr val="1F2D3D"/>
                          </a:solidFill>
                        </a:rPr>
                        <a:t>IBM</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7.45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8.8</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rPr>
                        <a:t>$12.5B cumulative genAI book of business; Gartner-recognized watsonx governance leadership; Everest Group Star Performer.</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868680">
                <a:tc>
                  <a:txBody>
                    <a:bodyPr/>
                    <a:lstStyle/>
                    <a:p>
                      <a:pPr indent="0" marL="0">
                        <a:buNone/>
                      </a:pPr>
                      <a:r>
                        <a:rPr lang="en-US" sz="1200" b="1" dirty="0">
                          <a:solidFill>
                            <a:srgbClr val="1F2D3D"/>
                          </a:solidFill>
                        </a:rPr>
                        <a:t>EY</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7.15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6.4</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2B2B2B"/>
                          </a:solidFill>
                        </a:rPr>
                        <a:t>Only Big Four firm to go all-in on NVIDIA with on-prem deployments; 150 AI agents serving 80,000 tax professionals.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868680">
                <a:tc>
                  <a:txBody>
                    <a:bodyPr/>
                    <a:lstStyle/>
                    <a:p>
                      <a:pPr indent="0" marL="0">
                        <a:buNone/>
                      </a:pPr>
                      <a:r>
                        <a:rPr lang="en-US" sz="1200" b="1" dirty="0">
                          <a:solidFill>
                            <a:srgbClr val="1F2D3D"/>
                          </a:solidFill>
                        </a:rPr>
                        <a:t>PwC</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6.35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7.0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rPr>
                        <a:t>OpenAI's largest enterprise customer AND first reseller; ~200,000 ChatPwC users firm-wide.</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5623560"/>
            <a:ext cx="11155680" cy="548640"/>
          </a:xfrm>
          <a:prstGeom prst="rect">
            <a:avLst/>
          </a:prstGeom>
          <a:noFill/>
          <a:ln/>
        </p:spPr>
        <p:txBody>
          <a:bodyPr wrap="square" lIns="0" tIns="0" rIns="0" bIns="0" rtlCol="0" anchor="ctr"/>
          <a:lstStyle/>
          <a:p>
            <a:pPr indent="0" marL="0">
              <a:buNone/>
            </a:pPr>
            <a:r>
              <a:rPr lang="en-US" sz="1050" i="1" dirty="0">
                <a:solidFill>
                  <a:srgbClr val="6B6258"/>
                </a:solidFill>
                <a:latin typeface="Calibri" pitchFamily="34" charset="0"/>
                <a:ea typeface="Calibri" pitchFamily="34" charset="-122"/>
                <a:cs typeface="Calibri" pitchFamily="34" charset="-120"/>
              </a:rPr>
              <a:t>Common thread: all four have at least one distinctive, well-evidenced proof point beyond a headline investment dollar figure — a named platform, a specific partnership status, or a quantified deployment-scale metric.</a:t>
            </a:r>
            <a:endParaRPr lang="en-US" sz="1050" dirty="0"/>
          </a:p>
        </p:txBody>
      </p:sp>
      <p:sp>
        <p:nvSpPr>
          <p:cNvPr id="6" name="Text 3"/>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7" name="Text 4"/>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Innovation Leader &amp; Scale Players</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Infosys punches above its commercial weight; TCS and Capgemini lead on scale more than differentiation</a:t>
            </a:r>
            <a:endParaRPr lang="en-US" sz="1150" dirty="0"/>
          </a:p>
        </p:txBody>
      </p:sp>
      <p:sp>
        <p:nvSpPr>
          <p:cNvPr id="4" name="Shape 2"/>
          <p:cNvSpPr/>
          <p:nvPr/>
        </p:nvSpPr>
        <p:spPr>
          <a:xfrm>
            <a:off x="502920" y="1463040"/>
            <a:ext cx="11155680" cy="1828800"/>
          </a:xfrm>
          <a:prstGeom prst="roundRect">
            <a:avLst>
              <a:gd name="adj" fmla="val 3000"/>
            </a:avLst>
          </a:prstGeom>
          <a:solidFill>
            <a:srgbClr val="F8F6F2"/>
          </a:solidFill>
          <a:ln/>
        </p:spPr>
      </p:sp>
      <p:sp>
        <p:nvSpPr>
          <p:cNvPr id="5" name="Shape 3"/>
          <p:cNvSpPr/>
          <p:nvPr/>
        </p:nvSpPr>
        <p:spPr>
          <a:xfrm>
            <a:off x="777240" y="1691640"/>
            <a:ext cx="548640" cy="548640"/>
          </a:xfrm>
          <a:prstGeom prst="ellipse">
            <a:avLst/>
          </a:prstGeom>
          <a:solidFill>
            <a:srgbClr val="1F2D3D"/>
          </a:solidFill>
          <a:ln/>
        </p:spPr>
      </p:sp>
      <p:pic>
        <p:nvPicPr>
          <p:cNvPr id="6" name="Image 0" descr="/home/claude/genai_quadrant/icons/rocket_white.png">    </p:cNvPr>
          <p:cNvPicPr>
            <a:picLocks noChangeAspect="1"/>
          </p:cNvPicPr>
          <p:nvPr/>
        </p:nvPicPr>
        <p:blipFill>
          <a:blip r:embed="rId1"/>
          <a:stretch>
            <a:fillRect/>
          </a:stretch>
        </p:blipFill>
        <p:spPr>
          <a:xfrm>
            <a:off x="848563" y="1762963"/>
            <a:ext cx="405994" cy="405994"/>
          </a:xfrm>
          <a:prstGeom prst="rect">
            <a:avLst/>
          </a:prstGeom>
        </p:spPr>
      </p:pic>
      <p:sp>
        <p:nvSpPr>
          <p:cNvPr id="7" name="Text 4"/>
          <p:cNvSpPr/>
          <p:nvPr/>
        </p:nvSpPr>
        <p:spPr>
          <a:xfrm>
            <a:off x="1508760" y="1691640"/>
            <a:ext cx="5486400" cy="365760"/>
          </a:xfrm>
          <a:prstGeom prst="rect">
            <a:avLst/>
          </a:prstGeom>
          <a:noFill/>
          <a:ln/>
        </p:spPr>
        <p:txBody>
          <a:bodyPr wrap="square" lIns="0" tIns="0" rIns="0" bIns="0" rtlCol="0" anchor="ctr"/>
          <a:lstStyle/>
          <a:p>
            <a:pPr indent="0" marL="0">
              <a:buNone/>
            </a:pPr>
            <a:r>
              <a:rPr lang="en-US" sz="1500" b="1" dirty="0">
                <a:solidFill>
                  <a:srgbClr val="1F2D3D"/>
                </a:solidFill>
                <a:latin typeface="Cambria" pitchFamily="34" charset="0"/>
                <a:ea typeface="Cambria" pitchFamily="34" charset="-122"/>
                <a:cs typeface="Cambria" pitchFamily="34" charset="-120"/>
              </a:rPr>
              <a:t>Infosys — Innovation Leader</a:t>
            </a:r>
            <a:endParaRPr lang="en-US" sz="1500" dirty="0"/>
          </a:p>
        </p:txBody>
      </p:sp>
      <p:sp>
        <p:nvSpPr>
          <p:cNvPr id="8" name="Text 5"/>
          <p:cNvSpPr/>
          <p:nvPr/>
        </p:nvSpPr>
        <p:spPr>
          <a:xfrm>
            <a:off x="1508760" y="2057400"/>
            <a:ext cx="5486400" cy="274320"/>
          </a:xfrm>
          <a:prstGeom prst="rect">
            <a:avLst/>
          </a:prstGeom>
          <a:noFill/>
          <a:ln/>
        </p:spPr>
        <p:txBody>
          <a:bodyPr wrap="square" lIns="0" tIns="0" rIns="0" bIns="0" rtlCol="0" anchor="ctr"/>
          <a:lstStyle/>
          <a:p>
            <a:pPr indent="0" marL="0">
              <a:buNone/>
            </a:pPr>
            <a:r>
              <a:rPr lang="en-US" sz="1050" b="1" dirty="0">
                <a:solidFill>
                  <a:srgbClr val="BC5B39"/>
                </a:solidFill>
                <a:latin typeface="Calibri" pitchFamily="34" charset="0"/>
                <a:ea typeface="Calibri" pitchFamily="34" charset="-122"/>
                <a:cs typeface="Calibri" pitchFamily="34" charset="-120"/>
              </a:rPr>
              <a:t>Capability 7.0  |  Presence 5.6</a:t>
            </a:r>
            <a:endParaRPr lang="en-US" sz="1050" dirty="0"/>
          </a:p>
        </p:txBody>
      </p:sp>
      <p:sp>
        <p:nvSpPr>
          <p:cNvPr id="9" name="Text 6"/>
          <p:cNvSpPr/>
          <p:nvPr/>
        </p:nvSpPr>
        <p:spPr>
          <a:xfrm>
            <a:off x="1508760" y="2331720"/>
            <a:ext cx="9784080" cy="868680"/>
          </a:xfrm>
          <a:prstGeom prst="rect">
            <a:avLst/>
          </a:prstGeom>
          <a:noFill/>
          <a:ln/>
        </p:spPr>
        <p:txBody>
          <a:bodyPr wrap="square" lIns="0" tIns="0" rIns="0" bIns="0" rtlCol="0" anchor="t"/>
          <a:lstStyle/>
          <a:p>
            <a:pPr indent="0" marL="0">
              <a:lnSpc>
                <a:spcPct val="120000"/>
              </a:lnSpc>
              <a:buNone/>
            </a:pPr>
            <a:r>
              <a:rPr lang="en-US" sz="1050" dirty="0">
                <a:solidFill>
                  <a:srgbClr val="2B2B2B"/>
                </a:solidFill>
                <a:latin typeface="Calibri" pitchFamily="34" charset="0"/>
                <a:ea typeface="Calibri" pitchFamily="34" charset="-122"/>
                <a:cs typeface="Calibri" pitchFamily="34" charset="-120"/>
              </a:rPr>
              <a:t>Topaz's 200+ pre-built enterprise AI agents and a newly announced OpenAI partnership (April 2026) give Infosys a Capability score above the peer median — despite AI revenue (8.2% of Q1 FY27 revenue, ~$1.67B annualized) that's smaller in absolute dollars than the Scale Leaders. This is the clearest “punching above its commercial weight” story in the set.</a:t>
            </a:r>
            <a:endParaRPr lang="en-US" sz="1050" dirty="0"/>
          </a:p>
        </p:txBody>
      </p:sp>
      <p:sp>
        <p:nvSpPr>
          <p:cNvPr id="10" name="Shape 7"/>
          <p:cNvSpPr/>
          <p:nvPr/>
        </p:nvSpPr>
        <p:spPr>
          <a:xfrm>
            <a:off x="502920" y="3520440"/>
            <a:ext cx="5440680" cy="2468880"/>
          </a:xfrm>
          <a:prstGeom prst="roundRect">
            <a:avLst>
              <a:gd name="adj" fmla="val 2222"/>
            </a:avLst>
          </a:prstGeom>
          <a:solidFill>
            <a:srgbClr val="F8F6F2"/>
          </a:solidFill>
          <a:ln/>
        </p:spPr>
      </p:sp>
      <p:sp>
        <p:nvSpPr>
          <p:cNvPr id="11" name="Text 8"/>
          <p:cNvSpPr/>
          <p:nvPr/>
        </p:nvSpPr>
        <p:spPr>
          <a:xfrm>
            <a:off x="777240" y="3703320"/>
            <a:ext cx="4937760" cy="365760"/>
          </a:xfrm>
          <a:prstGeom prst="rect">
            <a:avLst/>
          </a:prstGeom>
          <a:noFill/>
          <a:ln/>
        </p:spPr>
        <p:txBody>
          <a:bodyPr wrap="square" lIns="0" tIns="0" rIns="0" bIns="0" rtlCol="0" anchor="ctr"/>
          <a:lstStyle/>
          <a:p>
            <a:pPr indent="0" marL="0">
              <a:buNone/>
            </a:pPr>
            <a:r>
              <a:rPr lang="en-US" sz="1400" b="1" dirty="0">
                <a:solidFill>
                  <a:srgbClr val="1F2D3D"/>
                </a:solidFill>
                <a:latin typeface="Cambria" pitchFamily="34" charset="0"/>
                <a:ea typeface="Cambria" pitchFamily="34" charset="-122"/>
                <a:cs typeface="Cambria" pitchFamily="34" charset="-120"/>
              </a:rPr>
              <a:t>TCS  —  Scale Player</a:t>
            </a:r>
            <a:endParaRPr lang="en-US" sz="1400" dirty="0"/>
          </a:p>
        </p:txBody>
      </p:sp>
      <p:sp>
        <p:nvSpPr>
          <p:cNvPr id="12" name="Text 9"/>
          <p:cNvSpPr/>
          <p:nvPr/>
        </p:nvSpPr>
        <p:spPr>
          <a:xfrm>
            <a:off x="777240" y="4023360"/>
            <a:ext cx="4937760" cy="274320"/>
          </a:xfrm>
          <a:prstGeom prst="rect">
            <a:avLst/>
          </a:prstGeom>
          <a:noFill/>
          <a:ln/>
        </p:spPr>
        <p:txBody>
          <a:bodyPr wrap="square" lIns="0" tIns="0" rIns="0" bIns="0" rtlCol="0" anchor="ctr"/>
          <a:lstStyle/>
          <a:p>
            <a:pPr indent="0" marL="0">
              <a:buNone/>
            </a:pPr>
            <a:r>
              <a:rPr lang="en-US" sz="1000" b="1" dirty="0">
                <a:solidFill>
                  <a:srgbClr val="B8862B"/>
                </a:solidFill>
                <a:latin typeface="Calibri" pitchFamily="34" charset="0"/>
                <a:ea typeface="Calibri" pitchFamily="34" charset="-122"/>
                <a:cs typeface="Calibri" pitchFamily="34" charset="-120"/>
              </a:rPr>
              <a:t>Capability 5.95  |  Presence 6.8</a:t>
            </a:r>
            <a:endParaRPr lang="en-US" sz="1000" dirty="0"/>
          </a:p>
        </p:txBody>
      </p:sp>
      <p:sp>
        <p:nvSpPr>
          <p:cNvPr id="13" name="Text 10"/>
          <p:cNvSpPr/>
          <p:nvPr/>
        </p:nvSpPr>
        <p:spPr>
          <a:xfrm>
            <a:off x="777240" y="4343400"/>
            <a:ext cx="4937760" cy="150876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$2.6B AI annualized revenue run-rate (Q1 FY27, +13.6% sequential) is a real, disclosed number — but WisdomNext lacks the partner-ecosystem breadth or analyst recognition that would push Capability into Leader territory.</a:t>
            </a:r>
            <a:endParaRPr lang="en-US" sz="1000" dirty="0"/>
          </a:p>
        </p:txBody>
      </p:sp>
      <p:sp>
        <p:nvSpPr>
          <p:cNvPr id="14" name="Shape 11"/>
          <p:cNvSpPr/>
          <p:nvPr/>
        </p:nvSpPr>
        <p:spPr>
          <a:xfrm>
            <a:off x="6217920" y="3520440"/>
            <a:ext cx="5440680" cy="2468880"/>
          </a:xfrm>
          <a:prstGeom prst="roundRect">
            <a:avLst>
              <a:gd name="adj" fmla="val 2222"/>
            </a:avLst>
          </a:prstGeom>
          <a:solidFill>
            <a:srgbClr val="F8F6F2"/>
          </a:solidFill>
          <a:ln/>
        </p:spPr>
      </p:sp>
      <p:sp>
        <p:nvSpPr>
          <p:cNvPr id="15" name="Text 12"/>
          <p:cNvSpPr/>
          <p:nvPr/>
        </p:nvSpPr>
        <p:spPr>
          <a:xfrm>
            <a:off x="6492240" y="3703320"/>
            <a:ext cx="4937760" cy="365760"/>
          </a:xfrm>
          <a:prstGeom prst="rect">
            <a:avLst/>
          </a:prstGeom>
          <a:noFill/>
          <a:ln/>
        </p:spPr>
        <p:txBody>
          <a:bodyPr wrap="square" lIns="0" tIns="0" rIns="0" bIns="0" rtlCol="0" anchor="ctr"/>
          <a:lstStyle/>
          <a:p>
            <a:pPr indent="0" marL="0">
              <a:buNone/>
            </a:pPr>
            <a:r>
              <a:rPr lang="en-US" sz="1400" b="1" dirty="0">
                <a:solidFill>
                  <a:srgbClr val="1F2D3D"/>
                </a:solidFill>
                <a:latin typeface="Cambria" pitchFamily="34" charset="0"/>
                <a:ea typeface="Cambria" pitchFamily="34" charset="-122"/>
                <a:cs typeface="Cambria" pitchFamily="34" charset="-120"/>
              </a:rPr>
              <a:t>Capgemini  —  Scale Player</a:t>
            </a:r>
            <a:endParaRPr lang="en-US" sz="1400" dirty="0"/>
          </a:p>
        </p:txBody>
      </p:sp>
      <p:sp>
        <p:nvSpPr>
          <p:cNvPr id="16" name="Text 13"/>
          <p:cNvSpPr/>
          <p:nvPr/>
        </p:nvSpPr>
        <p:spPr>
          <a:xfrm>
            <a:off x="6492240" y="4023360"/>
            <a:ext cx="4937760" cy="274320"/>
          </a:xfrm>
          <a:prstGeom prst="rect">
            <a:avLst/>
          </a:prstGeom>
          <a:noFill/>
          <a:ln/>
        </p:spPr>
        <p:txBody>
          <a:bodyPr wrap="square" lIns="0" tIns="0" rIns="0" bIns="0" rtlCol="0" anchor="ctr"/>
          <a:lstStyle/>
          <a:p>
            <a:pPr indent="0" marL="0">
              <a:buNone/>
            </a:pPr>
            <a:r>
              <a:rPr lang="en-US" sz="1000" b="1" dirty="0">
                <a:solidFill>
                  <a:srgbClr val="B8862B"/>
                </a:solidFill>
                <a:latin typeface="Calibri" pitchFamily="34" charset="0"/>
                <a:ea typeface="Calibri" pitchFamily="34" charset="-122"/>
                <a:cs typeface="Calibri" pitchFamily="34" charset="-120"/>
              </a:rPr>
              <a:t>Capability 5.6  |  Presence 6.4</a:t>
            </a:r>
            <a:endParaRPr lang="en-US" sz="1000" dirty="0"/>
          </a:p>
        </p:txBody>
      </p:sp>
      <p:sp>
        <p:nvSpPr>
          <p:cNvPr id="17" name="Text 14"/>
          <p:cNvSpPr/>
          <p:nvPr/>
        </p:nvSpPr>
        <p:spPr>
          <a:xfrm>
            <a:off x="6492240" y="4343400"/>
            <a:ext cx="4937760" cy="150876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GenAI/agentic AI now over 11% of quarterly bookings (€6,054M total) — solid commercial traction, but no single flagship branded platform surfaced with Topaz- or WisdomNext-level specificity in sources reviewed.</a:t>
            </a:r>
            <a:endParaRPr lang="en-US" sz="1000" dirty="0"/>
          </a:p>
        </p:txBody>
      </p:sp>
      <p:sp>
        <p:nvSpPr>
          <p:cNvPr id="18" name="Text 15"/>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19" name="Text 16"/>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Emerging Contenders: Cognizant, Wipro, Deloitte</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Below-median on both axes in this specific 10-vendor peer set — not a judgment of overall firm quality</a:t>
            </a:r>
            <a:endParaRPr lang="en-US" sz="1150" dirty="0"/>
          </a:p>
        </p:txBody>
      </p:sp>
      <p:sp>
        <p:nvSpPr>
          <p:cNvPr id="4" name="Shape 2"/>
          <p:cNvSpPr/>
          <p:nvPr/>
        </p:nvSpPr>
        <p:spPr>
          <a:xfrm>
            <a:off x="502920" y="1508760"/>
            <a:ext cx="3611880" cy="4206240"/>
          </a:xfrm>
          <a:prstGeom prst="roundRect">
            <a:avLst>
              <a:gd name="adj" fmla="val 1519"/>
            </a:avLst>
          </a:prstGeom>
          <a:solidFill>
            <a:srgbClr val="F8F6F2"/>
          </a:solidFill>
          <a:ln/>
        </p:spPr>
      </p:sp>
      <p:sp>
        <p:nvSpPr>
          <p:cNvPr id="5" name="Text 3"/>
          <p:cNvSpPr/>
          <p:nvPr/>
        </p:nvSpPr>
        <p:spPr>
          <a:xfrm>
            <a:off x="758952" y="1691640"/>
            <a:ext cx="3108960" cy="411480"/>
          </a:xfrm>
          <a:prstGeom prst="rect">
            <a:avLst/>
          </a:prstGeom>
          <a:noFill/>
          <a:ln/>
        </p:spPr>
        <p:txBody>
          <a:bodyPr wrap="square" lIns="0" tIns="0" rIns="0" bIns="0" rtlCol="0" anchor="ctr"/>
          <a:lstStyle/>
          <a:p>
            <a:pPr indent="0" marL="0">
              <a:buNone/>
            </a:pPr>
            <a:r>
              <a:rPr lang="en-US" sz="1600" b="1" dirty="0">
                <a:solidFill>
                  <a:srgbClr val="1F2D3D"/>
                </a:solidFill>
                <a:latin typeface="Cambria" pitchFamily="34" charset="0"/>
                <a:ea typeface="Cambria" pitchFamily="34" charset="-122"/>
                <a:cs typeface="Cambria" pitchFamily="34" charset="-120"/>
              </a:rPr>
              <a:t>Cognizant</a:t>
            </a:r>
            <a:endParaRPr lang="en-US" sz="1600" dirty="0"/>
          </a:p>
        </p:txBody>
      </p:sp>
      <p:sp>
        <p:nvSpPr>
          <p:cNvPr id="6" name="Text 4"/>
          <p:cNvSpPr/>
          <p:nvPr/>
        </p:nvSpPr>
        <p:spPr>
          <a:xfrm>
            <a:off x="758952" y="2084832"/>
            <a:ext cx="3108960" cy="274320"/>
          </a:xfrm>
          <a:prstGeom prst="rect">
            <a:avLst/>
          </a:prstGeom>
          <a:noFill/>
          <a:ln/>
        </p:spPr>
        <p:txBody>
          <a:bodyPr wrap="square" lIns="0" tIns="0" rIns="0" bIns="0" rtlCol="0" anchor="ctr"/>
          <a:lstStyle/>
          <a:p>
            <a:pPr indent="0" marL="0">
              <a:buNone/>
            </a:pPr>
            <a:r>
              <a:rPr lang="en-US" sz="1000" b="1" dirty="0">
                <a:solidFill>
                  <a:srgbClr val="6B6258"/>
                </a:solidFill>
                <a:latin typeface="Calibri" pitchFamily="34" charset="0"/>
                <a:ea typeface="Calibri" pitchFamily="34" charset="-122"/>
                <a:cs typeface="Calibri" pitchFamily="34" charset="-120"/>
              </a:rPr>
              <a:t>Capability 5.35  |  Presence 6.0</a:t>
            </a:r>
            <a:endParaRPr lang="en-US" sz="1000" dirty="0"/>
          </a:p>
        </p:txBody>
      </p:sp>
      <p:sp>
        <p:nvSpPr>
          <p:cNvPr id="7" name="Text 5"/>
          <p:cNvSpPr/>
          <p:nvPr/>
        </p:nvSpPr>
        <p:spPr>
          <a:xfrm>
            <a:off x="758952" y="2423160"/>
            <a:ext cx="3108960" cy="320040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5,000+ AI engagements and ~40% AI-assisted code are real operational signals — but Cognizant hasn't disclosed a clean $ GenAI bookings figure the way Accenture or IBM have, which caps both its Traction and Disclosure sub-scores.</a:t>
            </a:r>
            <a:endParaRPr lang="en-US" sz="1000" dirty="0"/>
          </a:p>
        </p:txBody>
      </p:sp>
      <p:sp>
        <p:nvSpPr>
          <p:cNvPr id="8" name="Shape 6"/>
          <p:cNvSpPr/>
          <p:nvPr/>
        </p:nvSpPr>
        <p:spPr>
          <a:xfrm>
            <a:off x="4389120" y="1508760"/>
            <a:ext cx="3611880" cy="4206240"/>
          </a:xfrm>
          <a:prstGeom prst="roundRect">
            <a:avLst>
              <a:gd name="adj" fmla="val 1519"/>
            </a:avLst>
          </a:prstGeom>
          <a:solidFill>
            <a:srgbClr val="F8F6F2"/>
          </a:solidFill>
          <a:ln/>
        </p:spPr>
      </p:sp>
      <p:sp>
        <p:nvSpPr>
          <p:cNvPr id="9" name="Text 7"/>
          <p:cNvSpPr/>
          <p:nvPr/>
        </p:nvSpPr>
        <p:spPr>
          <a:xfrm>
            <a:off x="4645152" y="1691640"/>
            <a:ext cx="3108960" cy="411480"/>
          </a:xfrm>
          <a:prstGeom prst="rect">
            <a:avLst/>
          </a:prstGeom>
          <a:noFill/>
          <a:ln/>
        </p:spPr>
        <p:txBody>
          <a:bodyPr wrap="square" lIns="0" tIns="0" rIns="0" bIns="0" rtlCol="0" anchor="ctr"/>
          <a:lstStyle/>
          <a:p>
            <a:pPr indent="0" marL="0">
              <a:buNone/>
            </a:pPr>
            <a:r>
              <a:rPr lang="en-US" sz="1600" b="1" dirty="0">
                <a:solidFill>
                  <a:srgbClr val="1F2D3D"/>
                </a:solidFill>
                <a:latin typeface="Cambria" pitchFamily="34" charset="0"/>
                <a:ea typeface="Cambria" pitchFamily="34" charset="-122"/>
                <a:cs typeface="Cambria" pitchFamily="34" charset="-120"/>
              </a:rPr>
              <a:t>Wipro</a:t>
            </a:r>
            <a:endParaRPr lang="en-US" sz="1600" dirty="0"/>
          </a:p>
        </p:txBody>
      </p:sp>
      <p:sp>
        <p:nvSpPr>
          <p:cNvPr id="10" name="Text 8"/>
          <p:cNvSpPr/>
          <p:nvPr/>
        </p:nvSpPr>
        <p:spPr>
          <a:xfrm>
            <a:off x="4645152" y="2084832"/>
            <a:ext cx="3108960" cy="274320"/>
          </a:xfrm>
          <a:prstGeom prst="rect">
            <a:avLst/>
          </a:prstGeom>
          <a:noFill/>
          <a:ln/>
        </p:spPr>
        <p:txBody>
          <a:bodyPr wrap="square" lIns="0" tIns="0" rIns="0" bIns="0" rtlCol="0" anchor="ctr"/>
          <a:lstStyle/>
          <a:p>
            <a:pPr indent="0" marL="0">
              <a:buNone/>
            </a:pPr>
            <a:r>
              <a:rPr lang="en-US" sz="1000" b="1" dirty="0">
                <a:solidFill>
                  <a:srgbClr val="6B6258"/>
                </a:solidFill>
                <a:latin typeface="Calibri" pitchFamily="34" charset="0"/>
                <a:ea typeface="Calibri" pitchFamily="34" charset="-122"/>
                <a:cs typeface="Calibri" pitchFamily="34" charset="-120"/>
              </a:rPr>
              <a:t>Capability 4.35  |  Presence 4.0</a:t>
            </a:r>
            <a:endParaRPr lang="en-US" sz="1000" dirty="0"/>
          </a:p>
        </p:txBody>
      </p:sp>
      <p:sp>
        <p:nvSpPr>
          <p:cNvPr id="11" name="Text 9"/>
          <p:cNvSpPr/>
          <p:nvPr/>
        </p:nvSpPr>
        <p:spPr>
          <a:xfrm>
            <a:off x="4645152" y="2423160"/>
            <a:ext cx="3108960" cy="320040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The thinnest public AI-specific disclosure among the IT-services peers reviewed — strong large-deal bookings ($1.626B, AI-driven) exist, but without a named platform or itemized partner ecosystem to score against peers.</a:t>
            </a:r>
            <a:endParaRPr lang="en-US" sz="1000" dirty="0"/>
          </a:p>
        </p:txBody>
      </p:sp>
      <p:sp>
        <p:nvSpPr>
          <p:cNvPr id="12" name="Shape 10"/>
          <p:cNvSpPr/>
          <p:nvPr/>
        </p:nvSpPr>
        <p:spPr>
          <a:xfrm>
            <a:off x="8275320" y="1508760"/>
            <a:ext cx="3611880" cy="4206240"/>
          </a:xfrm>
          <a:prstGeom prst="roundRect">
            <a:avLst>
              <a:gd name="adj" fmla="val 1519"/>
            </a:avLst>
          </a:prstGeom>
          <a:solidFill>
            <a:srgbClr val="F8F6F2"/>
          </a:solidFill>
          <a:ln/>
        </p:spPr>
      </p:sp>
      <p:sp>
        <p:nvSpPr>
          <p:cNvPr id="13" name="Text 11"/>
          <p:cNvSpPr/>
          <p:nvPr/>
        </p:nvSpPr>
        <p:spPr>
          <a:xfrm>
            <a:off x="8531352" y="1691640"/>
            <a:ext cx="3108960" cy="411480"/>
          </a:xfrm>
          <a:prstGeom prst="rect">
            <a:avLst/>
          </a:prstGeom>
          <a:noFill/>
          <a:ln/>
        </p:spPr>
        <p:txBody>
          <a:bodyPr wrap="square" lIns="0" tIns="0" rIns="0" bIns="0" rtlCol="0" anchor="ctr"/>
          <a:lstStyle/>
          <a:p>
            <a:pPr indent="0" marL="0">
              <a:buNone/>
            </a:pPr>
            <a:r>
              <a:rPr lang="en-US" sz="1600" b="1" dirty="0">
                <a:solidFill>
                  <a:srgbClr val="1F2D3D"/>
                </a:solidFill>
                <a:latin typeface="Cambria" pitchFamily="34" charset="0"/>
                <a:ea typeface="Cambria" pitchFamily="34" charset="-122"/>
                <a:cs typeface="Cambria" pitchFamily="34" charset="-120"/>
              </a:rPr>
              <a:t>Deloitte</a:t>
            </a:r>
            <a:endParaRPr lang="en-US" sz="1600" dirty="0"/>
          </a:p>
        </p:txBody>
      </p:sp>
      <p:sp>
        <p:nvSpPr>
          <p:cNvPr id="14" name="Text 12"/>
          <p:cNvSpPr/>
          <p:nvPr/>
        </p:nvSpPr>
        <p:spPr>
          <a:xfrm>
            <a:off x="8531352" y="2084832"/>
            <a:ext cx="3108960" cy="274320"/>
          </a:xfrm>
          <a:prstGeom prst="rect">
            <a:avLst/>
          </a:prstGeom>
          <a:noFill/>
          <a:ln/>
        </p:spPr>
        <p:txBody>
          <a:bodyPr wrap="square" lIns="0" tIns="0" rIns="0" bIns="0" rtlCol="0" anchor="ctr"/>
          <a:lstStyle/>
          <a:p>
            <a:pPr indent="0" marL="0">
              <a:buNone/>
            </a:pPr>
            <a:r>
              <a:rPr lang="en-US" sz="1000" b="1" dirty="0">
                <a:solidFill>
                  <a:srgbClr val="6B6258"/>
                </a:solidFill>
                <a:latin typeface="Calibri" pitchFamily="34" charset="0"/>
                <a:ea typeface="Calibri" pitchFamily="34" charset="-122"/>
                <a:cs typeface="Calibri" pitchFamily="34" charset="-120"/>
              </a:rPr>
              <a:t>Capability 5.75  |  Presence 6.0</a:t>
            </a:r>
            <a:endParaRPr lang="en-US" sz="1000" dirty="0"/>
          </a:p>
        </p:txBody>
      </p:sp>
      <p:sp>
        <p:nvSpPr>
          <p:cNvPr id="15" name="Text 13"/>
          <p:cNvSpPr/>
          <p:nvPr/>
        </p:nvSpPr>
        <p:spPr>
          <a:xfrm>
            <a:off x="8531352" y="2423160"/>
            <a:ext cx="3108960" cy="3200400"/>
          </a:xfrm>
          <a:prstGeom prst="rect">
            <a:avLst/>
          </a:prstGeom>
          <a:noFill/>
          <a:ln/>
        </p:spPr>
        <p:txBody>
          <a:bodyPr wrap="square" lIns="0" tIns="0" rIns="0" bIns="0" rtlCol="0" anchor="t"/>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A genuinely large $2B AI investment and 25,000+ credentialed professionals — the most specific Big Four talent figure in the set — but announcement-only disclosure (no recurring KPI) and a single named platform (Zora) kept it behind EY and PwC here.</a:t>
            </a:r>
            <a:endParaRPr lang="en-US" sz="1000" dirty="0"/>
          </a:p>
        </p:txBody>
      </p:sp>
      <p:sp>
        <p:nvSpPr>
          <p:cNvPr id="16" name="Text 14"/>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17" name="Text 15"/>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AI Commercial Traction, Compared</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Disclosed GenAI/AI bookings or revenue run-rate, most recent reported figure ($ billions)</a:t>
            </a:r>
            <a:endParaRPr lang="en-US" sz="1150" dirty="0"/>
          </a:p>
        </p:txBody>
      </p:sp>
      <p:graphicFrame>
        <p:nvGraphicFramePr>
          <p:cNvPr id="4" name="Chart 0" descr=""/>
          <p:cNvGraphicFramePr/>
          <p:nvPr/>
        </p:nvGraphicFramePr>
        <p:xfrm>
          <a:off x="457200" y="1554480"/>
          <a:ext cx="1124712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02920" y="5760720"/>
            <a:ext cx="11155680" cy="685800"/>
          </a:xfrm>
          <a:prstGeom prst="roundRect">
            <a:avLst>
              <a:gd name="adj" fmla="val 8000"/>
            </a:avLst>
          </a:prstGeom>
          <a:solidFill>
            <a:srgbClr val="F8F6F2"/>
          </a:solidFill>
          <a:ln/>
        </p:spPr>
      </p:sp>
      <p:sp>
        <p:nvSpPr>
          <p:cNvPr id="6" name="Text 3"/>
          <p:cNvSpPr/>
          <p:nvPr/>
        </p:nvSpPr>
        <p:spPr>
          <a:xfrm>
            <a:off x="731520" y="5833872"/>
            <a:ext cx="10698480" cy="548640"/>
          </a:xfrm>
          <a:prstGeom prst="rect">
            <a:avLst/>
          </a:prstGeom>
          <a:noFill/>
          <a:ln/>
        </p:spPr>
        <p:txBody>
          <a:bodyPr wrap="square" lIns="0" tIns="0" rIns="0" bIns="0" rtlCol="0" anchor="t"/>
          <a:lstStyle/>
          <a:p>
            <a:pPr indent="0" marL="0">
              <a:buNone/>
            </a:pPr>
            <a:r>
              <a:rPr lang="en-US" sz="950" i="1" dirty="0">
                <a:solidFill>
                  <a:srgbClr val="6B6258"/>
                </a:solidFill>
                <a:latin typeface="Calibri" pitchFamily="34" charset="0"/>
                <a:ea typeface="Calibri" pitchFamily="34" charset="-122"/>
                <a:cs typeface="Calibri" pitchFamily="34" charset="-120"/>
              </a:rPr>
              <a:t>Not apples-to-apples by design: IBM's figure is cumulative since 2023, Cognizant's is total-company TTM bookings (not GenAI-specific), and Wipro/Capgemini/Big Four aren't shown because none disclosed a comparable $ figure in sources reviewed — see the Evidence Log for exact definitions.</a:t>
            </a:r>
            <a:endParaRPr lang="en-US" sz="950" dirty="0"/>
          </a:p>
        </p:txBody>
      </p:sp>
      <p:sp>
        <p:nvSpPr>
          <p:cNvPr id="7" name="Text 4"/>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8" name="Text 5"/>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Full Vendor Scorecard</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All 10 vendors, both composite scores, and quadrant placement</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206240"/>
        </p:xfrm>
        <a:graphic>
          <a:graphicData uri="http://schemas.openxmlformats.org/drawingml/2006/table">
            <a:tbl>
              <a:tblPr/>
              <a:tblGrid>
                <a:gridCol w="2377440"/>
                <a:gridCol w="2011680"/>
                <a:gridCol w="2011680"/>
                <a:gridCol w="2011680"/>
                <a:gridCol w="2743200"/>
              </a:tblGrid>
              <a:tr h="384048">
                <a:tc>
                  <a:txBody>
                    <a:bodyPr/>
                    <a:lstStyle/>
                    <a:p>
                      <a:pPr indent="0" marL="0">
                        <a:buNone/>
                      </a:pPr>
                      <a:r>
                        <a:rPr lang="en-US" sz="1100" b="1" dirty="0">
                          <a:solidFill>
                            <a:srgbClr val="FFFFFF"/>
                          </a:solidFill>
                        </a:rPr>
                        <a:t>Vendor</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indent="0" marL="0">
                        <a:buNone/>
                      </a:pPr>
                      <a:r>
                        <a:rPr lang="en-US" sz="1100" b="1" dirty="0">
                          <a:solidFill>
                            <a:srgbClr val="FFFFFF"/>
                          </a:solidFill>
                        </a:rPr>
                        <a:t>Type</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algn="ctr" indent="0" marL="0">
                        <a:buNone/>
                      </a:pPr>
                      <a:r>
                        <a:rPr lang="en-US" sz="1100" b="1" dirty="0">
                          <a:solidFill>
                            <a:srgbClr val="FFFFFF"/>
                          </a:solidFill>
                        </a:rPr>
                        <a:t>Capability</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algn="ctr" indent="0" marL="0">
                        <a:buNone/>
                      </a:pPr>
                      <a:r>
                        <a:rPr lang="en-US" sz="1100" b="1" dirty="0">
                          <a:solidFill>
                            <a:srgbClr val="FFFFFF"/>
                          </a:solidFill>
                        </a:rPr>
                        <a:t>Presence</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indent="0" marL="0">
                        <a:buNone/>
                      </a:pPr>
                      <a:r>
                        <a:rPr lang="en-US" sz="1100" b="1" dirty="0">
                          <a:solidFill>
                            <a:srgbClr val="FFFFFF"/>
                          </a:solidFill>
                        </a:rPr>
                        <a:t>Quadrant</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r>
              <a:tr h="384048">
                <a:tc>
                  <a:txBody>
                    <a:bodyPr/>
                    <a:lstStyle/>
                    <a:p>
                      <a:pPr indent="0" marL="0">
                        <a:buNone/>
                      </a:pPr>
                      <a:r>
                        <a:rPr lang="en-US" sz="1100" b="1" dirty="0">
                          <a:solidFill>
                            <a:srgbClr val="2B2B2B"/>
                          </a:solidFill>
                        </a:rPr>
                        <a:t>Accenture</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6B6258"/>
                          </a:solidFill>
                        </a:rPr>
                        <a:t>Global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9.25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10.00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b="1" dirty="0">
                          <a:solidFill>
                            <a:srgbClr val="BC5B39"/>
                          </a:solidFill>
                        </a:rPr>
                        <a:t>Scale Leaders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384048">
                <a:tc>
                  <a:txBody>
                    <a:bodyPr/>
                    <a:lstStyle/>
                    <a:p>
                      <a:pPr indent="0" marL="0">
                        <a:buNone/>
                      </a:pPr>
                      <a:r>
                        <a:rPr lang="en-US" sz="1100" b="1" dirty="0">
                          <a:solidFill>
                            <a:srgbClr val="2B2B2B"/>
                          </a:solidFill>
                        </a:rPr>
                        <a:t>IBM</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6B6258"/>
                          </a:solidFill>
                        </a:rPr>
                        <a:t>Global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7.45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8.80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b="1" dirty="0">
                          <a:solidFill>
                            <a:srgbClr val="BC5B39"/>
                          </a:solidFill>
                        </a:rPr>
                        <a:t>Scale Leaders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B2B2B"/>
                          </a:solidFill>
                        </a:rPr>
                        <a:t>EY</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6B6258"/>
                          </a:solidFill>
                        </a:rPr>
                        <a:t>Big Four</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7.15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6.40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b="1" dirty="0">
                          <a:solidFill>
                            <a:srgbClr val="BC5B39"/>
                          </a:solidFill>
                        </a:rPr>
                        <a:t>Scale Leaders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384048">
                <a:tc>
                  <a:txBody>
                    <a:bodyPr/>
                    <a:lstStyle/>
                    <a:p>
                      <a:pPr indent="0" marL="0">
                        <a:buNone/>
                      </a:pPr>
                      <a:r>
                        <a:rPr lang="en-US" sz="1100" b="1" dirty="0">
                          <a:solidFill>
                            <a:srgbClr val="2B2B2B"/>
                          </a:solidFill>
                        </a:rPr>
                        <a:t>PwC</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6B6258"/>
                          </a:solidFill>
                        </a:rPr>
                        <a:t>Big Four</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6.35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7.00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b="1" dirty="0">
                          <a:solidFill>
                            <a:srgbClr val="BC5B39"/>
                          </a:solidFill>
                        </a:rPr>
                        <a:t>Scale Leaders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B2B2B"/>
                          </a:solidFill>
                        </a:rPr>
                        <a:t>TCS</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6B6258"/>
                          </a:solidFill>
                        </a:rPr>
                        <a:t>Indian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5.95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6.80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b="1" dirty="0">
                          <a:solidFill>
                            <a:srgbClr val="B8862B"/>
                          </a:solidFill>
                        </a:rPr>
                        <a:t>Scale Players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384048">
                <a:tc>
                  <a:txBody>
                    <a:bodyPr/>
                    <a:lstStyle/>
                    <a:p>
                      <a:pPr indent="0" marL="0">
                        <a:buNone/>
                      </a:pPr>
                      <a:r>
                        <a:rPr lang="en-US" sz="1100" b="1" dirty="0">
                          <a:solidFill>
                            <a:srgbClr val="2B2B2B"/>
                          </a:solidFill>
                        </a:rPr>
                        <a:t>Infosys</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6B6258"/>
                          </a:solidFill>
                        </a:rPr>
                        <a:t>Indian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7.00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5.60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D3D"/>
                          </a:solidFill>
                        </a:rPr>
                        <a:t>Innovation Leaders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B2B2B"/>
                          </a:solidFill>
                        </a:rPr>
                        <a:t>Capgemini</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6B6258"/>
                          </a:solidFill>
                        </a:rPr>
                        <a:t>Global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5.60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6.40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b="1" dirty="0">
                          <a:solidFill>
                            <a:srgbClr val="B8862B"/>
                          </a:solidFill>
                        </a:rPr>
                        <a:t>Scale Players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384048">
                <a:tc>
                  <a:txBody>
                    <a:bodyPr/>
                    <a:lstStyle/>
                    <a:p>
                      <a:pPr indent="0" marL="0">
                        <a:buNone/>
                      </a:pPr>
                      <a:r>
                        <a:rPr lang="en-US" sz="1100" b="1" dirty="0">
                          <a:solidFill>
                            <a:srgbClr val="2B2B2B"/>
                          </a:solidFill>
                        </a:rPr>
                        <a:t>Deloitte</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6B6258"/>
                          </a:solidFill>
                        </a:rPr>
                        <a:t>Big Four</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5.75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6.00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b="1" dirty="0">
                          <a:solidFill>
                            <a:srgbClr val="6B6258"/>
                          </a:solidFill>
                        </a:rPr>
                        <a:t>Emerging Contenders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2B2B2B"/>
                          </a:solidFill>
                        </a:rPr>
                        <a:t>Cognizant</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6B6258"/>
                          </a:solidFill>
                        </a:rPr>
                        <a:t>Global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5.35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algn="ctr" indent="0" marL="0">
                        <a:buNone/>
                      </a:pPr>
                      <a:r>
                        <a:rPr lang="en-US" sz="1100" dirty="0">
                          <a:solidFill>
                            <a:srgbClr val="2B2B2B"/>
                          </a:solidFill>
                        </a:rPr>
                        <a:t>6.00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b="1" dirty="0">
                          <a:solidFill>
                            <a:srgbClr val="6B6258"/>
                          </a:solidFill>
                        </a:rPr>
                        <a:t>Emerging Contenders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384048">
                <a:tc>
                  <a:txBody>
                    <a:bodyPr/>
                    <a:lstStyle/>
                    <a:p>
                      <a:pPr indent="0" marL="0">
                        <a:buNone/>
                      </a:pPr>
                      <a:r>
                        <a:rPr lang="en-US" sz="1100" b="1" dirty="0">
                          <a:solidFill>
                            <a:srgbClr val="2B2B2B"/>
                          </a:solidFill>
                        </a:rPr>
                        <a:t>Wipro</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6B6258"/>
                          </a:solidFill>
                        </a:rPr>
                        <a:t>Indian SI</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4.35</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rPr>
                        <a:t>4.00</a:t>
                      </a:r>
                      <a:endParaRPr lang="en-US" sz="11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b="1" dirty="0">
                          <a:solidFill>
                            <a:srgbClr val="6B6258"/>
                          </a:solidFill>
                        </a:rPr>
                        <a:t>Emerging Contenders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5852160"/>
            <a:ext cx="11155680" cy="457200"/>
          </a:xfrm>
          <a:prstGeom prst="rect">
            <a:avLst/>
          </a:prstGeom>
          <a:noFill/>
          <a:ln/>
        </p:spPr>
        <p:txBody>
          <a:bodyPr wrap="square" lIns="0" tIns="0" rIns="0" bIns="0" rtlCol="0" anchor="ctr"/>
          <a:lstStyle/>
          <a:p>
            <a:pPr indent="0" marL="0">
              <a:buNone/>
            </a:pPr>
            <a:r>
              <a:rPr lang="en-US" sz="1000" i="1" dirty="0">
                <a:solidFill>
                  <a:srgbClr val="6B6258"/>
                </a:solidFill>
                <a:latin typeface="Calibri" pitchFamily="34" charset="0"/>
                <a:ea typeface="Calibri" pitchFamily="34" charset="-122"/>
                <a:cs typeface="Calibri" pitchFamily="34" charset="-120"/>
              </a:rPr>
              <a:t>Peer-set medians used for the quadrant split: Capability 6.15  |  Market Presence 6.40. Full sub-metric breakdown and evidence for every score: companion workbook, GenAI_Vendor_Quadrant_Scoring.xlsx.</a:t>
            </a:r>
            <a:endParaRPr lang="en-US" sz="1000" dirty="0"/>
          </a:p>
        </p:txBody>
      </p:sp>
      <p:sp>
        <p:nvSpPr>
          <p:cNvPr id="6" name="Text 3"/>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7" name="Text 4"/>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Strategic Implications</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What each type of reader should take from this landscape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480560"/>
        </p:xfrm>
        <a:graphic>
          <a:graphicData uri="http://schemas.openxmlformats.org/drawingml/2006/table">
            <a:tbl>
              <a:tblPr/>
              <a:tblGrid>
                <a:gridCol w="2377440"/>
                <a:gridCol w="8778240"/>
              </a:tblGrid>
              <a:tr h="502920">
                <a:tc>
                  <a:txBody>
                    <a:bodyPr/>
                    <a:lstStyle/>
                    <a:p>
                      <a:pPr indent="0" marL="0">
                        <a:buNone/>
                      </a:pPr>
                      <a:r>
                        <a:rPr lang="en-US" sz="1200" b="1" dirty="0">
                          <a:solidFill>
                            <a:srgbClr val="FFFFFF"/>
                          </a:solidFill>
                        </a:rPr>
                        <a:t>Reader</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c>
                  <a:txBody>
                    <a:bodyPr/>
                    <a:lstStyle/>
                    <a:p>
                      <a:pPr indent="0" marL="0">
                        <a:buNone/>
                      </a:pPr>
                      <a:r>
                        <a:rPr lang="en-US" sz="1200" b="1" dirty="0">
                          <a:solidFill>
                            <a:srgbClr val="FFFFFF"/>
                          </a:solidFill>
                        </a:rPr>
                        <a:t>Implication</a:t>
                      </a:r>
                      <a:endParaRPr lang="en-US" sz="120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1F2D3D"/>
                    </a:solidFill>
                  </a:tcPr>
                </a:tc>
              </a:tr>
              <a:tr h="1051560">
                <a:tc>
                  <a:txBody>
                    <a:bodyPr/>
                    <a:lstStyle/>
                    <a:p>
                      <a:pPr indent="0" marL="0">
                        <a:buNone/>
                      </a:pPr>
                      <a:r>
                        <a:rPr lang="en-US" sz="1050" dirty="0">
                          <a:solidFill>
                            <a:srgbClr val="2B2B2B"/>
                          </a:solidFill>
                        </a:rPr>
                        <a:t>Enterprise buyers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rPr>
                        <a:t>Don't default to the largest logo. Infosys's Innovation Leader position shows real capability can sit outside the biggest-revenue vendors — worth an RFP slot even if it's not the safest brand-name choice.</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1051560">
                <a:tc>
                  <a:txBody>
                    <a:bodyPr/>
                    <a:lstStyle/>
                    <a:p>
                      <a:pPr indent="0" marL="0">
                        <a:buNone/>
                      </a:pPr>
                      <a:r>
                        <a:rPr lang="en-US" sz="1050" dirty="0">
                          <a:solidFill>
                            <a:srgbClr val="2B2B2B"/>
                          </a:solidFill>
                        </a:rPr>
                        <a:t>The vendors themselves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2B2B2B"/>
                          </a:solidFill>
                        </a:rPr>
                        <a:t>Disclosure is now a competitive lever, not just an investor-relations exercise. Wipro and Cognizant have real AI activity that's simply less visible externally than Accenture's or IBM's — a fixable gap, not necessarily a capability gap.</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r h="1051560">
                <a:tc>
                  <a:txBody>
                    <a:bodyPr/>
                    <a:lstStyle/>
                    <a:p>
                      <a:pPr indent="0" marL="0">
                        <a:buNone/>
                      </a:pPr>
                      <a:r>
                        <a:rPr lang="en-US" sz="1050" dirty="0">
                          <a:solidFill>
                            <a:srgbClr val="2B2B2B"/>
                          </a:solidFill>
                        </a:rPr>
                        <a:t>Big Four watchers</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rPr>
                        <a:t>EY and PwC's sharper, more specific public claims (on-prem NVIDIA exclusivity; OpenAI reseller status) outscored Deloitte's larger but vaguer investment figure — specificity beat scale in this methodology.</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FFFFF"/>
                    </a:solidFill>
                  </a:tcPr>
                </a:tc>
              </a:tr>
              <a:tr h="914400">
                <a:tc>
                  <a:txBody>
                    <a:bodyPr/>
                    <a:lstStyle/>
                    <a:p>
                      <a:pPr indent="0" marL="0">
                        <a:buNone/>
                      </a:pPr>
                      <a:r>
                        <a:rPr lang="en-US" sz="1050" dirty="0">
                          <a:solidFill>
                            <a:srgbClr val="2B2B2B"/>
                          </a:solidFill>
                        </a:rPr>
                        <a:t>Anyone using this deck</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c>
                  <a:txBody>
                    <a:bodyPr/>
                    <a:lstStyle/>
                    <a:p>
                      <a:pPr indent="0" marL="0">
                        <a:buNone/>
                      </a:pPr>
                      <a:r>
                        <a:rPr lang="en-US" sz="1050" dirty="0">
                          <a:solidFill>
                            <a:srgbClr val="2B2B2B"/>
                          </a:solidFill>
                        </a:rPr>
                        <a:t>Treat the quadrant as a snapshot of public disclosure as of mid-2026, not a permanent capability ranking — GenAI bookings figures in particular are moving quickly quarter to quarter.</a:t>
                      </a:r>
                      <a:endParaRPr lang="en-US" sz="1050" dirty="0"/>
                    </a:p>
                  </a:txBody>
                  <a:tcPr marL="91440" marR="91440" marT="45720" marB="45720" anchor="ctr">
                    <a:lnL w="9525" cap="flat" cmpd="sng" algn="ctr">
                      <a:solidFill>
                        <a:srgbClr val="F4F1EC"/>
                      </a:solidFill>
                      <a:prstDash val="solid"/>
                      <a:round/>
                      <a:headEnd type="none" w="med" len="med"/>
                      <a:tailEnd type="none" w="med" len="med"/>
                    </a:lnL>
                    <a:lnR w="9525" cap="flat" cmpd="sng" algn="ctr">
                      <a:solidFill>
                        <a:srgbClr val="F4F1EC"/>
                      </a:solidFill>
                      <a:prstDash val="solid"/>
                      <a:round/>
                      <a:headEnd type="none" w="med" len="med"/>
                      <a:tailEnd type="none" w="med" len="med"/>
                    </a:lnR>
                    <a:lnT w="9525" cap="flat" cmpd="sng" algn="ctr">
                      <a:solidFill>
                        <a:srgbClr val="F4F1EC"/>
                      </a:solidFill>
                      <a:prstDash val="solid"/>
                      <a:round/>
                      <a:headEnd type="none" w="med" len="med"/>
                      <a:tailEnd type="none" w="med" len="med"/>
                    </a:lnT>
                    <a:lnB w="9525" cap="flat" cmpd="sng" algn="ctr">
                      <a:solidFill>
                        <a:srgbClr val="F4F1EC"/>
                      </a:solidFill>
                      <a:prstDash val="solid"/>
                      <a:round/>
                      <a:headEnd type="none" w="med" len="med"/>
                      <a:tailEnd type="none" w="med" len="med"/>
                    </a:lnB>
                    <a:solidFill>
                      <a:srgbClr val="F8F6F2"/>
                    </a:solidFill>
                  </a:tcPr>
                </a:tc>
              </a:tr>
            </a:tbl>
          </a:graphicData>
        </a:graphic>
      </p:graphicFrame>
      <p:sp>
        <p:nvSpPr>
          <p:cNvPr id="5" name="Text 2"/>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6" name="Text 3"/>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55680" cy="640080"/>
          </a:xfrm>
          <a:prstGeom prst="rect">
            <a:avLst/>
          </a:prstGeom>
          <a:noFill/>
          <a:ln/>
        </p:spPr>
        <p:txBody>
          <a:bodyPr wrap="square" lIns="0" tIns="0" rIns="0" bIns="0" rtlCol="0" anchor="ctr"/>
          <a:lstStyle/>
          <a:p>
            <a:pPr indent="0" marL="0">
              <a:buNone/>
            </a:pPr>
            <a:r>
              <a:rPr lang="en-US" sz="2600" b="1" dirty="0">
                <a:solidFill>
                  <a:srgbClr val="1F2D3D"/>
                </a:solidFill>
                <a:latin typeface="Cambria" pitchFamily="34" charset="0"/>
                <a:ea typeface="Cambria" pitchFamily="34" charset="-122"/>
                <a:cs typeface="Cambria" pitchFamily="34" charset="-120"/>
              </a:rPr>
              <a:t>Sources &amp; Methodology</a:t>
            </a:r>
            <a:endParaRPr lang="en-US" sz="2600" dirty="0"/>
          </a:p>
        </p:txBody>
      </p:sp>
      <p:sp>
        <p:nvSpPr>
          <p:cNvPr id="3" name="Text 1"/>
          <p:cNvSpPr/>
          <p:nvPr/>
        </p:nvSpPr>
        <p:spPr>
          <a:xfrm>
            <a:off x="502920" y="886968"/>
            <a:ext cx="11155680" cy="32004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Every score in this deck traces to a source below or the full Evidence Log in the companion workbook</a:t>
            </a:r>
            <a:endParaRPr lang="en-US" sz="1150" dirty="0"/>
          </a:p>
        </p:txBody>
      </p:sp>
      <p:sp>
        <p:nvSpPr>
          <p:cNvPr id="4" name="Text 2"/>
          <p:cNvSpPr/>
          <p:nvPr/>
        </p:nvSpPr>
        <p:spPr>
          <a:xfrm>
            <a:off x="502920" y="1508760"/>
            <a:ext cx="11155680" cy="4754880"/>
          </a:xfrm>
          <a:prstGeom prst="rect">
            <a:avLst/>
          </a:prstGeom>
          <a:noFill/>
          <a:ln/>
        </p:spPr>
        <p:txBody>
          <a:bodyPr wrap="square" lIns="0" tIns="0" rIns="0" bIns="0" rtlCol="0" anchor="t"/>
          <a:lstStyle/>
          <a:p>
            <a:pPr indent="0" marL="0">
              <a:lnSpc>
                <a:spcPct val="128000"/>
              </a:lnSpc>
              <a:buNone/>
            </a:pPr>
            <a:r>
              <a:rPr lang="en-US" sz="1250" b="1" dirty="0">
                <a:solidFill>
                  <a:srgbClr val="1F2D3D"/>
                </a:solidFill>
                <a:latin typeface="Calibri" pitchFamily="34" charset="0"/>
                <a:ea typeface="Calibri" pitchFamily="34" charset="-122"/>
                <a:cs typeface="Calibri" pitchFamily="34" charset="-120"/>
              </a:rPr>
              <a:t>Company primary sources
</a:t>
            </a:r>
            <a:endParaRPr lang="en-US" sz="1250" dirty="0"/>
          </a:p>
          <a:p>
            <a:pPr indent="0" marL="0">
              <a:lnSpc>
                <a:spcPct val="128000"/>
              </a:lnSpc>
              <a:buNone/>
            </a:pPr>
            <a:r>
              <a:rPr lang="en-US" sz="1050" dirty="0">
                <a:solidFill>
                  <a:srgbClr val="2B2B2B"/>
                </a:solidFill>
                <a:latin typeface="Calibri" pitchFamily="34" charset="0"/>
                <a:ea typeface="Calibri" pitchFamily="34" charset="-122"/>
                <a:cs typeface="Calibri" pitchFamily="34" charset="-120"/>
              </a:rPr>
              <a:t>Accenture, IBM, TCS, Infosys, Capgemini, Cognizant, and Wipro quarterly/annual earnings releases and investor materials (FY2025–Q2 2026).
</a:t>
            </a:r>
            <a:endParaRPr lang="en-US" sz="1250" dirty="0"/>
          </a:p>
          <a:p>
            <a:pPr indent="0" marL="0">
              <a:lnSpc>
                <a:spcPct val="128000"/>
              </a:lnSpc>
              <a:buNone/>
            </a:pPr>
            <a:r>
              <a:rPr lang="en-US" sz="1250" b="1" dirty="0">
                <a:solidFill>
                  <a:srgbClr val="1F2D3D"/>
                </a:solidFill>
                <a:latin typeface="Calibri" pitchFamily="34" charset="0"/>
                <a:ea typeface="Calibri" pitchFamily="34" charset="-122"/>
                <a:cs typeface="Calibri" pitchFamily="34" charset="-120"/>
              </a:rPr>
              <a:t>Industry &amp; analyst trackers
</a:t>
            </a:r>
            <a:endParaRPr lang="en-US" sz="1250" dirty="0"/>
          </a:p>
          <a:p>
            <a:pPr indent="0" marL="0">
              <a:lnSpc>
                <a:spcPct val="128000"/>
              </a:lnSpc>
              <a:buNone/>
            </a:pPr>
            <a:r>
              <a:rPr lang="en-US" sz="1050" dirty="0">
                <a:solidFill>
                  <a:srgbClr val="2B2B2B"/>
                </a:solidFill>
                <a:latin typeface="Calibri" pitchFamily="34" charset="0"/>
                <a:ea typeface="Calibri" pitchFamily="34" charset="-122"/>
                <a:cs typeface="Calibri" pitchFamily="34" charset="-120"/>
              </a:rPr>
              <a:t>“2026 Consulting's AI Revolution Update” and “Big Consulting AI Frameworks, Compared (2026)” (futureofconsulting.ai / consulting-huber.com); Everest Group AI and GenAI Services PEAK Matrix Assessment 2025; Gartner 2026 Magic Quadrant for AI Governance Platforms (via IBM).
</a:t>
            </a:r>
            <a:endParaRPr lang="en-US" sz="1250" dirty="0"/>
          </a:p>
          <a:p>
            <a:pPr indent="0" marL="0">
              <a:lnSpc>
                <a:spcPct val="128000"/>
              </a:lnSpc>
              <a:buNone/>
            </a:pPr>
            <a:r>
              <a:rPr lang="en-US" sz="1250" b="1" dirty="0">
                <a:solidFill>
                  <a:srgbClr val="1F2D3D"/>
                </a:solidFill>
                <a:latin typeface="Calibri" pitchFamily="34" charset="0"/>
                <a:ea typeface="Calibri" pitchFamily="34" charset="-122"/>
                <a:cs typeface="Calibri" pitchFamily="34" charset="-120"/>
              </a:rPr>
              <a:t>News &amp; wire sources
</a:t>
            </a:r>
            <a:endParaRPr lang="en-US" sz="1250" dirty="0"/>
          </a:p>
          <a:p>
            <a:pPr indent="0" marL="0">
              <a:lnSpc>
                <a:spcPct val="128000"/>
              </a:lnSpc>
              <a:buNone/>
            </a:pPr>
            <a:r>
              <a:rPr lang="en-US" sz="1050" dirty="0">
                <a:solidFill>
                  <a:srgbClr val="2B2B2B"/>
                </a:solidFill>
                <a:latin typeface="Calibri" pitchFamily="34" charset="0"/>
                <a:ea typeface="Calibri" pitchFamily="34" charset="-122"/>
                <a:cs typeface="Calibri" pitchFamily="34" charset="-120"/>
              </a:rPr>
              <a:t>Bloomberg Tax coverage of Big Four AI investment and revenue; ChatFin's “The Big 4 AI Takeover”; CB Insights “AI Consulting: Good or Bad.”
</a:t>
            </a:r>
            <a:endParaRPr lang="en-US" sz="1250" dirty="0"/>
          </a:p>
          <a:p>
            <a:pPr indent="0" marL="0">
              <a:lnSpc>
                <a:spcPct val="128000"/>
              </a:lnSpc>
              <a:buNone/>
            </a:pPr>
            <a:r>
              <a:rPr lang="en-US" sz="1250" b="1" dirty="0">
                <a:solidFill>
                  <a:srgbClr val="1F2D3D"/>
                </a:solidFill>
                <a:latin typeface="Calibri" pitchFamily="34" charset="0"/>
                <a:ea typeface="Calibri" pitchFamily="34" charset="-122"/>
                <a:cs typeface="Calibri" pitchFamily="34" charset="-120"/>
              </a:rPr>
              <a:t>Methodology note
</a:t>
            </a:r>
            <a:endParaRPr lang="en-US" sz="1250" dirty="0"/>
          </a:p>
          <a:p>
            <a:pPr indent="0" marL="0">
              <a:lnSpc>
                <a:spcPct val="128000"/>
              </a:lnSpc>
              <a:buNone/>
            </a:pPr>
            <a:r>
              <a:rPr lang="en-US" sz="1050" dirty="0">
                <a:solidFill>
                  <a:srgbClr val="2B2B2B"/>
                </a:solidFill>
                <a:latin typeface="Calibri" pitchFamily="34" charset="0"/>
                <a:ea typeface="Calibri" pitchFamily="34" charset="-122"/>
                <a:cs typeface="Calibri" pitchFamily="34" charset="-120"/>
              </a:rPr>
              <a:t>This is an original scoring framework built by the author for portfolio purposes. Quadrant labels (“Scale Leaders,” “Innovation Leaders,” “Scale Players,” “Emerging Contenders”) are original terms, not ISG's, Gartner's, or Everest Group's terminology. Full sub-metric scores, weights, and evidence for all 10 vendors are in the companion workbook, GenAI_Vendor_Quadrant_Scoring.xlsx.</a:t>
            </a:r>
            <a:endParaRPr lang="en-US" sz="1250" dirty="0"/>
          </a:p>
        </p:txBody>
      </p:sp>
      <p:sp>
        <p:nvSpPr>
          <p:cNvPr id="5" name="Text 3"/>
          <p:cNvSpPr/>
          <p:nvPr/>
        </p:nvSpPr>
        <p:spPr>
          <a:xfrm>
            <a:off x="365760" y="6537960"/>
            <a:ext cx="8229600" cy="256032"/>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GENAI VENDOR LANDSCAPE  |  AN INDEPENDENT ASSESSMENT  |  2026</a:t>
            </a:r>
            <a:endParaRPr lang="en-US" sz="900" dirty="0"/>
          </a:p>
        </p:txBody>
      </p:sp>
      <p:sp>
        <p:nvSpPr>
          <p:cNvPr id="6" name="Text 4"/>
          <p:cNvSpPr/>
          <p:nvPr/>
        </p:nvSpPr>
        <p:spPr>
          <a:xfrm>
            <a:off x="11430000" y="6537960"/>
            <a:ext cx="457200" cy="256032"/>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2026-08-06T03:03:25Z</dcterms:created>
  <dcterms:modified xsi:type="dcterms:W3CDTF">2026-08-06T03:03:25Z</dcterms:modified>
</cp:coreProperties>
</file>