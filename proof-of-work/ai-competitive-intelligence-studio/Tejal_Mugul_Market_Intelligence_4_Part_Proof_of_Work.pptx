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70" r:id="rId9"/>
    <p:sldId id="263" r:id="rId10"/>
    <p:sldId id="264" r:id="rId11"/>
    <p:sldId id="265" r:id="rId12"/>
    <p:sldId id="269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</c:v>
                </c:pt>
              </c:strCache>
            </c:strRef>
          </c:tx>
          <c:spPr>
            <a:ln w="31750" cap="flat">
              <a:solidFill>
                <a:srgbClr val="9B9B9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9B9B"/>
              </a:solidFill>
              <a:ln w="9525" cap="flat">
                <a:solidFill>
                  <a:srgbClr val="9B9B9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Apr-26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6.1</c:v>
                </c:pt>
                <c:pt idx="1">
                  <c:v>6.1</c:v>
                </c:pt>
                <c:pt idx="2">
                  <c:v>6.1</c:v>
                </c:pt>
                <c:pt idx="3">
                  <c:v>6.1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380-4D98-A897-7B28FFE31F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Poland</c:v>
                </c:pt>
              </c:strCache>
            </c:strRef>
          </c:tx>
          <c:spPr>
            <a:ln w="31750" cap="flat">
              <a:solidFill>
                <a:srgbClr val="4A6FA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6FA5"/>
              </a:solidFill>
              <a:ln w="9525" cap="flat">
                <a:solidFill>
                  <a:srgbClr val="4A6FA5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Apr-26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3.3</c:v>
                </c:pt>
                <c:pt idx="1">
                  <c:v>3.4</c:v>
                </c:pt>
                <c:pt idx="2">
                  <c:v>3.4</c:v>
                </c:pt>
                <c:pt idx="3">
                  <c:v>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380-4D98-A897-7B28FFE31F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Czechia</c:v>
                </c:pt>
              </c:strCache>
            </c:strRef>
          </c:tx>
          <c:spPr>
            <a:ln w="31750" cap="flat">
              <a:solidFill>
                <a:srgbClr val="D2232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2232A"/>
              </a:solidFill>
              <a:ln w="9525" cap="flat">
                <a:solidFill>
                  <a:srgbClr val="D2232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Apr-26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3.1</c:v>
                </c:pt>
                <c:pt idx="1">
                  <c:v>2.9</c:v>
                </c:pt>
                <c:pt idx="2">
                  <c:v>3.2</c:v>
                </c:pt>
                <c:pt idx="3">
                  <c:v>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380-4D98-A897-7B28FFE31F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Germany</c:v>
                </c:pt>
              </c:strCache>
            </c:strRef>
          </c:tx>
          <c:spPr>
            <a:ln w="31750" cap="flat">
              <a:solidFill>
                <a:srgbClr val="1B2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Apr-26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3.9</c:v>
                </c:pt>
                <c:pt idx="1">
                  <c:v>3.9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380-4D98-A897-7B28FFE31F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lang="en-IN" sz="950" b="0" i="0" u="none" strike="noStrike">
                    <a:solidFill>
                      <a:srgbClr val="595959"/>
                    </a:solidFill>
                    <a:latin typeface="Arial"/>
                  </a:rPr>
                  <a:t>Eurostat harmonised unemployment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A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</c:v>
                </c:pt>
              </c:strCache>
            </c:strRef>
          </c:tx>
          <c:spPr>
            <a:solidFill>
              <a:srgbClr val="9B9B9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Q3-25</c:v>
                </c:pt>
                <c:pt idx="1">
                  <c:v>Q4-25</c:v>
                </c:pt>
                <c:pt idx="2">
                  <c:v>Q1-26</c:v>
                </c:pt>
                <c:pt idx="3">
                  <c:v>Q2-26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</c:v>
                </c:pt>
                <c:pt idx="1">
                  <c:v>0.2</c:v>
                </c:pt>
                <c:pt idx="2">
                  <c:v>0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CC-441D-A088-CA4593C9D6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Poland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Q3-25</c:v>
                </c:pt>
                <c:pt idx="1">
                  <c:v>Q4-25</c:v>
                </c:pt>
                <c:pt idx="2">
                  <c:v>Q1-26</c:v>
                </c:pt>
                <c:pt idx="3">
                  <c:v>Q2-26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</c:v>
                </c:pt>
                <c:pt idx="1">
                  <c:v>0.3</c:v>
                </c:pt>
                <c:pt idx="2">
                  <c:v>0.1</c:v>
                </c:pt>
                <c:pt idx="3">
                  <c:v>-0.2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CC-441D-A088-CA4593C9D6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Czechia</c:v>
                </c:pt>
              </c:strCache>
            </c:strRef>
          </c:tx>
          <c:spPr>
            <a:solidFill>
              <a:srgbClr val="D2232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Q3-25</c:v>
                </c:pt>
                <c:pt idx="1">
                  <c:v>Q4-25</c:v>
                </c:pt>
                <c:pt idx="2">
                  <c:v>Q1-26</c:v>
                </c:pt>
                <c:pt idx="3">
                  <c:v>Q2-26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0.3</c:v>
                </c:pt>
                <c:pt idx="1">
                  <c:v>0.3</c:v>
                </c:pt>
                <c:pt idx="2">
                  <c:v>0.1</c:v>
                </c:pt>
                <c:pt idx="3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CC-441D-A088-CA4593C9D67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Q3-25</c:v>
                </c:pt>
                <c:pt idx="1">
                  <c:v>Q4-25</c:v>
                </c:pt>
                <c:pt idx="2">
                  <c:v>Q1-26</c:v>
                </c:pt>
                <c:pt idx="3">
                  <c:v>Q2-26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-0.1</c:v>
                </c:pt>
                <c:pt idx="1">
                  <c:v>-0.1</c:v>
                </c:pt>
                <c:pt idx="2">
                  <c:v>-0.1</c:v>
                </c:pt>
                <c:pt idx="3">
                  <c:v>-0.1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3CC-441D-A088-CA4593C9D6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-0.35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lang="en-IN" sz="900" b="0" i="0" u="none" strike="noStrike">
                    <a:solidFill>
                      <a:srgbClr val="595959"/>
                    </a:solidFill>
                    <a:latin typeface="Arial"/>
                  </a:rPr>
                  <a:t>Employment growth, q/q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A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1B2A4A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D223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F5C-40D1-A9C5-F77DD5D79DBF}"/>
              </c:ext>
            </c:extLst>
          </c:dPt>
          <c:dPt>
            <c:idx val="1"/>
            <c:invertIfNegative val="1"/>
            <c:bubble3D val="0"/>
            <c:spPr>
              <a:solidFill>
                <a:srgbClr val="D223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F5C-40D1-A9C5-F77DD5D79DBF}"/>
              </c:ext>
            </c:extLst>
          </c:dPt>
          <c:dPt>
            <c:idx val="2"/>
            <c:invertIfNegative val="1"/>
            <c:bubble3D val="0"/>
            <c:spPr>
              <a:solidFill>
                <a:srgbClr val="D223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F5C-40D1-A9C5-F77DD5D79DBF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5F5C-40D1-A9C5-F77DD5D79DBF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5F5C-40D1-A9C5-F77DD5D79DBF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5F5C-40D1-A9C5-F77DD5D79DBF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5F5C-40D1-A9C5-F77DD5D79DBF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5F5C-40D1-A9C5-F77DD5D79DBF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5F5C-40D1-A9C5-F77DD5D79DBF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5F5C-40D1-A9C5-F77DD5D79DBF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5F5C-40D1-A9C5-F77DD5D79DBF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5F5C-40D1-A9C5-F77DD5D79DBF}"/>
              </c:ext>
            </c:extLst>
          </c:dPt>
          <c:dPt>
            <c:idx val="1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9-5F5C-40D1-A9C5-F77DD5D79DB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US</c:v>
                </c:pt>
                <c:pt idx="1">
                  <c:v>India</c:v>
                </c:pt>
                <c:pt idx="2">
                  <c:v>UK</c:v>
                </c:pt>
                <c:pt idx="3">
                  <c:v>Canada</c:v>
                </c:pt>
                <c:pt idx="4">
                  <c:v>Australia</c:v>
                </c:pt>
                <c:pt idx="5">
                  <c:v>China</c:v>
                </c:pt>
                <c:pt idx="6">
                  <c:v>Brazil</c:v>
                </c:pt>
                <c:pt idx="7">
                  <c:v>Japan</c:v>
                </c:pt>
                <c:pt idx="8">
                  <c:v>Germany</c:v>
                </c:pt>
                <c:pt idx="9">
                  <c:v>France</c:v>
                </c:pt>
                <c:pt idx="10">
                  <c:v>Spain</c:v>
                </c:pt>
                <c:pt idx="11">
                  <c:v>Netherlands</c:v>
                </c:pt>
                <c:pt idx="12">
                  <c:v>Singapore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2000000</c:v>
                </c:pt>
                <c:pt idx="1">
                  <c:v>700000</c:v>
                </c:pt>
                <c:pt idx="2">
                  <c:v>370000</c:v>
                </c:pt>
                <c:pt idx="3">
                  <c:v>200000</c:v>
                </c:pt>
                <c:pt idx="4">
                  <c:v>170000</c:v>
                </c:pt>
                <c:pt idx="5">
                  <c:v>166000</c:v>
                </c:pt>
                <c:pt idx="6">
                  <c:v>160000</c:v>
                </c:pt>
                <c:pt idx="7">
                  <c:v>129000</c:v>
                </c:pt>
                <c:pt idx="8">
                  <c:v>120000</c:v>
                </c:pt>
                <c:pt idx="9">
                  <c:v>110000</c:v>
                </c:pt>
                <c:pt idx="10">
                  <c:v>100000</c:v>
                </c:pt>
                <c:pt idx="11">
                  <c:v>88000</c:v>
                </c:pt>
                <c:pt idx="12">
                  <c:v>61000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A-5F5C-40D1-A9C5-F77DD5D79D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 b="1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Markets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6"/>
            <c:spPr>
              <a:solidFill>
                <a:srgbClr val="9FADC2"/>
              </a:solidFill>
              <a:ln>
                <a:noFill/>
              </a:ln>
            </c:spPr>
          </c:marker>
          <c:dPt>
            <c:idx val="0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60F-46A7-BA1B-2E6AF20B249C}"/>
              </c:ext>
            </c:extLst>
          </c:dPt>
          <c:dPt>
            <c:idx val="1"/>
            <c:marker>
              <c:symbol val="circle"/>
              <c:size val="9"/>
              <c:spPr>
                <a:solidFill>
                  <a:srgbClr val="D2232A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60F-46A7-BA1B-2E6AF20B249C}"/>
              </c:ext>
            </c:extLst>
          </c:dPt>
          <c:dPt>
            <c:idx val="2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60F-46A7-BA1B-2E6AF20B249C}"/>
              </c:ext>
            </c:extLst>
          </c:dPt>
          <c:dPt>
            <c:idx val="3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460F-46A7-BA1B-2E6AF20B249C}"/>
              </c:ext>
            </c:extLst>
          </c:dPt>
          <c:dPt>
            <c:idx val="4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460F-46A7-BA1B-2E6AF20B249C}"/>
              </c:ext>
            </c:extLst>
          </c:dPt>
          <c:dPt>
            <c:idx val="5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460F-46A7-BA1B-2E6AF20B249C}"/>
              </c:ext>
            </c:extLst>
          </c:dPt>
          <c:dPt>
            <c:idx val="6"/>
            <c:marker>
              <c:symbol val="circle"/>
              <c:size val="9"/>
              <c:spPr>
                <a:solidFill>
                  <a:srgbClr val="D2232A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460F-46A7-BA1B-2E6AF20B249C}"/>
              </c:ext>
            </c:extLst>
          </c:dPt>
          <c:dPt>
            <c:idx val="7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460F-46A7-BA1B-2E6AF20B249C}"/>
              </c:ext>
            </c:extLst>
          </c:dPt>
          <c:dPt>
            <c:idx val="8"/>
            <c:marker>
              <c:symbol val="circle"/>
              <c:size val="9"/>
              <c:spPr>
                <a:solidFill>
                  <a:srgbClr val="D2232A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460F-46A7-BA1B-2E6AF20B249C}"/>
              </c:ext>
            </c:extLst>
          </c:dPt>
          <c:dPt>
            <c:idx val="9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460F-46A7-BA1B-2E6AF20B249C}"/>
              </c:ext>
            </c:extLst>
          </c:dPt>
          <c:dPt>
            <c:idx val="10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60F-46A7-BA1B-2E6AF20B249C}"/>
              </c:ext>
            </c:extLst>
          </c:dPt>
          <c:dPt>
            <c:idx val="11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60F-46A7-BA1B-2E6AF20B249C}"/>
              </c:ext>
            </c:extLst>
          </c:dPt>
          <c:dPt>
            <c:idx val="12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460F-46A7-BA1B-2E6AF20B249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595959"/>
                        </a:solidFill>
                        <a:latin typeface="Arial"/>
                      </a:rPr>
                      <a:t>US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60F-46A7-BA1B-2E6AF20B249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D2232A"/>
                        </a:solidFill>
                        <a:latin typeface="Arial"/>
                      </a:rPr>
                      <a:t>India</a:t>
                    </a:r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60F-46A7-BA1B-2E6AF20B249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595959"/>
                        </a:solidFill>
                        <a:latin typeface="Arial"/>
                      </a:rPr>
                      <a:t>UK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60F-46A7-BA1B-2E6AF20B249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595959"/>
                        </a:solidFill>
                        <a:latin typeface="Arial"/>
                      </a:rPr>
                      <a:t>Canada</a:t>
                    </a:r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60F-46A7-BA1B-2E6AF20B249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595959"/>
                        </a:solidFill>
                        <a:latin typeface="Arial"/>
                      </a:rPr>
                      <a:t>Australia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60F-46A7-BA1B-2E6AF20B249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595959"/>
                        </a:solidFill>
                        <a:latin typeface="Arial"/>
                      </a:rPr>
                      <a:t>China</a:t>
                    </a:r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60F-46A7-BA1B-2E6AF20B249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D2232A"/>
                        </a:solidFill>
                        <a:latin typeface="Arial"/>
                      </a:rPr>
                      <a:t>Brazil</a:t>
                    </a:r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60F-46A7-BA1B-2E6AF20B249C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595959"/>
                        </a:solidFill>
                        <a:latin typeface="Arial"/>
                      </a:rPr>
                      <a:t>Japan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60F-46A7-BA1B-2E6AF20B249C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D2232A"/>
                        </a:solidFill>
                        <a:latin typeface="Arial"/>
                      </a:rPr>
                      <a:t>Germany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460F-46A7-BA1B-2E6AF20B249C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595959"/>
                        </a:solidFill>
                        <a:latin typeface="Arial"/>
                      </a:rPr>
                      <a:t>France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60F-46A7-BA1B-2E6AF20B249C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595959"/>
                        </a:solidFill>
                        <a:latin typeface="Arial"/>
                      </a:rPr>
                      <a:t>Spain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460F-46A7-BA1B-2E6AF20B249C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595959"/>
                        </a:solidFill>
                        <a:latin typeface="Arial"/>
                      </a:rPr>
                      <a:t>Netherlands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460F-46A7-BA1B-2E6AF20B249C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595959"/>
                        </a:solidFill>
                        <a:latin typeface="Arial"/>
                      </a:rPr>
                      <a:t>Singapore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460F-46A7-BA1B-2E6AF20B249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9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15</c:v>
                </c:pt>
                <c:pt idx="6">
                  <c:v>4</c:v>
                </c:pt>
                <c:pt idx="7">
                  <c:v>13</c:v>
                </c:pt>
                <c:pt idx="8">
                  <c:v>30</c:v>
                </c:pt>
                <c:pt idx="9">
                  <c:v>16</c:v>
                </c:pt>
                <c:pt idx="10">
                  <c:v>7</c:v>
                </c:pt>
                <c:pt idx="11">
                  <c:v>9</c:v>
                </c:pt>
                <c:pt idx="12">
                  <c:v>8</c:v>
                </c:pt>
              </c:numCache>
            </c:numRef>
          </c:xVal>
          <c:yVal>
            <c:numRef>
              <c:f>Sheet1!$B$2:$B$14</c:f>
              <c:numCache>
                <c:formatCode>#,##0</c:formatCode>
                <c:ptCount val="13"/>
                <c:pt idx="0">
                  <c:v>135000</c:v>
                </c:pt>
                <c:pt idx="1">
                  <c:v>26000</c:v>
                </c:pt>
                <c:pt idx="2">
                  <c:v>102000</c:v>
                </c:pt>
                <c:pt idx="3">
                  <c:v>108000</c:v>
                </c:pt>
                <c:pt idx="4">
                  <c:v>120000</c:v>
                </c:pt>
                <c:pt idx="5">
                  <c:v>54000</c:v>
                </c:pt>
                <c:pt idx="6">
                  <c:v>41000</c:v>
                </c:pt>
                <c:pt idx="7">
                  <c:v>85000</c:v>
                </c:pt>
                <c:pt idx="8">
                  <c:v>129000</c:v>
                </c:pt>
                <c:pt idx="9">
                  <c:v>114000</c:v>
                </c:pt>
                <c:pt idx="10">
                  <c:v>78000</c:v>
                </c:pt>
                <c:pt idx="11">
                  <c:v>116000</c:v>
                </c:pt>
                <c:pt idx="12">
                  <c:v>94000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460F-46A7-BA1B-2E6AF20B24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scatterChart>
      <c:valAx>
        <c:axId val="1"/>
        <c:scaling>
          <c:orientation val="minMax"/>
          <c:max val="32"/>
          <c:min val="0"/>
        </c:scaling>
        <c:delete val="0"/>
        <c:axPos val="b"/>
        <c:majorGridlines>
          <c:spPr>
            <a:ln w="9525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US" sz="900" b="0">
                    <a:solidFill>
                      <a:srgbClr val="595959"/>
                    </a:solidFill>
                    <a:latin typeface="Arial"/>
                  </a:rPr>
                  <a:t>Competitiveness (%) — low to high; lower is better for hiring</a:t>
                </a:r>
              </a:p>
            </c:rich>
          </c:tx>
          <c:overlay val="0"/>
        </c:title>
        <c:numFmt formatCode="0\%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950" b="1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"/>
        <c:crosses val="autoZero"/>
        <c:crossBetween val="midCat"/>
      </c:valAx>
      <c:valAx>
        <c:axId val="2"/>
        <c:scaling>
          <c:orientation val="minMax"/>
          <c:max val="145000"/>
          <c:min val="0"/>
        </c:scaling>
        <c:delete val="0"/>
        <c:axPos val="l"/>
        <c:majorGridlines>
          <c:spPr>
            <a:ln w="9525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IN" sz="900" b="0">
                    <a:solidFill>
                      <a:srgbClr val="595959"/>
                    </a:solidFill>
                    <a:latin typeface="Arial"/>
                  </a:rPr>
                  <a:t>Compensation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950" b="1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Markets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6"/>
            <c:spPr>
              <a:solidFill>
                <a:srgbClr val="9FADC2"/>
              </a:solidFill>
              <a:ln>
                <a:noFill/>
              </a:ln>
            </c:spPr>
          </c:marker>
          <c:dPt>
            <c:idx val="0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308-477E-91B4-25B488D89630}"/>
              </c:ext>
            </c:extLst>
          </c:dPt>
          <c:dPt>
            <c:idx val="1"/>
            <c:marker>
              <c:symbol val="circle"/>
              <c:size val="9"/>
              <c:spPr>
                <a:solidFill>
                  <a:srgbClr val="D2232A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5308-477E-91B4-25B488D89630}"/>
              </c:ext>
            </c:extLst>
          </c:dPt>
          <c:dPt>
            <c:idx val="2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5308-477E-91B4-25B488D89630}"/>
              </c:ext>
            </c:extLst>
          </c:dPt>
          <c:dPt>
            <c:idx val="3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5308-477E-91B4-25B488D89630}"/>
              </c:ext>
            </c:extLst>
          </c:dPt>
          <c:dPt>
            <c:idx val="4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5308-477E-91B4-25B488D89630}"/>
              </c:ext>
            </c:extLst>
          </c:dPt>
          <c:dPt>
            <c:idx val="5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5308-477E-91B4-25B488D89630}"/>
              </c:ext>
            </c:extLst>
          </c:dPt>
          <c:dPt>
            <c:idx val="6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5308-477E-91B4-25B488D89630}"/>
              </c:ext>
            </c:extLst>
          </c:dPt>
          <c:dPt>
            <c:idx val="7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5308-477E-91B4-25B488D89630}"/>
              </c:ext>
            </c:extLst>
          </c:dPt>
          <c:dPt>
            <c:idx val="8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5308-477E-91B4-25B488D89630}"/>
              </c:ext>
            </c:extLst>
          </c:dPt>
          <c:dPt>
            <c:idx val="9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5308-477E-91B4-25B488D89630}"/>
              </c:ext>
            </c:extLst>
          </c:dPt>
          <c:dPt>
            <c:idx val="10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5308-477E-91B4-25B488D89630}"/>
              </c:ext>
            </c:extLst>
          </c:dPt>
          <c:dPt>
            <c:idx val="11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5308-477E-91B4-25B488D89630}"/>
              </c:ext>
            </c:extLst>
          </c:dPt>
          <c:dPt>
            <c:idx val="12"/>
            <c:marker>
              <c:spPr>
                <a:solidFill>
                  <a:srgbClr val="9FADC2"/>
                </a:solidFill>
                <a:ln w="9525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5308-477E-91B4-25B488D8963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1B2A4A"/>
                        </a:solidFill>
                        <a:latin typeface="Arial"/>
                      </a:rPr>
                      <a:t>US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308-477E-91B4-25B488D8963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D2232A"/>
                        </a:solidFill>
                        <a:latin typeface="Arial"/>
                      </a:rPr>
                      <a:t>India</a:t>
                    </a:r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308-477E-91B4-25B488D8963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1B2A4A"/>
                        </a:solidFill>
                        <a:latin typeface="Arial"/>
                      </a:rPr>
                      <a:t>UK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308-477E-91B4-25B488D8963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1B2A4A"/>
                        </a:solidFill>
                        <a:latin typeface="Arial"/>
                      </a:rPr>
                      <a:t>Canada</a:t>
                    </a:r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308-477E-91B4-25B488D8963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1B2A4A"/>
                        </a:solidFill>
                        <a:latin typeface="Arial"/>
                      </a:rPr>
                      <a:t>Australia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308-477E-91B4-25B488D8963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1B2A4A"/>
                        </a:solidFill>
                        <a:latin typeface="Arial"/>
                      </a:rPr>
                      <a:t>China</a:t>
                    </a:r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308-477E-91B4-25B488D89630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1B2A4A"/>
                        </a:solidFill>
                        <a:latin typeface="Arial"/>
                      </a:rPr>
                      <a:t>Brazil</a:t>
                    </a:r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308-477E-91B4-25B488D89630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1B2A4A"/>
                        </a:solidFill>
                        <a:latin typeface="Arial"/>
                      </a:rPr>
                      <a:t>Japan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308-477E-91B4-25B488D89630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1B2A4A"/>
                        </a:solidFill>
                        <a:latin typeface="Arial"/>
                      </a:rPr>
                      <a:t>Germany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308-477E-91B4-25B488D89630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1B2A4A"/>
                        </a:solidFill>
                        <a:latin typeface="Arial"/>
                      </a:rPr>
                      <a:t>France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308-477E-91B4-25B488D89630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1B2A4A"/>
                        </a:solidFill>
                        <a:latin typeface="Arial"/>
                      </a:rPr>
                      <a:t>Spain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308-477E-91B4-25B488D89630}"/>
                </c:ext>
              </c:extLst>
            </c:dLbl>
            <c:dLbl>
              <c:idx val="11"/>
              <c:layout>
                <c:manualLayout>
                  <c:x val="1.23841038033631E-2"/>
                  <c:y val="-2.2035154747079393E-2"/>
                </c:manualLayout>
              </c:layout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1B2A4A"/>
                        </a:solidFill>
                        <a:latin typeface="Arial"/>
                      </a:rPr>
                      <a:t>Netherlands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308-477E-91B4-25B488D89630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800" b="0">
                        <a:solidFill>
                          <a:srgbClr val="1B2A4A"/>
                        </a:solidFill>
                        <a:latin typeface="Arial"/>
                      </a:rPr>
                      <a:t>Singapore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5308-477E-91B4-25B488D8963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9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15</c:v>
                </c:pt>
                <c:pt idx="6">
                  <c:v>4</c:v>
                </c:pt>
                <c:pt idx="7">
                  <c:v>13</c:v>
                </c:pt>
                <c:pt idx="8">
                  <c:v>30</c:v>
                </c:pt>
                <c:pt idx="9">
                  <c:v>16</c:v>
                </c:pt>
                <c:pt idx="10">
                  <c:v>7</c:v>
                </c:pt>
                <c:pt idx="11">
                  <c:v>9</c:v>
                </c:pt>
                <c:pt idx="12">
                  <c:v>8</c:v>
                </c:pt>
              </c:numCache>
            </c:numRef>
          </c:xVal>
          <c:yVal>
            <c:numRef>
              <c:f>Sheet1!$B$2:$B$14</c:f>
              <c:numCache>
                <c:formatCode>#,##0</c:formatCode>
                <c:ptCount val="13"/>
                <c:pt idx="0">
                  <c:v>135000</c:v>
                </c:pt>
                <c:pt idx="1">
                  <c:v>26000</c:v>
                </c:pt>
                <c:pt idx="2">
                  <c:v>102000</c:v>
                </c:pt>
                <c:pt idx="3">
                  <c:v>108000</c:v>
                </c:pt>
                <c:pt idx="4">
                  <c:v>120000</c:v>
                </c:pt>
                <c:pt idx="5">
                  <c:v>54000</c:v>
                </c:pt>
                <c:pt idx="6">
                  <c:v>41000</c:v>
                </c:pt>
                <c:pt idx="7">
                  <c:v>85000</c:v>
                </c:pt>
                <c:pt idx="8">
                  <c:v>129000</c:v>
                </c:pt>
                <c:pt idx="9">
                  <c:v>114000</c:v>
                </c:pt>
                <c:pt idx="10">
                  <c:v>78000</c:v>
                </c:pt>
                <c:pt idx="11">
                  <c:v>116000</c:v>
                </c:pt>
                <c:pt idx="12">
                  <c:v>94000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5308-477E-91B4-25B488D896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scatterChart>
      <c:valAx>
        <c:axId val="1"/>
        <c:scaling>
          <c:orientation val="minMax"/>
          <c:max val="32"/>
          <c:min val="0"/>
        </c:scaling>
        <c:delete val="0"/>
        <c:axPos val="b"/>
        <c:numFmt formatCode="0\%" sourceLinked="0"/>
        <c:majorTickMark val="none"/>
        <c:minorTickMark val="none"/>
        <c:tickLblPos val="none"/>
        <c:spPr>
          <a:ln w="19050" cap="flat">
            <a:solidFill>
              <a:srgbClr val="1B2A4A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"/>
        <c:crossesAt val="100000"/>
        <c:crossBetween val="midCat"/>
      </c:valAx>
      <c:valAx>
        <c:axId val="2"/>
        <c:scaling>
          <c:orientation val="minMax"/>
          <c:max val="145000"/>
          <c:min val="0"/>
        </c:scaling>
        <c:delete val="0"/>
        <c:axPos val="l"/>
        <c:numFmt formatCode="#,##0" sourceLinked="0"/>
        <c:majorTickMark val="none"/>
        <c:minorTickMark val="none"/>
        <c:tickLblPos val="none"/>
        <c:spPr>
          <a:ln w="19050" cap="flat">
            <a:solidFill>
              <a:srgbClr val="1B2A4A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1"/>
        <c:crossesAt val="10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1B2A4A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D223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5A8-4738-8304-BEF1BA265DB6}"/>
              </c:ext>
            </c:extLst>
          </c:dPt>
          <c:dPt>
            <c:idx val="1"/>
            <c:invertIfNegative val="1"/>
            <c:bubble3D val="0"/>
            <c:spPr>
              <a:solidFill>
                <a:srgbClr val="D223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5A8-4738-8304-BEF1BA265DB6}"/>
              </c:ext>
            </c:extLst>
          </c:dPt>
          <c:dPt>
            <c:idx val="2"/>
            <c:invertIfNegative val="1"/>
            <c:bubble3D val="0"/>
            <c:spPr>
              <a:solidFill>
                <a:srgbClr val="D223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5A8-4738-8304-BEF1BA265DB6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B5A8-4738-8304-BEF1BA265DB6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B5A8-4738-8304-BEF1BA265DB6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B5A8-4738-8304-BEF1BA265DB6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B5A8-4738-8304-BEF1BA265DB6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B5A8-4738-8304-BEF1BA265DB6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B5A8-4738-8304-BEF1BA265DB6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B5A8-4738-8304-BEF1BA265DB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India</c:v>
                </c:pt>
                <c:pt idx="1">
                  <c:v>United States</c:v>
                </c:pt>
                <c:pt idx="2">
                  <c:v>Germany</c:v>
                </c:pt>
                <c:pt idx="3">
                  <c:v>Canada</c:v>
                </c:pt>
                <c:pt idx="4">
                  <c:v>Israel</c:v>
                </c:pt>
                <c:pt idx="5">
                  <c:v>United Kingdom</c:v>
                </c:pt>
                <c:pt idx="6">
                  <c:v>Singapore</c:v>
                </c:pt>
                <c:pt idx="7">
                  <c:v>France</c:v>
                </c:pt>
                <c:pt idx="8">
                  <c:v>South Korea</c:v>
                </c:pt>
                <c:pt idx="9">
                  <c:v>Spain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2.75</c:v>
                </c:pt>
                <c:pt idx="1">
                  <c:v>2.2200000000000002</c:v>
                </c:pt>
                <c:pt idx="2">
                  <c:v>1.9</c:v>
                </c:pt>
                <c:pt idx="3">
                  <c:v>1.67</c:v>
                </c:pt>
                <c:pt idx="4">
                  <c:v>1.63</c:v>
                </c:pt>
                <c:pt idx="5">
                  <c:v>1.63</c:v>
                </c:pt>
                <c:pt idx="6">
                  <c:v>1.5</c:v>
                </c:pt>
                <c:pt idx="7">
                  <c:v>1.48</c:v>
                </c:pt>
                <c:pt idx="8">
                  <c:v>1.35</c:v>
                </c:pt>
                <c:pt idx="9">
                  <c:v>1.29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4-B5A8-4738-8304-BEF1BA265D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 b="1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1B2A4A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EFC7-494A-955D-A1E5EC860E9C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EFC7-494A-955D-A1E5EC860E9C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EFC7-494A-955D-A1E5EC860E9C}"/>
              </c:ext>
            </c:extLst>
          </c:dPt>
          <c:dPt>
            <c:idx val="3"/>
            <c:invertIfNegative val="1"/>
            <c:bubble3D val="0"/>
            <c:spPr>
              <a:solidFill>
                <a:srgbClr val="D223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FC7-494A-955D-A1E5EC860E9C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EFC7-494A-955D-A1E5EC860E9C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EFC7-494A-955D-A1E5EC860E9C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EFC7-494A-955D-A1E5EC860E9C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EFC7-494A-955D-A1E5EC860E9C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EFC7-494A-955D-A1E5EC860E9C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EFC7-494A-955D-A1E5EC860E9C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JavaScript</c:v>
                </c:pt>
                <c:pt idx="1">
                  <c:v>HTML/CSS</c:v>
                </c:pt>
                <c:pt idx="2">
                  <c:v>SQL</c:v>
                </c:pt>
                <c:pt idx="3">
                  <c:v>Python</c:v>
                </c:pt>
                <c:pt idx="4">
                  <c:v>Bash/Shell</c:v>
                </c:pt>
                <c:pt idx="5">
                  <c:v>TypeScript</c:v>
                </c:pt>
                <c:pt idx="6">
                  <c:v>Java</c:v>
                </c:pt>
                <c:pt idx="7">
                  <c:v>C#</c:v>
                </c:pt>
                <c:pt idx="8">
                  <c:v>C++</c:v>
                </c:pt>
                <c:pt idx="9">
                  <c:v>PowerShell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66</c:v>
                </c:pt>
                <c:pt idx="1">
                  <c:v>61.9</c:v>
                </c:pt>
                <c:pt idx="2">
                  <c:v>58.6</c:v>
                </c:pt>
                <c:pt idx="3">
                  <c:v>57.9</c:v>
                </c:pt>
                <c:pt idx="4">
                  <c:v>48.7</c:v>
                </c:pt>
                <c:pt idx="5">
                  <c:v>43.6</c:v>
                </c:pt>
                <c:pt idx="6">
                  <c:v>29.4</c:v>
                </c:pt>
                <c:pt idx="7">
                  <c:v>27.8</c:v>
                </c:pt>
                <c:pt idx="8">
                  <c:v>23.5</c:v>
                </c:pt>
                <c:pt idx="9">
                  <c:v>23.2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4-EFC7-494A-955D-A1E5EC860E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 b="1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1480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4-PART MARKET INTELLIGENCE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Labour Markets • Global Workforce • AI Skills • India Developer Market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56432"/>
            <a:ext cx="6336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labour-market signals, global workforce pools, AI-skill intensity and developer supply, then translate the evidence into practical market implications.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72000"/>
            <a:ext cx="5271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ANALYTICAL AREAS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64608"/>
            <a:ext cx="5271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Europe | 02 Global Workforce | 03 AI Workforce | 04 India Developers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68796" y="4572000"/>
            <a:ext cx="5271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68796" y="4864608"/>
            <a:ext cx="5271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→ Validate → Analyse → Interpret → Workforce implications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617220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Demonstration Project | Not a client deliverable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bout 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652152" y="470000"/>
            <a:ext cx="10881365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</a:t>
            </a:r>
            <a:endParaRPr lang="en-US" sz="2800" dirty="0"/>
          </a:p>
        </p:txBody>
      </p:sp>
      <p:sp>
        <p:nvSpPr>
          <p:cNvPr id="4" name="Name"/>
          <p:cNvSpPr txBox="1"/>
          <p:nvPr/>
        </p:nvSpPr>
        <p:spPr>
          <a:xfrm>
            <a:off x="652152" y="1114886"/>
            <a:ext cx="10881365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Tejal Mugul</a:t>
            </a:r>
            <a:endParaRPr lang="en-US" sz="1500" dirty="0"/>
          </a:p>
        </p:txBody>
      </p:sp>
      <p:sp>
        <p:nvSpPr>
          <p:cNvPr id="5" name="Subtitle"/>
          <p:cNvSpPr txBox="1"/>
          <p:nvPr/>
        </p:nvSpPr>
        <p:spPr>
          <a:xfrm>
            <a:off x="652152" y="1455268"/>
            <a:ext cx="10881365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| Competitive Intelligence | Research &amp; Data Analysis</a:t>
            </a:r>
            <a:endParaRPr lang="en-US" sz="1200" dirty="0"/>
          </a:p>
        </p:txBody>
      </p:sp>
      <p:sp>
        <p:nvSpPr>
          <p:cNvPr id="7" name="Intro"/>
          <p:cNvSpPr txBox="1"/>
          <p:nvPr/>
        </p:nvSpPr>
        <p:spPr>
          <a:xfrm>
            <a:off x="652152" y="1764886"/>
            <a:ext cx="10881365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0" i="1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I'm a Market Intelligence and Competitive Intelligence professional with three years' experience in secondary research and market/competitor analysis, turning that into insights global clients can actually act on.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1 Label"/>
          <p:cNvSpPr txBox="1"/>
          <p:nvPr/>
        </p:nvSpPr>
        <p:spPr>
          <a:xfrm>
            <a:off x="652152" y="2373721"/>
            <a:ext cx="5293527" cy="305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BRING</a:t>
            </a:r>
            <a:endParaRPr lang="en-US" sz="1200" dirty="0"/>
          </a:p>
        </p:txBody>
      </p:sp>
      <p:sp>
        <p:nvSpPr>
          <p:cNvPr id="11" name="S1 Bullets"/>
          <p:cNvSpPr txBox="1"/>
          <p:nvPr/>
        </p:nvSpPr>
        <p:spPr>
          <a:xfrm>
            <a:off x="652152" y="2758861"/>
            <a:ext cx="5293527" cy="143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7160" indent="-137160">
              <a:lnSpc>
                <a:spcPct val="130000"/>
              </a:lnSpc>
              <a:buFont typeface="Arial"/>
              <a:buChar char="•"/>
            </a:pPr>
            <a:r>
              <a:rPr lang="en-US" sz="11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Secondary &amp; market research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-137160">
              <a:lnSpc>
                <a:spcPct val="130000"/>
              </a:lnSpc>
              <a:buFont typeface="Arial"/>
              <a:buChar char="•"/>
            </a:pPr>
            <a:r>
              <a:rPr lang="en-US" sz="11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Competitive intelligence &amp; benchmarking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-137160">
              <a:lnSpc>
                <a:spcPct val="130000"/>
              </a:lnSpc>
              <a:buFont typeface="Arial"/>
              <a:buChar char="•"/>
            </a:pPr>
            <a:r>
              <a:rPr lang="en-US" sz="11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Market sizing &amp; forecasting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-137160">
              <a:lnSpc>
                <a:spcPct val="130000"/>
              </a:lnSpc>
              <a:buFont typeface="Arial"/>
              <a:buChar char="•"/>
            </a:pPr>
            <a:r>
              <a:rPr lang="en-US" sz="11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Data analysis &amp; interpretation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-137160">
              <a:lnSpc>
                <a:spcPct val="130000"/>
              </a:lnSpc>
              <a:buFont typeface="Arial"/>
              <a:buChar char="•"/>
            </a:pPr>
            <a:r>
              <a:rPr lang="en-US" sz="11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Industry &amp; company intelligence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-137160">
              <a:lnSpc>
                <a:spcPct val="130000"/>
              </a:lnSpc>
              <a:buFont typeface="Arial"/>
              <a:buChar char="•"/>
            </a:pPr>
            <a:r>
              <a:rPr lang="en-US" sz="11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Strategic insight development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2 Label"/>
          <p:cNvSpPr txBox="1"/>
          <p:nvPr/>
        </p:nvSpPr>
        <p:spPr>
          <a:xfrm>
            <a:off x="6184094" y="2373721"/>
            <a:ext cx="5395836" cy="305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TOOLKIT</a:t>
            </a:r>
            <a:endParaRPr lang="en-US" sz="1200" dirty="0"/>
          </a:p>
        </p:txBody>
      </p:sp>
      <p:sp>
        <p:nvSpPr>
          <p:cNvPr id="21" name="S2 Body"/>
          <p:cNvSpPr txBox="1"/>
          <p:nvPr/>
        </p:nvSpPr>
        <p:spPr>
          <a:xfrm>
            <a:off x="6184094" y="2739274"/>
            <a:ext cx="5395836" cy="247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Power BI | SQL | Advanced Excel | Data Visualization | AI-assisted Research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3 Label"/>
          <p:cNvSpPr txBox="1"/>
          <p:nvPr/>
        </p:nvSpPr>
        <p:spPr>
          <a:xfrm>
            <a:off x="6184094" y="3029371"/>
            <a:ext cx="5395836" cy="305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RESEARCH EXPOSURE</a:t>
            </a:r>
            <a:endParaRPr lang="en-US" sz="1200" dirty="0"/>
          </a:p>
        </p:txBody>
      </p:sp>
      <p:sp>
        <p:nvSpPr>
          <p:cNvPr id="23" name="S3 Body"/>
          <p:cNvSpPr txBox="1"/>
          <p:nvPr/>
        </p:nvSpPr>
        <p:spPr>
          <a:xfrm>
            <a:off x="6184094" y="3386788"/>
            <a:ext cx="5395836" cy="1010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600"/>
              </a:spcAft>
              <a:buNone/>
            </a:pPr>
            <a:r>
              <a:rPr lang="en-US" sz="1100" b="1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Research across: </a:t>
            </a:r>
            <a:r>
              <a:rPr lang="en-US" sz="11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North America · Europe · Asia-Pacific · Latin America · Middle East &amp; Africa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Sector exposure: </a:t>
            </a:r>
            <a:r>
              <a:rPr lang="en-US" sz="11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Automotive · FMCG · ICT · Chemicals · Industrial · Life Sciences / Pharma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4 Label"/>
          <p:cNvSpPr txBox="1"/>
          <p:nvPr/>
        </p:nvSpPr>
        <p:spPr>
          <a:xfrm>
            <a:off x="652152" y="4380382"/>
            <a:ext cx="108813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SNAPSHOT</a:t>
            </a:r>
            <a:endParaRPr lang="en-US" sz="1200" dirty="0"/>
          </a:p>
        </p:txBody>
      </p:sp>
      <p:sp>
        <p:nvSpPr>
          <p:cNvPr id="31" name="Stat0 Val"/>
          <p:cNvSpPr txBox="1"/>
          <p:nvPr/>
        </p:nvSpPr>
        <p:spPr>
          <a:xfrm>
            <a:off x="652152" y="4620000"/>
            <a:ext cx="2648806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YEARS</a:t>
            </a:r>
            <a:endParaRPr lang="en-US" sz="2000" dirty="0"/>
          </a:p>
        </p:txBody>
      </p:sp>
      <p:sp>
        <p:nvSpPr>
          <p:cNvPr id="32" name="Stat0 Lbl"/>
          <p:cNvSpPr txBox="1"/>
          <p:nvPr/>
        </p:nvSpPr>
        <p:spPr>
          <a:xfrm>
            <a:off x="652152" y="5010000"/>
            <a:ext cx="2648806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0" i="0" dirty="0">
                <a:solidFill>
                  <a:srgbClr val="59595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Market Research &amp; Strategy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tat1 Val"/>
          <p:cNvSpPr txBox="1"/>
          <p:nvPr/>
        </p:nvSpPr>
        <p:spPr>
          <a:xfrm>
            <a:off x="3509082" y="4620000"/>
            <a:ext cx="2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2000" dirty="0"/>
          </a:p>
        </p:txBody>
      </p:sp>
      <p:sp>
        <p:nvSpPr>
          <p:cNvPr id="34" name="Stat1 Lbl"/>
          <p:cNvSpPr txBox="1"/>
          <p:nvPr/>
        </p:nvSpPr>
        <p:spPr>
          <a:xfrm>
            <a:off x="3509082" y="5010000"/>
            <a:ext cx="27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0" i="0" dirty="0">
                <a:solidFill>
                  <a:srgbClr val="59595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Company intelligence &amp; competitive benchmarking profiles/reports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tat2 Val"/>
          <p:cNvSpPr txBox="1"/>
          <p:nvPr/>
        </p:nvSpPr>
        <p:spPr>
          <a:xfrm>
            <a:off x="6469524" y="4620000"/>
            <a:ext cx="2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000" dirty="0"/>
          </a:p>
        </p:txBody>
      </p:sp>
      <p:sp>
        <p:nvSpPr>
          <p:cNvPr id="36" name="Stat2 Lbl"/>
          <p:cNvSpPr txBox="1"/>
          <p:nvPr/>
        </p:nvSpPr>
        <p:spPr>
          <a:xfrm>
            <a:off x="6469524" y="5010000"/>
            <a:ext cx="27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0" i="0" dirty="0">
                <a:solidFill>
                  <a:srgbClr val="59595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RFP / proposal engagements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tat3 Val"/>
          <p:cNvSpPr txBox="1"/>
          <p:nvPr/>
        </p:nvSpPr>
        <p:spPr>
          <a:xfrm>
            <a:off x="9429966" y="4620000"/>
            <a:ext cx="2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~USD 400K</a:t>
            </a:r>
            <a:endParaRPr lang="en-US" sz="2000" dirty="0"/>
          </a:p>
        </p:txBody>
      </p:sp>
      <p:sp>
        <p:nvSpPr>
          <p:cNvPr id="38" name="Stat3 Lbl"/>
          <p:cNvSpPr txBox="1"/>
          <p:nvPr/>
        </p:nvSpPr>
        <p:spPr>
          <a:xfrm>
            <a:off x="9429966" y="5010000"/>
            <a:ext cx="27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0" i="0" dirty="0">
                <a:solidFill>
                  <a:srgbClr val="59595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Consulting work supported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ule2"/>
          <p:cNvSpPr/>
          <p:nvPr/>
        </p:nvSpPr>
        <p:spPr>
          <a:xfrm>
            <a:off x="548640" y="557000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51" name="Quote"/>
          <p:cNvSpPr txBox="1"/>
          <p:nvPr/>
        </p:nvSpPr>
        <p:spPr>
          <a:xfrm>
            <a:off x="652152" y="5650000"/>
            <a:ext cx="10881365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D2232A"/>
                </a:solidFill>
                <a:latin typeface="Arial" pitchFamily="34" charset="0"/>
              </a:rPr>
              <a:t>Why this fits me: </a:t>
            </a:r>
            <a:r>
              <a:rPr lang="en-US" sz="1200" i="1" dirty="0">
                <a:solidFill>
                  <a:srgbClr val="1B2A4A"/>
                </a:solidFill>
                <a:latin typeface="Arial" pitchFamily="34" charset="0"/>
              </a:rPr>
              <a:t>I combine structured research, quantitative analysis and competitive intelligence to spot market signals, read market conditions, and turn that evidence into practical recommendations.</a:t>
            </a:r>
            <a:endParaRPr lang="en-US" sz="1200" dirty="0"/>
          </a:p>
        </p:txBody>
      </p:sp>
      <p:sp>
        <p:nvSpPr>
          <p:cNvPr id="60" name="Footer Page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b="0" i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9728" y="228600"/>
            <a:ext cx="11010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29728" y="443744"/>
            <a:ext cx="11010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Format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29728" y="960120"/>
            <a:ext cx="11010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project is structured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9728" y="1609344"/>
            <a:ext cx="11010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AT A GLANCE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9728" y="2084832"/>
            <a:ext cx="2486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29728" y="2615184"/>
            <a:ext cx="24860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areas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71226" y="2084832"/>
            <a:ext cx="2486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3471226" y="2615184"/>
            <a:ext cx="24860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areas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12724" y="2084832"/>
            <a:ext cx="2486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research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12724" y="2615184"/>
            <a:ext cx="24860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foundation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54222" y="2084832"/>
            <a:ext cx="2486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interpretation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54222" y="2615184"/>
            <a:ext cx="24860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capability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29728" y="3218688"/>
            <a:ext cx="107297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ANALYTICAL AREAS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9728" y="3547872"/>
            <a:ext cx="24037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29728" y="4050792"/>
            <a:ext cx="2403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labour markets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9728" y="4599432"/>
            <a:ext cx="2403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&amp; unemployment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17570" y="3547872"/>
            <a:ext cx="24848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3417570" y="4050792"/>
            <a:ext cx="2484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workforce pools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17570" y="4599432"/>
            <a:ext cx="2484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Scale, competition &amp; compensation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86500" y="3547872"/>
            <a:ext cx="24848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6286500" y="4050792"/>
            <a:ext cx="2484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Skills &amp; Workforce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86500" y="4599432"/>
            <a:ext cx="2484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intensity &amp; programming languages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155430" y="3547872"/>
            <a:ext cx="24848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9155430" y="4050792"/>
            <a:ext cx="2484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developer supply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155430" y="4599432"/>
            <a:ext cx="2484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guesstimate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828032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629728" y="5029200"/>
            <a:ext cx="107297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28523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r>
              <a:rPr lang="en-US" sz="12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200" b="1" kern="0" spc="8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r>
              <a:rPr lang="en-US" sz="12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200" b="1" kern="0" spc="8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r>
              <a:rPr lang="en-US" sz="12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200" b="1" kern="0" spc="8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</a:t>
            </a:r>
            <a:r>
              <a:rPr lang="en-US" sz="12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200" b="1" kern="0" spc="8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IMPLICATION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10588" y="5806440"/>
            <a:ext cx="107297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areas together connect labour-market conditions, workforce scale, skill availability and developer supply.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90113" y="502920"/>
            <a:ext cx="108606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1 · MONTHLY UNEMPLOYMENT INDICATOR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90113" y="777240"/>
            <a:ext cx="10860658" cy="466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Unemployment stays well below the EU average across Poland, Czechia and Germany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522654751"/>
              </p:ext>
            </p:extLst>
          </p:nvPr>
        </p:nvGraphicFramePr>
        <p:xfrm>
          <a:off x="690113" y="1361737"/>
          <a:ext cx="10860658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E57787F1-50A7-22BB-C74B-EA81BAC19734}"/>
              </a:ext>
            </a:extLst>
          </p:cNvPr>
          <p:cNvGrpSpPr/>
          <p:nvPr/>
        </p:nvGrpSpPr>
        <p:grpSpPr>
          <a:xfrm>
            <a:off x="759125" y="4224528"/>
            <a:ext cx="2335968" cy="886968"/>
            <a:chOff x="581384" y="4224528"/>
            <a:chExt cx="2513710" cy="886968"/>
          </a:xfrm>
        </p:grpSpPr>
        <p:sp>
          <p:nvSpPr>
            <p:cNvPr id="6" name="Text 3"/>
            <p:cNvSpPr txBox="1"/>
            <p:nvPr/>
          </p:nvSpPr>
          <p:spPr>
            <a:xfrm>
              <a:off x="581384" y="4224528"/>
              <a:ext cx="251371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B2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6.1%</a:t>
              </a:r>
              <a:endParaRPr lang="en-US" sz="3000" dirty="0"/>
            </a:p>
          </p:txBody>
        </p:sp>
        <p:sp>
          <p:nvSpPr>
            <p:cNvPr id="7" name="Text 4"/>
            <p:cNvSpPr txBox="1"/>
            <p:nvPr/>
          </p:nvSpPr>
          <p:spPr>
            <a:xfrm>
              <a:off x="581384" y="4700016"/>
              <a:ext cx="251371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B2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EU unemployment</a:t>
              </a:r>
              <a:endParaRPr lang="en-US" sz="1050" dirty="0"/>
            </a:p>
          </p:txBody>
        </p:sp>
        <p:sp>
          <p:nvSpPr>
            <p:cNvPr id="8" name="Text 5"/>
            <p:cNvSpPr txBox="1"/>
            <p:nvPr/>
          </p:nvSpPr>
          <p:spPr>
            <a:xfrm>
              <a:off x="581384" y="4910328"/>
              <a:ext cx="251371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Stable Apr–Jul</a:t>
              </a:r>
              <a:endParaRPr lang="en-US" sz="95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E3C8D0-0856-62FA-2BFF-EAE8E04E74F6}"/>
              </a:ext>
            </a:extLst>
          </p:cNvPr>
          <p:cNvGrpSpPr/>
          <p:nvPr/>
        </p:nvGrpSpPr>
        <p:grpSpPr>
          <a:xfrm>
            <a:off x="3471040" y="4224528"/>
            <a:ext cx="2486276" cy="886968"/>
            <a:chOff x="3390138" y="4224528"/>
            <a:chExt cx="2567178" cy="886968"/>
          </a:xfrm>
        </p:grpSpPr>
        <p:sp>
          <p:nvSpPr>
            <p:cNvPr id="9" name="Text 6"/>
            <p:cNvSpPr txBox="1"/>
            <p:nvPr/>
          </p:nvSpPr>
          <p:spPr>
            <a:xfrm>
              <a:off x="3390138" y="4224528"/>
              <a:ext cx="256717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D223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2.9%</a:t>
              </a:r>
              <a:endParaRPr lang="en-US" sz="3000" dirty="0"/>
            </a:p>
          </p:txBody>
        </p:sp>
        <p:sp>
          <p:nvSpPr>
            <p:cNvPr id="10" name="Text 7"/>
            <p:cNvSpPr txBox="1"/>
            <p:nvPr/>
          </p:nvSpPr>
          <p:spPr>
            <a:xfrm>
              <a:off x="3390138" y="4700016"/>
              <a:ext cx="256717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B2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Czechia low</a:t>
              </a:r>
              <a:endParaRPr lang="en-US" sz="1050" dirty="0"/>
            </a:p>
          </p:txBody>
        </p:sp>
        <p:sp>
          <p:nvSpPr>
            <p:cNvPr id="11" name="Text 8"/>
            <p:cNvSpPr txBox="1"/>
            <p:nvPr/>
          </p:nvSpPr>
          <p:spPr>
            <a:xfrm>
              <a:off x="3390138" y="4910328"/>
              <a:ext cx="256717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May 2026</a:t>
              </a:r>
              <a:endParaRPr lang="en-US" sz="95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64AE58-9000-B5B1-BB00-A68C50650B1F}"/>
              </a:ext>
            </a:extLst>
          </p:cNvPr>
          <p:cNvGrpSpPr/>
          <p:nvPr/>
        </p:nvGrpSpPr>
        <p:grpSpPr>
          <a:xfrm>
            <a:off x="6352400" y="4224528"/>
            <a:ext cx="2567178" cy="886968"/>
            <a:chOff x="6231636" y="4224528"/>
            <a:chExt cx="2567178" cy="886968"/>
          </a:xfrm>
        </p:grpSpPr>
        <p:sp>
          <p:nvSpPr>
            <p:cNvPr id="13" name="Text 10"/>
            <p:cNvSpPr txBox="1"/>
            <p:nvPr/>
          </p:nvSpPr>
          <p:spPr>
            <a:xfrm>
              <a:off x="6231636" y="4224528"/>
              <a:ext cx="256717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B2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3.4%</a:t>
              </a:r>
              <a:endParaRPr lang="en-US" sz="3000" dirty="0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6231636" y="4700016"/>
              <a:ext cx="256717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B2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Poland</a:t>
              </a:r>
              <a:endParaRPr lang="en-US" sz="105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6231636" y="4910328"/>
              <a:ext cx="256717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July 2026</a:t>
              </a:r>
              <a:endParaRPr lang="en-US" sz="9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CD11A7-1F65-3B06-5F26-28F289C2B37A}"/>
              </a:ext>
            </a:extLst>
          </p:cNvPr>
          <p:cNvGrpSpPr/>
          <p:nvPr/>
        </p:nvGrpSpPr>
        <p:grpSpPr>
          <a:xfrm>
            <a:off x="9193899" y="4224528"/>
            <a:ext cx="2109978" cy="886968"/>
            <a:chOff x="9073134" y="4224528"/>
            <a:chExt cx="2567178" cy="886968"/>
          </a:xfrm>
        </p:grpSpPr>
        <p:sp>
          <p:nvSpPr>
            <p:cNvPr id="17" name="Text 14"/>
            <p:cNvSpPr txBox="1"/>
            <p:nvPr/>
          </p:nvSpPr>
          <p:spPr>
            <a:xfrm>
              <a:off x="9073134" y="4224528"/>
              <a:ext cx="256717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B2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4.0%</a:t>
              </a:r>
              <a:endParaRPr lang="en-US" sz="3000" dirty="0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9073134" y="4700016"/>
              <a:ext cx="256717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B2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Germany</a:t>
              </a:r>
              <a:endParaRPr lang="en-US" sz="1050" dirty="0"/>
            </a:p>
          </p:txBody>
        </p:sp>
        <p:sp>
          <p:nvSpPr>
            <p:cNvPr id="19" name="Text 16"/>
            <p:cNvSpPr txBox="1"/>
            <p:nvPr/>
          </p:nvSpPr>
          <p:spPr>
            <a:xfrm>
              <a:off x="9073134" y="4910328"/>
              <a:ext cx="256717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July 2026</a:t>
              </a:r>
              <a:endParaRPr lang="en-US" sz="950" dirty="0"/>
            </a:p>
          </p:txBody>
        </p:sp>
      </p:grpSp>
      <p:sp>
        <p:nvSpPr>
          <p:cNvPr id="21" name="Text 18"/>
          <p:cNvSpPr txBox="1"/>
          <p:nvPr/>
        </p:nvSpPr>
        <p:spPr>
          <a:xfrm>
            <a:off x="690113" y="5193792"/>
            <a:ext cx="10860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Czechia saw the largest monthly movement, while Poland and Germany stayed broadly stable. All three markets stayed clearly below the EU unemployment rate.</a:t>
            </a:r>
            <a:endParaRPr lang="en-US" sz="1200" dirty="0"/>
          </a:p>
        </p:txBody>
      </p:sp>
      <p:sp>
        <p:nvSpPr>
          <p:cNvPr id="22" name="Rule 19"/>
          <p:cNvSpPr/>
          <p:nvPr/>
        </p:nvSpPr>
        <p:spPr>
          <a:xfrm>
            <a:off x="548640" y="576000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90113" y="5840000"/>
            <a:ext cx="10860658" cy="32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means: </a:t>
            </a: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unemployment this low points to less slack in these labour markets, so sourcing for scarce skills needs to be more targeted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83114" y="6243054"/>
            <a:ext cx="103234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unemployment rate is not equivalent to total workforce availability. Germany: Eurostat uses the trend component rather than the seasonally adjusted series. | Source: Eurostat — Unemployment in the EU, July 2026; dataset une_rt_m.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59725" y="457200"/>
            <a:ext cx="107506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1 · QUARTERLY EMPLOYMENT &amp; DRIVERS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3128" y="731520"/>
            <a:ext cx="1092297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Czechia shows the strongest employment momentum, while Germany remains persistently weak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993124" y="1463040"/>
            <a:ext cx="2555748" cy="1600200"/>
          </a:xfrm>
          <a:prstGeom prst="rect">
            <a:avLst/>
          </a:prstGeom>
          <a:solidFill>
            <a:srgbClr val="D2232A">
              <a:alpha val="10000"/>
            </a:srgbClr>
          </a:solidFill>
          <a:ln/>
        </p:spPr>
        <p:txBody>
          <a:bodyPr/>
          <a:p/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621658700"/>
              </p:ext>
            </p:extLst>
          </p:nvPr>
        </p:nvGraphicFramePr>
        <p:xfrm>
          <a:off x="717334" y="1417320"/>
          <a:ext cx="10922978" cy="1770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17334" y="3238279"/>
            <a:ext cx="107506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MOVEMENT MATTERS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59725" y="3621675"/>
            <a:ext cx="24749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CZECHIA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59725" y="3786267"/>
            <a:ext cx="24749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+0.9%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9725" y="4133739"/>
            <a:ext cx="24749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Employment acceleration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59725" y="4429793"/>
            <a:ext cx="2474949" cy="89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employment growth among the markets shown, combined with unemployment of 3.3%, indicates a tight labour market.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27152" y="5296738"/>
            <a:ext cx="24749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Tight hiring market.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427283" y="3621675"/>
            <a:ext cx="25534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3427283" y="3786267"/>
            <a:ext cx="25534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-0.1%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427283" y="4133739"/>
            <a:ext cx="25534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Persistent weakness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3427283" y="4429793"/>
            <a:ext cx="2553462" cy="89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Federal Employment Agency attributes July's rise in unemployment mainly to seasonal factors, while noting that the weak labour-market trend continued.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394710" y="5296738"/>
            <a:ext cx="25534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Demand is softer, but skilled hiring isn't automatically easy.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273353" y="3621675"/>
            <a:ext cx="25534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POLAND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273353" y="3786267"/>
            <a:ext cx="25534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-0.2%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273353" y="4133739"/>
            <a:ext cx="25534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Recent softening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273353" y="4429793"/>
            <a:ext cx="2553462" cy="89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momentum weakened in Q2, while unemployment remained low at 3.4%.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40780" y="5296738"/>
            <a:ext cx="25534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Limited conventional labour slack.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119423" y="3621675"/>
            <a:ext cx="25534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9119423" y="3786267"/>
            <a:ext cx="25534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+0.1%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119423" y="4133739"/>
            <a:ext cx="25534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Broadly stable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9119423" y="4429793"/>
            <a:ext cx="2553462" cy="89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aggregate remains stable but masks significant differences across countries.</a:t>
            </a:r>
            <a:endParaRPr lang="en-US" sz="1100" dirty="0"/>
          </a:p>
        </p:txBody>
      </p:sp>
      <p:sp>
        <p:nvSpPr>
          <p:cNvPr id="30" name="Rule 27"/>
          <p:cNvSpPr/>
          <p:nvPr/>
        </p:nvSpPr>
        <p:spPr>
          <a:xfrm>
            <a:off x="548640" y="591000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643128" y="5960000"/>
            <a:ext cx="10997183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</a:t>
            </a:r>
            <a:r>
              <a:rPr lang="en-US" sz="10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country-level conditions matter more than the EU headline. Czechia is combining strong employment momentum with low unemployment, Germany stays weak, and Poland has softened a bit but still has limited slack.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627152" y="6346824"/>
            <a:ext cx="10218858" cy="2060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Eurostat — Employment and GDP, Q2 2026; Eurostat — Unemployment in the EU, July 2026; Germany Federal Employment Agency — Labour Market, July 2026.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60778" y="5029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kern="0" spc="12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2 · DATA ANALYSIS &amp; INTERPRETATION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60778" y="777240"/>
            <a:ext cx="10979534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0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 has the largest workforce pool, with India a clear second at 700K</a:t>
            </a:r>
            <a:endParaRPr lang="en-US" sz="2000" dirty="0"/>
          </a:p>
        </p:txBody>
      </p:sp>
      <p:sp>
        <p:nvSpPr>
          <p:cNvPr id="10" name="Callout Val 0"/>
          <p:cNvSpPr txBox="1"/>
          <p:nvPr/>
        </p:nvSpPr>
        <p:spPr>
          <a:xfrm>
            <a:off x="8289985" y="1500188"/>
            <a:ext cx="3088258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2.0M</a:t>
            </a:r>
            <a:endParaRPr lang="en-US" sz="2400" dirty="0"/>
          </a:p>
        </p:txBody>
      </p:sp>
      <p:sp>
        <p:nvSpPr>
          <p:cNvPr id="11" name="Callout Lbl 0"/>
          <p:cNvSpPr txBox="1"/>
          <p:nvPr/>
        </p:nvSpPr>
        <p:spPr>
          <a:xfrm>
            <a:off x="8289985" y="1890188"/>
            <a:ext cx="30882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</a:t>
            </a:r>
            <a:endParaRPr lang="en-US" sz="1000" dirty="0"/>
          </a:p>
        </p:txBody>
      </p:sp>
      <p:sp>
        <p:nvSpPr>
          <p:cNvPr id="12" name="Callout Val 1"/>
          <p:cNvSpPr txBox="1"/>
          <p:nvPr/>
        </p:nvSpPr>
        <p:spPr>
          <a:xfrm>
            <a:off x="8289985" y="2200188"/>
            <a:ext cx="3088258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700K</a:t>
            </a:r>
            <a:endParaRPr lang="en-US" sz="2400" dirty="0"/>
          </a:p>
        </p:txBody>
      </p:sp>
      <p:sp>
        <p:nvSpPr>
          <p:cNvPr id="13" name="Callout Lbl 1"/>
          <p:cNvSpPr txBox="1"/>
          <p:nvPr/>
        </p:nvSpPr>
        <p:spPr>
          <a:xfrm>
            <a:off x="8289985" y="2590188"/>
            <a:ext cx="30882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1000" dirty="0"/>
          </a:p>
        </p:txBody>
      </p:sp>
      <p:sp>
        <p:nvSpPr>
          <p:cNvPr id="14" name="Callout Val 2"/>
          <p:cNvSpPr txBox="1"/>
          <p:nvPr/>
        </p:nvSpPr>
        <p:spPr>
          <a:xfrm>
            <a:off x="8289985" y="2900188"/>
            <a:ext cx="3088258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370K</a:t>
            </a:r>
            <a:endParaRPr lang="en-US" sz="2400" dirty="0"/>
          </a:p>
        </p:txBody>
      </p:sp>
      <p:sp>
        <p:nvSpPr>
          <p:cNvPr id="15" name="Callout Lbl 2"/>
          <p:cNvSpPr txBox="1"/>
          <p:nvPr/>
        </p:nvSpPr>
        <p:spPr>
          <a:xfrm>
            <a:off x="8289985" y="3290188"/>
            <a:ext cx="30882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</a:t>
            </a:r>
            <a:endParaRPr lang="en-US" sz="1000" dirty="0"/>
          </a:p>
        </p:txBody>
      </p:sp>
      <p:sp>
        <p:nvSpPr>
          <p:cNvPr id="30" name="Readout Label"/>
          <p:cNvSpPr txBox="1"/>
          <p:nvPr/>
        </p:nvSpPr>
        <p:spPr>
          <a:xfrm>
            <a:off x="660778" y="3950188"/>
            <a:ext cx="109795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kern="0" spc="10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</a:t>
            </a:r>
            <a:endParaRPr lang="en-US" sz="1100" dirty="0"/>
          </a:p>
        </p:txBody>
      </p:sp>
      <p:sp>
        <p:nvSpPr>
          <p:cNvPr id="31" name="Readout Bullets"/>
          <p:cNvSpPr txBox="1"/>
          <p:nvPr/>
        </p:nvSpPr>
        <p:spPr>
          <a:xfrm>
            <a:off x="660778" y="4206220"/>
            <a:ext cx="10979534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7160" indent="-137160">
              <a:lnSpc>
                <a:spcPct val="115000"/>
              </a:lnSpc>
              <a:buFont typeface="Arial"/>
              <a:buChar char="•"/>
            </a:pPr>
            <a:r>
              <a:rPr lang="en-US" sz="12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US is the largest workforce pool in the dataset.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-137160">
              <a:lnSpc>
                <a:spcPct val="115000"/>
              </a:lnSpc>
              <a:buFont typeface="Arial"/>
              <a:buChar char="•"/>
            </a:pPr>
            <a:r>
              <a:rPr lang="en-US" sz="12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India comes second, at 700K.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-137160">
              <a:lnSpc>
                <a:spcPct val="115000"/>
              </a:lnSpc>
              <a:buFont typeface="Arial"/>
              <a:buChar char="•"/>
            </a:pPr>
            <a:r>
              <a:rPr lang="en-US" sz="12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India's workforce pool is about 35% of the US pool and roughly 1.9x the UK's.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-137160">
              <a:lnSpc>
                <a:spcPct val="115000"/>
              </a:lnSpc>
              <a:buFont typeface="Arial"/>
              <a:buChar char="•"/>
            </a:pPr>
            <a:r>
              <a:rPr lang="en-US" sz="12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Every other market here is under 400K.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ule 40"/>
          <p:cNvSpPr/>
          <p:nvPr/>
        </p:nvSpPr>
        <p:spPr>
          <a:xfrm>
            <a:off x="548640" y="495622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  <p:txBody>
          <a:bodyPr/>
          <a:p/>
        </p:txBody>
      </p:sp>
      <p:sp>
        <p:nvSpPr>
          <p:cNvPr id="41" name="Text 41"/>
          <p:cNvSpPr txBox="1"/>
          <p:nvPr/>
        </p:nvSpPr>
        <p:spPr>
          <a:xfrm>
            <a:off x="660778" y="5310188"/>
            <a:ext cx="10979534" cy="21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what: </a:t>
            </a:r>
            <a:r>
              <a:rPr lang="en-US" sz="10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scale is concentrated in the US and India — both offer a much larger addressable pool than the rest of these markets.</a:t>
            </a:r>
            <a:endParaRPr lang="en-US" sz="1050" dirty="0"/>
          </a:p>
        </p:txBody>
      </p:sp>
      <p:sp>
        <p:nvSpPr>
          <p:cNvPr id="42" name="Caveat"/>
          <p:cNvSpPr txBox="1"/>
          <p:nvPr/>
        </p:nvSpPr>
        <p:spPr>
          <a:xfrm>
            <a:off x="660778" y="5736668"/>
            <a:ext cx="10979534" cy="26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0" i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workforce size reflects the supplied project dataset only; it does not represent total working population or total software-developer population.</a:t>
            </a:r>
            <a:endParaRPr lang="en-US" sz="900" dirty="0"/>
          </a:p>
        </p:txBody>
      </p:sp>
      <p:sp>
        <p:nvSpPr>
          <p:cNvPr id="50" name="Text F1"/>
          <p:cNvSpPr txBox="1"/>
          <p:nvPr/>
        </p:nvSpPr>
        <p:spPr>
          <a:xfrm>
            <a:off x="660778" y="6492240"/>
            <a:ext cx="10543032" cy="1552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b="0" i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Project dataset — Scenario 2.</a:t>
            </a:r>
            <a:endParaRPr lang="en-US" sz="900" dirty="0"/>
          </a:p>
        </p:txBody>
      </p:sp>
      <p:graphicFrame>
        <p:nvGraphicFramePr>
          <p:cNvPr id="52" name="Chart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529314"/>
              </p:ext>
            </p:extLst>
          </p:nvPr>
        </p:nvGraphicFramePr>
        <p:xfrm>
          <a:off x="888520" y="1500188"/>
          <a:ext cx="7272069" cy="2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1102" y="502920"/>
            <a:ext cx="110192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kern="0" spc="12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2 · MARKET ATTRACTIVENESS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21102" y="777240"/>
            <a:ext cx="1101921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0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combines a large workforce pool with the lowest compensation value in the dataset</a:t>
            </a:r>
            <a:endParaRPr lang="en-US" sz="20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808076956"/>
              </p:ext>
            </p:extLst>
          </p:nvPr>
        </p:nvGraphicFramePr>
        <p:xfrm>
          <a:off x="548640" y="1500188"/>
          <a:ext cx="11091672" cy="2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Col 0 label"/>
          <p:cNvSpPr txBox="1"/>
          <p:nvPr/>
        </p:nvSpPr>
        <p:spPr>
          <a:xfrm>
            <a:off x="626274" y="4130188"/>
            <a:ext cx="3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950" dirty="0"/>
          </a:p>
        </p:txBody>
      </p:sp>
      <p:sp>
        <p:nvSpPr>
          <p:cNvPr id="21" name="Col 0 value"/>
          <p:cNvSpPr txBox="1"/>
          <p:nvPr/>
        </p:nvSpPr>
        <p:spPr>
          <a:xfrm>
            <a:off x="640080" y="4294780"/>
            <a:ext cx="330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26,000</a:t>
            </a:r>
            <a:endParaRPr lang="en-US" sz="2000" dirty="0"/>
          </a:p>
        </p:txBody>
      </p:sp>
      <p:sp>
        <p:nvSpPr>
          <p:cNvPr id="22" name="Col 0 sub"/>
          <p:cNvSpPr txBox="1"/>
          <p:nvPr/>
        </p:nvSpPr>
        <p:spPr>
          <a:xfrm>
            <a:off x="621102" y="4652118"/>
            <a:ext cx="3327538" cy="23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 competitiveness | 700K workforce size</a:t>
            </a:r>
            <a:endParaRPr lang="en-US" sz="1100" dirty="0"/>
          </a:p>
        </p:txBody>
      </p:sp>
      <p:sp>
        <p:nvSpPr>
          <p:cNvPr id="23" name="Col 0 interp"/>
          <p:cNvSpPr txBox="1"/>
          <p:nvPr/>
        </p:nvSpPr>
        <p:spPr>
          <a:xfrm>
            <a:off x="621102" y="5014492"/>
            <a:ext cx="3327538" cy="52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0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workforce pool, low competitiveness, and the lowest compensation value in this set.</a:t>
            </a:r>
            <a:endParaRPr lang="en-US" sz="1100" dirty="0"/>
          </a:p>
        </p:txBody>
      </p:sp>
      <p:sp>
        <p:nvSpPr>
          <p:cNvPr id="24" name="Col 1 label"/>
          <p:cNvSpPr txBox="1"/>
          <p:nvPr/>
        </p:nvSpPr>
        <p:spPr>
          <a:xfrm>
            <a:off x="4394476" y="4130188"/>
            <a:ext cx="3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</a:t>
            </a:r>
            <a:endParaRPr lang="en-US" sz="950" dirty="0"/>
          </a:p>
        </p:txBody>
      </p:sp>
      <p:sp>
        <p:nvSpPr>
          <p:cNvPr id="25" name="Col 1 value"/>
          <p:cNvSpPr txBox="1"/>
          <p:nvPr/>
        </p:nvSpPr>
        <p:spPr>
          <a:xfrm>
            <a:off x="4394476" y="4294780"/>
            <a:ext cx="34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41,000</a:t>
            </a:r>
            <a:endParaRPr lang="en-US" sz="2000" dirty="0"/>
          </a:p>
        </p:txBody>
      </p:sp>
      <p:sp>
        <p:nvSpPr>
          <p:cNvPr id="26" name="Col 1 sub"/>
          <p:cNvSpPr txBox="1"/>
          <p:nvPr/>
        </p:nvSpPr>
        <p:spPr>
          <a:xfrm>
            <a:off x="4394476" y="4642252"/>
            <a:ext cx="340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 competitiveness | 160K workforce size</a:t>
            </a:r>
            <a:endParaRPr lang="en-US" sz="1100" dirty="0"/>
          </a:p>
        </p:txBody>
      </p:sp>
      <p:sp>
        <p:nvSpPr>
          <p:cNvPr id="27" name="Col 1 interp"/>
          <p:cNvSpPr txBox="1"/>
          <p:nvPr/>
        </p:nvSpPr>
        <p:spPr>
          <a:xfrm>
            <a:off x="4394476" y="5014492"/>
            <a:ext cx="3400000" cy="52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0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low competitiveness and low compensation, but a much smaller workforce pool.</a:t>
            </a:r>
            <a:endParaRPr lang="en-US" sz="1100" dirty="0"/>
          </a:p>
        </p:txBody>
      </p:sp>
      <p:sp>
        <p:nvSpPr>
          <p:cNvPr id="28" name="Col 2 label"/>
          <p:cNvSpPr txBox="1"/>
          <p:nvPr/>
        </p:nvSpPr>
        <p:spPr>
          <a:xfrm>
            <a:off x="8240312" y="4130188"/>
            <a:ext cx="3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50" dirty="0"/>
          </a:p>
        </p:txBody>
      </p:sp>
      <p:sp>
        <p:nvSpPr>
          <p:cNvPr id="29" name="Col 2 value"/>
          <p:cNvSpPr txBox="1"/>
          <p:nvPr/>
        </p:nvSpPr>
        <p:spPr>
          <a:xfrm>
            <a:off x="8240312" y="4294780"/>
            <a:ext cx="34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129,000</a:t>
            </a:r>
            <a:endParaRPr lang="en-US" sz="2000" dirty="0"/>
          </a:p>
        </p:txBody>
      </p:sp>
      <p:sp>
        <p:nvSpPr>
          <p:cNvPr id="30" name="Col 2 sub"/>
          <p:cNvSpPr txBox="1"/>
          <p:nvPr/>
        </p:nvSpPr>
        <p:spPr>
          <a:xfrm>
            <a:off x="8240312" y="4642252"/>
            <a:ext cx="340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competitiveness | 120K workforce size</a:t>
            </a:r>
            <a:endParaRPr lang="en-US" sz="1100" dirty="0"/>
          </a:p>
        </p:txBody>
      </p:sp>
      <p:sp>
        <p:nvSpPr>
          <p:cNvPr id="31" name="Col 2 interp"/>
          <p:cNvSpPr txBox="1"/>
          <p:nvPr/>
        </p:nvSpPr>
        <p:spPr>
          <a:xfrm>
            <a:off x="8240312" y="5014492"/>
            <a:ext cx="3400000" cy="52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0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competitiveness and compensation, but a relatively small workforce pool.</a:t>
            </a:r>
            <a:endParaRPr lang="en-US" sz="1100" dirty="0"/>
          </a:p>
        </p:txBody>
      </p:sp>
      <p:sp>
        <p:nvSpPr>
          <p:cNvPr id="34" name="Rule 34"/>
          <p:cNvSpPr/>
          <p:nvPr/>
        </p:nvSpPr>
        <p:spPr>
          <a:xfrm>
            <a:off x="548640" y="562000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  <p:txBody>
          <a:bodyPr/>
          <a:p/>
        </p:txBody>
      </p:sp>
      <p:sp>
        <p:nvSpPr>
          <p:cNvPr id="35" name="Text 35"/>
          <p:cNvSpPr txBox="1"/>
          <p:nvPr/>
        </p:nvSpPr>
        <p:spPr>
          <a:xfrm>
            <a:off x="640080" y="5710000"/>
            <a:ext cx="11000232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tells us: </a:t>
            </a: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comes out on top for scale, competitiveness and compensation together. Germany is the least attractive on competitiveness, even with its higher compensation.</a:t>
            </a:r>
            <a:endParaRPr lang="en-US" sz="1100" dirty="0"/>
          </a:p>
        </p:txBody>
      </p:sp>
      <p:sp>
        <p:nvSpPr>
          <p:cNvPr id="36" name="Text F1"/>
          <p:cNvSpPr txBox="1"/>
          <p:nvPr/>
        </p:nvSpPr>
        <p:spPr>
          <a:xfrm>
            <a:off x="640080" y="6168640"/>
            <a:ext cx="10543032" cy="199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b="0" i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Project dataset — Scenario 2. Compensation value and currency as supplied; not assumed to be base salary</a:t>
            </a:r>
            <a:r>
              <a:rPr lang="en-US" sz="800" b="0" i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029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kern="0" spc="12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2 · CONSULTANT READOUT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6968" y="777240"/>
            <a:ext cx="10983344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0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ranks strongest overall on the three-core market dimensions</a:t>
            </a:r>
            <a:endParaRPr lang="en-US" sz="2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07239"/>
          <a:ext cx="5127541" cy="2305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Axis caption"/>
          <p:cNvSpPr txBox="1"/>
          <p:nvPr/>
        </p:nvSpPr>
        <p:spPr>
          <a:xfrm>
            <a:off x="677124" y="3942920"/>
            <a:ext cx="52715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X: Competitiveness, low → high (lower is better for hiring) · Y: Compensation, low → high</a:t>
            </a:r>
            <a:endParaRPr lang="en-US" sz="900" dirty="0"/>
          </a:p>
        </p:txBody>
      </p:sp>
      <p:sp>
        <p:nvSpPr>
          <p:cNvPr id="56" name="PV Label"/>
          <p:cNvSpPr txBox="1"/>
          <p:nvPr/>
        </p:nvSpPr>
        <p:spPr>
          <a:xfrm>
            <a:off x="677124" y="4224502"/>
            <a:ext cx="600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VIEW</a:t>
            </a:r>
            <a:endParaRPr lang="en-US" sz="950" dirty="0"/>
          </a:p>
        </p:txBody>
      </p:sp>
      <p:sp>
        <p:nvSpPr>
          <p:cNvPr id="57" name="PV Caveat"/>
          <p:cNvSpPr txBox="1"/>
          <p:nvPr/>
        </p:nvSpPr>
        <p:spPr>
          <a:xfrm>
            <a:off x="6468264" y="4114774"/>
            <a:ext cx="510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location priority based on the three variables provided.</a:t>
            </a:r>
            <a:endParaRPr lang="en-US" sz="800" dirty="0"/>
          </a:p>
        </p:txBody>
      </p:sp>
      <p:sp>
        <p:nvSpPr>
          <p:cNvPr id="58" name="Chip0 Rank"/>
          <p:cNvSpPr txBox="1"/>
          <p:nvPr/>
        </p:nvSpPr>
        <p:spPr>
          <a:xfrm>
            <a:off x="677124" y="4657444"/>
            <a:ext cx="215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INDIA</a:t>
            </a:r>
            <a:endParaRPr lang="en-US" sz="1100" dirty="0"/>
          </a:p>
        </p:txBody>
      </p:sp>
      <p:sp>
        <p:nvSpPr>
          <p:cNvPr id="59" name="Chip0 Desc"/>
          <p:cNvSpPr txBox="1"/>
          <p:nvPr/>
        </p:nvSpPr>
        <p:spPr>
          <a:xfrm>
            <a:off x="677124" y="5007172"/>
            <a:ext cx="21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0" i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overall balance in the supplied dataset.</a:t>
            </a:r>
            <a:endParaRPr lang="en-US" sz="1000" dirty="0"/>
          </a:p>
        </p:txBody>
      </p:sp>
      <p:sp>
        <p:nvSpPr>
          <p:cNvPr id="60" name="Chip1 Rank"/>
          <p:cNvSpPr txBox="1"/>
          <p:nvPr/>
        </p:nvSpPr>
        <p:spPr>
          <a:xfrm>
            <a:off x="2912542" y="4657444"/>
            <a:ext cx="215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US</a:t>
            </a:r>
            <a:endParaRPr lang="en-US" sz="1100" dirty="0"/>
          </a:p>
        </p:txBody>
      </p:sp>
      <p:sp>
        <p:nvSpPr>
          <p:cNvPr id="61" name="Chip1 Desc"/>
          <p:cNvSpPr txBox="1"/>
          <p:nvPr/>
        </p:nvSpPr>
        <p:spPr>
          <a:xfrm>
            <a:off x="2912542" y="5007172"/>
            <a:ext cx="21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0" i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absolute workforce scale.</a:t>
            </a:r>
            <a:endParaRPr lang="en-US" sz="1000" dirty="0"/>
          </a:p>
        </p:txBody>
      </p:sp>
      <p:sp>
        <p:nvSpPr>
          <p:cNvPr id="62" name="Chip2 Rank"/>
          <p:cNvSpPr txBox="1"/>
          <p:nvPr/>
        </p:nvSpPr>
        <p:spPr>
          <a:xfrm>
            <a:off x="5147960" y="4657444"/>
            <a:ext cx="215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UK / CANADA</a:t>
            </a:r>
            <a:endParaRPr lang="en-US" sz="1100" dirty="0"/>
          </a:p>
        </p:txBody>
      </p:sp>
      <p:sp>
        <p:nvSpPr>
          <p:cNvPr id="63" name="Chip2 Desc"/>
          <p:cNvSpPr txBox="1"/>
          <p:nvPr/>
        </p:nvSpPr>
        <p:spPr>
          <a:xfrm>
            <a:off x="5147960" y="5007172"/>
            <a:ext cx="21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0" i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Mid-sized alternatives with relatively favourable competitiveness.</a:t>
            </a:r>
            <a:endParaRPr lang="en-US" sz="1000" dirty="0"/>
          </a:p>
        </p:txBody>
      </p:sp>
      <p:sp>
        <p:nvSpPr>
          <p:cNvPr id="64" name="Chip3 Rank"/>
          <p:cNvSpPr txBox="1"/>
          <p:nvPr/>
        </p:nvSpPr>
        <p:spPr>
          <a:xfrm>
            <a:off x="7383378" y="4657444"/>
            <a:ext cx="215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— BRAZIL</a:t>
            </a:r>
            <a:endParaRPr lang="en-US" sz="1100" dirty="0"/>
          </a:p>
        </p:txBody>
      </p:sp>
      <p:sp>
        <p:nvSpPr>
          <p:cNvPr id="65" name="Chip3 Desc"/>
          <p:cNvSpPr txBox="1"/>
          <p:nvPr/>
        </p:nvSpPr>
        <p:spPr>
          <a:xfrm>
            <a:off x="7383378" y="5007172"/>
            <a:ext cx="21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0" i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Cost/competition advantage but smaller workforce scale.</a:t>
            </a:r>
            <a:endParaRPr lang="en-US" sz="1000" dirty="0"/>
          </a:p>
        </p:txBody>
      </p:sp>
      <p:sp>
        <p:nvSpPr>
          <p:cNvPr id="66" name="Chip4 Rank"/>
          <p:cNvSpPr txBox="1"/>
          <p:nvPr/>
        </p:nvSpPr>
        <p:spPr>
          <a:xfrm>
            <a:off x="9618796" y="4657444"/>
            <a:ext cx="215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— GERMANY</a:t>
            </a:r>
            <a:endParaRPr lang="en-US" sz="1100" dirty="0"/>
          </a:p>
        </p:txBody>
      </p:sp>
      <p:sp>
        <p:nvSpPr>
          <p:cNvPr id="67" name="Chip4 Desc"/>
          <p:cNvSpPr txBox="1"/>
          <p:nvPr/>
        </p:nvSpPr>
        <p:spPr>
          <a:xfrm>
            <a:off x="9618796" y="5007172"/>
            <a:ext cx="21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0" i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attractive on the project's competitiveness measure.</a:t>
            </a:r>
            <a:endParaRPr lang="en-US" sz="1000" dirty="0"/>
          </a:p>
        </p:txBody>
      </p:sp>
      <p:sp>
        <p:nvSpPr>
          <p:cNvPr id="68" name="CT Rule"/>
          <p:cNvSpPr/>
          <p:nvPr/>
        </p:nvSpPr>
        <p:spPr>
          <a:xfrm>
            <a:off x="548640" y="4867512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69" name="CT Text"/>
          <p:cNvSpPr txBox="1"/>
          <p:nvPr/>
        </p:nvSpPr>
        <p:spPr>
          <a:xfrm>
            <a:off x="677124" y="5631175"/>
            <a:ext cx="10963188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supplied variables, India provides the strongest combination of workforce scale, competitiveness and compensation value. The US remains the scale leader, while Brazil offers a smaller but potentially cost-efficient alternative.</a:t>
            </a:r>
            <a:endParaRPr lang="en-US" sz="1000" dirty="0"/>
          </a:p>
        </p:txBody>
      </p:sp>
      <p:sp>
        <p:nvSpPr>
          <p:cNvPr id="70" name="Method Note"/>
          <p:cNvSpPr txBox="1"/>
          <p:nvPr/>
        </p:nvSpPr>
        <p:spPr>
          <a:xfrm>
            <a:off x="656968" y="6112102"/>
            <a:ext cx="11091672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0" i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Methodological note: interpretation is based solely on the three variables provided in the supplied dataset — workforce size, competitiveness and compensation. No external assumptions have been introduced.</a:t>
            </a:r>
            <a:endParaRPr lang="en-US" sz="800" dirty="0"/>
          </a:p>
        </p:txBody>
      </p:sp>
      <p:sp>
        <p:nvSpPr>
          <p:cNvPr id="71" name="Text F1"/>
          <p:cNvSpPr txBox="1"/>
          <p:nvPr/>
        </p:nvSpPr>
        <p:spPr>
          <a:xfrm>
            <a:off x="677124" y="6352171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00" b="0" i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Project dataset — Scenario 2.</a:t>
            </a:r>
            <a:endParaRPr lang="en-US" sz="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08E1B6-351B-49F1-48D6-66729C8A09EC}"/>
              </a:ext>
            </a:extLst>
          </p:cNvPr>
          <p:cNvGraphicFramePr>
            <a:graphicFrameLocks noGrp="1"/>
          </p:cNvGraphicFramePr>
          <p:nvPr/>
        </p:nvGraphicFramePr>
        <p:xfrm>
          <a:off x="5689553" y="1404709"/>
          <a:ext cx="5878711" cy="270267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42718">
                  <a:extLst>
                    <a:ext uri="{9D8B030D-6E8A-4147-A177-3AD203B41FA5}">
                      <a16:colId xmlns:a16="http://schemas.microsoft.com/office/drawing/2014/main" val="1191845127"/>
                    </a:ext>
                  </a:extLst>
                </a:gridCol>
                <a:gridCol w="543464">
                  <a:extLst>
                    <a:ext uri="{9D8B030D-6E8A-4147-A177-3AD203B41FA5}">
                      <a16:colId xmlns:a16="http://schemas.microsoft.com/office/drawing/2014/main" val="829738836"/>
                    </a:ext>
                  </a:extLst>
                </a:gridCol>
                <a:gridCol w="923027">
                  <a:extLst>
                    <a:ext uri="{9D8B030D-6E8A-4147-A177-3AD203B41FA5}">
                      <a16:colId xmlns:a16="http://schemas.microsoft.com/office/drawing/2014/main" val="296556283"/>
                    </a:ext>
                  </a:extLst>
                </a:gridCol>
                <a:gridCol w="845388">
                  <a:extLst>
                    <a:ext uri="{9D8B030D-6E8A-4147-A177-3AD203B41FA5}">
                      <a16:colId xmlns:a16="http://schemas.microsoft.com/office/drawing/2014/main" val="4046431322"/>
                    </a:ext>
                  </a:extLst>
                </a:gridCol>
                <a:gridCol w="2824114">
                  <a:extLst>
                    <a:ext uri="{9D8B030D-6E8A-4147-A177-3AD203B41FA5}">
                      <a16:colId xmlns:a16="http://schemas.microsoft.com/office/drawing/2014/main" val="3428414749"/>
                    </a:ext>
                  </a:extLst>
                </a:gridCol>
              </a:tblGrid>
              <a:tr h="356363"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Talent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Competitiveness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Compensation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448214"/>
                  </a:ext>
                </a:extLst>
              </a:tr>
              <a:tr h="414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~281K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High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High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Largest/highest-value market, but expensive and highly competitive for skilled talent.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637866"/>
                  </a:ext>
                </a:extLst>
              </a:tr>
              <a:tr h="414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India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Low–Medium</a:t>
                      </a:r>
                      <a:endParaRPr lang="en-IN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 and cost-attractive talent market; strong depth makes it suitable for scalable hiring.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533213"/>
                  </a:ext>
                </a:extLst>
              </a:tr>
              <a:tr h="502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Germany</a:t>
                      </a:r>
                      <a:endParaRPr lang="en-IN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~43K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IN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 European talent base, but higher compensation and tighter competition increase hiring costs.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070549"/>
                  </a:ext>
                </a:extLst>
              </a:tr>
              <a:tr h="477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Poland</a:t>
                      </a:r>
                      <a:endParaRPr lang="en-IN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~11K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Medium–High</a:t>
                      </a:r>
                      <a:endParaRPr lang="en-IN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Smaller pool than Germany but attractive for European delivery due to relatively competitive costs.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880225"/>
                  </a:ext>
                </a:extLst>
              </a:tr>
              <a:tr h="477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Czechia</a:t>
                      </a:r>
                      <a:endParaRPr lang="en-I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&lt;5K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Medium–High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Smaller talent pool but relatively strong talent density; better suited to targeted/specialist hiring.</a:t>
                      </a:r>
                      <a:endParaRPr lang="en-IN" sz="9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96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08076" y="502920"/>
            <a:ext cx="11032236" cy="21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kern="0" spc="12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3 · AI DEMOGRAPHICS BY COUNTRY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8076" y="777240"/>
            <a:ext cx="1103223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0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India, the US and Germany show the highest AI-skill intensity among the LinkedIn-tracked markets</a:t>
            </a:r>
            <a:endParaRPr lang="en-US" sz="2000" dirty="0"/>
          </a:p>
        </p:txBody>
      </p:sp>
      <p:sp>
        <p:nvSpPr>
          <p:cNvPr id="7" name="Axis caption"/>
          <p:cNvSpPr txBox="1"/>
          <p:nvPr/>
        </p:nvSpPr>
        <p:spPr>
          <a:xfrm>
            <a:off x="682749" y="3952622"/>
            <a:ext cx="1103223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AI skill penetration rate (multiple of the global average across the same occupations; 1.0 = global average)</a:t>
            </a:r>
            <a:endParaRPr lang="en-US" sz="900" dirty="0"/>
          </a:p>
        </p:txBody>
      </p:sp>
      <p:sp>
        <p:nvSpPr>
          <p:cNvPr id="20" name="Obs Label"/>
          <p:cNvSpPr txBox="1"/>
          <p:nvPr/>
        </p:nvSpPr>
        <p:spPr>
          <a:xfrm>
            <a:off x="640081" y="427118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</a:t>
            </a:r>
            <a:endParaRPr lang="en-US" sz="1050" dirty="0"/>
          </a:p>
        </p:txBody>
      </p:sp>
      <p:sp>
        <p:nvSpPr>
          <p:cNvPr id="21" name="Obs Bullets"/>
          <p:cNvSpPr txBox="1"/>
          <p:nvPr/>
        </p:nvSpPr>
        <p:spPr>
          <a:xfrm>
            <a:off x="640081" y="4527220"/>
            <a:ext cx="11015469" cy="703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7160" indent="-137160">
              <a:lnSpc>
                <a:spcPct val="115000"/>
              </a:lnSpc>
              <a:buFont typeface="Arial"/>
              <a:buChar char="•"/>
            </a:pPr>
            <a:r>
              <a:rPr lang="en-US" sz="11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India has the highest relative AI-skill penetration rate at 2.75, followed by the US at 2.22 and Germany at 1.90.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-137160">
              <a:lnSpc>
                <a:spcPct val="115000"/>
              </a:lnSpc>
              <a:buFont typeface="Arial"/>
              <a:buChar char="•"/>
            </a:pPr>
            <a:r>
              <a:rPr lang="en-US" sz="11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Most markets here score above the global average of 1.0, so AI skills are fairly spread out rather than concentrated in one region.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" indent="-137160">
              <a:lnSpc>
                <a:spcPct val="115000"/>
              </a:lnSpc>
              <a:buFont typeface="Arial"/>
              <a:buChar char="•"/>
            </a:pPr>
            <a:r>
              <a:rPr lang="en-US" sz="1100" b="0" i="0" dirty="0">
                <a:solidFill>
                  <a:srgbClr val="1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This measures how concentrated AI skills are in each country's LinkedIn profiles, not the actual size of its AI workforce.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Impl Rule"/>
          <p:cNvSpPr/>
          <p:nvPr/>
        </p:nvSpPr>
        <p:spPr>
          <a:xfrm>
            <a:off x="548640" y="52062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1" name="Impl Text"/>
          <p:cNvSpPr txBox="1"/>
          <p:nvPr/>
        </p:nvSpPr>
        <p:spPr>
          <a:xfrm>
            <a:off x="640080" y="5291200"/>
            <a:ext cx="11074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sourcing: </a:t>
            </a:r>
            <a:r>
              <a:rPr lang="en-US" sz="10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 both AI-skill intensity and overall workforce scale when picking a country — a high penetration rate alone doesn't mean a large addressable pool</a:t>
            </a: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40" name="Method Note"/>
          <p:cNvSpPr txBox="1"/>
          <p:nvPr/>
        </p:nvSpPr>
        <p:spPr>
          <a:xfrm>
            <a:off x="640079" y="5780819"/>
            <a:ext cx="10916921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b="0" i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relative AI skill penetration rate measures the prevalence of AI skills in LinkedIn members’ profiles relative to the global average across the same occupations (1.0 = global average). Data covers 2015–2023; all countries shown use the same LinkedIn-derived metric and reporting period.</a:t>
            </a:r>
            <a:endParaRPr lang="en-US" sz="900" dirty="0"/>
          </a:p>
        </p:txBody>
      </p:sp>
      <p:sp>
        <p:nvSpPr>
          <p:cNvPr id="50" name="Text F1"/>
          <p:cNvSpPr txBox="1"/>
          <p:nvPr/>
        </p:nvSpPr>
        <p:spPr>
          <a:xfrm>
            <a:off x="640080" y="6355080"/>
            <a:ext cx="10543032" cy="200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b="0" i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Stanford HAI, AI Index Report 2024, Chapter 4: Economy (LinkedIn, 2023) — hai.stanford.edu/assets/files/hai_ai-index-report-2024_chapter4.pdf</a:t>
            </a:r>
            <a:endParaRPr lang="en-US" sz="900" dirty="0"/>
          </a:p>
        </p:txBody>
      </p:sp>
      <p:graphicFrame>
        <p:nvGraphicFramePr>
          <p:cNvPr id="52" name="Chart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208865"/>
              </p:ext>
            </p:extLst>
          </p:nvPr>
        </p:nvGraphicFramePr>
        <p:xfrm>
          <a:off x="702732" y="1500187"/>
          <a:ext cx="10937579" cy="2427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5640" y="457200"/>
            <a:ext cx="1096741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20" dirty="0">
                <a:solidFill>
                  <a:srgbClr val="D2232A"/>
                </a:solidFill>
                <a:latin typeface="Arial"/>
              </a:rPr>
              <a:t>AREA 3 · PROGRAMMING LANGUAGES (GLOBAL)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640" y="731520"/>
            <a:ext cx="10967415" cy="640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 dirty="0">
                <a:solidFill>
                  <a:srgbClr val="1B2A4A"/>
                </a:solidFill>
                <a:latin typeface="Arial"/>
              </a:rPr>
              <a:t>JavaScript is still the most widely used language, but Python's fast growth keeps reinforcing its role in AI and data-focused sourcing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640" y="1435608"/>
            <a:ext cx="1109441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95959"/>
                </a:solidFill>
                <a:latin typeface="Arial"/>
              </a:rPr>
              <a:t>Programming-language usage among developers — global developer population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243177"/>
              </p:ext>
            </p:extLst>
          </p:nvPr>
        </p:nvGraphicFramePr>
        <p:xfrm>
          <a:off x="548640" y="1828800"/>
          <a:ext cx="73152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5640" y="481103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% of respondents reporting use of each language in the past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828800"/>
            <a:ext cx="3459175" cy="374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spc="100" dirty="0">
                <a:solidFill>
                  <a:srgbClr val="1B2A4A"/>
                </a:solidFill>
                <a:latin typeface="Arial"/>
              </a:rPr>
              <a:t>WHAT IT MEANS FOR TALENT SOURCING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2286000"/>
            <a:ext cx="3390053" cy="17972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15000"/>
              </a:lnSpc>
              <a:spcAft>
                <a:spcPts val="1000"/>
              </a:spcAft>
              <a:buChar char="–"/>
            </a:pPr>
            <a:r>
              <a:rPr sz="1100" b="0" i="0" dirty="0">
                <a:solidFill>
                  <a:srgbClr val="1B2A4A"/>
                </a:solidFill>
                <a:latin typeface="Arial"/>
              </a:rPr>
              <a:t>Python leads among developers learning to code (71.8%) and had the biggest year-over-year jump of any language, +7 points.</a:t>
            </a:r>
          </a:p>
          <a:p>
            <a:pPr marL="182880" indent="-182880">
              <a:lnSpc>
                <a:spcPct val="115000"/>
              </a:lnSpc>
              <a:spcAft>
                <a:spcPts val="1000"/>
              </a:spcAft>
              <a:buChar char="–"/>
            </a:pPr>
            <a:r>
              <a:rPr sz="1100" b="0" i="0" dirty="0">
                <a:solidFill>
                  <a:srgbClr val="1B2A4A"/>
                </a:solidFill>
                <a:latin typeface="Arial"/>
              </a:rPr>
              <a:t>JavaScript, HTML/CSS and SQL are still the most-used languages overall — most developers aren't doing AI-specific work.</a:t>
            </a:r>
          </a:p>
          <a:p>
            <a:pPr marL="182880" indent="-182880">
              <a:lnSpc>
                <a:spcPct val="115000"/>
              </a:lnSpc>
              <a:spcAft>
                <a:spcPts val="1000"/>
              </a:spcAft>
              <a:buChar char="–"/>
            </a:pPr>
            <a:r>
              <a:rPr sz="1100" b="0" i="0" dirty="0">
                <a:solidFill>
                  <a:srgbClr val="1B2A4A"/>
                </a:solidFill>
                <a:latin typeface="Arial"/>
              </a:rPr>
              <a:t>Language popularity is a sourcing signal, not a stand-in for the size of the AI/ML workforce pool.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640" y="5316932"/>
            <a:ext cx="10964672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100" b="1" dirty="0">
                <a:solidFill>
                  <a:srgbClr val="D2232A"/>
                </a:solidFill>
                <a:latin typeface="Arial"/>
              </a:rPr>
              <a:t>For sourcing: </a:t>
            </a:r>
            <a:r>
              <a:rPr sz="1100" dirty="0">
                <a:solidFill>
                  <a:srgbClr val="1B2A4A"/>
                </a:solidFill>
                <a:latin typeface="Arial"/>
              </a:rPr>
              <a:t>treat Python as a core search keyword for AI, ML and data roles, and match other language requirements to the specific tech stack and role.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640" y="5870448"/>
            <a:ext cx="10967415" cy="304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 dirty="0">
                <a:solidFill>
                  <a:srgbClr val="595959"/>
                </a:solidFill>
                <a:latin typeface="Arial"/>
              </a:rPr>
              <a:t>Methodology note: percentages represent developer respondents reporting use of each language in the selected survey. Multiple languages may be selected by one respondent; therefore percentages are not additive. “Developer language usage” here is distinct from the AI-specific skill-penetration measure shown on Slide 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640" y="6431671"/>
            <a:ext cx="10418775" cy="1384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900" b="0" i="1" dirty="0">
                <a:solidFill>
                  <a:srgbClr val="9B9B9B"/>
                </a:solidFill>
                <a:latin typeface="Arial"/>
              </a:rPr>
              <a:t>Source: Stack Overflow, 2025 Developer Survey — Programming, Scripting, and Markup Languages (All Respondents, n=31,771). survey.stackoverflow.co/2025/technology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7178" y="393192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10">
                <a:solidFill>
                  <a:srgbClr val="D2232A"/>
                </a:solidFill>
                <a:latin typeface="Arial"/>
              </a:rPr>
              <a:t>AREA 4 · ESTIMATE: SOFTWARE DEVELOPERS IN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178" y="621792"/>
            <a:ext cx="1109441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1B2A4A"/>
                </a:solidFill>
                <a:latin typeface="Arial"/>
              </a:rPr>
              <a:t>How many software developers are available in India? — a bottom-up guesstimate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6446" y="1170432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95959"/>
                </a:solidFill>
                <a:latin typeface="Arial"/>
              </a:rPr>
              <a:t>Estimating the addressable software-developer workforce pool using population and workforce assumptions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8706280-9862-5E1A-6FD5-331637DC6656}"/>
              </a:ext>
            </a:extLst>
          </p:cNvPr>
          <p:cNvGrpSpPr/>
          <p:nvPr/>
        </p:nvGrpSpPr>
        <p:grpSpPr>
          <a:xfrm>
            <a:off x="487833" y="1997034"/>
            <a:ext cx="11094414" cy="1152107"/>
            <a:chOff x="548640" y="1444752"/>
            <a:chExt cx="11094414" cy="841641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DB7C1277-6939-31B2-FB55-69C7C0374D90}"/>
                </a:ext>
              </a:extLst>
            </p:cNvPr>
            <p:cNvGrpSpPr/>
            <p:nvPr/>
          </p:nvGrpSpPr>
          <p:grpSpPr>
            <a:xfrm>
              <a:off x="548640" y="1444752"/>
              <a:ext cx="5638647" cy="841641"/>
              <a:chOff x="548640" y="1444752"/>
              <a:chExt cx="5638647" cy="841641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548640" y="1444752"/>
                <a:ext cx="169666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900" b="1" i="0" dirty="0">
                    <a:solidFill>
                      <a:srgbClr val="1B2A4A"/>
                    </a:solidFill>
                    <a:latin typeface="Arial"/>
                  </a:rPr>
                  <a:t>INDIA
POPULATION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48640" y="2070949"/>
                <a:ext cx="169666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400" b="1" i="0" dirty="0">
                    <a:solidFill>
                      <a:srgbClr val="1B2A4A"/>
                    </a:solidFill>
                    <a:latin typeface="Arial"/>
                  </a:rPr>
                  <a:t>~1.45B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245309" y="2070949"/>
                <a:ext cx="18288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400" b="0" i="0" dirty="0">
                    <a:solidFill>
                      <a:srgbClr val="9B9B9B"/>
                    </a:solidFill>
                    <a:latin typeface="Arial"/>
                  </a:rPr>
                  <a:t>→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2428189" y="1444752"/>
                <a:ext cx="169666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900" b="1" i="0">
                    <a:solidFill>
                      <a:srgbClr val="1B2A4A"/>
                    </a:solidFill>
                    <a:latin typeface="Arial"/>
                  </a:rPr>
                  <a:t>WORKING-AGE
POPULATION (15–64)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428189" y="1809158"/>
                <a:ext cx="1696669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000" b="1" i="0" dirty="0">
                    <a:solidFill>
                      <a:srgbClr val="595959"/>
                    </a:solidFill>
                    <a:latin typeface="Arial"/>
                  </a:rPr>
                  <a:t>× 68%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428189" y="2070949"/>
                <a:ext cx="169666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400" b="1" i="0" dirty="0">
                    <a:solidFill>
                      <a:srgbClr val="1B2A4A"/>
                    </a:solidFill>
                    <a:latin typeface="Arial"/>
                  </a:rPr>
                  <a:t>~986M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124858" y="2070949"/>
                <a:ext cx="18288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400" b="0" i="0">
                    <a:solidFill>
                      <a:srgbClr val="9B9B9B"/>
                    </a:solidFill>
                    <a:latin typeface="Arial"/>
                  </a:rPr>
                  <a:t>→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307738" y="1444752"/>
                <a:ext cx="169666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900" b="1" i="0">
                    <a:solidFill>
                      <a:srgbClr val="1B2A4A"/>
                    </a:solidFill>
                    <a:latin typeface="Arial"/>
                  </a:rPr>
                  <a:t>EMPLOYED
POPULATION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307738" y="1809158"/>
                <a:ext cx="1696669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595959"/>
                    </a:solidFill>
                    <a:latin typeface="Arial"/>
                  </a:rPr>
                  <a:t>× 58%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307738" y="2070949"/>
                <a:ext cx="169666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400" b="1" i="0">
                    <a:solidFill>
                      <a:srgbClr val="1B2A4A"/>
                    </a:solidFill>
                    <a:latin typeface="Arial"/>
                  </a:rPr>
                  <a:t>~572M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004407" y="2070949"/>
                <a:ext cx="18288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400" b="0" i="0">
                    <a:solidFill>
                      <a:srgbClr val="9B9B9B"/>
                    </a:solidFill>
                    <a:latin typeface="Arial"/>
                  </a:rPr>
                  <a:t>→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C32D4BB-03F1-A382-048D-FB6A080AA3F7}"/>
                </a:ext>
              </a:extLst>
            </p:cNvPr>
            <p:cNvGrpSpPr/>
            <p:nvPr/>
          </p:nvGrpSpPr>
          <p:grpSpPr>
            <a:xfrm>
              <a:off x="6187287" y="1444752"/>
              <a:ext cx="5455767" cy="841641"/>
              <a:chOff x="6187287" y="1444752"/>
              <a:chExt cx="5455767" cy="841641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6187287" y="1444752"/>
                <a:ext cx="169666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900" b="1" i="0" dirty="0">
                    <a:solidFill>
                      <a:srgbClr val="1B2A4A"/>
                    </a:solidFill>
                    <a:latin typeface="Arial"/>
                  </a:rPr>
                  <a:t>DIGITAL /
KNOWLEDGE WORKERS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6187287" y="1809158"/>
                <a:ext cx="1696669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595959"/>
                    </a:solidFill>
                    <a:latin typeface="Arial"/>
                  </a:rPr>
                  <a:t>× ~2.0%*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187287" y="2070949"/>
                <a:ext cx="169666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400" b="1" i="0">
                    <a:solidFill>
                      <a:srgbClr val="1B2A4A"/>
                    </a:solidFill>
                    <a:latin typeface="Arial"/>
                  </a:rPr>
                  <a:t>~11.4M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7883956" y="2070949"/>
                <a:ext cx="18288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400" b="0" i="0">
                    <a:solidFill>
                      <a:srgbClr val="9B9B9B"/>
                    </a:solidFill>
                    <a:latin typeface="Arial"/>
                  </a:rPr>
                  <a:t>→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8066836" y="1444752"/>
                <a:ext cx="169666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900" b="1" i="0">
                    <a:solidFill>
                      <a:srgbClr val="1B2A4A"/>
                    </a:solidFill>
                    <a:latin typeface="Arial"/>
                  </a:rPr>
                  <a:t>SOFTWARE &amp; APP
DEV ROLES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8066836" y="1809158"/>
                <a:ext cx="1696669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595959"/>
                    </a:solidFill>
                    <a:latin typeface="Arial"/>
                  </a:rPr>
                  <a:t>× ~44%*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066836" y="2070949"/>
                <a:ext cx="169666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400" b="1" i="0">
                    <a:solidFill>
                      <a:srgbClr val="1B2A4A"/>
                    </a:solidFill>
                    <a:latin typeface="Arial"/>
                  </a:rPr>
                  <a:t>~5.0M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9763505" y="2070949"/>
                <a:ext cx="18288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400" b="0" i="0">
                    <a:solidFill>
                      <a:srgbClr val="9B9B9B"/>
                    </a:solidFill>
                    <a:latin typeface="Arial"/>
                  </a:rPr>
                  <a:t>→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9946385" y="1444752"/>
                <a:ext cx="169666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900" b="1" i="0">
                    <a:solidFill>
                      <a:srgbClr val="1B2A4A"/>
                    </a:solidFill>
                    <a:latin typeface="Arial"/>
                  </a:rPr>
                  <a:t>ESTIMATED SOFTWARE
DEVELOPERS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9946385" y="2070949"/>
                <a:ext cx="169666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400" b="1" i="0">
                    <a:solidFill>
                      <a:srgbClr val="D2232A"/>
                    </a:solidFill>
                    <a:latin typeface="Arial"/>
                  </a:rPr>
                  <a:t>~4–6M</a:t>
                </a:r>
              </a:p>
            </p:txBody>
          </p:sp>
        </p:grpSp>
      </p:grpSp>
      <p:sp>
        <p:nvSpPr>
          <p:cNvPr id="28" name="TextBox 27"/>
          <p:cNvSpPr txBox="1"/>
          <p:nvPr/>
        </p:nvSpPr>
        <p:spPr>
          <a:xfrm>
            <a:off x="667177" y="3443678"/>
            <a:ext cx="1109441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 i="1" dirty="0">
                <a:solidFill>
                  <a:srgbClr val="595959"/>
                </a:solidFill>
                <a:latin typeface="Arial"/>
              </a:rPr>
              <a:t>*</a:t>
            </a:r>
            <a:r>
              <a:rPr sz="900" b="0" i="1" dirty="0">
                <a:solidFill>
                  <a:srgbClr val="595959"/>
                </a:solidFill>
                <a:latin typeface="Arial"/>
              </a:rPr>
              <a:t>Guesstimate assumption — not directly available from a single source; reasoned from industry data (see “Guesstimate logic”).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176" y="4243068"/>
            <a:ext cx="10518679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 dirty="0">
                <a:solidFill>
                  <a:srgbClr val="D2232A"/>
                </a:solidFill>
                <a:latin typeface="Arial"/>
              </a:rPr>
              <a:t>CALCULATION — CENTRAL CASE </a:t>
            </a:r>
            <a:r>
              <a:rPr sz="1100" b="1" i="0" dirty="0">
                <a:solidFill>
                  <a:srgbClr val="1B2A4A"/>
                </a:solidFill>
                <a:latin typeface="Arial"/>
              </a:rPr>
              <a:t>1.45B × 68% × 58% × 2.0% × 44% ≈ </a:t>
            </a:r>
            <a:r>
              <a:rPr sz="1100" b="1" i="0" dirty="0">
                <a:solidFill>
                  <a:srgbClr val="D2232A"/>
                </a:solidFill>
                <a:latin typeface="Arial"/>
              </a:rPr>
              <a:t>5.0M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178" y="5023773"/>
            <a:ext cx="1109441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 dirty="0">
                <a:solidFill>
                  <a:srgbClr val="595959"/>
                </a:solidFill>
                <a:latin typeface="Arial"/>
              </a:rPr>
              <a:t>The final two percentages are analyst assumptions used for the guesstimate, not directly published developer headcounts.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176" y="5661026"/>
            <a:ext cx="11094417" cy="352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1" i="0" dirty="0">
                <a:solidFill>
                  <a:srgbClr val="D2232A"/>
                </a:solidFill>
                <a:latin typeface="Arial"/>
              </a:rPr>
              <a:t>RANGE </a:t>
            </a:r>
            <a:r>
              <a:rPr lang="en-US" sz="1100" b="0" i="0" dirty="0">
                <a:solidFill>
                  <a:srgbClr val="1B2A4A"/>
                </a:solidFill>
                <a:latin typeface="Arial"/>
              </a:rPr>
              <a:t>Estimated software developers: ~4–6M. Central estimate: ~5.0M. Varying both guesstimate inputs together — digital/knowledge-worker share 1.8%–2.2%, software-development share 40%–48% — gives low ≈4.1M and high ≈6.0M. Range reflects variation in the two explicit guesstimate assumptions; it is not a statistical confidence interval.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3657600"/>
            <a:ext cx="110944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EC0FA-32AD-278E-B45A-FD417FD3B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4ACCBD-F99B-4049-15F9-C8EE0EBD0BE8}"/>
              </a:ext>
            </a:extLst>
          </p:cNvPr>
          <p:cNvSpPr txBox="1"/>
          <p:nvPr/>
        </p:nvSpPr>
        <p:spPr>
          <a:xfrm>
            <a:off x="667178" y="393192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10">
                <a:solidFill>
                  <a:srgbClr val="D2232A"/>
                </a:solidFill>
                <a:latin typeface="Arial"/>
              </a:rPr>
              <a:t>AREA 4 · ESTIMATE: SOFTWARE DEVELOPERS IN INDIA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2F231F-2091-7483-2B07-B891D2FF6AD8}"/>
              </a:ext>
            </a:extLst>
          </p:cNvPr>
          <p:cNvSpPr txBox="1"/>
          <p:nvPr/>
        </p:nvSpPr>
        <p:spPr>
          <a:xfrm>
            <a:off x="667178" y="621792"/>
            <a:ext cx="1109441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1B2A4A"/>
                </a:solidFill>
                <a:latin typeface="Arial"/>
              </a:rPr>
              <a:t>How many software developers are available in India? — a bottom-up guesstimate</a:t>
            </a:r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C3C709D3-CBC7-C1E1-87A3-C0F46C6B4B4E}"/>
              </a:ext>
            </a:extLst>
          </p:cNvPr>
          <p:cNvCxnSpPr/>
          <p:nvPr/>
        </p:nvCxnSpPr>
        <p:spPr>
          <a:xfrm>
            <a:off x="548792" y="3990835"/>
            <a:ext cx="11094415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D78BB9B-7D10-6D4C-E140-55A964C56AFB}"/>
              </a:ext>
            </a:extLst>
          </p:cNvPr>
          <p:cNvSpPr txBox="1"/>
          <p:nvPr/>
        </p:nvSpPr>
        <p:spPr>
          <a:xfrm>
            <a:off x="667178" y="1307426"/>
            <a:ext cx="653604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00" dirty="0">
                <a:solidFill>
                  <a:srgbClr val="1B2A4A"/>
                </a:solidFill>
                <a:latin typeface="Arial"/>
              </a:rPr>
              <a:t>GUESSTIMATE LOGIC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92FE66-C2AC-7E8C-E4A0-5E042AFCAD19}"/>
              </a:ext>
            </a:extLst>
          </p:cNvPr>
          <p:cNvSpPr txBox="1"/>
          <p:nvPr/>
        </p:nvSpPr>
        <p:spPr>
          <a:xfrm>
            <a:off x="709513" y="1552315"/>
            <a:ext cx="6420763" cy="18210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050" b="0" i="0" dirty="0">
                <a:solidFill>
                  <a:srgbClr val="1B2A4A"/>
                </a:solidFill>
                <a:latin typeface="Arial"/>
              </a:rPr>
              <a:t>1. Working-age population — 68% of population is aged 15–64 (World Bank, 2024). Sourced macro input.</a:t>
            </a: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050" b="0" i="0" dirty="0">
                <a:solidFill>
                  <a:srgbClr val="1B2A4A"/>
                </a:solidFill>
                <a:latin typeface="Arial"/>
              </a:rPr>
              <a:t>2. Employment participation — 58% Worker Population Ratio, age 15+, usual status (</a:t>
            </a:r>
            <a:r>
              <a:rPr sz="1050" b="0" i="0" dirty="0" err="1">
                <a:solidFill>
                  <a:srgbClr val="1B2A4A"/>
                </a:solidFill>
                <a:latin typeface="Arial"/>
              </a:rPr>
              <a:t>MoSPI</a:t>
            </a:r>
            <a:r>
              <a:rPr sz="1050" b="0" i="0" dirty="0">
                <a:solidFill>
                  <a:srgbClr val="1B2A4A"/>
                </a:solidFill>
                <a:latin typeface="Arial"/>
              </a:rPr>
              <a:t> PLFS 2023–24). Sourced macro input. Treat this as a macro approximation for the guesstimate — it does not directly represent the employment rate of the 15–64 population.</a:t>
            </a: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050" b="0" i="0" dirty="0">
                <a:solidFill>
                  <a:srgbClr val="1B2A4A"/>
                </a:solidFill>
                <a:latin typeface="Arial"/>
              </a:rPr>
              <a:t>3. Digital/knowledge-worker share — ~2.0% of employed workforce (band 1.8–2.2%). Guesstimate: NASSCOM’s ~7.6M formal tech workforce (~5.7M IT-BPM + ~1.9M GCC) scaled ~1.5× for embedded/informal tech roles outside NASSCOM membership.</a:t>
            </a: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050" b="0" i="0" dirty="0">
                <a:solidFill>
                  <a:srgbClr val="1B2A4A"/>
                </a:solidFill>
                <a:latin typeface="Arial"/>
              </a:rPr>
              <a:t>4. Software-development share — ~44% of digital/knowledge workers (band 40–48%). Guesstimate for the share of a tech workforce in core development vs. testing, infrastructure, support and delivery roles.</a:t>
            </a: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050" b="0" i="0" dirty="0">
                <a:solidFill>
                  <a:srgbClr val="1B2A4A"/>
                </a:solidFill>
                <a:latin typeface="Arial"/>
              </a:rPr>
              <a:t>5. Result — estimated addressable developer pool: ~4–6 million; central estimate ~5.0 million.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BFEE29F-C4F8-2BE7-D5C9-F5C0142EEA07}"/>
              </a:ext>
            </a:extLst>
          </p:cNvPr>
          <p:cNvGrpSpPr/>
          <p:nvPr/>
        </p:nvGrpSpPr>
        <p:grpSpPr>
          <a:xfrm>
            <a:off x="7631856" y="1528237"/>
            <a:ext cx="3942078" cy="2082892"/>
            <a:chOff x="7589520" y="3749039"/>
            <a:chExt cx="4053535" cy="179541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0938823-D1EF-E702-45A0-5E1AF8B53A0B}"/>
                </a:ext>
              </a:extLst>
            </p:cNvPr>
            <p:cNvSpPr txBox="1"/>
            <p:nvPr/>
          </p:nvSpPr>
          <p:spPr>
            <a:xfrm>
              <a:off x="7589520" y="3749039"/>
              <a:ext cx="4053535" cy="4370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</a:pPr>
              <a:r>
                <a:rPr sz="1100" b="1" i="0" dirty="0">
                  <a:solidFill>
                    <a:srgbClr val="D2232A"/>
                  </a:solidFill>
                  <a:latin typeface="Arial"/>
                </a:rPr>
                <a:t>Bigger picture: </a:t>
              </a:r>
              <a:r>
                <a:rPr sz="1100" b="0" i="0" dirty="0">
                  <a:solidFill>
                    <a:srgbClr val="1B2A4A"/>
                  </a:solidFill>
                  <a:latin typeface="Arial"/>
                </a:rPr>
                <a:t>India is a multi-million-person software-development talent market, but the addressable pool is a lot smaller than the country's overall working population.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2F6EDEC-1868-5E05-CF24-37BA98BD525F}"/>
                </a:ext>
              </a:extLst>
            </p:cNvPr>
            <p:cNvSpPr txBox="1"/>
            <p:nvPr/>
          </p:nvSpPr>
          <p:spPr>
            <a:xfrm>
              <a:off x="7589520" y="4297679"/>
              <a:ext cx="4053535" cy="4370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</a:pPr>
              <a:r>
                <a:rPr sz="1100" b="1" i="0" dirty="0">
                  <a:solidFill>
                    <a:srgbClr val="D2232A"/>
                  </a:solidFill>
                  <a:latin typeface="Arial"/>
                </a:rPr>
                <a:t>Sensitivity: </a:t>
              </a:r>
              <a:r>
                <a:rPr sz="1100" b="0" i="0" dirty="0">
                  <a:solidFill>
                    <a:srgbClr val="1B2A4A"/>
                  </a:solidFill>
                  <a:latin typeface="Arial"/>
                </a:rPr>
                <a:t>Holding digital-workforce share fixed at 2.0%, ±4pp in the software-development share (40%–48%) moves the estimate by ≈±0.46 million developers.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924A834-DFAB-C178-A7EA-2AB008AC5833}"/>
                </a:ext>
              </a:extLst>
            </p:cNvPr>
            <p:cNvSpPr txBox="1"/>
            <p:nvPr/>
          </p:nvSpPr>
          <p:spPr>
            <a:xfrm>
              <a:off x="7589520" y="4809743"/>
              <a:ext cx="4053535" cy="7347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</a:pPr>
              <a:r>
                <a:rPr sz="1100" b="1" i="0" dirty="0">
                  <a:solidFill>
                    <a:srgbClr val="D2232A"/>
                  </a:solidFill>
                  <a:latin typeface="Arial"/>
                </a:rPr>
                <a:t>Cross-check: </a:t>
              </a:r>
              <a:r>
                <a:rPr sz="1100" b="0" i="0" dirty="0">
                  <a:solidFill>
                    <a:srgbClr val="1B2A4A"/>
                  </a:solidFill>
                  <a:latin typeface="Arial"/>
                </a:rPr>
                <a:t>NASSCOM cites India’s broader technology/IT-BPM workforce at ~5.4–5.8M (including ~1.9M GCC). Our ~5.0M central estimate is directionally consistent with the scale of this broader technology workforce, but should not be interpreted as an official developer headcount.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7E25366-3879-D66E-1808-3DCFD1B1E49D}"/>
              </a:ext>
            </a:extLst>
          </p:cNvPr>
          <p:cNvSpPr txBox="1"/>
          <p:nvPr/>
        </p:nvSpPr>
        <p:spPr>
          <a:xfrm>
            <a:off x="709513" y="4160689"/>
            <a:ext cx="1109441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dirty="0">
                <a:solidFill>
                  <a:srgbClr val="D2232A"/>
                </a:solidFill>
                <a:latin typeface="Arial"/>
              </a:rPr>
              <a:t>Recruiting angle: </a:t>
            </a:r>
            <a:r>
              <a:rPr sz="1000" b="0" i="0" dirty="0">
                <a:solidFill>
                  <a:srgbClr val="1B2A4A"/>
                </a:solidFill>
                <a:latin typeface="Arial"/>
              </a:rPr>
              <a:t>India's scale makes it a major global sourcing market — recruiters should narrow the pool by skill, experience, location, tech stack and availability.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304C81-78F2-A136-0834-0CB2F9712292}"/>
              </a:ext>
            </a:extLst>
          </p:cNvPr>
          <p:cNvSpPr txBox="1"/>
          <p:nvPr/>
        </p:nvSpPr>
        <p:spPr>
          <a:xfrm>
            <a:off x="640080" y="4828203"/>
            <a:ext cx="10545775" cy="426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 dirty="0">
                <a:solidFill>
                  <a:srgbClr val="9B9B9B"/>
                </a:solidFill>
                <a:latin typeface="Arial"/>
              </a:rPr>
              <a:t>Note: this is a guesstimate, not an official headcount; the range reflects joint variation of the two labelled assumptions above, not a statistical confidence interval. | Sources: World Bank WDI — Population &amp; Population ages 15–64 (% of total), India, 2024 (data.worldbank.org/country/</a:t>
            </a:r>
            <a:r>
              <a:rPr sz="900" b="0" i="1" dirty="0" err="1">
                <a:solidFill>
                  <a:srgbClr val="9B9B9B"/>
                </a:solidFill>
                <a:latin typeface="Arial"/>
              </a:rPr>
              <a:t>india</a:t>
            </a:r>
            <a:r>
              <a:rPr sz="900" b="0" i="1" dirty="0">
                <a:solidFill>
                  <a:srgbClr val="9B9B9B"/>
                </a:solidFill>
                <a:latin typeface="Arial"/>
              </a:rPr>
              <a:t>); Govt. of India, </a:t>
            </a:r>
            <a:r>
              <a:rPr sz="900" b="0" i="1" dirty="0" err="1">
                <a:solidFill>
                  <a:srgbClr val="9B9B9B"/>
                </a:solidFill>
                <a:latin typeface="Arial"/>
              </a:rPr>
              <a:t>MoSPI</a:t>
            </a:r>
            <a:r>
              <a:rPr sz="900" b="0" i="1" dirty="0">
                <a:solidFill>
                  <a:srgbClr val="9B9B9B"/>
                </a:solidFill>
                <a:latin typeface="Arial"/>
              </a:rPr>
              <a:t> — PLFS Annual Report, Jul 2023–Jun 2024 (mospi.gov.in); NASSCOM Strategic Review (cross-check, via industry reporting, 2025–26).</a:t>
            </a:r>
          </a:p>
        </p:txBody>
      </p:sp>
    </p:spTree>
    <p:extLst>
      <p:ext uri="{BB962C8B-B14F-4D97-AF65-F5344CB8AC3E}">
        <p14:creationId xmlns:p14="http://schemas.microsoft.com/office/powerpoint/2010/main" val="4292189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Label 4"/>
          <p:cNvSpPr txBox="1"/>
          <p:nvPr/>
        </p:nvSpPr>
        <p:spPr>
          <a:xfrm>
            <a:off x="651932" y="502920"/>
            <a:ext cx="10988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kern="0" spc="12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· FOUR ANALYTICAL AREAS</a:t>
            </a:r>
            <a:endParaRPr lang="en-US" sz="1100" dirty="0"/>
          </a:p>
        </p:txBody>
      </p:sp>
      <p:sp>
        <p:nvSpPr>
          <p:cNvPr id="5" name="Title 5"/>
          <p:cNvSpPr txBox="1"/>
          <p:nvPr/>
        </p:nvSpPr>
        <p:spPr>
          <a:xfrm>
            <a:off x="651932" y="777240"/>
            <a:ext cx="1098838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0" kern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— What the Workforce Data Tells Us</a:t>
            </a:r>
            <a:endParaRPr lang="en-US" sz="2000" dirty="0"/>
          </a:p>
        </p:txBody>
      </p:sp>
      <p:sp>
        <p:nvSpPr>
          <p:cNvPr id="6" name="Subtitle 6"/>
          <p:cNvSpPr txBox="1"/>
          <p:nvPr/>
        </p:nvSpPr>
        <p:spPr>
          <a:xfrm>
            <a:off x="651932" y="1355000"/>
            <a:ext cx="109883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0" i="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labour-market signals to practical market decisions</a:t>
            </a:r>
            <a:endParaRPr lang="en-US" sz="1300" dirty="0"/>
          </a:p>
        </p:txBody>
      </p:sp>
      <p:sp>
        <p:nvSpPr>
          <p:cNvPr id="8" name="Sec1Header 8"/>
          <p:cNvSpPr txBox="1"/>
          <p:nvPr/>
        </p:nvSpPr>
        <p:spPr>
          <a:xfrm>
            <a:off x="607909" y="1750000"/>
            <a:ext cx="11091672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kern="0" spc="1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FOUR AREAS SHOW</a:t>
            </a:r>
            <a:endParaRPr lang="en-US" sz="1100" dirty="0"/>
          </a:p>
        </p:txBody>
      </p:sp>
      <p:sp>
        <p:nvSpPr>
          <p:cNvPr id="9" name="ColHead 9"/>
          <p:cNvSpPr txBox="1"/>
          <p:nvPr/>
        </p:nvSpPr>
        <p:spPr>
          <a:xfrm>
            <a:off x="651932" y="2020000"/>
            <a:ext cx="238159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kern="0" spc="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EUROPE</a:t>
            </a:r>
            <a:endParaRPr lang="en-US" sz="1100" dirty="0"/>
          </a:p>
        </p:txBody>
      </p:sp>
      <p:sp>
        <p:nvSpPr>
          <p:cNvPr id="11" name="KFText 11"/>
          <p:cNvSpPr txBox="1"/>
          <p:nvPr/>
        </p:nvSpPr>
        <p:spPr>
          <a:xfrm>
            <a:off x="651932" y="2420000"/>
            <a:ext cx="238159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i="0" kern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Country-level conditions diverge even though the EU headline looks stable.</a:t>
            </a:r>
            <a:endParaRPr lang="en-US" sz="1000" dirty="0"/>
          </a:p>
        </p:txBody>
      </p:sp>
      <p:sp>
        <p:nvSpPr>
          <p:cNvPr id="13" name="SigText 13"/>
          <p:cNvSpPr txBox="1"/>
          <p:nvPr/>
        </p:nvSpPr>
        <p:spPr>
          <a:xfrm>
            <a:off x="651932" y="2899127"/>
            <a:ext cx="238159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0" i="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Czechia +0.9% employment growth · Germany persistent weakness · Poland -0.2%</a:t>
            </a:r>
            <a:endParaRPr lang="en-US" sz="1000" dirty="0"/>
          </a:p>
        </p:txBody>
      </p:sp>
      <p:sp>
        <p:nvSpPr>
          <p:cNvPr id="15" name="ImplText 15"/>
          <p:cNvSpPr txBox="1"/>
          <p:nvPr/>
        </p:nvSpPr>
        <p:spPr>
          <a:xfrm>
            <a:off x="651932" y="3479127"/>
            <a:ext cx="2381590" cy="2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0" i="1" kern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sourcing decisions should follow country conditions, not the EU aggregate.</a:t>
            </a:r>
            <a:endParaRPr lang="en-US" sz="1000" dirty="0"/>
          </a:p>
        </p:txBody>
      </p:sp>
      <p:sp>
        <p:nvSpPr>
          <p:cNvPr id="16" name="ColHead 16"/>
          <p:cNvSpPr txBox="1"/>
          <p:nvPr/>
        </p:nvSpPr>
        <p:spPr>
          <a:xfrm>
            <a:off x="3417570" y="2020000"/>
            <a:ext cx="248488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kern="0" spc="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GLOBAL TALENT</a:t>
            </a:r>
            <a:endParaRPr lang="en-US" sz="1100" dirty="0"/>
          </a:p>
        </p:txBody>
      </p:sp>
      <p:sp>
        <p:nvSpPr>
          <p:cNvPr id="18" name="KFText 18"/>
          <p:cNvSpPr txBox="1"/>
          <p:nvPr/>
        </p:nvSpPr>
        <p:spPr>
          <a:xfrm>
            <a:off x="3417570" y="2420000"/>
            <a:ext cx="2484882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i="0" kern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offers the best overall balance in this dataset.</a:t>
            </a:r>
            <a:endParaRPr lang="en-US" sz="1000" dirty="0"/>
          </a:p>
        </p:txBody>
      </p:sp>
      <p:sp>
        <p:nvSpPr>
          <p:cNvPr id="20" name="SigText 20"/>
          <p:cNvSpPr txBox="1"/>
          <p:nvPr/>
        </p:nvSpPr>
        <p:spPr>
          <a:xfrm>
            <a:off x="3417570" y="2899127"/>
            <a:ext cx="248488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0" i="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700K workforce size · 7% competitiveness · 26K compensation</a:t>
            </a:r>
            <a:endParaRPr lang="en-US" sz="1000" dirty="0"/>
          </a:p>
        </p:txBody>
      </p:sp>
      <p:sp>
        <p:nvSpPr>
          <p:cNvPr id="22" name="ImplText 22"/>
          <p:cNvSpPr txBox="1"/>
          <p:nvPr/>
        </p:nvSpPr>
        <p:spPr>
          <a:xfrm>
            <a:off x="3417570" y="3479127"/>
            <a:ext cx="2484882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0" i="1" kern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leads overall, though the US is still bigger by scale.</a:t>
            </a:r>
            <a:endParaRPr lang="en-US" sz="1000" dirty="0"/>
          </a:p>
        </p:txBody>
      </p:sp>
      <p:sp>
        <p:nvSpPr>
          <p:cNvPr id="23" name="ColHead 23"/>
          <p:cNvSpPr txBox="1"/>
          <p:nvPr/>
        </p:nvSpPr>
        <p:spPr>
          <a:xfrm>
            <a:off x="6286500" y="2020000"/>
            <a:ext cx="248488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kern="0" spc="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AI TALENT</a:t>
            </a:r>
            <a:endParaRPr lang="en-US" sz="1100" dirty="0"/>
          </a:p>
        </p:txBody>
      </p:sp>
      <p:sp>
        <p:nvSpPr>
          <p:cNvPr id="25" name="KFText 25"/>
          <p:cNvSpPr txBox="1"/>
          <p:nvPr/>
        </p:nvSpPr>
        <p:spPr>
          <a:xfrm>
            <a:off x="6286500" y="2420000"/>
            <a:ext cx="2484882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i="0" kern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has the highest relative AI-skill penetration among these markets.</a:t>
            </a:r>
            <a:endParaRPr lang="en-US" sz="1000" dirty="0"/>
          </a:p>
        </p:txBody>
      </p:sp>
      <p:sp>
        <p:nvSpPr>
          <p:cNvPr id="27" name="SigText 27"/>
          <p:cNvSpPr txBox="1"/>
          <p:nvPr/>
        </p:nvSpPr>
        <p:spPr>
          <a:xfrm>
            <a:off x="6286500" y="2899127"/>
            <a:ext cx="248488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0" i="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2.75× global avg · US 2.22× · Germany 1.90×</a:t>
            </a:r>
            <a:endParaRPr lang="en-US" sz="1000" dirty="0"/>
          </a:p>
        </p:txBody>
      </p:sp>
      <p:sp>
        <p:nvSpPr>
          <p:cNvPr id="29" name="ImplText 29"/>
          <p:cNvSpPr txBox="1"/>
          <p:nvPr/>
        </p:nvSpPr>
        <p:spPr>
          <a:xfrm>
            <a:off x="6286500" y="3479127"/>
            <a:ext cx="2484882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0" i="1" kern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intensity matters, but so does absolute workforce scale.</a:t>
            </a:r>
            <a:endParaRPr lang="en-US" sz="1000" dirty="0"/>
          </a:p>
        </p:txBody>
      </p:sp>
      <p:sp>
        <p:nvSpPr>
          <p:cNvPr id="30" name="ColHead 30"/>
          <p:cNvSpPr txBox="1"/>
          <p:nvPr/>
        </p:nvSpPr>
        <p:spPr>
          <a:xfrm>
            <a:off x="9155430" y="2020000"/>
            <a:ext cx="248488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kern="0" spc="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INDIA DEVELOPERS</a:t>
            </a:r>
            <a:endParaRPr lang="en-US" sz="1100" dirty="0"/>
          </a:p>
        </p:txBody>
      </p:sp>
      <p:sp>
        <p:nvSpPr>
          <p:cNvPr id="32" name="KFText 32"/>
          <p:cNvSpPr txBox="1"/>
          <p:nvPr/>
        </p:nvSpPr>
        <p:spPr>
          <a:xfrm>
            <a:off x="9155430" y="2420000"/>
            <a:ext cx="2484882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i="0" kern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is a multi-million-person software-development market.</a:t>
            </a:r>
            <a:endParaRPr lang="en-US" sz="1000" dirty="0"/>
          </a:p>
        </p:txBody>
      </p:sp>
      <p:sp>
        <p:nvSpPr>
          <p:cNvPr id="34" name="SigText 34"/>
          <p:cNvSpPr txBox="1"/>
          <p:nvPr/>
        </p:nvSpPr>
        <p:spPr>
          <a:xfrm>
            <a:off x="9155430" y="2899127"/>
            <a:ext cx="248488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0" i="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Guesstimate range ~4–6M · central estimate ~5.0M</a:t>
            </a:r>
            <a:endParaRPr lang="en-US" sz="1000" dirty="0"/>
          </a:p>
        </p:txBody>
      </p:sp>
      <p:sp>
        <p:nvSpPr>
          <p:cNvPr id="36" name="ImplText 36"/>
          <p:cNvSpPr txBox="1"/>
          <p:nvPr/>
        </p:nvSpPr>
        <p:spPr>
          <a:xfrm>
            <a:off x="9155430" y="3479127"/>
            <a:ext cx="2484882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0" i="1" kern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here, the pool needs narrowing by skill, experience, location and stack.</a:t>
            </a:r>
            <a:endParaRPr lang="en-US" sz="1000" dirty="0"/>
          </a:p>
        </p:txBody>
      </p:sp>
      <p:sp>
        <p:nvSpPr>
          <p:cNvPr id="40" name="Rule 40"/>
          <p:cNvSpPr/>
          <p:nvPr/>
        </p:nvSpPr>
        <p:spPr>
          <a:xfrm>
            <a:off x="548640" y="399000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41" name="Sec2Header 41"/>
          <p:cNvSpPr txBox="1"/>
          <p:nvPr/>
        </p:nvSpPr>
        <p:spPr>
          <a:xfrm>
            <a:off x="651932" y="4069999"/>
            <a:ext cx="10988380" cy="219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0" kern="0" spc="1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INTELLIGENCE RECOMMENDATIONS</a:t>
            </a:r>
            <a:endParaRPr lang="en-US" sz="1100" dirty="0"/>
          </a:p>
        </p:txBody>
      </p:sp>
      <p:sp>
        <p:nvSpPr>
          <p:cNvPr id="42" name="RecTitle 42"/>
          <p:cNvSpPr txBox="1"/>
          <p:nvPr/>
        </p:nvSpPr>
        <p:spPr>
          <a:xfrm>
            <a:off x="664082" y="4340000"/>
            <a:ext cx="5247466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0" kern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1100" b="1" i="0" kern="0" spc="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BY MARKET CONDITIONS</a:t>
            </a:r>
            <a:endParaRPr lang="en-US" sz="1100" dirty="0"/>
          </a:p>
        </p:txBody>
      </p:sp>
      <p:sp>
        <p:nvSpPr>
          <p:cNvPr id="43" name="RecDesc 43"/>
          <p:cNvSpPr txBox="1"/>
          <p:nvPr/>
        </p:nvSpPr>
        <p:spPr>
          <a:xfrm>
            <a:off x="664082" y="4580000"/>
            <a:ext cx="5247466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0" i="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unemployment, employment momentum and labour-market tightness when assessing sourcing feasibility.</a:t>
            </a:r>
            <a:endParaRPr lang="en-US" sz="1000" dirty="0"/>
          </a:p>
        </p:txBody>
      </p:sp>
      <p:sp>
        <p:nvSpPr>
          <p:cNvPr id="44" name="RecTitle 44"/>
          <p:cNvSpPr txBox="1"/>
          <p:nvPr/>
        </p:nvSpPr>
        <p:spPr>
          <a:xfrm>
            <a:off x="6277404" y="4340000"/>
            <a:ext cx="5362908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0" kern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1100" b="1" i="0" kern="0" spc="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SCALE WITH COMPETITION</a:t>
            </a:r>
            <a:endParaRPr lang="en-US" sz="1100" dirty="0"/>
          </a:p>
        </p:txBody>
      </p:sp>
      <p:sp>
        <p:nvSpPr>
          <p:cNvPr id="45" name="RecDesc 45"/>
          <p:cNvSpPr txBox="1"/>
          <p:nvPr/>
        </p:nvSpPr>
        <p:spPr>
          <a:xfrm>
            <a:off x="6277404" y="4580000"/>
            <a:ext cx="5362908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0" i="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optimise for workforce volume alone — weigh workforce size against competitiveness and compensation.</a:t>
            </a:r>
            <a:endParaRPr lang="en-US" sz="1000" dirty="0"/>
          </a:p>
        </p:txBody>
      </p:sp>
      <p:sp>
        <p:nvSpPr>
          <p:cNvPr id="46" name="RecTitle 46"/>
          <p:cNvSpPr txBox="1"/>
          <p:nvPr/>
        </p:nvSpPr>
        <p:spPr>
          <a:xfrm>
            <a:off x="664082" y="5020000"/>
            <a:ext cx="5247466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0" kern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r>
              <a:rPr lang="en-US" sz="1100" b="1" i="0" kern="0" spc="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FOR SKILLS, NOT JUST LOCATIONS</a:t>
            </a:r>
            <a:endParaRPr lang="en-US" sz="1100" dirty="0"/>
          </a:p>
        </p:txBody>
      </p:sp>
      <p:sp>
        <p:nvSpPr>
          <p:cNvPr id="47" name="RecDesc 47"/>
          <p:cNvSpPr txBox="1"/>
          <p:nvPr/>
        </p:nvSpPr>
        <p:spPr>
          <a:xfrm>
            <a:off x="664082" y="5260000"/>
            <a:ext cx="5247466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0" i="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AI-skill intensity and programming-language signals to refine country and candidate-search strategies.</a:t>
            </a:r>
            <a:endParaRPr lang="en-US" sz="1000" dirty="0"/>
          </a:p>
        </p:txBody>
      </p:sp>
      <p:sp>
        <p:nvSpPr>
          <p:cNvPr id="48" name="RecTitle 48"/>
          <p:cNvSpPr txBox="1"/>
          <p:nvPr/>
        </p:nvSpPr>
        <p:spPr>
          <a:xfrm>
            <a:off x="6277404" y="5020000"/>
            <a:ext cx="5362908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0" kern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r>
              <a:rPr lang="en-US" sz="1100" b="1" i="0" kern="0" spc="2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THE ADDRESSABLE POOL</a:t>
            </a:r>
            <a:endParaRPr lang="en-US" sz="1100" dirty="0"/>
          </a:p>
        </p:txBody>
      </p:sp>
      <p:sp>
        <p:nvSpPr>
          <p:cNvPr id="49" name="RecDesc 49"/>
          <p:cNvSpPr txBox="1"/>
          <p:nvPr/>
        </p:nvSpPr>
        <p:spPr>
          <a:xfrm>
            <a:off x="6277404" y="5260000"/>
            <a:ext cx="5362908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0" i="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headline workforce estimates to role-specific workforce pools using skills, experience, location, stack and availability.</a:t>
            </a:r>
            <a:endParaRPr lang="en-US" sz="1000" dirty="0"/>
          </a:p>
        </p:txBody>
      </p:sp>
      <p:sp>
        <p:nvSpPr>
          <p:cNvPr id="50" name="Rule 50"/>
          <p:cNvSpPr/>
          <p:nvPr/>
        </p:nvSpPr>
        <p:spPr>
          <a:xfrm>
            <a:off x="548640" y="570000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51" name="Takeaway 51"/>
          <p:cNvSpPr txBox="1"/>
          <p:nvPr/>
        </p:nvSpPr>
        <p:spPr>
          <a:xfrm>
            <a:off x="607909" y="5780000"/>
            <a:ext cx="11032403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1" i="0" kern="0" dirty="0">
                <a:solidFill>
                  <a:srgbClr val="D2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</a:t>
            </a:r>
            <a:r>
              <a:rPr lang="en-US" sz="1000" b="0" i="1" kern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market intelligence pulls together market signals, workforce scale, skill availability and competitive conditions to figure out where — and how — to source.</a:t>
            </a:r>
            <a:endParaRPr lang="en-US" sz="1000" dirty="0"/>
          </a:p>
        </p:txBody>
      </p:sp>
      <p:sp>
        <p:nvSpPr>
          <p:cNvPr id="52" name="Footer 52"/>
          <p:cNvSpPr txBox="1"/>
          <p:nvPr/>
        </p:nvSpPr>
        <p:spPr>
          <a:xfrm>
            <a:off x="743373" y="6309999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0" i="1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methodologies are detailed throughout Slides 3–11. Scenario 2 uses the supplied project dataset; Scenario 4 is an explicit guesstimate rather than an official developer headcount.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2738</Words>
  <Application>Microsoft Office PowerPoint</Application>
  <PresentationFormat>Widescreen</PresentationFormat>
  <Paragraphs>313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Intelligence — Four-Part Proof of Work</dc:title>
  <dc:subject>European labour markets, global workforce, AI skills and India developer market analysis</dc:subject>
  <dc:creator>Tejal Mugul</dc:creator>
  <cp:lastModifiedBy>Tejal Mugul</cp:lastModifiedBy>
  <cp:revision>4</cp:revision>
  <dcterms:created xsi:type="dcterms:W3CDTF">2026-09-13T18:46:50Z</dcterms:created>
  <dcterms:modified xsi:type="dcterms:W3CDTF">2026-09-14T16:47:45Z</dcterms:modified>
  <cp:keywords>Market Intelligence, Labour Market Analysis, AI Skills, Developer Market, Data Analysis</cp:keywords>
</cp:coreProperties>
</file>