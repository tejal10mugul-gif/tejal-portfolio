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2.xml" ContentType="application/vnd.openxmlformats-officedocument.drawingml.chart+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3.xml" ContentType="application/vnd.openxmlformats-officedocument.drawingml.chart+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rts/chart4.xml" ContentType="application/vnd.openxmlformats-officedocument.drawingml.chart+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rts/chart5.xml" ContentType="application/vnd.openxmlformats-officedocument.drawingml.chart+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rts/chart6.xml" ContentType="application/vnd.openxmlformats-officedocument.drawingml.chart+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rts/chart7.xml" ContentType="application/vnd.openxmlformats-officedocument.drawingml.chart+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rts/chart9.xml" ContentType="application/vnd.openxmlformats-officedocument.drawingml.chart+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charts/chart10.xml" ContentType="application/vnd.openxmlformats-officedocument.drawingml.chart+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rts/chart11.xml" ContentType="application/vnd.openxmlformats-officedocument.drawingml.chart+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charts/chart12.xml" ContentType="application/vnd.openxmlformats-officedocument.drawingml.chart+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charts/chart13.xml" ContentType="application/vnd.openxmlformats-officedocument.drawingml.chart+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charts/chart1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04.xml" ContentType="application/vnd.openxmlformats-officedocument.presentationml.slide+xml"/>
  <Override PartName="/ppt/slides/slide10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5"/>
  </p:notesMasterIdLst>
  <p:sldIdLst>
    <p:sldId id="332" r:id="rId2"/>
    <p:sldId id="379" r:id="rId116"/>
    <p:sldId id="333" r:id="rId3"/>
    <p:sldId id="375" r:id="rId112"/>
    <p:sldId id="369" r:id="rId4"/>
    <p:sldId id="370" r:id="rId5"/>
    <p:sldId id="334" r:id="rId6"/>
    <p:sldId id="335" r:id="rId7"/>
    <p:sldId id="256" r:id="rId8"/>
    <p:sldId id="373" r:id="rId9"/>
    <p:sldId id="374" r:id="rId10"/>
    <p:sldId id="259" r:id="rId11"/>
    <p:sldId id="258" r:id="rId12"/>
    <p:sldId id="345" r:id="rId13"/>
    <p:sldId id="346" r:id="rId14"/>
    <p:sldId id="260" r:id="rId15"/>
    <p:sldId id="262" r:id="rId16"/>
    <p:sldId id="264" r:id="rId17"/>
    <p:sldId id="263" r:id="rId18"/>
    <p:sldId id="265" r:id="rId19"/>
    <p:sldId id="343" r:id="rId20"/>
    <p:sldId id="267" r:id="rId21"/>
    <p:sldId id="344" r:id="rId22"/>
    <p:sldId id="269" r:id="rId23"/>
    <p:sldId id="271" r:id="rId24"/>
    <p:sldId id="274" r:id="rId25"/>
    <p:sldId id="273" r:id="rId26"/>
    <p:sldId id="270" r:id="rId27"/>
    <p:sldId id="361" r:id="rId28"/>
    <p:sldId id="268" r:id="rId29"/>
    <p:sldId id="359" r:id="rId30"/>
    <p:sldId id="362" r:id="rId31"/>
    <p:sldId id="360" r:id="rId32"/>
    <p:sldId id="261" r:id="rId33"/>
    <p:sldId id="365" r:id="rId34"/>
    <p:sldId id="356" r:id="rId35"/>
    <p:sldId id="358" r:id="rId36"/>
    <p:sldId id="368" r:id="rId37"/>
    <p:sldId id="363" r:id="rId38"/>
    <p:sldId id="364" r:id="rId39"/>
    <p:sldId id="266" r:id="rId40"/>
    <p:sldId id="305" r:id="rId41"/>
    <p:sldId id="317" r:id="rId42"/>
    <p:sldId id="304" r:id="rId43"/>
    <p:sldId id="366" r:id="rId44"/>
    <p:sldId id="367" r:id="rId45"/>
    <p:sldId id="275" r:id="rId46"/>
    <p:sldId id="276" r:id="rId47"/>
    <p:sldId id="277" r:id="rId48"/>
    <p:sldId id="319" r:id="rId49"/>
    <p:sldId id="278" r:id="rId50"/>
    <p:sldId id="279" r:id="rId51"/>
    <p:sldId id="320" r:id="rId52"/>
    <p:sldId id="321" r:id="rId53"/>
    <p:sldId id="336" r:id="rId54"/>
    <p:sldId id="284" r:id="rId55"/>
    <p:sldId id="322" r:id="rId56"/>
    <p:sldId id="323" r:id="rId57"/>
    <p:sldId id="324" r:id="rId58"/>
    <p:sldId id="337" r:id="rId59"/>
    <p:sldId id="285" r:id="rId60"/>
    <p:sldId id="325" r:id="rId61"/>
    <p:sldId id="326" r:id="rId62"/>
    <p:sldId id="338" r:id="rId63"/>
    <p:sldId id="286" r:id="rId64"/>
    <p:sldId id="327" r:id="rId65"/>
    <p:sldId id="328" r:id="rId66"/>
    <p:sldId id="339" r:id="rId67"/>
    <p:sldId id="329" r:id="rId68"/>
    <p:sldId id="330" r:id="rId69"/>
    <p:sldId id="331" r:id="rId70"/>
    <p:sldId id="289" r:id="rId71"/>
    <p:sldId id="341" r:id="rId72"/>
    <p:sldId id="290" r:id="rId73"/>
    <p:sldId id="340" r:id="rId74"/>
    <p:sldId id="291" r:id="rId75"/>
    <p:sldId id="292" r:id="rId76"/>
    <p:sldId id="342" r:id="rId77"/>
    <p:sldId id="293" r:id="rId78"/>
    <p:sldId id="294" r:id="rId79"/>
    <p:sldId id="347" r:id="rId80"/>
    <p:sldId id="295" r:id="rId81"/>
    <p:sldId id="296" r:id="rId82"/>
    <p:sldId id="348" r:id="rId83"/>
    <p:sldId id="297" r:id="rId84"/>
    <p:sldId id="350" r:id="rId85"/>
    <p:sldId id="349" r:id="rId86"/>
    <p:sldId id="298" r:id="rId87"/>
    <p:sldId id="351" r:id="rId88"/>
    <p:sldId id="299" r:id="rId89"/>
    <p:sldId id="300" r:id="rId90"/>
    <p:sldId id="301" r:id="rId91"/>
    <p:sldId id="352" r:id="rId92"/>
    <p:sldId id="353" r:id="rId93"/>
    <p:sldId id="355" r:id="rId94"/>
    <p:sldId id="371" r:id="rId95"/>
    <p:sldId id="372" r:id="rId96"/>
    <p:sldId id="307" r:id="rId97"/>
    <p:sldId id="308" r:id="rId98"/>
    <p:sldId id="309" r:id="rId99"/>
    <p:sldId id="312" r:id="rId100"/>
    <p:sldId id="313" r:id="rId101"/>
    <p:sldId id="314" r:id="rId102"/>
    <p:sldId id="315" r:id="rId103"/>
    <p:sldId id="316" r:id="rId10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F5F1"/>
    <a:srgbClr val="0B4F4A"/>
    <a:srgbClr val="8BC34A"/>
    <a:srgbClr val="FFD2B3"/>
    <a:srgbClr val="FF9966"/>
    <a:srgbClr val="FF6600"/>
    <a:srgbClr val="FFAF79"/>
    <a:srgbClr val="062E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0E3459-8B37-46BB-A979-134ACD720D68}" v="4" dt="2026-07-28T17:34:25.5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5/10/relationships/revisionInfo" Target="revisionInfo.xml"/>  <Relationship Id="rId112" Type="http://schemas.openxmlformats.org/officeDocument/2006/relationships/slide" Target="slides/slide104.xml"/>
  
  
  
  <Relationship Id="rId116" Type="http://schemas.openxmlformats.org/officeDocument/2006/relationships/slide" Target="slides/slide108.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ini Sonawane" userId="930b4767cce6bc09" providerId="LiveId" clId="{E91348C6-0AB9-4FC0-A6CB-909B3635B578}"/>
    <pc:docChg chg="undo custSel addSld delSld modSld">
      <pc:chgData name="Yamini Sonawane" userId="930b4767cce6bc09" providerId="LiveId" clId="{E91348C6-0AB9-4FC0-A6CB-909B3635B578}" dt="2026-07-28T17:53:22.341" v="389" actId="1076"/>
      <pc:docMkLst>
        <pc:docMk/>
      </pc:docMkLst>
      <pc:sldChg chg="modSp mod">
        <pc:chgData name="Yamini Sonawane" userId="930b4767cce6bc09" providerId="LiveId" clId="{E91348C6-0AB9-4FC0-A6CB-909B3635B578}" dt="2026-07-28T17:15:39.308" v="374" actId="20577"/>
        <pc:sldMkLst>
          <pc:docMk/>
          <pc:sldMk cId="0" sldId="256"/>
        </pc:sldMkLst>
        <pc:spChg chg="mod">
          <ac:chgData name="Yamini Sonawane" userId="930b4767cce6bc09" providerId="LiveId" clId="{E91348C6-0AB9-4FC0-A6CB-909B3635B578}" dt="2026-07-28T17:15:39.308" v="374" actId="20577"/>
          <ac:spMkLst>
            <pc:docMk/>
            <pc:sldMk cId="0" sldId="256"/>
            <ac:spMk id="9" creationId="{00000000-0000-0000-0000-000000000000}"/>
          </ac:spMkLst>
        </pc:spChg>
      </pc:sldChg>
      <pc:sldChg chg="del">
        <pc:chgData name="Yamini Sonawane" userId="930b4767cce6bc09" providerId="LiveId" clId="{E91348C6-0AB9-4FC0-A6CB-909B3635B578}" dt="2026-07-28T17:34:28.056" v="376" actId="47"/>
        <pc:sldMkLst>
          <pc:docMk/>
          <pc:sldMk cId="0" sldId="257"/>
        </pc:sldMkLst>
      </pc:sldChg>
      <pc:sldChg chg="modSp mod">
        <pc:chgData name="Yamini Sonawane" userId="930b4767cce6bc09" providerId="LiveId" clId="{E91348C6-0AB9-4FC0-A6CB-909B3635B578}" dt="2026-07-28T17:34:36.092" v="377" actId="207"/>
        <pc:sldMkLst>
          <pc:docMk/>
          <pc:sldMk cId="0" sldId="259"/>
        </pc:sldMkLst>
        <pc:spChg chg="mod">
          <ac:chgData name="Yamini Sonawane" userId="930b4767cce6bc09" providerId="LiveId" clId="{E91348C6-0AB9-4FC0-A6CB-909B3635B578}" dt="2026-07-28T17:34:36.092" v="377" actId="207"/>
          <ac:spMkLst>
            <pc:docMk/>
            <pc:sldMk cId="0" sldId="259"/>
            <ac:spMk id="5" creationId="{00000000-0000-0000-0000-000000000000}"/>
          </ac:spMkLst>
        </pc:spChg>
        <pc:spChg chg="mod">
          <ac:chgData name="Yamini Sonawane" userId="930b4767cce6bc09" providerId="LiveId" clId="{E91348C6-0AB9-4FC0-A6CB-909B3635B578}" dt="2026-07-28T17:34:36.092" v="377" actId="207"/>
          <ac:spMkLst>
            <pc:docMk/>
            <pc:sldMk cId="0" sldId="259"/>
            <ac:spMk id="6" creationId="{00000000-0000-0000-0000-000000000000}"/>
          </ac:spMkLst>
        </pc:spChg>
        <pc:spChg chg="mod">
          <ac:chgData name="Yamini Sonawane" userId="930b4767cce6bc09" providerId="LiveId" clId="{E91348C6-0AB9-4FC0-A6CB-909B3635B578}" dt="2026-07-28T17:34:36.092" v="377" actId="207"/>
          <ac:spMkLst>
            <pc:docMk/>
            <pc:sldMk cId="0" sldId="259"/>
            <ac:spMk id="7" creationId="{00000000-0000-0000-0000-000000000000}"/>
          </ac:spMkLst>
        </pc:spChg>
        <pc:spChg chg="mod">
          <ac:chgData name="Yamini Sonawane" userId="930b4767cce6bc09" providerId="LiveId" clId="{E91348C6-0AB9-4FC0-A6CB-909B3635B578}" dt="2026-07-28T17:34:36.092" v="377" actId="207"/>
          <ac:spMkLst>
            <pc:docMk/>
            <pc:sldMk cId="0" sldId="259"/>
            <ac:spMk id="10" creationId="{00000000-0000-0000-0000-000000000000}"/>
          </ac:spMkLst>
        </pc:spChg>
        <pc:spChg chg="mod">
          <ac:chgData name="Yamini Sonawane" userId="930b4767cce6bc09" providerId="LiveId" clId="{E91348C6-0AB9-4FC0-A6CB-909B3635B578}" dt="2026-07-28T17:34:36.092" v="377" actId="207"/>
          <ac:spMkLst>
            <pc:docMk/>
            <pc:sldMk cId="0" sldId="259"/>
            <ac:spMk id="12" creationId="{00000000-0000-0000-0000-000000000000}"/>
          </ac:spMkLst>
        </pc:spChg>
        <pc:spChg chg="mod">
          <ac:chgData name="Yamini Sonawane" userId="930b4767cce6bc09" providerId="LiveId" clId="{E91348C6-0AB9-4FC0-A6CB-909B3635B578}" dt="2026-07-28T17:34:36.092" v="377" actId="207"/>
          <ac:spMkLst>
            <pc:docMk/>
            <pc:sldMk cId="0" sldId="259"/>
            <ac:spMk id="14" creationId="{00000000-0000-0000-0000-000000000000}"/>
          </ac:spMkLst>
        </pc:spChg>
        <pc:spChg chg="mod">
          <ac:chgData name="Yamini Sonawane" userId="930b4767cce6bc09" providerId="LiveId" clId="{E91348C6-0AB9-4FC0-A6CB-909B3635B578}" dt="2026-07-28T17:34:36.092" v="377" actId="207"/>
          <ac:spMkLst>
            <pc:docMk/>
            <pc:sldMk cId="0" sldId="259"/>
            <ac:spMk id="15" creationId="{00000000-0000-0000-0000-000000000000}"/>
          </ac:spMkLst>
        </pc:spChg>
        <pc:spChg chg="mod">
          <ac:chgData name="Yamini Sonawane" userId="930b4767cce6bc09" providerId="LiveId" clId="{E91348C6-0AB9-4FC0-A6CB-909B3635B578}" dt="2026-07-28T17:34:36.092" v="377" actId="207"/>
          <ac:spMkLst>
            <pc:docMk/>
            <pc:sldMk cId="0" sldId="259"/>
            <ac:spMk id="16" creationId="{00000000-0000-0000-0000-000000000000}"/>
          </ac:spMkLst>
        </pc:spChg>
        <pc:spChg chg="mod">
          <ac:chgData name="Yamini Sonawane" userId="930b4767cce6bc09" providerId="LiveId" clId="{E91348C6-0AB9-4FC0-A6CB-909B3635B578}" dt="2026-07-28T17:34:36.092" v="377" actId="207"/>
          <ac:spMkLst>
            <pc:docMk/>
            <pc:sldMk cId="0" sldId="259"/>
            <ac:spMk id="17" creationId="{00000000-0000-0000-0000-000000000000}"/>
          </ac:spMkLst>
        </pc:spChg>
        <pc:spChg chg="mod">
          <ac:chgData name="Yamini Sonawane" userId="930b4767cce6bc09" providerId="LiveId" clId="{E91348C6-0AB9-4FC0-A6CB-909B3635B578}" dt="2026-07-28T17:34:36.092" v="377" actId="207"/>
          <ac:spMkLst>
            <pc:docMk/>
            <pc:sldMk cId="0" sldId="259"/>
            <ac:spMk id="19" creationId="{00000000-0000-0000-0000-000000000000}"/>
          </ac:spMkLst>
        </pc:spChg>
      </pc:sldChg>
      <pc:sldChg chg="modSp mod">
        <pc:chgData name="Yamini Sonawane" userId="930b4767cce6bc09" providerId="LiveId" clId="{E91348C6-0AB9-4FC0-A6CB-909B3635B578}" dt="2026-07-28T16:34:48.838" v="44" actId="1035"/>
        <pc:sldMkLst>
          <pc:docMk/>
          <pc:sldMk cId="0" sldId="260"/>
        </pc:sldMkLst>
        <pc:spChg chg="mod">
          <ac:chgData name="Yamini Sonawane" userId="930b4767cce6bc09" providerId="LiveId" clId="{E91348C6-0AB9-4FC0-A6CB-909B3635B578}" dt="2026-07-28T16:33:46.150" v="0" actId="14100"/>
          <ac:spMkLst>
            <pc:docMk/>
            <pc:sldMk cId="0" sldId="260"/>
            <ac:spMk id="4" creationId="{00000000-0000-0000-0000-000000000000}"/>
          </ac:spMkLst>
        </pc:spChg>
        <pc:spChg chg="mod">
          <ac:chgData name="Yamini Sonawane" userId="930b4767cce6bc09" providerId="LiveId" clId="{E91348C6-0AB9-4FC0-A6CB-909B3635B578}" dt="2026-07-28T16:34:48.838" v="44" actId="1035"/>
          <ac:spMkLst>
            <pc:docMk/>
            <pc:sldMk cId="0" sldId="260"/>
            <ac:spMk id="6" creationId="{00000000-0000-0000-0000-000000000000}"/>
          </ac:spMkLst>
        </pc:spChg>
        <pc:spChg chg="mod">
          <ac:chgData name="Yamini Sonawane" userId="930b4767cce6bc09" providerId="LiveId" clId="{E91348C6-0AB9-4FC0-A6CB-909B3635B578}" dt="2026-07-28T16:34:48.838" v="44" actId="1035"/>
          <ac:spMkLst>
            <pc:docMk/>
            <pc:sldMk cId="0" sldId="260"/>
            <ac:spMk id="7" creationId="{00000000-0000-0000-0000-000000000000}"/>
          </ac:spMkLst>
        </pc:spChg>
        <pc:spChg chg="mod">
          <ac:chgData name="Yamini Sonawane" userId="930b4767cce6bc09" providerId="LiveId" clId="{E91348C6-0AB9-4FC0-A6CB-909B3635B578}" dt="2026-07-28T16:34:42.535" v="36" actId="1035"/>
          <ac:spMkLst>
            <pc:docMk/>
            <pc:sldMk cId="0" sldId="260"/>
            <ac:spMk id="9" creationId="{00000000-0000-0000-0000-000000000000}"/>
          </ac:spMkLst>
        </pc:spChg>
        <pc:spChg chg="mod">
          <ac:chgData name="Yamini Sonawane" userId="930b4767cce6bc09" providerId="LiveId" clId="{E91348C6-0AB9-4FC0-A6CB-909B3635B578}" dt="2026-07-28T16:34:42.535" v="36" actId="1035"/>
          <ac:spMkLst>
            <pc:docMk/>
            <pc:sldMk cId="0" sldId="260"/>
            <ac:spMk id="10" creationId="{00000000-0000-0000-0000-000000000000}"/>
          </ac:spMkLst>
        </pc:spChg>
        <pc:spChg chg="mod">
          <ac:chgData name="Yamini Sonawane" userId="930b4767cce6bc09" providerId="LiveId" clId="{E91348C6-0AB9-4FC0-A6CB-909B3635B578}" dt="2026-07-28T16:34:20.558" v="7" actId="1035"/>
          <ac:spMkLst>
            <pc:docMk/>
            <pc:sldMk cId="0" sldId="260"/>
            <ac:spMk id="11" creationId="{00000000-0000-0000-0000-000000000000}"/>
          </ac:spMkLst>
        </pc:spChg>
        <pc:spChg chg="mod">
          <ac:chgData name="Yamini Sonawane" userId="930b4767cce6bc09" providerId="LiveId" clId="{E91348C6-0AB9-4FC0-A6CB-909B3635B578}" dt="2026-07-28T16:34:31.001" v="27" actId="1035"/>
          <ac:spMkLst>
            <pc:docMk/>
            <pc:sldMk cId="0" sldId="260"/>
            <ac:spMk id="12" creationId="{00000000-0000-0000-0000-000000000000}"/>
          </ac:spMkLst>
        </pc:spChg>
        <pc:spChg chg="mod">
          <ac:chgData name="Yamini Sonawane" userId="930b4767cce6bc09" providerId="LiveId" clId="{E91348C6-0AB9-4FC0-A6CB-909B3635B578}" dt="2026-07-28T16:34:31.001" v="27" actId="1035"/>
          <ac:spMkLst>
            <pc:docMk/>
            <pc:sldMk cId="0" sldId="260"/>
            <ac:spMk id="13" creationId="{00000000-0000-0000-0000-000000000000}"/>
          </ac:spMkLst>
        </pc:spChg>
      </pc:sldChg>
      <pc:sldChg chg="modSp mod">
        <pc:chgData name="Yamini Sonawane" userId="930b4767cce6bc09" providerId="LiveId" clId="{E91348C6-0AB9-4FC0-A6CB-909B3635B578}" dt="2026-07-28T17:01:38.991" v="266" actId="20577"/>
        <pc:sldMkLst>
          <pc:docMk/>
          <pc:sldMk cId="0" sldId="307"/>
        </pc:sldMkLst>
        <pc:spChg chg="mod">
          <ac:chgData name="Yamini Sonawane" userId="930b4767cce6bc09" providerId="LiveId" clId="{E91348C6-0AB9-4FC0-A6CB-909B3635B578}" dt="2026-07-28T17:01:38.991" v="266" actId="20577"/>
          <ac:spMkLst>
            <pc:docMk/>
            <pc:sldMk cId="0" sldId="307"/>
            <ac:spMk id="4" creationId="{00000000-0000-0000-0000-000000000000}"/>
          </ac:spMkLst>
        </pc:spChg>
        <pc:spChg chg="mod">
          <ac:chgData name="Yamini Sonawane" userId="930b4767cce6bc09" providerId="LiveId" clId="{E91348C6-0AB9-4FC0-A6CB-909B3635B578}" dt="2026-07-28T16:41:14.219" v="115" actId="13926"/>
          <ac:spMkLst>
            <pc:docMk/>
            <pc:sldMk cId="0" sldId="307"/>
            <ac:spMk id="5" creationId="{00000000-0000-0000-0000-000000000000}"/>
          </ac:spMkLst>
        </pc:spChg>
        <pc:spChg chg="mod">
          <ac:chgData name="Yamini Sonawane" userId="930b4767cce6bc09" providerId="LiveId" clId="{E91348C6-0AB9-4FC0-A6CB-909B3635B578}" dt="2026-07-28T16:41:19.692" v="116" actId="1076"/>
          <ac:spMkLst>
            <pc:docMk/>
            <pc:sldMk cId="0" sldId="307"/>
            <ac:spMk id="6" creationId="{00000000-0000-0000-0000-000000000000}"/>
          </ac:spMkLst>
        </pc:spChg>
      </pc:sldChg>
      <pc:sldChg chg="modSp mod">
        <pc:chgData name="Yamini Sonawane" userId="930b4767cce6bc09" providerId="LiveId" clId="{E91348C6-0AB9-4FC0-A6CB-909B3635B578}" dt="2026-07-28T16:41:28.647" v="119" actId="1038"/>
        <pc:sldMkLst>
          <pc:docMk/>
          <pc:sldMk cId="0" sldId="308"/>
        </pc:sldMkLst>
        <pc:spChg chg="mod">
          <ac:chgData name="Yamini Sonawane" userId="930b4767cce6bc09" providerId="LiveId" clId="{E91348C6-0AB9-4FC0-A6CB-909B3635B578}" dt="2026-07-28T16:41:28.647" v="119" actId="1038"/>
          <ac:spMkLst>
            <pc:docMk/>
            <pc:sldMk cId="0" sldId="308"/>
            <ac:spMk id="2" creationId="{00000000-0000-0000-0000-000000000000}"/>
          </ac:spMkLst>
        </pc:spChg>
        <pc:spChg chg="mod">
          <ac:chgData name="Yamini Sonawane" userId="930b4767cce6bc09" providerId="LiveId" clId="{E91348C6-0AB9-4FC0-A6CB-909B3635B578}" dt="2026-07-28T16:41:28.647" v="119" actId="1038"/>
          <ac:spMkLst>
            <pc:docMk/>
            <pc:sldMk cId="0" sldId="308"/>
            <ac:spMk id="3" creationId="{00000000-0000-0000-0000-000000000000}"/>
          </ac:spMkLst>
        </pc:spChg>
        <pc:spChg chg="mod">
          <ac:chgData name="Yamini Sonawane" userId="930b4767cce6bc09" providerId="LiveId" clId="{E91348C6-0AB9-4FC0-A6CB-909B3635B578}" dt="2026-07-28T16:39:40.101" v="76" actId="2711"/>
          <ac:spMkLst>
            <pc:docMk/>
            <pc:sldMk cId="0" sldId="308"/>
            <ac:spMk id="4" creationId="{00000000-0000-0000-0000-000000000000}"/>
          </ac:spMkLst>
        </pc:spChg>
        <pc:spChg chg="mod">
          <ac:chgData name="Yamini Sonawane" userId="930b4767cce6bc09" providerId="LiveId" clId="{E91348C6-0AB9-4FC0-A6CB-909B3635B578}" dt="2026-07-28T16:40:40.281" v="109" actId="1036"/>
          <ac:spMkLst>
            <pc:docMk/>
            <pc:sldMk cId="0" sldId="308"/>
            <ac:spMk id="5" creationId="{00000000-0000-0000-0000-000000000000}"/>
          </ac:spMkLst>
        </pc:spChg>
        <pc:spChg chg="mod">
          <ac:chgData name="Yamini Sonawane" userId="930b4767cce6bc09" providerId="LiveId" clId="{E91348C6-0AB9-4FC0-A6CB-909B3635B578}" dt="2026-07-28T16:40:40.281" v="109" actId="1036"/>
          <ac:spMkLst>
            <pc:docMk/>
            <pc:sldMk cId="0" sldId="308"/>
            <ac:spMk id="6" creationId="{00000000-0000-0000-0000-000000000000}"/>
          </ac:spMkLst>
        </pc:spChg>
        <pc:spChg chg="mod">
          <ac:chgData name="Yamini Sonawane" userId="930b4767cce6bc09" providerId="LiveId" clId="{E91348C6-0AB9-4FC0-A6CB-909B3635B578}" dt="2026-07-28T16:40:40.281" v="109" actId="1036"/>
          <ac:spMkLst>
            <pc:docMk/>
            <pc:sldMk cId="0" sldId="308"/>
            <ac:spMk id="7" creationId="{00000000-0000-0000-0000-000000000000}"/>
          </ac:spMkLst>
        </pc:spChg>
        <pc:spChg chg="mod">
          <ac:chgData name="Yamini Sonawane" userId="930b4767cce6bc09" providerId="LiveId" clId="{E91348C6-0AB9-4FC0-A6CB-909B3635B578}" dt="2026-07-28T16:41:04.751" v="114" actId="14100"/>
          <ac:spMkLst>
            <pc:docMk/>
            <pc:sldMk cId="0" sldId="308"/>
            <ac:spMk id="8" creationId="{00000000-0000-0000-0000-000000000000}"/>
          </ac:spMkLst>
        </pc:spChg>
        <pc:spChg chg="mod">
          <ac:chgData name="Yamini Sonawane" userId="930b4767cce6bc09" providerId="LiveId" clId="{E91348C6-0AB9-4FC0-A6CB-909B3635B578}" dt="2026-07-28T16:40:51.946" v="111" actId="1076"/>
          <ac:spMkLst>
            <pc:docMk/>
            <pc:sldMk cId="0" sldId="308"/>
            <ac:spMk id="9" creationId="{00000000-0000-0000-0000-000000000000}"/>
          </ac:spMkLst>
        </pc:spChg>
        <pc:spChg chg="mod">
          <ac:chgData name="Yamini Sonawane" userId="930b4767cce6bc09" providerId="LiveId" clId="{E91348C6-0AB9-4FC0-A6CB-909B3635B578}" dt="2026-07-28T16:41:02.378" v="113" actId="1076"/>
          <ac:spMkLst>
            <pc:docMk/>
            <pc:sldMk cId="0" sldId="308"/>
            <ac:spMk id="10" creationId="{00000000-0000-0000-0000-000000000000}"/>
          </ac:spMkLst>
        </pc:spChg>
      </pc:sldChg>
      <pc:sldChg chg="modSp mod">
        <pc:chgData name="Yamini Sonawane" userId="930b4767cce6bc09" providerId="LiveId" clId="{E91348C6-0AB9-4FC0-A6CB-909B3635B578}" dt="2026-07-28T16:48:06.303" v="146" actId="1038"/>
        <pc:sldMkLst>
          <pc:docMk/>
          <pc:sldMk cId="0" sldId="309"/>
        </pc:sldMkLst>
        <pc:spChg chg="mod">
          <ac:chgData name="Yamini Sonawane" userId="930b4767cce6bc09" providerId="LiveId" clId="{E91348C6-0AB9-4FC0-A6CB-909B3635B578}" dt="2026-07-28T16:48:06.303" v="146" actId="1038"/>
          <ac:spMkLst>
            <pc:docMk/>
            <pc:sldMk cId="0" sldId="309"/>
            <ac:spMk id="2" creationId="{00000000-0000-0000-0000-000000000000}"/>
          </ac:spMkLst>
        </pc:spChg>
        <pc:spChg chg="mod">
          <ac:chgData name="Yamini Sonawane" userId="930b4767cce6bc09" providerId="LiveId" clId="{E91348C6-0AB9-4FC0-A6CB-909B3635B578}" dt="2026-07-28T16:48:06.303" v="146" actId="1038"/>
          <ac:spMkLst>
            <pc:docMk/>
            <pc:sldMk cId="0" sldId="309"/>
            <ac:spMk id="3" creationId="{00000000-0000-0000-0000-000000000000}"/>
          </ac:spMkLst>
        </pc:spChg>
        <pc:spChg chg="mod">
          <ac:chgData name="Yamini Sonawane" userId="930b4767cce6bc09" providerId="LiveId" clId="{E91348C6-0AB9-4FC0-A6CB-909B3635B578}" dt="2026-07-28T16:45:20.856" v="121" actId="14100"/>
          <ac:spMkLst>
            <pc:docMk/>
            <pc:sldMk cId="0" sldId="309"/>
            <ac:spMk id="6" creationId="{00000000-0000-0000-0000-000000000000}"/>
          </ac:spMkLst>
        </pc:spChg>
        <pc:spChg chg="mod">
          <ac:chgData name="Yamini Sonawane" userId="930b4767cce6bc09" providerId="LiveId" clId="{E91348C6-0AB9-4FC0-A6CB-909B3635B578}" dt="2026-07-28T16:45:35.879" v="129" actId="20577"/>
          <ac:spMkLst>
            <pc:docMk/>
            <pc:sldMk cId="0" sldId="309"/>
            <ac:spMk id="7" creationId="{00000000-0000-0000-0000-000000000000}"/>
          </ac:spMkLst>
        </pc:spChg>
        <pc:spChg chg="mod">
          <ac:chgData name="Yamini Sonawane" userId="930b4767cce6bc09" providerId="LiveId" clId="{E91348C6-0AB9-4FC0-A6CB-909B3635B578}" dt="2026-07-28T16:45:26.358" v="123" actId="20577"/>
          <ac:spMkLst>
            <pc:docMk/>
            <pc:sldMk cId="0" sldId="309"/>
            <ac:spMk id="8" creationId="{00000000-0000-0000-0000-000000000000}"/>
          </ac:spMkLst>
        </pc:spChg>
        <pc:spChg chg="mod">
          <ac:chgData name="Yamini Sonawane" userId="930b4767cce6bc09" providerId="LiveId" clId="{E91348C6-0AB9-4FC0-A6CB-909B3635B578}" dt="2026-07-28T16:45:20.856" v="121" actId="14100"/>
          <ac:spMkLst>
            <pc:docMk/>
            <pc:sldMk cId="0" sldId="309"/>
            <ac:spMk id="12" creationId="{00000000-0000-0000-0000-000000000000}"/>
          </ac:spMkLst>
        </pc:spChg>
        <pc:spChg chg="mod">
          <ac:chgData name="Yamini Sonawane" userId="930b4767cce6bc09" providerId="LiveId" clId="{E91348C6-0AB9-4FC0-A6CB-909B3635B578}" dt="2026-07-28T16:45:43.258" v="130"/>
          <ac:spMkLst>
            <pc:docMk/>
            <pc:sldMk cId="0" sldId="309"/>
            <ac:spMk id="13" creationId="{00000000-0000-0000-0000-000000000000}"/>
          </ac:spMkLst>
        </pc:spChg>
        <pc:spChg chg="mod">
          <ac:chgData name="Yamini Sonawane" userId="930b4767cce6bc09" providerId="LiveId" clId="{E91348C6-0AB9-4FC0-A6CB-909B3635B578}" dt="2026-07-28T16:46:05.088" v="133" actId="20577"/>
          <ac:spMkLst>
            <pc:docMk/>
            <pc:sldMk cId="0" sldId="309"/>
            <ac:spMk id="14" creationId="{00000000-0000-0000-0000-000000000000}"/>
          </ac:spMkLst>
        </pc:spChg>
        <pc:spChg chg="mod">
          <ac:chgData name="Yamini Sonawane" userId="930b4767cce6bc09" providerId="LiveId" clId="{E91348C6-0AB9-4FC0-A6CB-909B3635B578}" dt="2026-07-28T16:45:20.856" v="121" actId="14100"/>
          <ac:spMkLst>
            <pc:docMk/>
            <pc:sldMk cId="0" sldId="309"/>
            <ac:spMk id="18" creationId="{00000000-0000-0000-0000-000000000000}"/>
          </ac:spMkLst>
        </pc:spChg>
        <pc:spChg chg="mod">
          <ac:chgData name="Yamini Sonawane" userId="930b4767cce6bc09" providerId="LiveId" clId="{E91348C6-0AB9-4FC0-A6CB-909B3635B578}" dt="2026-07-28T16:46:12.320" v="134"/>
          <ac:spMkLst>
            <pc:docMk/>
            <pc:sldMk cId="0" sldId="309"/>
            <ac:spMk id="19" creationId="{00000000-0000-0000-0000-000000000000}"/>
          </ac:spMkLst>
        </pc:spChg>
        <pc:spChg chg="mod">
          <ac:chgData name="Yamini Sonawane" userId="930b4767cce6bc09" providerId="LiveId" clId="{E91348C6-0AB9-4FC0-A6CB-909B3635B578}" dt="2026-07-28T16:46:22.124" v="137" actId="20577"/>
          <ac:spMkLst>
            <pc:docMk/>
            <pc:sldMk cId="0" sldId="309"/>
            <ac:spMk id="20" creationId="{00000000-0000-0000-0000-000000000000}"/>
          </ac:spMkLst>
        </pc:spChg>
        <pc:spChg chg="mod">
          <ac:chgData name="Yamini Sonawane" userId="930b4767cce6bc09" providerId="LiveId" clId="{E91348C6-0AB9-4FC0-A6CB-909B3635B578}" dt="2026-07-28T16:45:20.856" v="121" actId="14100"/>
          <ac:spMkLst>
            <pc:docMk/>
            <pc:sldMk cId="0" sldId="309"/>
            <ac:spMk id="24" creationId="{00000000-0000-0000-0000-000000000000}"/>
          </ac:spMkLst>
        </pc:spChg>
        <pc:spChg chg="mod">
          <ac:chgData name="Yamini Sonawane" userId="930b4767cce6bc09" providerId="LiveId" clId="{E91348C6-0AB9-4FC0-A6CB-909B3635B578}" dt="2026-07-28T16:46:31.837" v="138"/>
          <ac:spMkLst>
            <pc:docMk/>
            <pc:sldMk cId="0" sldId="309"/>
            <ac:spMk id="25" creationId="{00000000-0000-0000-0000-000000000000}"/>
          </ac:spMkLst>
        </pc:spChg>
        <pc:spChg chg="mod">
          <ac:chgData name="Yamini Sonawane" userId="930b4767cce6bc09" providerId="LiveId" clId="{E91348C6-0AB9-4FC0-A6CB-909B3635B578}" dt="2026-07-28T16:46:45.781" v="142" actId="20577"/>
          <ac:spMkLst>
            <pc:docMk/>
            <pc:sldMk cId="0" sldId="309"/>
            <ac:spMk id="26" creationId="{00000000-0000-0000-0000-000000000000}"/>
          </ac:spMkLst>
        </pc:spChg>
      </pc:sldChg>
      <pc:sldChg chg="del">
        <pc:chgData name="Yamini Sonawane" userId="930b4767cce6bc09" providerId="LiveId" clId="{E91348C6-0AB9-4FC0-A6CB-909B3635B578}" dt="2026-07-28T16:48:37.855" v="147" actId="47"/>
        <pc:sldMkLst>
          <pc:docMk/>
          <pc:sldMk cId="0" sldId="310"/>
        </pc:sldMkLst>
      </pc:sldChg>
      <pc:sldChg chg="del">
        <pc:chgData name="Yamini Sonawane" userId="930b4767cce6bc09" providerId="LiveId" clId="{E91348C6-0AB9-4FC0-A6CB-909B3635B578}" dt="2026-07-28T16:49:19.623" v="148" actId="47"/>
        <pc:sldMkLst>
          <pc:docMk/>
          <pc:sldMk cId="0" sldId="311"/>
        </pc:sldMkLst>
      </pc:sldChg>
      <pc:sldChg chg="modSp mod">
        <pc:chgData name="Yamini Sonawane" userId="930b4767cce6bc09" providerId="LiveId" clId="{E91348C6-0AB9-4FC0-A6CB-909B3635B578}" dt="2026-07-28T16:52:37.881" v="199"/>
        <pc:sldMkLst>
          <pc:docMk/>
          <pc:sldMk cId="0" sldId="312"/>
        </pc:sldMkLst>
        <pc:spChg chg="mod">
          <ac:chgData name="Yamini Sonawane" userId="930b4767cce6bc09" providerId="LiveId" clId="{E91348C6-0AB9-4FC0-A6CB-909B3635B578}" dt="2026-07-28T16:52:28.985" v="198" actId="1038"/>
          <ac:spMkLst>
            <pc:docMk/>
            <pc:sldMk cId="0" sldId="312"/>
            <ac:spMk id="2" creationId="{00000000-0000-0000-0000-000000000000}"/>
          </ac:spMkLst>
        </pc:spChg>
        <pc:spChg chg="mod">
          <ac:chgData name="Yamini Sonawane" userId="930b4767cce6bc09" providerId="LiveId" clId="{E91348C6-0AB9-4FC0-A6CB-909B3635B578}" dt="2026-07-28T16:52:37.881" v="199"/>
          <ac:spMkLst>
            <pc:docMk/>
            <pc:sldMk cId="0" sldId="312"/>
            <ac:spMk id="3" creationId="{00000000-0000-0000-0000-000000000000}"/>
          </ac:spMkLst>
        </pc:spChg>
        <pc:spChg chg="mod">
          <ac:chgData name="Yamini Sonawane" userId="930b4767cce6bc09" providerId="LiveId" clId="{E91348C6-0AB9-4FC0-A6CB-909B3635B578}" dt="2026-07-28T16:52:03.003" v="193" actId="20577"/>
          <ac:spMkLst>
            <pc:docMk/>
            <pc:sldMk cId="0" sldId="312"/>
            <ac:spMk id="5" creationId="{00000000-0000-0000-0000-000000000000}"/>
          </ac:spMkLst>
        </pc:spChg>
      </pc:sldChg>
      <pc:sldChg chg="modSp mod">
        <pc:chgData name="Yamini Sonawane" userId="930b4767cce6bc09" providerId="LiveId" clId="{E91348C6-0AB9-4FC0-A6CB-909B3635B578}" dt="2026-07-28T16:56:09.443" v="235" actId="113"/>
        <pc:sldMkLst>
          <pc:docMk/>
          <pc:sldMk cId="0" sldId="313"/>
        </pc:sldMkLst>
        <pc:spChg chg="mod">
          <ac:chgData name="Yamini Sonawane" userId="930b4767cce6bc09" providerId="LiveId" clId="{E91348C6-0AB9-4FC0-A6CB-909B3635B578}" dt="2026-07-28T16:54:27.342" v="208"/>
          <ac:spMkLst>
            <pc:docMk/>
            <pc:sldMk cId="0" sldId="313"/>
            <ac:spMk id="3" creationId="{00000000-0000-0000-0000-000000000000}"/>
          </ac:spMkLst>
        </pc:spChg>
        <pc:spChg chg="mod">
          <ac:chgData name="Yamini Sonawane" userId="930b4767cce6bc09" providerId="LiveId" clId="{E91348C6-0AB9-4FC0-A6CB-909B3635B578}" dt="2026-07-28T16:56:09.443" v="235" actId="113"/>
          <ac:spMkLst>
            <pc:docMk/>
            <pc:sldMk cId="0" sldId="313"/>
            <ac:spMk id="4" creationId="{00000000-0000-0000-0000-000000000000}"/>
          </ac:spMkLst>
        </pc:spChg>
        <pc:spChg chg="mod">
          <ac:chgData name="Yamini Sonawane" userId="930b4767cce6bc09" providerId="LiveId" clId="{E91348C6-0AB9-4FC0-A6CB-909B3635B578}" dt="2026-07-28T16:53:02.347" v="207" actId="20577"/>
          <ac:spMkLst>
            <pc:docMk/>
            <pc:sldMk cId="0" sldId="313"/>
            <ac:spMk id="6" creationId="{00000000-0000-0000-0000-000000000000}"/>
          </ac:spMkLst>
        </pc:spChg>
      </pc:sldChg>
      <pc:sldChg chg="modSp mod">
        <pc:chgData name="Yamini Sonawane" userId="930b4767cce6bc09" providerId="LiveId" clId="{E91348C6-0AB9-4FC0-A6CB-909B3635B578}" dt="2026-07-28T16:59:16.930" v="254"/>
        <pc:sldMkLst>
          <pc:docMk/>
          <pc:sldMk cId="0" sldId="314"/>
        </pc:sldMkLst>
        <pc:spChg chg="mod">
          <ac:chgData name="Yamini Sonawane" userId="930b4767cce6bc09" providerId="LiveId" clId="{E91348C6-0AB9-4FC0-A6CB-909B3635B578}" dt="2026-07-28T16:59:16.930" v="254"/>
          <ac:spMkLst>
            <pc:docMk/>
            <pc:sldMk cId="0" sldId="314"/>
            <ac:spMk id="3" creationId="{00000000-0000-0000-0000-000000000000}"/>
          </ac:spMkLst>
        </pc:spChg>
        <pc:spChg chg="mod">
          <ac:chgData name="Yamini Sonawane" userId="930b4767cce6bc09" providerId="LiveId" clId="{E91348C6-0AB9-4FC0-A6CB-909B3635B578}" dt="2026-07-28T16:58:49.037" v="253" actId="2711"/>
          <ac:spMkLst>
            <pc:docMk/>
            <pc:sldMk cId="0" sldId="314"/>
            <ac:spMk id="5" creationId="{00000000-0000-0000-0000-000000000000}"/>
          </ac:spMkLst>
        </pc:spChg>
      </pc:sldChg>
      <pc:sldChg chg="modSp mod">
        <pc:chgData name="Yamini Sonawane" userId="930b4767cce6bc09" providerId="LiveId" clId="{E91348C6-0AB9-4FC0-A6CB-909B3635B578}" dt="2026-07-28T17:01:03.734" v="263"/>
        <pc:sldMkLst>
          <pc:docMk/>
          <pc:sldMk cId="0" sldId="315"/>
        </pc:sldMkLst>
        <pc:spChg chg="mod">
          <ac:chgData name="Yamini Sonawane" userId="930b4767cce6bc09" providerId="LiveId" clId="{E91348C6-0AB9-4FC0-A6CB-909B3635B578}" dt="2026-07-28T17:01:03.734" v="263"/>
          <ac:spMkLst>
            <pc:docMk/>
            <pc:sldMk cId="0" sldId="315"/>
            <ac:spMk id="3" creationId="{00000000-0000-0000-0000-000000000000}"/>
          </ac:spMkLst>
        </pc:spChg>
        <pc:spChg chg="mod">
          <ac:chgData name="Yamini Sonawane" userId="930b4767cce6bc09" providerId="LiveId" clId="{E91348C6-0AB9-4FC0-A6CB-909B3635B578}" dt="2026-07-28T17:00:33.751" v="262" actId="20577"/>
          <ac:spMkLst>
            <pc:docMk/>
            <pc:sldMk cId="0" sldId="315"/>
            <ac:spMk id="5" creationId="{00000000-0000-0000-0000-000000000000}"/>
          </ac:spMkLst>
        </pc:spChg>
      </pc:sldChg>
      <pc:sldChg chg="delSp modSp mod">
        <pc:chgData name="Yamini Sonawane" userId="930b4767cce6bc09" providerId="LiveId" clId="{E91348C6-0AB9-4FC0-A6CB-909B3635B578}" dt="2026-07-28T17:45:25.195" v="384" actId="478"/>
        <pc:sldMkLst>
          <pc:docMk/>
          <pc:sldMk cId="0" sldId="316"/>
        </pc:sldMkLst>
        <pc:spChg chg="mod">
          <ac:chgData name="Yamini Sonawane" userId="930b4767cce6bc09" providerId="LiveId" clId="{E91348C6-0AB9-4FC0-A6CB-909B3635B578}" dt="2026-07-28T17:45:20.915" v="383" actId="20577"/>
          <ac:spMkLst>
            <pc:docMk/>
            <pc:sldMk cId="0" sldId="316"/>
            <ac:spMk id="5" creationId="{00000000-0000-0000-0000-000000000000}"/>
          </ac:spMkLst>
        </pc:spChg>
        <pc:spChg chg="del">
          <ac:chgData name="Yamini Sonawane" userId="930b4767cce6bc09" providerId="LiveId" clId="{E91348C6-0AB9-4FC0-A6CB-909B3635B578}" dt="2026-07-28T17:45:25.195" v="384" actId="478"/>
          <ac:spMkLst>
            <pc:docMk/>
            <pc:sldMk cId="0" sldId="316"/>
            <ac:spMk id="6" creationId="{00000000-0000-0000-0000-000000000000}"/>
          </ac:spMkLst>
        </pc:spChg>
      </pc:sldChg>
      <pc:sldChg chg="addSp delSp modSp mod">
        <pc:chgData name="Yamini Sonawane" userId="930b4767cce6bc09" providerId="LiveId" clId="{E91348C6-0AB9-4FC0-A6CB-909B3635B578}" dt="2026-07-28T17:53:22.341" v="389" actId="1076"/>
        <pc:sldMkLst>
          <pc:docMk/>
          <pc:sldMk cId="519252236" sldId="352"/>
        </pc:sldMkLst>
        <pc:spChg chg="mod">
          <ac:chgData name="Yamini Sonawane" userId="930b4767cce6bc09" providerId="LiveId" clId="{E91348C6-0AB9-4FC0-A6CB-909B3635B578}" dt="2026-07-28T17:52:45.026" v="386" actId="20577"/>
          <ac:spMkLst>
            <pc:docMk/>
            <pc:sldMk cId="519252236" sldId="352"/>
            <ac:spMk id="52" creationId="{8B2048A2-090A-6ABF-A0EE-35E302FCC73C}"/>
          </ac:spMkLst>
        </pc:spChg>
        <pc:picChg chg="del">
          <ac:chgData name="Yamini Sonawane" userId="930b4767cce6bc09" providerId="LiveId" clId="{E91348C6-0AB9-4FC0-A6CB-909B3635B578}" dt="2026-07-28T17:53:14.446" v="387" actId="478"/>
          <ac:picMkLst>
            <pc:docMk/>
            <pc:sldMk cId="519252236" sldId="352"/>
            <ac:picMk id="11" creationId="{1C964A1B-021E-FC84-C1D4-A5149A44F72E}"/>
          </ac:picMkLst>
        </pc:picChg>
        <pc:picChg chg="add mod">
          <ac:chgData name="Yamini Sonawane" userId="930b4767cce6bc09" providerId="LiveId" clId="{E91348C6-0AB9-4FC0-A6CB-909B3635B578}" dt="2026-07-28T17:53:22.341" v="389" actId="1076"/>
          <ac:picMkLst>
            <pc:docMk/>
            <pc:sldMk cId="519252236" sldId="352"/>
            <ac:picMk id="20" creationId="{0D147BF8-9F59-FDA1-BB69-5B8E2B8A683E}"/>
          </ac:picMkLst>
        </pc:picChg>
      </pc:sldChg>
      <pc:sldChg chg="modSp add mod">
        <pc:chgData name="Yamini Sonawane" userId="930b4767cce6bc09" providerId="LiveId" clId="{E91348C6-0AB9-4FC0-A6CB-909B3635B578}" dt="2026-07-28T17:08:16.024" v="317"/>
        <pc:sldMkLst>
          <pc:docMk/>
          <pc:sldMk cId="4127678792" sldId="371"/>
        </pc:sldMkLst>
        <pc:spChg chg="mod">
          <ac:chgData name="Yamini Sonawane" userId="930b4767cce6bc09" providerId="LiveId" clId="{E91348C6-0AB9-4FC0-A6CB-909B3635B578}" dt="2026-07-28T17:08:16.024" v="317"/>
          <ac:spMkLst>
            <pc:docMk/>
            <pc:sldMk cId="4127678792" sldId="371"/>
            <ac:spMk id="5" creationId="{464C6BFD-0804-9FED-53DD-AFF5EA25F671}"/>
          </ac:spMkLst>
        </pc:spChg>
        <pc:spChg chg="mod">
          <ac:chgData name="Yamini Sonawane" userId="930b4767cce6bc09" providerId="LiveId" clId="{E91348C6-0AB9-4FC0-A6CB-909B3635B578}" dt="2026-07-28T17:07:45.052" v="316"/>
          <ac:spMkLst>
            <pc:docMk/>
            <pc:sldMk cId="4127678792" sldId="371"/>
            <ac:spMk id="6" creationId="{E8D06242-3D1B-4B13-31D5-48F5ACB11A49}"/>
          </ac:spMkLst>
        </pc:spChg>
      </pc:sldChg>
      <pc:sldChg chg="addSp delSp modSp add mod">
        <pc:chgData name="Yamini Sonawane" userId="930b4767cce6bc09" providerId="LiveId" clId="{E91348C6-0AB9-4FC0-A6CB-909B3635B578}" dt="2026-07-28T17:14:53.051" v="370" actId="20577"/>
        <pc:sldMkLst>
          <pc:docMk/>
          <pc:sldMk cId="24225729" sldId="372"/>
        </pc:sldMkLst>
        <pc:spChg chg="del mod">
          <ac:chgData name="Yamini Sonawane" userId="930b4767cce6bc09" providerId="LiveId" clId="{E91348C6-0AB9-4FC0-A6CB-909B3635B578}" dt="2026-07-28T17:06:54.187" v="313" actId="478"/>
          <ac:spMkLst>
            <pc:docMk/>
            <pc:sldMk cId="24225729" sldId="372"/>
            <ac:spMk id="2" creationId="{D2AB41F3-5F98-D20A-2B2E-A44CDF95775F}"/>
          </ac:spMkLst>
        </pc:spChg>
        <pc:spChg chg="del">
          <ac:chgData name="Yamini Sonawane" userId="930b4767cce6bc09" providerId="LiveId" clId="{E91348C6-0AB9-4FC0-A6CB-909B3635B578}" dt="2026-07-28T17:06:56.169" v="314" actId="478"/>
          <ac:spMkLst>
            <pc:docMk/>
            <pc:sldMk cId="24225729" sldId="372"/>
            <ac:spMk id="3" creationId="{4EE154F0-2505-4123-7E55-44013695C284}"/>
          </ac:spMkLst>
        </pc:spChg>
        <pc:spChg chg="mod">
          <ac:chgData name="Yamini Sonawane" userId="930b4767cce6bc09" providerId="LiveId" clId="{E91348C6-0AB9-4FC0-A6CB-909B3635B578}" dt="2026-07-28T17:07:02.340" v="315" actId="14100"/>
          <ac:spMkLst>
            <pc:docMk/>
            <pc:sldMk cId="24225729" sldId="372"/>
            <ac:spMk id="4" creationId="{4EA4AF30-F18F-08A4-7252-6D72CAC974E4}"/>
          </ac:spMkLst>
        </pc:spChg>
        <pc:spChg chg="del">
          <ac:chgData name="Yamini Sonawane" userId="930b4767cce6bc09" providerId="LiveId" clId="{E91348C6-0AB9-4FC0-A6CB-909B3635B578}" dt="2026-07-28T17:06:12.484" v="296" actId="478"/>
          <ac:spMkLst>
            <pc:docMk/>
            <pc:sldMk cId="24225729" sldId="372"/>
            <ac:spMk id="5" creationId="{9649F319-D67D-E7C2-EB7A-A42C9C7CDEAF}"/>
          </ac:spMkLst>
        </pc:spChg>
        <pc:spChg chg="add mod">
          <ac:chgData name="Yamini Sonawane" userId="930b4767cce6bc09" providerId="LiveId" clId="{E91348C6-0AB9-4FC0-A6CB-909B3635B578}" dt="2026-07-28T17:14:53.051" v="370" actId="20577"/>
          <ac:spMkLst>
            <pc:docMk/>
            <pc:sldMk cId="24225729" sldId="372"/>
            <ac:spMk id="8" creationId="{EE315950-0DB4-CE82-E8B8-EEFEAFF125F9}"/>
          </ac:spMkLst>
        </pc:spChg>
        <pc:picChg chg="add del mod">
          <ac:chgData name="Yamini Sonawane" userId="930b4767cce6bc09" providerId="LiveId" clId="{E91348C6-0AB9-4FC0-A6CB-909B3635B578}" dt="2026-07-28T17:10:04.533" v="324" actId="478"/>
          <ac:picMkLst>
            <pc:docMk/>
            <pc:sldMk cId="24225729" sldId="372"/>
            <ac:picMk id="10" creationId="{269FDAD5-2CB2-C1C6-C90B-38F630329DBC}"/>
          </ac:picMkLst>
        </pc:picChg>
        <pc:picChg chg="add mod">
          <ac:chgData name="Yamini Sonawane" userId="930b4767cce6bc09" providerId="LiveId" clId="{E91348C6-0AB9-4FC0-A6CB-909B3635B578}" dt="2026-07-28T17:10:38.255" v="351" actId="14100"/>
          <ac:picMkLst>
            <pc:docMk/>
            <pc:sldMk cId="24225729" sldId="372"/>
            <ac:picMk id="12" creationId="{3E6EB282-D29C-613B-1B7C-94AAA2C99B8B}"/>
          </ac:picMkLst>
        </pc:picChg>
      </pc:sldChg>
      <pc:sldChg chg="modSp add mod">
        <pc:chgData name="Yamini Sonawane" userId="930b4767cce6bc09" providerId="LiveId" clId="{E91348C6-0AB9-4FC0-A6CB-909B3635B578}" dt="2026-07-28T17:34:43.245" v="378" actId="207"/>
        <pc:sldMkLst>
          <pc:docMk/>
          <pc:sldMk cId="0" sldId="373"/>
        </pc:sldMkLst>
        <pc:spChg chg="mod">
          <ac:chgData name="Yamini Sonawane" userId="930b4767cce6bc09" providerId="LiveId" clId="{E91348C6-0AB9-4FC0-A6CB-909B3635B578}" dt="2026-07-28T17:34:43.245" v="378" actId="207"/>
          <ac:spMkLst>
            <pc:docMk/>
            <pc:sldMk cId="0" sldId="373"/>
            <ac:spMk id="4" creationId="{00000000-0000-0000-0000-000000000000}"/>
          </ac:spMkLst>
        </pc:spChg>
        <pc:spChg chg="mod">
          <ac:chgData name="Yamini Sonawane" userId="930b4767cce6bc09" providerId="LiveId" clId="{E91348C6-0AB9-4FC0-A6CB-909B3635B578}" dt="2026-07-28T17:34:43.245" v="378" actId="207"/>
          <ac:spMkLst>
            <pc:docMk/>
            <pc:sldMk cId="0" sldId="373"/>
            <ac:spMk id="8" creationId="{1C3B0C2D-EFF5-42D2-76F5-8C1A13A97799}"/>
          </ac:spMkLst>
        </pc:spChg>
      </pc:sldChg>
      <pc:sldChg chg="modSp add mod">
        <pc:chgData name="Yamini Sonawane" userId="930b4767cce6bc09" providerId="LiveId" clId="{E91348C6-0AB9-4FC0-A6CB-909B3635B578}" dt="2026-07-28T17:34:48.588" v="379" actId="207"/>
        <pc:sldMkLst>
          <pc:docMk/>
          <pc:sldMk cId="1099763998" sldId="374"/>
        </pc:sldMkLst>
        <pc:spChg chg="mod">
          <ac:chgData name="Yamini Sonawane" userId="930b4767cce6bc09" providerId="LiveId" clId="{E91348C6-0AB9-4FC0-A6CB-909B3635B578}" dt="2026-07-28T17:34:48.588" v="379" actId="207"/>
          <ac:spMkLst>
            <pc:docMk/>
            <pc:sldMk cId="1099763998" sldId="374"/>
            <ac:spMk id="4" creationId="{3CE0113D-745D-9AB0-7215-A6D13E733D88}"/>
          </ac:spMkLst>
        </pc:spChg>
        <pc:spChg chg="mod">
          <ac:chgData name="Yamini Sonawane" userId="930b4767cce6bc09" providerId="LiveId" clId="{E91348C6-0AB9-4FC0-A6CB-909B3635B578}" dt="2026-07-28T17:34:48.588" v="379" actId="207"/>
          <ac:spMkLst>
            <pc:docMk/>
            <pc:sldMk cId="1099763998" sldId="374"/>
            <ac:spMk id="7" creationId="{3A35A570-2633-B1C4-0144-6F6F029B6C0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1"/>
          <c:order val="1"/>
          <c:tx>
            <c:strRef>
              <c:f>Sheet1!$B$1</c:f>
              <c:strCache>
                <c:ptCount val="1"/>
                <c:pt idx="0">
                  <c:v>Market Value (USD Bn)</c:v>
                </c:pt>
              </c:strCache>
            </c:strRef>
          </c:tx>
          <c:spPr>
            <a:solidFill>
              <a:schemeClr val="accent6">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numRef>
              <c:f>Sheet1!$A$2:$A$13</c:f>
              <c:numCache>
                <c:formatCode>General</c:formatCode>
                <c:ptCount val="12"/>
                <c:pt idx="0">
                  <c:v>2025</c:v>
                </c:pt>
                <c:pt idx="1">
                  <c:v>2026</c:v>
                </c:pt>
                <c:pt idx="2">
                  <c:v>2027</c:v>
                </c:pt>
                <c:pt idx="3">
                  <c:v>2028</c:v>
                </c:pt>
                <c:pt idx="4">
                  <c:v>2029</c:v>
                </c:pt>
                <c:pt idx="5">
                  <c:v>2030</c:v>
                </c:pt>
                <c:pt idx="6">
                  <c:v>2031</c:v>
                </c:pt>
                <c:pt idx="7">
                  <c:v>2032</c:v>
                </c:pt>
                <c:pt idx="8">
                  <c:v>2033</c:v>
                </c:pt>
                <c:pt idx="9">
                  <c:v>2034</c:v>
                </c:pt>
                <c:pt idx="10">
                  <c:v>2035</c:v>
                </c:pt>
                <c:pt idx="11">
                  <c:v>2036</c:v>
                </c:pt>
              </c:numCache>
            </c:numRef>
          </c:cat>
          <c:val>
            <c:numRef>
              <c:f>Sheet1!$B$2:$B$13</c:f>
              <c:numCache>
                <c:formatCode>0.00</c:formatCode>
                <c:ptCount val="12"/>
                <c:pt idx="0">
                  <c:v>182.47</c:v>
                </c:pt>
                <c:pt idx="1">
                  <c:v>198.95249999999999</c:v>
                </c:pt>
                <c:pt idx="2">
                  <c:v>217.01677532491641</c:v>
                </c:pt>
                <c:pt idx="3">
                  <c:v>236.82257994108102</c:v>
                </c:pt>
                <c:pt idx="4">
                  <c:v>258.54653830315647</c:v>
                </c:pt>
                <c:pt idx="5">
                  <c:v>282.38399920427878</c:v>
                </c:pt>
                <c:pt idx="6">
                  <c:v>308.55110080643522</c:v>
                </c:pt>
                <c:pt idx="7">
                  <c:v>337.28707171328779</c:v>
                </c:pt>
                <c:pt idx="8">
                  <c:v>368.85679596509135</c:v>
                </c:pt>
                <c:pt idx="9">
                  <c:v>403.5536732295181</c:v>
                </c:pt>
                <c:pt idx="10">
                  <c:v>441.70280928138317</c:v>
                </c:pt>
                <c:pt idx="11">
                  <c:v>483.66457616311453</c:v>
                </c:pt>
              </c:numCache>
            </c:numRef>
          </c:val>
          <c:extLst>
            <c:ext xmlns:c16="http://schemas.microsoft.com/office/drawing/2014/chart" uri="{C3380CC4-5D6E-409C-BE32-E72D297353CC}">
              <c16:uniqueId val="{00000008-BAFB-407D-A0C9-2C5D3C50F075}"/>
            </c:ext>
          </c:extLst>
        </c:ser>
        <c:dLbls>
          <c:dLblPos val="outEnd"/>
          <c:showLegendKey val="0"/>
          <c:showVal val="1"/>
          <c:showCatName val="0"/>
          <c:showSerName val="0"/>
          <c:showPercent val="0"/>
          <c:showBubbleSize val="0"/>
        </c:dLbls>
        <c:gapWidth val="150"/>
        <c:axId val="2094734554"/>
        <c:axId val="2094734552"/>
        <c:extLst>
          <c:ext xmlns:c15="http://schemas.microsoft.com/office/drawing/2012/chart" uri="{02D57815-91ED-43cb-92C2-25804820EDAC}">
            <c15:filteredBarSeries>
              <c15:ser>
                <c:idx val="0"/>
                <c:order val="0"/>
                <c:tx>
                  <c:strRef>
                    <c:extLst>
                      <c:ext uri="{02D57815-91ED-43cb-92C2-25804820EDAC}">
                        <c15:formulaRef>
                          <c15:sqref>Sheet1!$A$1</c15:sqref>
                        </c15:formulaRef>
                      </c:ext>
                    </c:extLst>
                    <c:strCache>
                      <c:ptCount val="1"/>
                      <c:pt idx="0">
                        <c:v>Year</c:v>
                      </c:pt>
                    </c:strCache>
                  </c:strRef>
                </c:tx>
                <c:spPr>
                  <a:solidFill>
                    <a:schemeClr val="accent6">
                      <a:shade val="76000"/>
                    </a:schemeClr>
                  </a:solidFill>
                  <a:ln>
                    <a:noFill/>
                  </a:ln>
                  <a:effectLst/>
                </c:spPr>
                <c:invertIfNegative val="0"/>
                <c:dPt>
                  <c:idx val="0"/>
                  <c:invertIfNegative val="0"/>
                  <c:bubble3D val="0"/>
                  <c:extLst>
                    <c:ext xmlns:c16="http://schemas.microsoft.com/office/drawing/2014/chart" uri="{C3380CC4-5D6E-409C-BE32-E72D297353CC}">
                      <c16:uniqueId val="{00000001-471F-4C73-8FCB-615072B1791C}"/>
                    </c:ext>
                  </c:extLst>
                </c:dPt>
                <c:dPt>
                  <c:idx val="1"/>
                  <c:invertIfNegative val="0"/>
                  <c:bubble3D val="0"/>
                  <c:spPr>
                    <a:solidFill>
                      <a:schemeClr val="accent6">
                        <a:shade val="76000"/>
                      </a:schemeClr>
                    </a:solidFill>
                    <a:ln>
                      <a:noFill/>
                    </a:ln>
                    <a:effectLst/>
                  </c:spPr>
                  <c:extLst>
                    <c:ext xmlns:c16="http://schemas.microsoft.com/office/drawing/2014/chart" uri="{C3380CC4-5D6E-409C-BE32-E72D297353CC}">
                      <c16:uniqueId val="{00000003-471F-4C73-8FCB-615072B1791C}"/>
                    </c:ext>
                  </c:extLst>
                </c:dPt>
                <c:dPt>
                  <c:idx val="2"/>
                  <c:invertIfNegative val="0"/>
                  <c:bubble3D val="0"/>
                  <c:spPr>
                    <a:solidFill>
                      <a:schemeClr val="accent6">
                        <a:shade val="76000"/>
                      </a:schemeClr>
                    </a:solidFill>
                    <a:ln>
                      <a:noFill/>
                    </a:ln>
                    <a:effectLst/>
                  </c:spPr>
                  <c:extLst>
                    <c:ext xmlns:c16="http://schemas.microsoft.com/office/drawing/2014/chart" uri="{C3380CC4-5D6E-409C-BE32-E72D297353CC}">
                      <c16:uniqueId val="{00000005-471F-4C73-8FCB-615072B1791C}"/>
                    </c:ext>
                  </c:extLst>
                </c:dPt>
                <c:dPt>
                  <c:idx val="3"/>
                  <c:invertIfNegative val="0"/>
                  <c:bubble3D val="0"/>
                  <c:extLst>
                    <c:ext xmlns:c16="http://schemas.microsoft.com/office/drawing/2014/chart" uri="{C3380CC4-5D6E-409C-BE32-E72D297353CC}">
                      <c16:uniqueId val="{00000007-471F-4C73-8FCB-615072B1791C}"/>
                    </c:ext>
                  </c:extLst>
                </c:dPt>
                <c:dPt>
                  <c:idx val="4"/>
                  <c:invertIfNegative val="0"/>
                  <c:bubble3D val="0"/>
                  <c:spPr>
                    <a:solidFill>
                      <a:schemeClr val="accent6">
                        <a:shade val="76000"/>
                      </a:schemeClr>
                    </a:solidFill>
                    <a:ln>
                      <a:noFill/>
                    </a:ln>
                    <a:effectLst/>
                  </c:spPr>
                  <c:extLst>
                    <c:ext xmlns:c16="http://schemas.microsoft.com/office/drawing/2014/chart" uri="{C3380CC4-5D6E-409C-BE32-E72D297353CC}">
                      <c16:uniqueId val="{00000009-471F-4C73-8FCB-615072B1791C}"/>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6350" cap="flat" cmpd="sng" algn="ctr">
                            <a:solidFill>
                              <a:schemeClr val="tx1"/>
                            </a:solidFill>
                            <a:prstDash val="solid"/>
                            <a:round/>
                          </a:ln>
                          <a:effectLst/>
                        </c:spPr>
                      </c15:leaderLines>
                    </c:ext>
                  </c:extLst>
                </c:dLbls>
                <c:cat>
                  <c:numRef>
                    <c:extLst>
                      <c:ext uri="{02D57815-91ED-43cb-92C2-25804820EDAC}">
                        <c15:formulaRef>
                          <c15:sqref>Sheet1!$A$2:$A$13</c15:sqref>
                        </c15:formulaRef>
                      </c:ext>
                    </c:extLst>
                    <c:numCache>
                      <c:formatCode>General</c:formatCode>
                      <c:ptCount val="12"/>
                      <c:pt idx="0">
                        <c:v>2025</c:v>
                      </c:pt>
                      <c:pt idx="1">
                        <c:v>2026</c:v>
                      </c:pt>
                      <c:pt idx="2">
                        <c:v>2027</c:v>
                      </c:pt>
                      <c:pt idx="3">
                        <c:v>2028</c:v>
                      </c:pt>
                      <c:pt idx="4">
                        <c:v>2029</c:v>
                      </c:pt>
                      <c:pt idx="5">
                        <c:v>2030</c:v>
                      </c:pt>
                      <c:pt idx="6">
                        <c:v>2031</c:v>
                      </c:pt>
                      <c:pt idx="7">
                        <c:v>2032</c:v>
                      </c:pt>
                      <c:pt idx="8">
                        <c:v>2033</c:v>
                      </c:pt>
                      <c:pt idx="9">
                        <c:v>2034</c:v>
                      </c:pt>
                      <c:pt idx="10">
                        <c:v>2035</c:v>
                      </c:pt>
                      <c:pt idx="11">
                        <c:v>2036</c:v>
                      </c:pt>
                    </c:numCache>
                  </c:numRef>
                </c:cat>
                <c:val>
                  <c:numRef>
                    <c:extLst>
                      <c:ext uri="{02D57815-91ED-43cb-92C2-25804820EDAC}">
                        <c15:formulaRef>
                          <c15:sqref>Sheet1!$A$2:$A$13</c15:sqref>
                        </c15:formulaRef>
                      </c:ext>
                    </c:extLst>
                    <c:numCache>
                      <c:formatCode>General</c:formatCode>
                      <c:ptCount val="12"/>
                      <c:pt idx="0">
                        <c:v>2025</c:v>
                      </c:pt>
                      <c:pt idx="1">
                        <c:v>2026</c:v>
                      </c:pt>
                      <c:pt idx="2">
                        <c:v>2027</c:v>
                      </c:pt>
                      <c:pt idx="3">
                        <c:v>2028</c:v>
                      </c:pt>
                      <c:pt idx="4">
                        <c:v>2029</c:v>
                      </c:pt>
                      <c:pt idx="5">
                        <c:v>2030</c:v>
                      </c:pt>
                      <c:pt idx="6">
                        <c:v>2031</c:v>
                      </c:pt>
                      <c:pt idx="7">
                        <c:v>2032</c:v>
                      </c:pt>
                      <c:pt idx="8">
                        <c:v>2033</c:v>
                      </c:pt>
                      <c:pt idx="9">
                        <c:v>2034</c:v>
                      </c:pt>
                      <c:pt idx="10">
                        <c:v>2035</c:v>
                      </c:pt>
                      <c:pt idx="11">
                        <c:v>2036</c:v>
                      </c:pt>
                    </c:numCache>
                  </c:numRef>
                </c:val>
                <c:extLst>
                  <c:ext xmlns:c16="http://schemas.microsoft.com/office/drawing/2014/chart" uri="{C3380CC4-5D6E-409C-BE32-E72D297353CC}">
                    <c16:uniqueId val="{0000000A-471F-4C73-8FCB-615072B1791C}"/>
                  </c:ext>
                </c:extLst>
              </c15:ser>
            </c15:filteredBarSeries>
          </c:ext>
        </c:extLst>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200" b="0" i="0" u="none" strike="noStrike" kern="1200" baseline="0">
                <a:solidFill>
                  <a:srgbClr val="72827E"/>
                </a:solidFill>
                <a:latin typeface="Calibri"/>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2025</c:v>
                </c:pt>
              </c:strCache>
            </c:strRef>
          </c:tx>
          <c:spPr>
            <a:solidFill>
              <a:srgbClr val="0B4F4A"/>
            </a:solidFill>
            <a:effectLst/>
          </c:spPr>
          <c:invertIfNegative val="0"/>
          <c:dLbls>
            <c:dLbl>
              <c:idx val="0"/>
              <c:tx>
                <c:rich>
                  <a:bodyPr/>
                  <a:lstStyle/>
                  <a:p>
                    <a:r>
                      <a:rPr lang="en-US" dirty="0"/>
                      <a:t>72.99</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4.4247437883063817E-2"/>
                      <c:h val="5.8805392044441032E-2"/>
                    </c:manualLayout>
                  </c15:layout>
                  <c15:showDataLabelsRange val="0"/>
                </c:ext>
                <c:ext xmlns:c16="http://schemas.microsoft.com/office/drawing/2014/chart" uri="{C3380CC4-5D6E-409C-BE32-E72D297353CC}">
                  <c16:uniqueId val="{00000000-DC84-4D04-8957-63DAAD65A007}"/>
                </c:ext>
              </c:extLst>
            </c:dLbl>
            <c:dLbl>
              <c:idx val="1"/>
              <c:tx>
                <c:rich>
                  <a:bodyPr/>
                  <a:lstStyle/>
                  <a:p>
                    <a:r>
                      <a:rPr lang="en-US"/>
                      <a:t>36.49</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C84-4D04-8957-63DAAD65A007}"/>
                </c:ext>
              </c:extLst>
            </c:dLbl>
            <c:dLbl>
              <c:idx val="2"/>
              <c:tx>
                <c:rich>
                  <a:bodyPr/>
                  <a:lstStyle/>
                  <a:p>
                    <a:fld id="{B62C7A06-1893-44C7-8ECE-2EC757C1B897}" type="VALUE">
                      <a:rPr lang="en-US" smtClean="0"/>
                      <a:pPr/>
                      <a:t>[VALUE]</a:t>
                    </a:fld>
                    <a:r>
                      <a:rPr lang="en-US"/>
                      <a:t>.37</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DC84-4D04-8957-63DAAD65A007}"/>
                </c:ext>
              </c:extLst>
            </c:dLbl>
            <c:dLbl>
              <c:idx val="3"/>
              <c:tx>
                <c:rich>
                  <a:bodyPr/>
                  <a:lstStyle/>
                  <a:p>
                    <a:r>
                      <a:rPr lang="en-US"/>
                      <a:t>32.84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C84-4D04-8957-63DAAD65A007}"/>
                </c:ext>
              </c:extLst>
            </c:dLbl>
            <c:dLbl>
              <c:idx val="4"/>
              <c:tx>
                <c:rich>
                  <a:bodyPr/>
                  <a:lstStyle/>
                  <a:p>
                    <a:r>
                      <a:rPr lang="en-US"/>
                      <a:t>12.77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C84-4D04-8957-63DAAD65A007}"/>
                </c:ext>
              </c:extLst>
            </c:dLbl>
            <c:numFmt formatCode="#,##0" sourceLinked="0"/>
            <c:spPr>
              <a:noFill/>
              <a:ln>
                <a:noFill/>
              </a:ln>
              <a:effectLst/>
            </c:spPr>
            <c:txPr>
              <a:bodyPr/>
              <a:lstStyle/>
              <a:p>
                <a:pPr>
                  <a:defRPr sz="1200" b="0" i="0" u="none" strike="noStrike">
                    <a:solidFill>
                      <a:srgbClr val="1E2624"/>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Energy Drinks</c:v>
                </c:pt>
                <c:pt idx="1">
                  <c:v>Sports &amp; Performance Drinks</c:v>
                </c:pt>
                <c:pt idx="2">
                  <c:v>Fortified Juices</c:v>
                </c:pt>
                <c:pt idx="3">
                  <c:v>Functional Water</c:v>
                </c:pt>
                <c:pt idx="4">
                  <c:v>Others</c:v>
                </c:pt>
              </c:strCache>
            </c:strRef>
          </c:cat>
          <c:val>
            <c:numRef>
              <c:f>Sheet1!$B$2:$B$6</c:f>
              <c:numCache>
                <c:formatCode>0.00</c:formatCode>
                <c:ptCount val="5"/>
                <c:pt idx="0">
                  <c:v>72.988</c:v>
                </c:pt>
                <c:pt idx="1">
                  <c:v>36.494</c:v>
                </c:pt>
                <c:pt idx="2">
                  <c:v>27.3705</c:v>
                </c:pt>
                <c:pt idx="3">
                  <c:v>32.8446</c:v>
                </c:pt>
                <c:pt idx="4">
                  <c:v>12.772900000000002</c:v>
                </c:pt>
              </c:numCache>
            </c:numRef>
          </c:val>
          <c:extLst>
            <c:ext xmlns:c16="http://schemas.microsoft.com/office/drawing/2014/chart" uri="{C3380CC4-5D6E-409C-BE32-E72D297353CC}">
              <c16:uniqueId val="{00000000-711A-418D-9381-1AB4EA627E7C}"/>
            </c:ext>
          </c:extLst>
        </c:ser>
        <c:ser>
          <c:idx val="1"/>
          <c:order val="1"/>
          <c:tx>
            <c:strRef>
              <c:f>Sheet1!$C$1</c:f>
              <c:strCache>
                <c:ptCount val="1"/>
                <c:pt idx="0">
                  <c:v>2036</c:v>
                </c:pt>
              </c:strCache>
            </c:strRef>
          </c:tx>
          <c:spPr>
            <a:solidFill>
              <a:srgbClr val="FF6B35"/>
            </a:solidFill>
            <a:effectLst/>
          </c:spPr>
          <c:invertIfNegative val="0"/>
          <c:dLbls>
            <c:dLbl>
              <c:idx val="0"/>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11A-418D-9381-1AB4EA627E7C}"/>
                </c:ext>
              </c:extLst>
            </c:dLbl>
            <c:dLbl>
              <c:idx val="1"/>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11A-418D-9381-1AB4EA627E7C}"/>
                </c:ext>
              </c:extLst>
            </c:dLbl>
            <c:dLbl>
              <c:idx val="2"/>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11A-418D-9381-1AB4EA627E7C}"/>
                </c:ext>
              </c:extLst>
            </c:dLbl>
            <c:dLbl>
              <c:idx val="3"/>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11A-418D-9381-1AB4EA627E7C}"/>
                </c:ext>
              </c:extLst>
            </c:dLbl>
            <c:dLbl>
              <c:idx val="4"/>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11A-418D-9381-1AB4EA627E7C}"/>
                </c:ext>
              </c:extLst>
            </c:dLbl>
            <c:numFmt formatCode="#,##0" sourceLinked="0"/>
            <c:spPr>
              <a:noFill/>
              <a:ln>
                <a:noFill/>
              </a:ln>
              <a:effectLst/>
            </c:spPr>
            <c:txPr>
              <a:bodyPr/>
              <a:lstStyle/>
              <a:p>
                <a:pPr>
                  <a:defRPr sz="1200" b="0" i="0" u="none" strike="noStrike">
                    <a:solidFill>
                      <a:srgbClr val="1E2624"/>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Energy Drinks</c:v>
                </c:pt>
                <c:pt idx="1">
                  <c:v>Sports &amp; Performance Drinks</c:v>
                </c:pt>
                <c:pt idx="2">
                  <c:v>Fortified Juices</c:v>
                </c:pt>
                <c:pt idx="3">
                  <c:v>Functional Water</c:v>
                </c:pt>
                <c:pt idx="4">
                  <c:v>Others</c:v>
                </c:pt>
              </c:strCache>
            </c:strRef>
          </c:cat>
          <c:val>
            <c:numRef>
              <c:f>Sheet1!$C$2:$C$6</c:f>
              <c:numCache>
                <c:formatCode>0.00</c:formatCode>
                <c:ptCount val="5"/>
                <c:pt idx="0">
                  <c:v>169.28260165709008</c:v>
                </c:pt>
                <c:pt idx="1">
                  <c:v>91.896269470991768</c:v>
                </c:pt>
                <c:pt idx="2">
                  <c:v>62.87639490120489</c:v>
                </c:pt>
                <c:pt idx="3">
                  <c:v>116.07949827914749</c:v>
                </c:pt>
                <c:pt idx="4">
                  <c:v>43.529811854680304</c:v>
                </c:pt>
              </c:numCache>
            </c:numRef>
          </c:val>
          <c:extLst>
            <c:ext xmlns:c16="http://schemas.microsoft.com/office/drawing/2014/chart" uri="{C3380CC4-5D6E-409C-BE32-E72D297353CC}">
              <c16:uniqueId val="{00000001-711A-418D-9381-1AB4EA627E7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B4F4A"/>
              </a:solidFill>
              <a:effectLst/>
            </c:spPr>
            <c:extLst>
              <c:ext xmlns:c16="http://schemas.microsoft.com/office/drawing/2014/chart" uri="{C3380CC4-5D6E-409C-BE32-E72D297353CC}">
                <c16:uniqueId val="{00000001-AAC6-4488-A5A1-8BC9C846590F}"/>
              </c:ext>
            </c:extLst>
          </c:dPt>
          <c:dPt>
            <c:idx val="1"/>
            <c:bubble3D val="0"/>
            <c:spPr>
              <a:solidFill>
                <a:srgbClr val="FF6B35"/>
              </a:solidFill>
              <a:effectLst/>
            </c:spPr>
            <c:extLst>
              <c:ext xmlns:c16="http://schemas.microsoft.com/office/drawing/2014/chart" uri="{C3380CC4-5D6E-409C-BE32-E72D297353CC}">
                <c16:uniqueId val="{00000003-AAC6-4488-A5A1-8BC9C846590F}"/>
              </c:ext>
            </c:extLst>
          </c:dPt>
          <c:dPt>
            <c:idx val="2"/>
            <c:bubble3D val="0"/>
            <c:spPr>
              <a:solidFill>
                <a:srgbClr val="8BC34A"/>
              </a:solidFill>
              <a:effectLst/>
            </c:spPr>
            <c:extLst>
              <c:ext xmlns:c16="http://schemas.microsoft.com/office/drawing/2014/chart" uri="{C3380CC4-5D6E-409C-BE32-E72D297353CC}">
                <c16:uniqueId val="{00000005-AAC6-4488-A5A1-8BC9C846590F}"/>
              </c:ext>
            </c:extLst>
          </c:dPt>
          <c:dPt>
            <c:idx val="3"/>
            <c:bubble3D val="0"/>
            <c:spPr>
              <a:solidFill>
                <a:srgbClr val="1C7293"/>
              </a:solidFill>
              <a:effectLst/>
            </c:spPr>
            <c:extLst>
              <c:ext xmlns:c16="http://schemas.microsoft.com/office/drawing/2014/chart" uri="{C3380CC4-5D6E-409C-BE32-E72D297353CC}">
                <c16:uniqueId val="{00000007-AAC6-4488-A5A1-8BC9C846590F}"/>
              </c:ext>
            </c:extLst>
          </c:dPt>
          <c:dPt>
            <c:idx val="4"/>
            <c:bubble3D val="0"/>
            <c:spPr>
              <a:solidFill>
                <a:srgbClr val="97BC62"/>
              </a:solidFill>
              <a:effectLst/>
            </c:spPr>
            <c:extLst>
              <c:ext xmlns:c16="http://schemas.microsoft.com/office/drawing/2014/chart" uri="{C3380CC4-5D6E-409C-BE32-E72D297353CC}">
                <c16:uniqueId val="{00000009-AAC6-4488-A5A1-8BC9C846590F}"/>
              </c:ext>
            </c:extLst>
          </c:dPt>
          <c:dLbls>
            <c:dLbl>
              <c:idx val="0"/>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AC6-4488-A5A1-8BC9C846590F}"/>
                </c:ext>
              </c:extLst>
            </c:dLbl>
            <c:dLbl>
              <c:idx val="1"/>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AC6-4488-A5A1-8BC9C846590F}"/>
                </c:ext>
              </c:extLst>
            </c:dLbl>
            <c:dLbl>
              <c:idx val="2"/>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AC6-4488-A5A1-8BC9C846590F}"/>
                </c:ext>
              </c:extLst>
            </c:dLbl>
            <c:dLbl>
              <c:idx val="3"/>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AC6-4488-A5A1-8BC9C846590F}"/>
                </c:ext>
              </c:extLst>
            </c:dLbl>
            <c:dLbl>
              <c:idx val="4"/>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AC6-4488-A5A1-8BC9C846590F}"/>
                </c:ext>
              </c:extLst>
            </c:dLbl>
            <c:numFmt formatCode="0%" sourceLinked="0"/>
            <c:spPr>
              <a:noFill/>
              <a:ln>
                <a:noFill/>
              </a:ln>
              <a:effectLst/>
            </c:spPr>
            <c:txPr>
              <a:bodyPr/>
              <a:lstStyle/>
              <a:p>
                <a:pPr>
                  <a:defRPr sz="1200" b="0" i="0" u="none" strike="noStrike">
                    <a:solidFill>
                      <a:srgbClr val="000000"/>
                    </a:solidFill>
                    <a:latin typeface="+mn-lt"/>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Vitamins &amp; Minerals</c:v>
                </c:pt>
                <c:pt idx="1">
                  <c:v>Probiotics &amp; Prebiotics</c:v>
                </c:pt>
                <c:pt idx="2">
                  <c:v>Amino Acids &amp; Protein</c:v>
                </c:pt>
                <c:pt idx="3">
                  <c:v>Caffeine &amp; Botanicals</c:v>
                </c:pt>
                <c:pt idx="4">
                  <c:v>Adaptogens &amp; Nootropics</c:v>
                </c:pt>
              </c:strCache>
            </c:strRef>
          </c:cat>
          <c:val>
            <c:numRef>
              <c:f>Sheet1!$B$2:$B$6</c:f>
              <c:numCache>
                <c:formatCode>0%</c:formatCode>
                <c:ptCount val="5"/>
                <c:pt idx="0">
                  <c:v>0.4</c:v>
                </c:pt>
                <c:pt idx="1">
                  <c:v>0.2</c:v>
                </c:pt>
                <c:pt idx="2">
                  <c:v>0.15</c:v>
                </c:pt>
                <c:pt idx="3">
                  <c:v>0.18</c:v>
                </c:pt>
                <c:pt idx="4">
                  <c:v>7.0000000000000007E-2</c:v>
                </c:pt>
              </c:numCache>
            </c:numRef>
          </c:val>
          <c:extLst>
            <c:ext xmlns:c16="http://schemas.microsoft.com/office/drawing/2014/chart" uri="{C3380CC4-5D6E-409C-BE32-E72D297353CC}">
              <c16:uniqueId val="{0000000A-AAC6-4488-A5A1-8BC9C846590F}"/>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1E262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1.260562398515478E-2"/>
          <c:y val="2.9665587918015102E-2"/>
          <c:w val="0.97448565760616779"/>
          <c:h val="0.86785329018338742"/>
        </c:manualLayout>
      </c:layout>
      <c:barChart>
        <c:barDir val="col"/>
        <c:grouping val="clustered"/>
        <c:varyColors val="0"/>
        <c:ser>
          <c:idx val="0"/>
          <c:order val="0"/>
          <c:tx>
            <c:strRef>
              <c:f>Sheet1!$B$1</c:f>
              <c:strCache>
                <c:ptCount val="1"/>
                <c:pt idx="0">
                  <c:v>2025</c:v>
                </c:pt>
              </c:strCache>
            </c:strRef>
          </c:tx>
          <c:spPr>
            <a:solidFill>
              <a:srgbClr val="0B4F4A"/>
            </a:solidFill>
            <a:effectLst/>
          </c:spPr>
          <c:invertIfNegative val="0"/>
          <c:dLbls>
            <c:spPr>
              <a:noFill/>
              <a:ln>
                <a:noFill/>
              </a:ln>
              <a:effectLst/>
            </c:spPr>
            <c:txPr>
              <a:bodyPr wrap="square" lIns="38100" tIns="19050" rIns="38100" bIns="19050" anchor="ctr">
                <a:spAutoFit/>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PET Bottles</c:v>
                </c:pt>
                <c:pt idx="1">
                  <c:v>Cans</c:v>
                </c:pt>
                <c:pt idx="2">
                  <c:v>Cartons</c:v>
                </c:pt>
                <c:pt idx="3">
                  <c:v>Pouches</c:v>
                </c:pt>
              </c:strCache>
            </c:strRef>
          </c:cat>
          <c:val>
            <c:numRef>
              <c:f>Sheet1!$B$2:$B$5</c:f>
              <c:numCache>
                <c:formatCode>0.00</c:formatCode>
                <c:ptCount val="4"/>
                <c:pt idx="0">
                  <c:v>87.585599999999999</c:v>
                </c:pt>
                <c:pt idx="1">
                  <c:v>58.3904</c:v>
                </c:pt>
                <c:pt idx="2">
                  <c:v>25.545800000000003</c:v>
                </c:pt>
                <c:pt idx="3">
                  <c:v>10.9482</c:v>
                </c:pt>
              </c:numCache>
            </c:numRef>
          </c:val>
          <c:extLst>
            <c:ext xmlns:c16="http://schemas.microsoft.com/office/drawing/2014/chart" uri="{C3380CC4-5D6E-409C-BE32-E72D297353CC}">
              <c16:uniqueId val="{00000000-E43F-474E-96F6-44619B122AA9}"/>
            </c:ext>
          </c:extLst>
        </c:ser>
        <c:ser>
          <c:idx val="1"/>
          <c:order val="1"/>
          <c:tx>
            <c:strRef>
              <c:f>Sheet1!$C$1</c:f>
              <c:strCache>
                <c:ptCount val="1"/>
                <c:pt idx="0">
                  <c:v>2036</c:v>
                </c:pt>
              </c:strCache>
            </c:strRef>
          </c:tx>
          <c:spPr>
            <a:solidFill>
              <a:srgbClr val="FF6B35"/>
            </a:solidFill>
            <a:effectLst/>
          </c:spPr>
          <c:invertIfNegative val="0"/>
          <c:dLbls>
            <c:dLbl>
              <c:idx val="0"/>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B9F-49F6-A080-47EC734ED965}"/>
                </c:ext>
              </c:extLst>
            </c:dLbl>
            <c:dLbl>
              <c:idx val="1"/>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B9F-49F6-A080-47EC734ED965}"/>
                </c:ext>
              </c:extLst>
            </c:dLbl>
            <c:dLbl>
              <c:idx val="2"/>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B9F-49F6-A080-47EC734ED965}"/>
                </c:ext>
              </c:extLst>
            </c:dLbl>
            <c:dLbl>
              <c:idx val="3"/>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B9F-49F6-A080-47EC734ED965}"/>
                </c:ext>
              </c:extLst>
            </c:dLbl>
            <c:spPr>
              <a:noFill/>
              <a:ln>
                <a:noFill/>
              </a:ln>
              <a:effectLst/>
            </c:spPr>
            <c:txPr>
              <a:bodyPr wrap="square" lIns="38100" tIns="19050" rIns="38100" bIns="19050" anchor="ctr">
                <a:spAutoFit/>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PET Bottles</c:v>
                </c:pt>
                <c:pt idx="1">
                  <c:v>Cans</c:v>
                </c:pt>
                <c:pt idx="2">
                  <c:v>Cartons</c:v>
                </c:pt>
                <c:pt idx="3">
                  <c:v>Pouches</c:v>
                </c:pt>
              </c:strCache>
            </c:strRef>
          </c:cat>
          <c:val>
            <c:numRef>
              <c:f>Sheet1!$C$2:$C$5</c:f>
              <c:numCache>
                <c:formatCode>0.00</c:formatCode>
                <c:ptCount val="4"/>
                <c:pt idx="0">
                  <c:v>203.13912198850809</c:v>
                </c:pt>
                <c:pt idx="1">
                  <c:v>164.44595589545895</c:v>
                </c:pt>
                <c:pt idx="2">
                  <c:v>72.549686424467183</c:v>
                </c:pt>
                <c:pt idx="3">
                  <c:v>43.529811854680304</c:v>
                </c:pt>
              </c:numCache>
            </c:numRef>
          </c:val>
          <c:extLst>
            <c:ext xmlns:c16="http://schemas.microsoft.com/office/drawing/2014/chart" uri="{C3380CC4-5D6E-409C-BE32-E72D297353CC}">
              <c16:uniqueId val="{00000001-E43F-474E-96F6-44619B122AA9}"/>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r"/>
      <c:layout>
        <c:manualLayout>
          <c:xMode val="edge"/>
          <c:yMode val="edge"/>
          <c:x val="0.43358979206134435"/>
          <c:y val="0.94206334038342299"/>
          <c:w val="9.7710188854264274E-2"/>
          <c:h val="5.7081517722905997E-2"/>
        </c:manualLayout>
      </c:layout>
      <c:overlay val="0"/>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B4F4A"/>
              </a:solidFill>
              <a:effectLst/>
            </c:spPr>
            <c:extLst>
              <c:ext xmlns:c16="http://schemas.microsoft.com/office/drawing/2014/chart" uri="{C3380CC4-5D6E-409C-BE32-E72D297353CC}">
                <c16:uniqueId val="{00000001-FC8D-4C73-B1D2-9D34402697DE}"/>
              </c:ext>
            </c:extLst>
          </c:dPt>
          <c:dPt>
            <c:idx val="1"/>
            <c:bubble3D val="0"/>
            <c:spPr>
              <a:solidFill>
                <a:srgbClr val="FF6B35"/>
              </a:solidFill>
              <a:effectLst/>
            </c:spPr>
            <c:extLst>
              <c:ext xmlns:c16="http://schemas.microsoft.com/office/drawing/2014/chart" uri="{C3380CC4-5D6E-409C-BE32-E72D297353CC}">
                <c16:uniqueId val="{00000003-FC8D-4C73-B1D2-9D34402697DE}"/>
              </c:ext>
            </c:extLst>
          </c:dPt>
          <c:dPt>
            <c:idx val="2"/>
            <c:bubble3D val="0"/>
            <c:spPr>
              <a:solidFill>
                <a:srgbClr val="8BC34A"/>
              </a:solidFill>
              <a:effectLst/>
            </c:spPr>
            <c:extLst>
              <c:ext xmlns:c16="http://schemas.microsoft.com/office/drawing/2014/chart" uri="{C3380CC4-5D6E-409C-BE32-E72D297353CC}">
                <c16:uniqueId val="{00000005-FC8D-4C73-B1D2-9D34402697DE}"/>
              </c:ext>
            </c:extLst>
          </c:dPt>
          <c:dPt>
            <c:idx val="3"/>
            <c:bubble3D val="0"/>
            <c:spPr>
              <a:solidFill>
                <a:srgbClr val="1C7293"/>
              </a:solidFill>
              <a:effectLst/>
            </c:spPr>
            <c:extLst>
              <c:ext xmlns:c16="http://schemas.microsoft.com/office/drawing/2014/chart" uri="{C3380CC4-5D6E-409C-BE32-E72D297353CC}">
                <c16:uniqueId val="{00000007-FC8D-4C73-B1D2-9D34402697DE}"/>
              </c:ext>
            </c:extLst>
          </c:dPt>
          <c:dPt>
            <c:idx val="4"/>
            <c:bubble3D val="0"/>
            <c:spPr>
              <a:solidFill>
                <a:srgbClr val="97BC62"/>
              </a:solidFill>
              <a:effectLst/>
            </c:spPr>
            <c:extLst>
              <c:ext xmlns:c16="http://schemas.microsoft.com/office/drawing/2014/chart" uri="{C3380CC4-5D6E-409C-BE32-E72D297353CC}">
                <c16:uniqueId val="{00000009-FC8D-4C73-B1D2-9D34402697DE}"/>
              </c:ext>
            </c:extLst>
          </c:dPt>
          <c:dLbls>
            <c:dLbl>
              <c:idx val="0"/>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C8D-4C73-B1D2-9D34402697DE}"/>
                </c:ext>
              </c:extLst>
            </c:dLbl>
            <c:dLbl>
              <c:idx val="1"/>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C8D-4C73-B1D2-9D34402697DE}"/>
                </c:ext>
              </c:extLst>
            </c:dLbl>
            <c:dLbl>
              <c:idx val="2"/>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C8D-4C73-B1D2-9D34402697DE}"/>
                </c:ext>
              </c:extLst>
            </c:dLbl>
            <c:dLbl>
              <c:idx val="3"/>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C8D-4C73-B1D2-9D34402697DE}"/>
                </c:ext>
              </c:extLst>
            </c:dLbl>
            <c:dLbl>
              <c:idx val="4"/>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C8D-4C73-B1D2-9D34402697DE}"/>
                </c:ext>
              </c:extLst>
            </c:dLbl>
            <c:numFmt formatCode="0%" sourceLinked="0"/>
            <c:spPr>
              <a:noFill/>
              <a:ln>
                <a:noFill/>
              </a:ln>
              <a:effectLst/>
            </c:spPr>
            <c:txPr>
              <a:bodyPr/>
              <a:lstStyle/>
              <a:p>
                <a:pPr>
                  <a:defRPr sz="1200" b="0" i="0" u="none" strike="noStrike">
                    <a:solidFill>
                      <a:srgbClr val="000000"/>
                    </a:solidFill>
                    <a:latin typeface="+mn-lt"/>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Supermarkets/Hypermarkets</c:v>
                </c:pt>
                <c:pt idx="1">
                  <c:v>Convenience Stores</c:v>
                </c:pt>
                <c:pt idx="2">
                  <c:v>Online/E-commerce</c:v>
                </c:pt>
                <c:pt idx="3">
                  <c:v>Specialty &amp; Health Stores</c:v>
                </c:pt>
              </c:strCache>
            </c:strRef>
          </c:cat>
          <c:val>
            <c:numRef>
              <c:f>Sheet1!$B$2:$B$5</c:f>
              <c:numCache>
                <c:formatCode>0%</c:formatCode>
                <c:ptCount val="4"/>
                <c:pt idx="0">
                  <c:v>0.42</c:v>
                </c:pt>
                <c:pt idx="1">
                  <c:v>0.28000000000000003</c:v>
                </c:pt>
                <c:pt idx="2">
                  <c:v>0.18</c:v>
                </c:pt>
                <c:pt idx="3">
                  <c:v>0.12</c:v>
                </c:pt>
              </c:numCache>
            </c:numRef>
          </c:val>
          <c:extLst>
            <c:ext xmlns:c16="http://schemas.microsoft.com/office/drawing/2014/chart" uri="{C3380CC4-5D6E-409C-BE32-E72D297353CC}">
              <c16:uniqueId val="{0000000A-FC8D-4C73-B1D2-9D34402697D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1E262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2025</c:v>
                </c:pt>
              </c:strCache>
            </c:strRef>
          </c:tx>
          <c:spPr>
            <a:solidFill>
              <a:srgbClr val="0B4F4A"/>
            </a:solidFill>
            <a:effectLst/>
          </c:spPr>
          <c:invertIfNegative val="0"/>
          <c:dLbls>
            <c:spPr>
              <a:noFill/>
              <a:ln>
                <a:noFill/>
              </a:ln>
              <a:effectLst/>
            </c:spPr>
            <c:txPr>
              <a:bodyPr wrap="square" lIns="38100" tIns="19050" rIns="38100" bIns="19050" anchor="ctr">
                <a:spAutoFit/>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Gen Z</c:v>
                </c:pt>
                <c:pt idx="1">
                  <c:v>Millennials</c:v>
                </c:pt>
                <c:pt idx="2">
                  <c:v>Athletes &amp; Fitness Enthusiasts</c:v>
                </c:pt>
                <c:pt idx="3">
                  <c:v>Aging Population</c:v>
                </c:pt>
              </c:strCache>
            </c:strRef>
          </c:cat>
          <c:val>
            <c:numRef>
              <c:f>Sheet1!$B$2:$B$5</c:f>
              <c:numCache>
                <c:formatCode>0.00</c:formatCode>
                <c:ptCount val="4"/>
                <c:pt idx="0">
                  <c:v>43.7928</c:v>
                </c:pt>
                <c:pt idx="1">
                  <c:v>62.039800000000007</c:v>
                </c:pt>
                <c:pt idx="2">
                  <c:v>47.4422</c:v>
                </c:pt>
                <c:pt idx="3">
                  <c:v>29.1952</c:v>
                </c:pt>
              </c:numCache>
            </c:numRef>
          </c:val>
          <c:extLst>
            <c:ext xmlns:c16="http://schemas.microsoft.com/office/drawing/2014/chart" uri="{C3380CC4-5D6E-409C-BE32-E72D297353CC}">
              <c16:uniqueId val="{00000000-E43F-474E-96F6-44619B122AA9}"/>
            </c:ext>
          </c:extLst>
        </c:ser>
        <c:ser>
          <c:idx val="1"/>
          <c:order val="1"/>
          <c:tx>
            <c:strRef>
              <c:f>Sheet1!$C$1</c:f>
              <c:strCache>
                <c:ptCount val="1"/>
                <c:pt idx="0">
                  <c:v>2036</c:v>
                </c:pt>
              </c:strCache>
            </c:strRef>
          </c:tx>
          <c:spPr>
            <a:solidFill>
              <a:srgbClr val="FF6B35"/>
            </a:solidFill>
            <a:effectLst/>
          </c:spPr>
          <c:invertIfNegative val="0"/>
          <c:dLbls>
            <c:dLbl>
              <c:idx val="0"/>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3E0-4927-9191-78D486762507}"/>
                </c:ext>
              </c:extLst>
            </c:dLbl>
            <c:dLbl>
              <c:idx val="1"/>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3E0-4927-9191-78D486762507}"/>
                </c:ext>
              </c:extLst>
            </c:dLbl>
            <c:dLbl>
              <c:idx val="2"/>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3E0-4927-9191-78D486762507}"/>
                </c:ext>
              </c:extLst>
            </c:dLbl>
            <c:dLbl>
              <c:idx val="3"/>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3E0-4927-9191-78D486762507}"/>
                </c:ext>
              </c:extLst>
            </c:dLbl>
            <c:spPr>
              <a:noFill/>
              <a:ln>
                <a:noFill/>
              </a:ln>
              <a:effectLst/>
            </c:spPr>
            <c:txPr>
              <a:bodyPr wrap="square" lIns="38100" tIns="19050" rIns="38100" bIns="19050" anchor="ctr">
                <a:spAutoFit/>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Gen Z</c:v>
                </c:pt>
                <c:pt idx="1">
                  <c:v>Millennials</c:v>
                </c:pt>
                <c:pt idx="2">
                  <c:v>Athletes &amp; Fitness Enthusiasts</c:v>
                </c:pt>
                <c:pt idx="3">
                  <c:v>Aging Population</c:v>
                </c:pt>
              </c:strCache>
            </c:strRef>
          </c:cat>
          <c:val>
            <c:numRef>
              <c:f>Sheet1!$C$2:$C$5</c:f>
              <c:numCache>
                <c:formatCode>0.00</c:formatCode>
                <c:ptCount val="4"/>
                <c:pt idx="0">
                  <c:v>145.09937284893437</c:v>
                </c:pt>
                <c:pt idx="1">
                  <c:v>154.77266437219666</c:v>
                </c:pt>
                <c:pt idx="2">
                  <c:v>106.40620675588519</c:v>
                </c:pt>
                <c:pt idx="3">
                  <c:v>77.386332186098329</c:v>
                </c:pt>
              </c:numCache>
            </c:numRef>
          </c:val>
          <c:extLst>
            <c:ext xmlns:c16="http://schemas.microsoft.com/office/drawing/2014/chart" uri="{C3380CC4-5D6E-409C-BE32-E72D297353CC}">
              <c16:uniqueId val="{00000001-E43F-474E-96F6-44619B122AA9}"/>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2025</c:v>
                </c:pt>
              </c:strCache>
            </c:strRef>
          </c:tx>
          <c:spPr>
            <a:solidFill>
              <a:srgbClr val="0B4F4A"/>
            </a:solidFill>
            <a:effectLst/>
          </c:spPr>
          <c:invertIfNegative val="0"/>
          <c:dLbls>
            <c:spPr>
              <a:noFill/>
              <a:ln>
                <a:noFill/>
              </a:ln>
              <a:effectLst/>
            </c:spPr>
            <c:txPr>
              <a:bodyPr wrap="square" lIns="38100" tIns="19050" rIns="38100" bIns="19050" anchor="ctr">
                <a:spAutoFit/>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North America</c:v>
                </c:pt>
                <c:pt idx="1">
                  <c:v>Europe</c:v>
                </c:pt>
                <c:pt idx="2">
                  <c:v>Asia Pacific</c:v>
                </c:pt>
                <c:pt idx="3">
                  <c:v>Latin America</c:v>
                </c:pt>
                <c:pt idx="4">
                  <c:v>Middle East &amp; Africa</c:v>
                </c:pt>
              </c:strCache>
            </c:strRef>
          </c:cat>
          <c:val>
            <c:numRef>
              <c:f>Sheet1!$B$2:$B$6</c:f>
              <c:numCache>
                <c:formatCode>General</c:formatCode>
                <c:ptCount val="5"/>
                <c:pt idx="0">
                  <c:v>40.130000000000003</c:v>
                </c:pt>
                <c:pt idx="1">
                  <c:v>29.05</c:v>
                </c:pt>
                <c:pt idx="2">
                  <c:v>90.37</c:v>
                </c:pt>
                <c:pt idx="3">
                  <c:v>15.71</c:v>
                </c:pt>
                <c:pt idx="4">
                  <c:v>7.21</c:v>
                </c:pt>
              </c:numCache>
            </c:numRef>
          </c:val>
          <c:extLst>
            <c:ext xmlns:c16="http://schemas.microsoft.com/office/drawing/2014/chart" uri="{C3380CC4-5D6E-409C-BE32-E72D297353CC}">
              <c16:uniqueId val="{00000000-2C84-44DF-8E9E-008556160501}"/>
            </c:ext>
          </c:extLst>
        </c:ser>
        <c:ser>
          <c:idx val="1"/>
          <c:order val="1"/>
          <c:tx>
            <c:strRef>
              <c:f>Sheet1!$C$1</c:f>
              <c:strCache>
                <c:ptCount val="1"/>
                <c:pt idx="0">
                  <c:v>2036</c:v>
                </c:pt>
              </c:strCache>
            </c:strRef>
          </c:tx>
          <c:spPr>
            <a:solidFill>
              <a:srgbClr val="FF6B35"/>
            </a:solidFill>
            <a:effectLst/>
          </c:spPr>
          <c:invertIfNegative val="0"/>
          <c:dLbls>
            <c:dLbl>
              <c:idx val="0"/>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B10-4DDB-80F5-53C5E8995FA9}"/>
                </c:ext>
              </c:extLst>
            </c:dLbl>
            <c:dLbl>
              <c:idx val="1"/>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B10-4DDB-80F5-53C5E8995FA9}"/>
                </c:ext>
              </c:extLst>
            </c:dLbl>
            <c:dLbl>
              <c:idx val="2"/>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B10-4DDB-80F5-53C5E8995FA9}"/>
                </c:ext>
              </c:extLst>
            </c:dLbl>
            <c:dLbl>
              <c:idx val="3"/>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B10-4DDB-80F5-53C5E8995FA9}"/>
                </c:ext>
              </c:extLst>
            </c:dLbl>
            <c:dLbl>
              <c:idx val="4"/>
              <c:tx>
                <c:rich>
                  <a:bodyPr/>
                  <a:lstStyle/>
                  <a:p>
                    <a:r>
                      <a:rPr lang="en-US"/>
                      <a:t>XX</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B10-4DDB-80F5-53C5E8995FA9}"/>
                </c:ext>
              </c:extLst>
            </c:dLbl>
            <c:spPr>
              <a:noFill/>
              <a:ln>
                <a:noFill/>
              </a:ln>
              <a:effectLst/>
            </c:spPr>
            <c:txPr>
              <a:bodyPr wrap="square" lIns="38100" tIns="19050" rIns="38100" bIns="19050" anchor="ctr">
                <a:spAutoFit/>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North America</c:v>
                </c:pt>
                <c:pt idx="1">
                  <c:v>Europe</c:v>
                </c:pt>
                <c:pt idx="2">
                  <c:v>Asia Pacific</c:v>
                </c:pt>
                <c:pt idx="3">
                  <c:v>Latin America</c:v>
                </c:pt>
                <c:pt idx="4">
                  <c:v>Middle East &amp; Africa</c:v>
                </c:pt>
              </c:strCache>
            </c:strRef>
          </c:cat>
          <c:val>
            <c:numRef>
              <c:f>Sheet1!$C$2:$C$6</c:f>
              <c:numCache>
                <c:formatCode>General</c:formatCode>
                <c:ptCount val="5"/>
                <c:pt idx="0">
                  <c:v>122.45</c:v>
                </c:pt>
                <c:pt idx="1">
                  <c:v>98.79</c:v>
                </c:pt>
                <c:pt idx="2">
                  <c:v>187.65</c:v>
                </c:pt>
                <c:pt idx="3">
                  <c:v>45.92</c:v>
                </c:pt>
                <c:pt idx="4">
                  <c:v>28.85</c:v>
                </c:pt>
              </c:numCache>
            </c:numRef>
          </c:val>
          <c:extLst>
            <c:ext xmlns:c16="http://schemas.microsoft.com/office/drawing/2014/chart" uri="{C3380CC4-5D6E-409C-BE32-E72D297353CC}">
              <c16:uniqueId val="{00000001-2C84-44DF-8E9E-008556160501}"/>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0"/>
            <c:invertIfNegative val="0"/>
            <c:bubble3D val="0"/>
            <c:extLst>
              <c:ext xmlns:c16="http://schemas.microsoft.com/office/drawing/2014/chart" uri="{C3380CC4-5D6E-409C-BE32-E72D297353CC}">
                <c16:uniqueId val="{00000001-F8CC-48F4-8027-DCF2D847016B}"/>
              </c:ext>
            </c:extLst>
          </c:dPt>
          <c:dPt>
            <c:idx val="1"/>
            <c:invertIfNegative val="0"/>
            <c:bubble3D val="0"/>
            <c:extLst>
              <c:ext xmlns:c16="http://schemas.microsoft.com/office/drawing/2014/chart" uri="{C3380CC4-5D6E-409C-BE32-E72D297353CC}">
                <c16:uniqueId val="{00000003-F8CC-48F4-8027-DCF2D847016B}"/>
              </c:ext>
            </c:extLst>
          </c:dPt>
          <c:dPt>
            <c:idx val="2"/>
            <c:invertIfNegative val="0"/>
            <c:bubble3D val="0"/>
            <c:extLst>
              <c:ext xmlns:c16="http://schemas.microsoft.com/office/drawing/2014/chart" uri="{C3380CC4-5D6E-409C-BE32-E72D297353CC}">
                <c16:uniqueId val="{00000005-F8CC-48F4-8027-DCF2D847016B}"/>
              </c:ext>
            </c:extLst>
          </c:dPt>
          <c:dPt>
            <c:idx val="3"/>
            <c:invertIfNegative val="0"/>
            <c:bubble3D val="0"/>
            <c:extLst>
              <c:ext xmlns:c16="http://schemas.microsoft.com/office/drawing/2014/chart" uri="{C3380CC4-5D6E-409C-BE32-E72D297353CC}">
                <c16:uniqueId val="{00000007-F8CC-48F4-8027-DCF2D847016B}"/>
              </c:ext>
            </c:extLst>
          </c:dPt>
          <c:dPt>
            <c:idx val="4"/>
            <c:invertIfNegative val="0"/>
            <c:bubble3D val="0"/>
            <c:extLst>
              <c:ext xmlns:c16="http://schemas.microsoft.com/office/drawing/2014/chart" uri="{C3380CC4-5D6E-409C-BE32-E72D297353CC}">
                <c16:uniqueId val="{00000009-F8CC-48F4-8027-DCF2D847016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General</c:formatCode>
                <c:ptCount val="12"/>
                <c:pt idx="0">
                  <c:v>2025</c:v>
                </c:pt>
                <c:pt idx="1">
                  <c:v>2026</c:v>
                </c:pt>
                <c:pt idx="2">
                  <c:v>2027</c:v>
                </c:pt>
                <c:pt idx="3">
                  <c:v>2028</c:v>
                </c:pt>
                <c:pt idx="4">
                  <c:v>2029</c:v>
                </c:pt>
                <c:pt idx="5">
                  <c:v>2030</c:v>
                </c:pt>
                <c:pt idx="6">
                  <c:v>2031</c:v>
                </c:pt>
                <c:pt idx="7">
                  <c:v>2032</c:v>
                </c:pt>
                <c:pt idx="8">
                  <c:v>2033</c:v>
                </c:pt>
                <c:pt idx="9">
                  <c:v>2034</c:v>
                </c:pt>
                <c:pt idx="10">
                  <c:v>2035</c:v>
                </c:pt>
                <c:pt idx="11">
                  <c:v>2036</c:v>
                </c:pt>
              </c:numCache>
            </c:numRef>
          </c:cat>
          <c:val>
            <c:numRef>
              <c:f>Sheet1!$B$2:$B$13</c:f>
              <c:numCache>
                <c:formatCode>0.00</c:formatCode>
                <c:ptCount val="12"/>
                <c:pt idx="0">
                  <c:v>40.130000000000003</c:v>
                </c:pt>
                <c:pt idx="1">
                  <c:v>45.19</c:v>
                </c:pt>
                <c:pt idx="2">
                  <c:v>49.926829291444022</c:v>
                </c:pt>
                <c:pt idx="3">
                  <c:v>55.160174443394403</c:v>
                </c:pt>
                <c:pt idx="4">
                  <c:v>60.942080396583883</c:v>
                </c:pt>
                <c:pt idx="5">
                  <c:v>67.330047457970807</c:v>
                </c:pt>
                <c:pt idx="6">
                  <c:v>74.387603133855578</c:v>
                </c:pt>
                <c:pt idx="7">
                  <c:v>82.184933902715073</c:v>
                </c:pt>
                <c:pt idx="8">
                  <c:v>90.799583210654248</c:v>
                </c:pt>
                <c:pt idx="9">
                  <c:v>100.31722263094937</c:v>
                </c:pt>
                <c:pt idx="10">
                  <c:v>110.83250385676467</c:v>
                </c:pt>
                <c:pt idx="11">
                  <c:v>122.45</c:v>
                </c:pt>
              </c:numCache>
            </c:numRef>
          </c:val>
          <c:extLst>
            <c:ext xmlns:c16="http://schemas.microsoft.com/office/drawing/2014/chart" uri="{C3380CC4-5D6E-409C-BE32-E72D297353CC}">
              <c16:uniqueId val="{0000000A-F8CC-48F4-8027-DCF2D847016B}"/>
            </c:ext>
          </c:extLst>
        </c:ser>
        <c:dLbls>
          <c:dLblPos val="outEnd"/>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none"/>
        <c:minorTickMark val="none"/>
        <c:tickLblPos val="low"/>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Market Value (USD Bn)</c:v>
                </c:pt>
              </c:strCache>
            </c:strRef>
          </c:tx>
          <c:spPr>
            <a:solidFill>
              <a:srgbClr val="0B4F4A"/>
            </a:solidFill>
            <a:effectLst/>
          </c:spPr>
          <c:invertIfNegative val="0"/>
          <c:dPt>
            <c:idx val="0"/>
            <c:invertIfNegative val="0"/>
            <c:bubble3D val="0"/>
            <c:extLst>
              <c:ext xmlns:c16="http://schemas.microsoft.com/office/drawing/2014/chart" uri="{C3380CC4-5D6E-409C-BE32-E72D297353CC}">
                <c16:uniqueId val="{00000001-D0B1-487E-8F8D-825E5C25D8C0}"/>
              </c:ext>
            </c:extLst>
          </c:dPt>
          <c:dPt>
            <c:idx val="1"/>
            <c:invertIfNegative val="0"/>
            <c:bubble3D val="0"/>
            <c:spPr>
              <a:solidFill>
                <a:srgbClr val="FF6B35"/>
              </a:solidFill>
              <a:effectLst/>
            </c:spPr>
            <c:extLst>
              <c:ext xmlns:c16="http://schemas.microsoft.com/office/drawing/2014/chart" uri="{C3380CC4-5D6E-409C-BE32-E72D297353CC}">
                <c16:uniqueId val="{00000003-D0B1-487E-8F8D-825E5C25D8C0}"/>
              </c:ext>
            </c:extLst>
          </c:dPt>
          <c:dPt>
            <c:idx val="2"/>
            <c:invertIfNegative val="0"/>
            <c:bubble3D val="0"/>
            <c:spPr>
              <a:solidFill>
                <a:srgbClr val="8BC34A"/>
              </a:solidFill>
              <a:effectLst/>
            </c:spPr>
            <c:extLst>
              <c:ext xmlns:c16="http://schemas.microsoft.com/office/drawing/2014/chart" uri="{C3380CC4-5D6E-409C-BE32-E72D297353CC}">
                <c16:uniqueId val="{00000005-D0B1-487E-8F8D-825E5C25D8C0}"/>
              </c:ext>
            </c:extLst>
          </c:dPt>
          <c:dPt>
            <c:idx val="3"/>
            <c:invertIfNegative val="0"/>
            <c:bubble3D val="0"/>
            <c:extLst>
              <c:ext xmlns:c16="http://schemas.microsoft.com/office/drawing/2014/chart" uri="{C3380CC4-5D6E-409C-BE32-E72D297353CC}">
                <c16:uniqueId val="{00000007-D0B1-487E-8F8D-825E5C25D8C0}"/>
              </c:ext>
            </c:extLst>
          </c:dPt>
          <c:dPt>
            <c:idx val="4"/>
            <c:invertIfNegative val="0"/>
            <c:bubble3D val="0"/>
            <c:spPr>
              <a:solidFill>
                <a:srgbClr val="FF6B35"/>
              </a:solidFill>
              <a:effectLst/>
            </c:spPr>
            <c:extLst>
              <c:ext xmlns:c16="http://schemas.microsoft.com/office/drawing/2014/chart" uri="{C3380CC4-5D6E-409C-BE32-E72D297353CC}">
                <c16:uniqueId val="{00000009-D0B1-487E-8F8D-825E5C25D8C0}"/>
              </c:ext>
            </c:extLst>
          </c:dPt>
          <c:cat>
            <c:strRef>
              <c:f>Sheet1!$A$2:$A$6</c:f>
              <c:strCache>
                <c:ptCount val="5"/>
                <c:pt idx="0">
                  <c:v>2024</c:v>
                </c:pt>
                <c:pt idx="1">
                  <c:v>2026</c:v>
                </c:pt>
                <c:pt idx="2">
                  <c:v>2028</c:v>
                </c:pt>
                <c:pt idx="3">
                  <c:v>2030</c:v>
                </c:pt>
                <c:pt idx="4">
                  <c:v>2032</c:v>
                </c:pt>
              </c:strCache>
            </c:strRef>
          </c:cat>
          <c:val>
            <c:numRef>
              <c:f>Sheet1!$B$2:$B$6</c:f>
              <c:numCache>
                <c:formatCode>General</c:formatCode>
                <c:ptCount val="5"/>
                <c:pt idx="0">
                  <c:v>42</c:v>
                </c:pt>
                <c:pt idx="1">
                  <c:v>48</c:v>
                </c:pt>
                <c:pt idx="2">
                  <c:v>54</c:v>
                </c:pt>
                <c:pt idx="3">
                  <c:v>60</c:v>
                </c:pt>
                <c:pt idx="4">
                  <c:v>66</c:v>
                </c:pt>
              </c:numCache>
            </c:numRef>
          </c:val>
          <c:extLst>
            <c:ext xmlns:c16="http://schemas.microsoft.com/office/drawing/2014/chart" uri="{C3380CC4-5D6E-409C-BE32-E72D297353CC}">
              <c16:uniqueId val="{0000000A-D0B1-487E-8F8D-825E5C25D8C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E5E5E5"/>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Market Value (USD Bn)</c:v>
                </c:pt>
              </c:strCache>
            </c:strRef>
          </c:tx>
          <c:spPr>
            <a:solidFill>
              <a:srgbClr val="0B4F4A"/>
            </a:solidFill>
            <a:effectLst/>
          </c:spPr>
          <c:invertIfNegative val="0"/>
          <c:dPt>
            <c:idx val="0"/>
            <c:invertIfNegative val="0"/>
            <c:bubble3D val="0"/>
            <c:extLst>
              <c:ext xmlns:c16="http://schemas.microsoft.com/office/drawing/2014/chart" uri="{C3380CC4-5D6E-409C-BE32-E72D297353CC}">
                <c16:uniqueId val="{00000001-E69E-4401-87AB-297C1F890534}"/>
              </c:ext>
            </c:extLst>
          </c:dPt>
          <c:dPt>
            <c:idx val="1"/>
            <c:invertIfNegative val="0"/>
            <c:bubble3D val="0"/>
            <c:spPr>
              <a:solidFill>
                <a:srgbClr val="FF6B35"/>
              </a:solidFill>
              <a:effectLst/>
            </c:spPr>
            <c:extLst>
              <c:ext xmlns:c16="http://schemas.microsoft.com/office/drawing/2014/chart" uri="{C3380CC4-5D6E-409C-BE32-E72D297353CC}">
                <c16:uniqueId val="{00000003-E69E-4401-87AB-297C1F890534}"/>
              </c:ext>
            </c:extLst>
          </c:dPt>
          <c:dPt>
            <c:idx val="2"/>
            <c:invertIfNegative val="0"/>
            <c:bubble3D val="0"/>
            <c:spPr>
              <a:solidFill>
                <a:srgbClr val="8BC34A"/>
              </a:solidFill>
              <a:effectLst/>
            </c:spPr>
            <c:extLst>
              <c:ext xmlns:c16="http://schemas.microsoft.com/office/drawing/2014/chart" uri="{C3380CC4-5D6E-409C-BE32-E72D297353CC}">
                <c16:uniqueId val="{00000005-E69E-4401-87AB-297C1F890534}"/>
              </c:ext>
            </c:extLst>
          </c:dPt>
          <c:dPt>
            <c:idx val="3"/>
            <c:invertIfNegative val="0"/>
            <c:bubble3D val="0"/>
            <c:extLst>
              <c:ext xmlns:c16="http://schemas.microsoft.com/office/drawing/2014/chart" uri="{C3380CC4-5D6E-409C-BE32-E72D297353CC}">
                <c16:uniqueId val="{00000007-E69E-4401-87AB-297C1F890534}"/>
              </c:ext>
            </c:extLst>
          </c:dPt>
          <c:dPt>
            <c:idx val="4"/>
            <c:invertIfNegative val="0"/>
            <c:bubble3D val="0"/>
            <c:spPr>
              <a:solidFill>
                <a:srgbClr val="FF6B35"/>
              </a:solidFill>
              <a:effectLst/>
            </c:spPr>
            <c:extLst>
              <c:ext xmlns:c16="http://schemas.microsoft.com/office/drawing/2014/chart" uri="{C3380CC4-5D6E-409C-BE32-E72D297353CC}">
                <c16:uniqueId val="{00000009-E69E-4401-87AB-297C1F890534}"/>
              </c:ext>
            </c:extLst>
          </c:dPt>
          <c:cat>
            <c:strRef>
              <c:f>Sheet1!$A$2:$A$6</c:f>
              <c:strCache>
                <c:ptCount val="5"/>
                <c:pt idx="0">
                  <c:v>2024</c:v>
                </c:pt>
                <c:pt idx="1">
                  <c:v>2026</c:v>
                </c:pt>
                <c:pt idx="2">
                  <c:v>2028</c:v>
                </c:pt>
                <c:pt idx="3">
                  <c:v>2030</c:v>
                </c:pt>
                <c:pt idx="4">
                  <c:v>2032</c:v>
                </c:pt>
              </c:strCache>
            </c:strRef>
          </c:cat>
          <c:val>
            <c:numRef>
              <c:f>Sheet1!$B$2:$B$6</c:f>
              <c:numCache>
                <c:formatCode>General</c:formatCode>
                <c:ptCount val="5"/>
                <c:pt idx="0">
                  <c:v>51</c:v>
                </c:pt>
                <c:pt idx="1">
                  <c:v>63</c:v>
                </c:pt>
                <c:pt idx="2">
                  <c:v>77</c:v>
                </c:pt>
                <c:pt idx="3">
                  <c:v>90</c:v>
                </c:pt>
                <c:pt idx="4">
                  <c:v>102</c:v>
                </c:pt>
              </c:numCache>
            </c:numRef>
          </c:val>
          <c:extLst>
            <c:ext xmlns:c16="http://schemas.microsoft.com/office/drawing/2014/chart" uri="{C3380CC4-5D6E-409C-BE32-E72D297353CC}">
              <c16:uniqueId val="{0000000A-E69E-4401-87AB-297C1F89053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E5E5E5"/>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Market Value (USD Bn)</c:v>
                </c:pt>
              </c:strCache>
            </c:strRef>
          </c:tx>
          <c:spPr>
            <a:solidFill>
              <a:srgbClr val="0B4F4A"/>
            </a:solidFill>
            <a:effectLst/>
          </c:spPr>
          <c:invertIfNegative val="0"/>
          <c:dPt>
            <c:idx val="0"/>
            <c:invertIfNegative val="0"/>
            <c:bubble3D val="0"/>
            <c:extLst>
              <c:ext xmlns:c16="http://schemas.microsoft.com/office/drawing/2014/chart" uri="{C3380CC4-5D6E-409C-BE32-E72D297353CC}">
                <c16:uniqueId val="{00000001-0D6D-4135-A6AD-48CEF44C37CC}"/>
              </c:ext>
            </c:extLst>
          </c:dPt>
          <c:dPt>
            <c:idx val="1"/>
            <c:invertIfNegative val="0"/>
            <c:bubble3D val="0"/>
            <c:spPr>
              <a:solidFill>
                <a:srgbClr val="FF6B35"/>
              </a:solidFill>
              <a:effectLst/>
            </c:spPr>
            <c:extLst>
              <c:ext xmlns:c16="http://schemas.microsoft.com/office/drawing/2014/chart" uri="{C3380CC4-5D6E-409C-BE32-E72D297353CC}">
                <c16:uniqueId val="{00000003-0D6D-4135-A6AD-48CEF44C37CC}"/>
              </c:ext>
            </c:extLst>
          </c:dPt>
          <c:dPt>
            <c:idx val="2"/>
            <c:invertIfNegative val="0"/>
            <c:bubble3D val="0"/>
            <c:spPr>
              <a:solidFill>
                <a:srgbClr val="8BC34A"/>
              </a:solidFill>
              <a:effectLst/>
            </c:spPr>
            <c:extLst>
              <c:ext xmlns:c16="http://schemas.microsoft.com/office/drawing/2014/chart" uri="{C3380CC4-5D6E-409C-BE32-E72D297353CC}">
                <c16:uniqueId val="{00000005-0D6D-4135-A6AD-48CEF44C37CC}"/>
              </c:ext>
            </c:extLst>
          </c:dPt>
          <c:dPt>
            <c:idx val="3"/>
            <c:invertIfNegative val="0"/>
            <c:bubble3D val="0"/>
            <c:extLst>
              <c:ext xmlns:c16="http://schemas.microsoft.com/office/drawing/2014/chart" uri="{C3380CC4-5D6E-409C-BE32-E72D297353CC}">
                <c16:uniqueId val="{00000007-0D6D-4135-A6AD-48CEF44C37CC}"/>
              </c:ext>
            </c:extLst>
          </c:dPt>
          <c:dPt>
            <c:idx val="4"/>
            <c:invertIfNegative val="0"/>
            <c:bubble3D val="0"/>
            <c:spPr>
              <a:solidFill>
                <a:srgbClr val="FF6B35"/>
              </a:solidFill>
              <a:effectLst/>
            </c:spPr>
            <c:extLst>
              <c:ext xmlns:c16="http://schemas.microsoft.com/office/drawing/2014/chart" uri="{C3380CC4-5D6E-409C-BE32-E72D297353CC}">
                <c16:uniqueId val="{00000009-0D6D-4135-A6AD-48CEF44C37CC}"/>
              </c:ext>
            </c:extLst>
          </c:dPt>
          <c:cat>
            <c:strRef>
              <c:f>Sheet1!$A$2:$A$6</c:f>
              <c:strCache>
                <c:ptCount val="5"/>
                <c:pt idx="0">
                  <c:v>2024</c:v>
                </c:pt>
                <c:pt idx="1">
                  <c:v>2026</c:v>
                </c:pt>
                <c:pt idx="2">
                  <c:v>2028</c:v>
                </c:pt>
                <c:pt idx="3">
                  <c:v>2030</c:v>
                </c:pt>
                <c:pt idx="4">
                  <c:v>2032</c:v>
                </c:pt>
              </c:strCache>
            </c:strRef>
          </c:cat>
          <c:val>
            <c:numRef>
              <c:f>Sheet1!$B$2:$B$6</c:f>
              <c:numCache>
                <c:formatCode>General</c:formatCode>
                <c:ptCount val="5"/>
                <c:pt idx="0">
                  <c:v>13</c:v>
                </c:pt>
                <c:pt idx="1">
                  <c:v>15.8</c:v>
                </c:pt>
                <c:pt idx="2">
                  <c:v>18.7</c:v>
                </c:pt>
                <c:pt idx="3">
                  <c:v>21.3</c:v>
                </c:pt>
                <c:pt idx="4">
                  <c:v>24</c:v>
                </c:pt>
              </c:numCache>
            </c:numRef>
          </c:val>
          <c:extLst>
            <c:ext xmlns:c16="http://schemas.microsoft.com/office/drawing/2014/chart" uri="{C3380CC4-5D6E-409C-BE32-E72D297353CC}">
              <c16:uniqueId val="{0000000A-0D6D-4135-A6AD-48CEF44C37C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E5E5E5"/>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Market Value (USD Bn)</c:v>
                </c:pt>
              </c:strCache>
            </c:strRef>
          </c:tx>
          <c:spPr>
            <a:solidFill>
              <a:srgbClr val="0B4F4A"/>
            </a:solidFill>
            <a:effectLst/>
          </c:spPr>
          <c:invertIfNegative val="0"/>
          <c:dPt>
            <c:idx val="0"/>
            <c:invertIfNegative val="0"/>
            <c:bubble3D val="0"/>
            <c:extLst>
              <c:ext xmlns:c16="http://schemas.microsoft.com/office/drawing/2014/chart" uri="{C3380CC4-5D6E-409C-BE32-E72D297353CC}">
                <c16:uniqueId val="{00000001-1829-4C70-B560-296D53CB4898}"/>
              </c:ext>
            </c:extLst>
          </c:dPt>
          <c:dPt>
            <c:idx val="1"/>
            <c:invertIfNegative val="0"/>
            <c:bubble3D val="0"/>
            <c:spPr>
              <a:solidFill>
                <a:srgbClr val="FF6B35"/>
              </a:solidFill>
              <a:effectLst/>
            </c:spPr>
            <c:extLst>
              <c:ext xmlns:c16="http://schemas.microsoft.com/office/drawing/2014/chart" uri="{C3380CC4-5D6E-409C-BE32-E72D297353CC}">
                <c16:uniqueId val="{00000003-1829-4C70-B560-296D53CB4898}"/>
              </c:ext>
            </c:extLst>
          </c:dPt>
          <c:dPt>
            <c:idx val="2"/>
            <c:invertIfNegative val="0"/>
            <c:bubble3D val="0"/>
            <c:spPr>
              <a:solidFill>
                <a:srgbClr val="8BC34A"/>
              </a:solidFill>
              <a:effectLst/>
            </c:spPr>
            <c:extLst>
              <c:ext xmlns:c16="http://schemas.microsoft.com/office/drawing/2014/chart" uri="{C3380CC4-5D6E-409C-BE32-E72D297353CC}">
                <c16:uniqueId val="{00000005-1829-4C70-B560-296D53CB4898}"/>
              </c:ext>
            </c:extLst>
          </c:dPt>
          <c:dPt>
            <c:idx val="3"/>
            <c:invertIfNegative val="0"/>
            <c:bubble3D val="0"/>
            <c:extLst>
              <c:ext xmlns:c16="http://schemas.microsoft.com/office/drawing/2014/chart" uri="{C3380CC4-5D6E-409C-BE32-E72D297353CC}">
                <c16:uniqueId val="{00000007-1829-4C70-B560-296D53CB4898}"/>
              </c:ext>
            </c:extLst>
          </c:dPt>
          <c:dPt>
            <c:idx val="4"/>
            <c:invertIfNegative val="0"/>
            <c:bubble3D val="0"/>
            <c:spPr>
              <a:solidFill>
                <a:srgbClr val="FF6B35"/>
              </a:solidFill>
              <a:effectLst/>
            </c:spPr>
            <c:extLst>
              <c:ext xmlns:c16="http://schemas.microsoft.com/office/drawing/2014/chart" uri="{C3380CC4-5D6E-409C-BE32-E72D297353CC}">
                <c16:uniqueId val="{00000009-1829-4C70-B560-296D53CB4898}"/>
              </c:ext>
            </c:extLst>
          </c:dPt>
          <c:cat>
            <c:strRef>
              <c:f>Sheet1!$A$2:$A$6</c:f>
              <c:strCache>
                <c:ptCount val="5"/>
                <c:pt idx="0">
                  <c:v>2024</c:v>
                </c:pt>
                <c:pt idx="1">
                  <c:v>2026</c:v>
                </c:pt>
                <c:pt idx="2">
                  <c:v>2028</c:v>
                </c:pt>
                <c:pt idx="3">
                  <c:v>2030</c:v>
                </c:pt>
                <c:pt idx="4">
                  <c:v>2032</c:v>
                </c:pt>
              </c:strCache>
            </c:strRef>
          </c:cat>
          <c:val>
            <c:numRef>
              <c:f>Sheet1!$B$2:$B$6</c:f>
              <c:numCache>
                <c:formatCode>General</c:formatCode>
                <c:ptCount val="5"/>
                <c:pt idx="0">
                  <c:v>8</c:v>
                </c:pt>
                <c:pt idx="1">
                  <c:v>10.4</c:v>
                </c:pt>
                <c:pt idx="2">
                  <c:v>13.2</c:v>
                </c:pt>
                <c:pt idx="3">
                  <c:v>16</c:v>
                </c:pt>
                <c:pt idx="4">
                  <c:v>19</c:v>
                </c:pt>
              </c:numCache>
            </c:numRef>
          </c:val>
          <c:extLst>
            <c:ext xmlns:c16="http://schemas.microsoft.com/office/drawing/2014/chart" uri="{C3380CC4-5D6E-409C-BE32-E72D297353CC}">
              <c16:uniqueId val="{0000000A-1829-4C70-B560-296D53CB489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2827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E5E5E5"/>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B4F4A"/>
              </a:solidFill>
              <a:effectLst/>
            </c:spPr>
            <c:extLst>
              <c:ext xmlns:c16="http://schemas.microsoft.com/office/drawing/2014/chart" uri="{C3380CC4-5D6E-409C-BE32-E72D297353CC}">
                <c16:uniqueId val="{00000001-5557-4998-84A5-ED4111803BC5}"/>
              </c:ext>
            </c:extLst>
          </c:dPt>
          <c:dPt>
            <c:idx val="1"/>
            <c:bubble3D val="0"/>
            <c:spPr>
              <a:solidFill>
                <a:srgbClr val="FF6B35"/>
              </a:solidFill>
              <a:effectLst/>
            </c:spPr>
            <c:extLst>
              <c:ext xmlns:c16="http://schemas.microsoft.com/office/drawing/2014/chart" uri="{C3380CC4-5D6E-409C-BE32-E72D297353CC}">
                <c16:uniqueId val="{00000003-5557-4998-84A5-ED4111803BC5}"/>
              </c:ext>
            </c:extLst>
          </c:dPt>
          <c:dPt>
            <c:idx val="2"/>
            <c:bubble3D val="0"/>
            <c:spPr>
              <a:solidFill>
                <a:srgbClr val="8BC34A"/>
              </a:solidFill>
              <a:effectLst/>
            </c:spPr>
            <c:extLst>
              <c:ext xmlns:c16="http://schemas.microsoft.com/office/drawing/2014/chart" uri="{C3380CC4-5D6E-409C-BE32-E72D297353CC}">
                <c16:uniqueId val="{00000005-5557-4998-84A5-ED4111803BC5}"/>
              </c:ext>
            </c:extLst>
          </c:dPt>
          <c:dPt>
            <c:idx val="3"/>
            <c:bubble3D val="0"/>
            <c:spPr>
              <a:solidFill>
                <a:srgbClr val="1C7293"/>
              </a:solidFill>
              <a:effectLst/>
            </c:spPr>
            <c:extLst>
              <c:ext xmlns:c16="http://schemas.microsoft.com/office/drawing/2014/chart" uri="{C3380CC4-5D6E-409C-BE32-E72D297353CC}">
                <c16:uniqueId val="{00000007-5557-4998-84A5-ED4111803BC5}"/>
              </c:ext>
            </c:extLst>
          </c:dPt>
          <c:dPt>
            <c:idx val="4"/>
            <c:bubble3D val="0"/>
            <c:spPr>
              <a:solidFill>
                <a:srgbClr val="97BC62"/>
              </a:solidFill>
              <a:effectLst/>
            </c:spPr>
            <c:extLst>
              <c:ext xmlns:c16="http://schemas.microsoft.com/office/drawing/2014/chart" uri="{C3380CC4-5D6E-409C-BE32-E72D297353CC}">
                <c16:uniqueId val="{00000009-5557-4998-84A5-ED4111803BC5}"/>
              </c:ext>
            </c:extLst>
          </c:dPt>
          <c:dPt>
            <c:idx val="5"/>
            <c:bubble3D val="0"/>
            <c:spPr>
              <a:solidFill>
                <a:srgbClr val="B85042"/>
              </a:solidFill>
              <a:effectLst/>
            </c:spPr>
            <c:extLst>
              <c:ext xmlns:c16="http://schemas.microsoft.com/office/drawing/2014/chart" uri="{C3380CC4-5D6E-409C-BE32-E72D297353CC}">
                <c16:uniqueId val="{0000000B-5557-4998-84A5-ED4111803BC5}"/>
              </c:ext>
            </c:extLst>
          </c:dPt>
          <c:dLbls>
            <c:dLbl>
              <c:idx val="0"/>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557-4998-84A5-ED4111803BC5}"/>
                </c:ext>
              </c:extLst>
            </c:dLbl>
            <c:dLbl>
              <c:idx val="1"/>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557-4998-84A5-ED4111803BC5}"/>
                </c:ext>
              </c:extLst>
            </c:dLbl>
            <c:dLbl>
              <c:idx val="2"/>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557-4998-84A5-ED4111803BC5}"/>
                </c:ext>
              </c:extLst>
            </c:dLbl>
            <c:dLbl>
              <c:idx val="3"/>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557-4998-84A5-ED4111803BC5}"/>
                </c:ext>
              </c:extLst>
            </c:dLbl>
            <c:dLbl>
              <c:idx val="4"/>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557-4998-84A5-ED4111803BC5}"/>
                </c:ext>
              </c:extLst>
            </c:dLbl>
            <c:dLbl>
              <c:idx val="5"/>
              <c:numFmt formatCode="0%" sourceLinked="0"/>
              <c:spPr/>
              <c:txPr>
                <a:bodyPr/>
                <a:lstStyle/>
                <a:p>
                  <a:pPr>
                    <a:defRPr sz="12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557-4998-84A5-ED4111803BC5}"/>
                </c:ext>
              </c:extLst>
            </c:dLbl>
            <c:numFmt formatCode="0%" sourceLinked="0"/>
            <c:spPr>
              <a:noFill/>
              <a:ln>
                <a:noFill/>
              </a:ln>
              <a:effectLst/>
            </c:spPr>
            <c:txPr>
              <a:bodyPr/>
              <a:lstStyle/>
              <a:p>
                <a:pPr>
                  <a:defRPr sz="1200" b="0" i="0" u="none" strike="noStrike">
                    <a:solidFill>
                      <a:srgbClr val="000000"/>
                    </a:solidFill>
                    <a:latin typeface="+mn-lt"/>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PepsiCo</c:v>
                </c:pt>
                <c:pt idx="1">
                  <c:v>Coca-Cola Co.</c:v>
                </c:pt>
                <c:pt idx="2">
                  <c:v>Red Bull GmbH</c:v>
                </c:pt>
                <c:pt idx="3">
                  <c:v>Danone</c:v>
                </c:pt>
                <c:pt idx="4">
                  <c:v>Nestlé</c:v>
                </c:pt>
                <c:pt idx="5">
                  <c:v>Rest of Market</c:v>
                </c:pt>
              </c:strCache>
            </c:strRef>
          </c:cat>
          <c:val>
            <c:numRef>
              <c:f>Sheet1!$B$2:$B$7</c:f>
              <c:numCache>
                <c:formatCode>0%</c:formatCode>
                <c:ptCount val="6"/>
                <c:pt idx="0">
                  <c:v>0.11</c:v>
                </c:pt>
                <c:pt idx="1">
                  <c:v>0.09</c:v>
                </c:pt>
                <c:pt idx="2">
                  <c:v>0.08</c:v>
                </c:pt>
                <c:pt idx="3">
                  <c:v>0.05</c:v>
                </c:pt>
                <c:pt idx="4">
                  <c:v>0.05</c:v>
                </c:pt>
                <c:pt idx="5">
                  <c:v>0.62</c:v>
                </c:pt>
              </c:numCache>
            </c:numRef>
          </c:val>
          <c:extLst>
            <c:ext xmlns:c16="http://schemas.microsoft.com/office/drawing/2014/chart" uri="{C3380CC4-5D6E-409C-BE32-E72D297353CC}">
              <c16:uniqueId val="{0000000C-5557-4998-84A5-ED4111803BC5}"/>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1E262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27410043365723857"/>
          <c:y val="0.26379305492491095"/>
          <c:w val="0.72589956634276143"/>
          <c:h val="0.55051025145487753"/>
        </c:manualLayout>
      </c:layout>
      <c:doughnutChart>
        <c:varyColors val="1"/>
        <c:ser>
          <c:idx val="0"/>
          <c:order val="0"/>
          <c:tx>
            <c:strRef>
              <c:f>Sheet1!$B$1</c:f>
              <c:strCache>
                <c:ptCount val="1"/>
                <c:pt idx="0">
                  <c:v>Sales</c:v>
                </c:pt>
              </c:strCache>
            </c:strRef>
          </c:tx>
          <c:dPt>
            <c:idx val="0"/>
            <c:bubble3D val="0"/>
            <c:spPr>
              <a:solidFill>
                <a:schemeClr val="accent2">
                  <a:tint val="77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D254-44C2-BBDC-CC2A9882DEBC}"/>
              </c:ext>
            </c:extLst>
          </c:dPt>
          <c:dPt>
            <c:idx val="1"/>
            <c:bubble3D val="0"/>
            <c:spPr>
              <a:solidFill>
                <a:schemeClr val="accent2">
                  <a:shade val="76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D254-44C2-BBDC-CC2A9882DEBC}"/>
              </c:ext>
            </c:extLst>
          </c:dPt>
          <c:dPt>
            <c:idx val="2"/>
            <c:bubble3D val="0"/>
            <c:spPr>
              <a:solidFill>
                <a:schemeClr val="accent2">
                  <a:shade val="76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D254-44C2-BBDC-CC2A9882DEBC}"/>
              </c:ext>
            </c:extLst>
          </c:dPt>
          <c:dPt>
            <c:idx val="3"/>
            <c:bubble3D val="0"/>
            <c:spPr>
              <a:solidFill>
                <a:schemeClr val="accent2">
                  <a:shade val="76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D254-44C2-BBDC-CC2A9882DEBC}"/>
              </c:ext>
            </c:extLst>
          </c:dPt>
          <c:dPt>
            <c:idx val="4"/>
            <c:bubble3D val="0"/>
            <c:spPr>
              <a:solidFill>
                <a:schemeClr val="accent2">
                  <a:shade val="76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D254-44C2-BBDC-CC2A9882DEBC}"/>
              </c:ext>
            </c:extLst>
          </c:dPt>
          <c:dLbls>
            <c:dLbl>
              <c:idx val="1"/>
              <c:tx>
                <c:rich>
                  <a:bodyPr/>
                  <a:lstStyle/>
                  <a:p>
                    <a:fld id="{956332D9-3365-41F0-AD57-A00475CE9F16}" type="VALUE">
                      <a:rPr lang="en-US">
                        <a:solidFill>
                          <a:schemeClr val="tx1"/>
                        </a:solidFill>
                      </a:rPr>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254-44C2-BBDC-CC2A9882DEBC}"/>
                </c:ext>
              </c:extLst>
            </c:dLbl>
            <c:dLbl>
              <c:idx val="4"/>
              <c:layout>
                <c:manualLayout>
                  <c:x val="2.2321454726113993E-2"/>
                  <c:y val="4.421138892341131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254-44C2-BBDC-CC2A9882DEBC}"/>
                </c:ext>
              </c:extLst>
            </c:dLbl>
            <c:dLbl>
              <c:idx val="5"/>
              <c:layout>
                <c:manualLayout>
                  <c:x val="-2.9761939634818657E-2"/>
                  <c:y val="-3.9790250031069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254-44C2-BBDC-CC2A9882DEBC}"/>
                </c:ext>
              </c:extLst>
            </c:dLbl>
            <c:dLbl>
              <c:idx val="6"/>
              <c:layout>
                <c:manualLayout>
                  <c:x val="3.7202424543523321E-3"/>
                  <c:y val="-7.07382222774574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254-44C2-BBDC-CC2A9882DEBC}"/>
                </c:ext>
              </c:extLst>
            </c:dLbl>
            <c:dLbl>
              <c:idx val="7"/>
              <c:layout>
                <c:manualLayout>
                  <c:x val="0.1041667887218653"/>
                  <c:y val="-7.07382222774574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254-44C2-BBDC-CC2A9882DEBC}"/>
                </c:ext>
              </c:extLst>
            </c:dLbl>
            <c:dLbl>
              <c:idx val="8"/>
              <c:layout>
                <c:manualLayout>
                  <c:x val="0.15625018308279795"/>
                  <c:y val="-8.842277784682181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254-44C2-BBDC-CC2A9882DEBC}"/>
                </c:ext>
              </c:extLst>
            </c:dLbl>
            <c:numFmt formatCode="0.00%" sourceLinked="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0">
                <a:spAutoFit/>
              </a:bodyPr>
              <a:lstStyle/>
              <a:p>
                <a:pPr marL="0" lvl="0" algn="l" defTabSz="914400" rtl="0" eaLnBrk="1" fontAlgn="b" latinLnBrk="0" hangingPunct="1">
                  <a:defRPr lang="en-US" sz="14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Sheet1!$A$2:$A$3</c:f>
              <c:strCache>
                <c:ptCount val="2"/>
                <c:pt idx="0">
                  <c:v>U.S.</c:v>
                </c:pt>
                <c:pt idx="1">
                  <c:v>Outside U.S.</c:v>
                </c:pt>
              </c:strCache>
            </c:strRef>
          </c:cat>
          <c:val>
            <c:numRef>
              <c:f>Sheet1!$B$2:$B$3</c:f>
              <c:numCache>
                <c:formatCode>0%</c:formatCode>
                <c:ptCount val="2"/>
                <c:pt idx="0">
                  <c:v>0.56000000000000005</c:v>
                </c:pt>
                <c:pt idx="1">
                  <c:v>0.44</c:v>
                </c:pt>
              </c:numCache>
            </c:numRef>
          </c:val>
          <c:extLst>
            <c:ext xmlns:c16="http://schemas.microsoft.com/office/drawing/2014/chart" uri="{C3380CC4-5D6E-409C-BE32-E72D297353CC}">
              <c16:uniqueId val="{0000000E-D254-44C2-BBDC-CC2A9882DEBC}"/>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ayout>
        <c:manualLayout>
          <c:xMode val="edge"/>
          <c:yMode val="edge"/>
          <c:x val="0"/>
          <c:y val="0.17078441795706484"/>
          <c:w val="0.29955157896463597"/>
          <c:h val="0.82921558204293522"/>
        </c:manualLayout>
      </c:layout>
      <c:overlay val="0"/>
      <c:spPr>
        <a:noFill/>
        <a:ln>
          <a:noFill/>
        </a:ln>
        <a:effectLst/>
      </c:spPr>
      <c:txPr>
        <a:bodyPr rot="0" spcFirstLastPara="1" vertOverflow="ellipsis" vert="horz" wrap="square" anchor="ctr" anchorCtr="1"/>
        <a:lstStyle/>
        <a:p>
          <a:pPr marL="0" lvl="0" algn="l" defTabSz="914400" rtl="0" eaLnBrk="1" fontAlgn="b" latinLnBrk="0" hangingPunct="1">
            <a:defRPr lang="en-US" sz="14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AF5F1"/>
    </a:solidFill>
    <a:ln w="9525" cap="flat" cmpd="sng" algn="ctr">
      <a:noFill/>
      <a:round/>
    </a:ln>
    <a:effectLst/>
  </c:spPr>
  <c:txPr>
    <a:bodyPr/>
    <a:lstStyle/>
    <a:p>
      <a:pPr>
        <a:defRPr>
          <a:latin typeface="Lato" panose="020F0502020204030203"/>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colors3.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57D0CC-D7A3-4CA8-99E0-FE978C89104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EF6B2735-B2CC-407D-A625-9316178FF7C8}">
      <dgm:prSet phldrT="[Text]" phldr="0" custT="1"/>
      <dgm:spPr>
        <a:solidFill>
          <a:srgbClr val="062E2A"/>
        </a:solidFill>
      </dgm:spPr>
      <dgm:t>
        <a:bodyPr/>
        <a:lstStyle/>
        <a:p>
          <a:pPr>
            <a:spcAft>
              <a:spcPct val="35000"/>
            </a:spcAft>
          </a:pPr>
          <a:r>
            <a:rPr lang="en-IN" sz="1400" b="1" dirty="0"/>
            <a:t>Product Type</a:t>
          </a:r>
        </a:p>
      </dgm:t>
    </dgm:pt>
    <dgm:pt modelId="{4D65A4AC-E751-436F-B487-DAD168B96AD4}" type="parTrans" cxnId="{11A37E54-9EBD-4BB6-856C-22D569767F29}">
      <dgm:prSet/>
      <dgm:spPr/>
      <dgm:t>
        <a:bodyPr/>
        <a:lstStyle/>
        <a:p>
          <a:endParaRPr lang="en-IN"/>
        </a:p>
      </dgm:t>
    </dgm:pt>
    <dgm:pt modelId="{6C774511-9B42-4B62-AF66-64C039F29E1D}" type="sibTrans" cxnId="{11A37E54-9EBD-4BB6-856C-22D569767F29}">
      <dgm:prSet/>
      <dgm:spPr/>
      <dgm:t>
        <a:bodyPr/>
        <a:lstStyle/>
        <a:p>
          <a:endParaRPr lang="en-IN"/>
        </a:p>
      </dgm:t>
    </dgm:pt>
    <dgm:pt modelId="{D09570CF-2581-47D4-9B55-099A9EDA58FC}">
      <dgm:prSet custT="1"/>
      <dgm:spPr>
        <a:solidFill>
          <a:srgbClr val="062E2A"/>
        </a:solidFill>
      </dgm:spPr>
      <dgm:t>
        <a:bodyPr/>
        <a:lstStyle/>
        <a:p>
          <a:pPr>
            <a:spcAft>
              <a:spcPts val="200"/>
            </a:spcAft>
          </a:pPr>
          <a:r>
            <a:rPr lang="en-IN" sz="1200" dirty="0"/>
            <a:t>Energy Drinks</a:t>
          </a:r>
        </a:p>
      </dgm:t>
    </dgm:pt>
    <dgm:pt modelId="{B40A8B4D-1BD2-4A2B-99B1-FDD26EC046D4}" type="parTrans" cxnId="{A665EFDB-B0A7-4F0D-ABFC-8474504CC3AE}">
      <dgm:prSet/>
      <dgm:spPr/>
      <dgm:t>
        <a:bodyPr/>
        <a:lstStyle/>
        <a:p>
          <a:endParaRPr lang="en-IN"/>
        </a:p>
      </dgm:t>
    </dgm:pt>
    <dgm:pt modelId="{69244F73-F052-42A7-A418-78527A414E37}" type="sibTrans" cxnId="{A665EFDB-B0A7-4F0D-ABFC-8474504CC3AE}">
      <dgm:prSet/>
      <dgm:spPr>
        <a:solidFill>
          <a:schemeClr val="accent2"/>
        </a:solidFill>
        <a:ln>
          <a:solidFill>
            <a:schemeClr val="accent2"/>
          </a:solidFill>
        </a:ln>
      </dgm:spPr>
      <dgm:t>
        <a:bodyPr/>
        <a:lstStyle/>
        <a:p>
          <a:endParaRPr lang="en-IN"/>
        </a:p>
      </dgm:t>
    </dgm:pt>
    <dgm:pt modelId="{49E10AF1-27B2-4861-842B-94E2ED4A05BE}">
      <dgm:prSet custT="1"/>
      <dgm:spPr>
        <a:solidFill>
          <a:srgbClr val="062E2A"/>
        </a:solidFill>
      </dgm:spPr>
      <dgm:t>
        <a:bodyPr/>
        <a:lstStyle/>
        <a:p>
          <a:pPr>
            <a:spcAft>
              <a:spcPts val="200"/>
            </a:spcAft>
          </a:pPr>
          <a:r>
            <a:rPr lang="en-IN" sz="1200" dirty="0"/>
            <a:t>Sports &amp; Performance Drinks</a:t>
          </a:r>
        </a:p>
      </dgm:t>
    </dgm:pt>
    <dgm:pt modelId="{C18A4051-E640-4A08-BA29-133B0190C9F4}" type="parTrans" cxnId="{F7735AE1-3DDD-4C06-AF3E-201396BA5128}">
      <dgm:prSet/>
      <dgm:spPr/>
      <dgm:t>
        <a:bodyPr/>
        <a:lstStyle/>
        <a:p>
          <a:endParaRPr lang="en-IN"/>
        </a:p>
      </dgm:t>
    </dgm:pt>
    <dgm:pt modelId="{4AFD958B-FE37-474F-B8EE-4E79CDDB79D9}" type="sibTrans" cxnId="{F7735AE1-3DDD-4C06-AF3E-201396BA5128}">
      <dgm:prSet/>
      <dgm:spPr/>
      <dgm:t>
        <a:bodyPr/>
        <a:lstStyle/>
        <a:p>
          <a:endParaRPr lang="en-IN"/>
        </a:p>
      </dgm:t>
    </dgm:pt>
    <dgm:pt modelId="{6FAB1B8C-C0B7-4265-AC74-3DB969FD1FC5}">
      <dgm:prSet custT="1"/>
      <dgm:spPr>
        <a:solidFill>
          <a:srgbClr val="062E2A"/>
        </a:solidFill>
      </dgm:spPr>
      <dgm:t>
        <a:bodyPr/>
        <a:lstStyle/>
        <a:p>
          <a:pPr>
            <a:spcAft>
              <a:spcPts val="200"/>
            </a:spcAft>
          </a:pPr>
          <a:r>
            <a:rPr lang="en-IN" sz="1200" dirty="0"/>
            <a:t>Fortified Juices</a:t>
          </a:r>
        </a:p>
      </dgm:t>
    </dgm:pt>
    <dgm:pt modelId="{CD799F8E-CB2D-4F0F-A610-1C679452DDED}" type="parTrans" cxnId="{0AFA2D21-897F-4F41-BC31-8F738E5307BE}">
      <dgm:prSet/>
      <dgm:spPr/>
      <dgm:t>
        <a:bodyPr/>
        <a:lstStyle/>
        <a:p>
          <a:endParaRPr lang="en-IN"/>
        </a:p>
      </dgm:t>
    </dgm:pt>
    <dgm:pt modelId="{1DFD83C2-3F3D-40E4-B62E-E7B6F923827D}" type="sibTrans" cxnId="{0AFA2D21-897F-4F41-BC31-8F738E5307BE}">
      <dgm:prSet/>
      <dgm:spPr/>
      <dgm:t>
        <a:bodyPr/>
        <a:lstStyle/>
        <a:p>
          <a:endParaRPr lang="en-IN"/>
        </a:p>
      </dgm:t>
    </dgm:pt>
    <dgm:pt modelId="{4478A2F2-C100-49EC-9DC2-C5CCFB2D2D4C}">
      <dgm:prSet custT="1"/>
      <dgm:spPr>
        <a:solidFill>
          <a:srgbClr val="062E2A"/>
        </a:solidFill>
      </dgm:spPr>
      <dgm:t>
        <a:bodyPr/>
        <a:lstStyle/>
        <a:p>
          <a:pPr>
            <a:spcAft>
              <a:spcPts val="200"/>
            </a:spcAft>
          </a:pPr>
          <a:r>
            <a:rPr lang="en-IN" sz="1200" dirty="0"/>
            <a:t>Functional Water</a:t>
          </a:r>
        </a:p>
      </dgm:t>
    </dgm:pt>
    <dgm:pt modelId="{4A6238C5-AD67-40F7-A592-2020E36F2B1D}" type="parTrans" cxnId="{F5475E91-1464-4DA4-B55B-426A76ED9A95}">
      <dgm:prSet/>
      <dgm:spPr/>
      <dgm:t>
        <a:bodyPr/>
        <a:lstStyle/>
        <a:p>
          <a:endParaRPr lang="en-IN"/>
        </a:p>
      </dgm:t>
    </dgm:pt>
    <dgm:pt modelId="{ABB18593-953F-4F01-AD2F-1D2817B26224}" type="sibTrans" cxnId="{F5475E91-1464-4DA4-B55B-426A76ED9A95}">
      <dgm:prSet/>
      <dgm:spPr/>
      <dgm:t>
        <a:bodyPr/>
        <a:lstStyle/>
        <a:p>
          <a:endParaRPr lang="en-IN"/>
        </a:p>
      </dgm:t>
    </dgm:pt>
    <dgm:pt modelId="{E8E05372-562D-4014-9C7C-B262A5AAE57B}">
      <dgm:prSet custT="1"/>
      <dgm:spPr>
        <a:solidFill>
          <a:srgbClr val="062E2A"/>
        </a:solidFill>
      </dgm:spPr>
      <dgm:t>
        <a:bodyPr/>
        <a:lstStyle/>
        <a:p>
          <a:pPr>
            <a:spcAft>
              <a:spcPts val="200"/>
            </a:spcAft>
          </a:pPr>
          <a:r>
            <a:rPr lang="en-IN" sz="1200" dirty="0"/>
            <a:t>Others</a:t>
          </a:r>
        </a:p>
      </dgm:t>
    </dgm:pt>
    <dgm:pt modelId="{1BC11C45-5BDE-46D1-93CC-AF4FD4765004}" type="parTrans" cxnId="{A3479F6F-0FCA-4682-8DF6-47D611363E53}">
      <dgm:prSet/>
      <dgm:spPr/>
      <dgm:t>
        <a:bodyPr/>
        <a:lstStyle/>
        <a:p>
          <a:endParaRPr lang="en-IN"/>
        </a:p>
      </dgm:t>
    </dgm:pt>
    <dgm:pt modelId="{2D995A3A-C900-49F2-AF07-BE6B93F58C0D}" type="sibTrans" cxnId="{A3479F6F-0FCA-4682-8DF6-47D611363E53}">
      <dgm:prSet/>
      <dgm:spPr/>
      <dgm:t>
        <a:bodyPr/>
        <a:lstStyle/>
        <a:p>
          <a:endParaRPr lang="en-IN"/>
        </a:p>
      </dgm:t>
    </dgm:pt>
    <dgm:pt modelId="{F402B4E7-AC71-4AF8-8D49-C533DA845333}" type="pres">
      <dgm:prSet presAssocID="{4A57D0CC-D7A3-4CA8-99E0-FE978C891040}" presName="Name0" presStyleCnt="0">
        <dgm:presLayoutVars>
          <dgm:chMax val="7"/>
          <dgm:chPref val="7"/>
          <dgm:dir/>
        </dgm:presLayoutVars>
      </dgm:prSet>
      <dgm:spPr/>
    </dgm:pt>
    <dgm:pt modelId="{67E151F4-090E-49EE-AE0D-E5E4E59217BD}" type="pres">
      <dgm:prSet presAssocID="{4A57D0CC-D7A3-4CA8-99E0-FE978C891040}" presName="Name1" presStyleCnt="0"/>
      <dgm:spPr/>
    </dgm:pt>
    <dgm:pt modelId="{57D4640E-7417-45C8-91AB-1D9E9DB2440E}" type="pres">
      <dgm:prSet presAssocID="{4A57D0CC-D7A3-4CA8-99E0-FE978C891040}" presName="cycle" presStyleCnt="0"/>
      <dgm:spPr/>
    </dgm:pt>
    <dgm:pt modelId="{9419B692-D853-4B38-924E-F55E01218285}" type="pres">
      <dgm:prSet presAssocID="{4A57D0CC-D7A3-4CA8-99E0-FE978C891040}" presName="srcNode" presStyleLbl="node1" presStyleIdx="0" presStyleCnt="1"/>
      <dgm:spPr/>
    </dgm:pt>
    <dgm:pt modelId="{F393591B-66CF-4B04-A4EA-9C5605858E32}" type="pres">
      <dgm:prSet presAssocID="{4A57D0CC-D7A3-4CA8-99E0-FE978C891040}" presName="conn" presStyleLbl="parChTrans1D2" presStyleIdx="0" presStyleCnt="1"/>
      <dgm:spPr/>
    </dgm:pt>
    <dgm:pt modelId="{6A45F3AD-94E6-4D2F-B588-B45913886EEA}" type="pres">
      <dgm:prSet presAssocID="{4A57D0CC-D7A3-4CA8-99E0-FE978C891040}" presName="extraNode" presStyleLbl="node1" presStyleIdx="0" presStyleCnt="1"/>
      <dgm:spPr/>
    </dgm:pt>
    <dgm:pt modelId="{826979B0-C4DD-4BB9-82F3-2F66898E62A4}" type="pres">
      <dgm:prSet presAssocID="{4A57D0CC-D7A3-4CA8-99E0-FE978C891040}" presName="dstNode" presStyleLbl="node1" presStyleIdx="0" presStyleCnt="1"/>
      <dgm:spPr/>
    </dgm:pt>
    <dgm:pt modelId="{B7AE5083-6476-4499-BCCB-208D6C6A1CDB}" type="pres">
      <dgm:prSet presAssocID="{EF6B2735-B2CC-407D-A625-9316178FF7C8}" presName="text_1" presStyleLbl="node1" presStyleIdx="0" presStyleCnt="1" custScaleY="109438">
        <dgm:presLayoutVars>
          <dgm:bulletEnabled val="1"/>
        </dgm:presLayoutVars>
      </dgm:prSet>
      <dgm:spPr/>
    </dgm:pt>
    <dgm:pt modelId="{76709D7D-6676-4D49-BF1B-9F32A63072C6}" type="pres">
      <dgm:prSet presAssocID="{EF6B2735-B2CC-407D-A625-9316178FF7C8}" presName="accent_1" presStyleCnt="0"/>
      <dgm:spPr/>
    </dgm:pt>
    <dgm:pt modelId="{97977FBB-5F86-40E4-A6AC-1F2F356BF3FD}" type="pres">
      <dgm:prSet presAssocID="{EF6B2735-B2CC-407D-A625-9316178FF7C8}" presName="accentRepeatNode" presStyleLbl="solidFgAcc1" presStyleIdx="0" presStyleCnt="1"/>
      <dgm:spPr>
        <a:solidFill>
          <a:schemeClr val="accent2"/>
        </a:solidFill>
        <a:ln>
          <a:solidFill>
            <a:schemeClr val="accent2"/>
          </a:solidFill>
        </a:ln>
      </dgm:spPr>
    </dgm:pt>
  </dgm:ptLst>
  <dgm:cxnLst>
    <dgm:cxn modelId="{791D5817-EE41-4632-9692-5F91221A8592}" type="presOf" srcId="{69244F73-F052-42A7-A418-78527A414E37}" destId="{F393591B-66CF-4B04-A4EA-9C5605858E32}" srcOrd="0" destOrd="0" presId="urn:microsoft.com/office/officeart/2008/layout/VerticalCurvedList"/>
    <dgm:cxn modelId="{0AFA2D21-897F-4F41-BC31-8F738E5307BE}" srcId="{EF6B2735-B2CC-407D-A625-9316178FF7C8}" destId="{6FAB1B8C-C0B7-4265-AC74-3DB969FD1FC5}" srcOrd="2" destOrd="0" parTransId="{CD799F8E-CB2D-4F0F-A610-1C679452DDED}" sibTransId="{1DFD83C2-3F3D-40E4-B62E-E7B6F923827D}"/>
    <dgm:cxn modelId="{73FADD3F-20A7-4D9C-8982-6425C7D2DF9A}" type="presOf" srcId="{49E10AF1-27B2-4861-842B-94E2ED4A05BE}" destId="{B7AE5083-6476-4499-BCCB-208D6C6A1CDB}" srcOrd="0" destOrd="2" presId="urn:microsoft.com/office/officeart/2008/layout/VerticalCurvedList"/>
    <dgm:cxn modelId="{A3479F6F-0FCA-4682-8DF6-47D611363E53}" srcId="{EF6B2735-B2CC-407D-A625-9316178FF7C8}" destId="{E8E05372-562D-4014-9C7C-B262A5AAE57B}" srcOrd="4" destOrd="0" parTransId="{1BC11C45-5BDE-46D1-93CC-AF4FD4765004}" sibTransId="{2D995A3A-C900-49F2-AF07-BE6B93F58C0D}"/>
    <dgm:cxn modelId="{11A37E54-9EBD-4BB6-856C-22D569767F29}" srcId="{4A57D0CC-D7A3-4CA8-99E0-FE978C891040}" destId="{EF6B2735-B2CC-407D-A625-9316178FF7C8}" srcOrd="0" destOrd="0" parTransId="{4D65A4AC-E751-436F-B487-DAD168B96AD4}" sibTransId="{6C774511-9B42-4B62-AF66-64C039F29E1D}"/>
    <dgm:cxn modelId="{F5475E91-1464-4DA4-B55B-426A76ED9A95}" srcId="{EF6B2735-B2CC-407D-A625-9316178FF7C8}" destId="{4478A2F2-C100-49EC-9DC2-C5CCFB2D2D4C}" srcOrd="3" destOrd="0" parTransId="{4A6238C5-AD67-40F7-A592-2020E36F2B1D}" sibTransId="{ABB18593-953F-4F01-AD2F-1D2817B26224}"/>
    <dgm:cxn modelId="{BE816498-4984-4097-B6FF-7CD095A9EDB7}" type="presOf" srcId="{6FAB1B8C-C0B7-4265-AC74-3DB969FD1FC5}" destId="{B7AE5083-6476-4499-BCCB-208D6C6A1CDB}" srcOrd="0" destOrd="3" presId="urn:microsoft.com/office/officeart/2008/layout/VerticalCurvedList"/>
    <dgm:cxn modelId="{BEC6FBB7-E5AF-4F3E-AC30-DB26D7B37D41}" type="presOf" srcId="{D09570CF-2581-47D4-9B55-099A9EDA58FC}" destId="{B7AE5083-6476-4499-BCCB-208D6C6A1CDB}" srcOrd="0" destOrd="1" presId="urn:microsoft.com/office/officeart/2008/layout/VerticalCurvedList"/>
    <dgm:cxn modelId="{0337EBD7-F774-4B83-9C78-AAB22FBDAEC1}" type="presOf" srcId="{EF6B2735-B2CC-407D-A625-9316178FF7C8}" destId="{B7AE5083-6476-4499-BCCB-208D6C6A1CDB}" srcOrd="0" destOrd="0" presId="urn:microsoft.com/office/officeart/2008/layout/VerticalCurvedList"/>
    <dgm:cxn modelId="{A665EFDB-B0A7-4F0D-ABFC-8474504CC3AE}" srcId="{EF6B2735-B2CC-407D-A625-9316178FF7C8}" destId="{D09570CF-2581-47D4-9B55-099A9EDA58FC}" srcOrd="0" destOrd="0" parTransId="{B40A8B4D-1BD2-4A2B-99B1-FDD26EC046D4}" sibTransId="{69244F73-F052-42A7-A418-78527A414E37}"/>
    <dgm:cxn modelId="{F7735AE1-3DDD-4C06-AF3E-201396BA5128}" srcId="{EF6B2735-B2CC-407D-A625-9316178FF7C8}" destId="{49E10AF1-27B2-4861-842B-94E2ED4A05BE}" srcOrd="1" destOrd="0" parTransId="{C18A4051-E640-4A08-BA29-133B0190C9F4}" sibTransId="{4AFD958B-FE37-474F-B8EE-4E79CDDB79D9}"/>
    <dgm:cxn modelId="{3A00BFE3-F33D-4B05-8F79-3B724960AAB3}" type="presOf" srcId="{4478A2F2-C100-49EC-9DC2-C5CCFB2D2D4C}" destId="{B7AE5083-6476-4499-BCCB-208D6C6A1CDB}" srcOrd="0" destOrd="4" presId="urn:microsoft.com/office/officeart/2008/layout/VerticalCurvedList"/>
    <dgm:cxn modelId="{CCA4F0F5-7899-48C4-B055-42DFE5C0C060}" type="presOf" srcId="{4A57D0CC-D7A3-4CA8-99E0-FE978C891040}" destId="{F402B4E7-AC71-4AF8-8D49-C533DA845333}" srcOrd="0" destOrd="0" presId="urn:microsoft.com/office/officeart/2008/layout/VerticalCurvedList"/>
    <dgm:cxn modelId="{7B7CD4F7-7008-49A2-A43E-C3BB687873CD}" type="presOf" srcId="{E8E05372-562D-4014-9C7C-B262A5AAE57B}" destId="{B7AE5083-6476-4499-BCCB-208D6C6A1CDB}" srcOrd="0" destOrd="5" presId="urn:microsoft.com/office/officeart/2008/layout/VerticalCurvedList"/>
    <dgm:cxn modelId="{05289F8E-E6DF-444A-BAF2-B81984DD2CF4}" type="presParOf" srcId="{F402B4E7-AC71-4AF8-8D49-C533DA845333}" destId="{67E151F4-090E-49EE-AE0D-E5E4E59217BD}" srcOrd="0" destOrd="0" presId="urn:microsoft.com/office/officeart/2008/layout/VerticalCurvedList"/>
    <dgm:cxn modelId="{9724638B-D259-4266-9A75-6B93E041EA97}" type="presParOf" srcId="{67E151F4-090E-49EE-AE0D-E5E4E59217BD}" destId="{57D4640E-7417-45C8-91AB-1D9E9DB2440E}" srcOrd="0" destOrd="0" presId="urn:microsoft.com/office/officeart/2008/layout/VerticalCurvedList"/>
    <dgm:cxn modelId="{C3510490-F2D8-463C-B897-FD07987D0D18}" type="presParOf" srcId="{57D4640E-7417-45C8-91AB-1D9E9DB2440E}" destId="{9419B692-D853-4B38-924E-F55E01218285}" srcOrd="0" destOrd="0" presId="urn:microsoft.com/office/officeart/2008/layout/VerticalCurvedList"/>
    <dgm:cxn modelId="{41746BE4-57C1-42CF-AF2C-191D0FF7A8EA}" type="presParOf" srcId="{57D4640E-7417-45C8-91AB-1D9E9DB2440E}" destId="{F393591B-66CF-4B04-A4EA-9C5605858E32}" srcOrd="1" destOrd="0" presId="urn:microsoft.com/office/officeart/2008/layout/VerticalCurvedList"/>
    <dgm:cxn modelId="{800EF1FC-7056-4F29-B5EF-82E1DA673CAC}" type="presParOf" srcId="{57D4640E-7417-45C8-91AB-1D9E9DB2440E}" destId="{6A45F3AD-94E6-4D2F-B588-B45913886EEA}" srcOrd="2" destOrd="0" presId="urn:microsoft.com/office/officeart/2008/layout/VerticalCurvedList"/>
    <dgm:cxn modelId="{0F4FF076-3E81-484C-B566-FF053A9F96EA}" type="presParOf" srcId="{57D4640E-7417-45C8-91AB-1D9E9DB2440E}" destId="{826979B0-C4DD-4BB9-82F3-2F66898E62A4}" srcOrd="3" destOrd="0" presId="urn:microsoft.com/office/officeart/2008/layout/VerticalCurvedList"/>
    <dgm:cxn modelId="{8A301634-FBB9-4BB5-8A07-0862EFAA45D8}" type="presParOf" srcId="{67E151F4-090E-49EE-AE0D-E5E4E59217BD}" destId="{B7AE5083-6476-4499-BCCB-208D6C6A1CDB}" srcOrd="1" destOrd="0" presId="urn:microsoft.com/office/officeart/2008/layout/VerticalCurvedList"/>
    <dgm:cxn modelId="{DCE9F99E-EAB3-4D80-B455-2EC55EE9BC9D}" type="presParOf" srcId="{67E151F4-090E-49EE-AE0D-E5E4E59217BD}" destId="{76709D7D-6676-4D49-BF1B-9F32A63072C6}" srcOrd="2" destOrd="0" presId="urn:microsoft.com/office/officeart/2008/layout/VerticalCurvedList"/>
    <dgm:cxn modelId="{87558C9C-913F-426C-B049-54E59857C87D}" type="presParOf" srcId="{76709D7D-6676-4D49-BF1B-9F32A63072C6}" destId="{97977FBB-5F86-40E4-A6AC-1F2F356BF3F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57D0CC-D7A3-4CA8-99E0-FE978C89104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92F00292-FE13-4B41-B50F-032B741E62D7}">
      <dgm:prSet phldrT="[Text]" custT="1"/>
      <dgm:spPr>
        <a:solidFill>
          <a:srgbClr val="062E2A"/>
        </a:solidFill>
      </dgm:spPr>
      <dgm:t>
        <a:bodyPr/>
        <a:lstStyle/>
        <a:p>
          <a:r>
            <a:rPr lang="en-IN" sz="1400" b="1" dirty="0"/>
            <a:t>Ingredient Type</a:t>
          </a:r>
        </a:p>
      </dgm:t>
    </dgm:pt>
    <dgm:pt modelId="{03D60A89-2A9C-4D75-95B1-76397F7BF58B}" type="parTrans" cxnId="{87E1C746-C917-47E4-A5AF-B5A543670B43}">
      <dgm:prSet/>
      <dgm:spPr/>
      <dgm:t>
        <a:bodyPr/>
        <a:lstStyle/>
        <a:p>
          <a:endParaRPr lang="en-IN"/>
        </a:p>
      </dgm:t>
    </dgm:pt>
    <dgm:pt modelId="{B129F4A3-D998-4C8B-A4FD-7F15BE4CECFF}" type="sibTrans" cxnId="{87E1C746-C917-47E4-A5AF-B5A543670B43}">
      <dgm:prSet/>
      <dgm:spPr/>
      <dgm:t>
        <a:bodyPr/>
        <a:lstStyle/>
        <a:p>
          <a:endParaRPr lang="en-IN"/>
        </a:p>
      </dgm:t>
    </dgm:pt>
    <dgm:pt modelId="{D7D4D31A-FB8C-4FC8-9C08-859B415D28F2}">
      <dgm:prSet phldrT="[Text]" custT="1"/>
      <dgm:spPr>
        <a:solidFill>
          <a:srgbClr val="062E2A"/>
        </a:solidFill>
      </dgm:spPr>
      <dgm:t>
        <a:bodyPr/>
        <a:lstStyle/>
        <a:p>
          <a:r>
            <a:rPr lang="en-IN" sz="1200" dirty="0"/>
            <a:t>Vitamins &amp; Minerals</a:t>
          </a:r>
        </a:p>
      </dgm:t>
    </dgm:pt>
    <dgm:pt modelId="{59CF6BA5-F842-4319-A641-94C55D064F02}" type="parTrans" cxnId="{3F4958EC-D1F4-4BB6-A3E8-1215D0E078BF}">
      <dgm:prSet/>
      <dgm:spPr/>
      <dgm:t>
        <a:bodyPr/>
        <a:lstStyle/>
        <a:p>
          <a:endParaRPr lang="en-IN"/>
        </a:p>
      </dgm:t>
    </dgm:pt>
    <dgm:pt modelId="{AB849D1D-2893-4718-B8D0-51F63DE26401}" type="sibTrans" cxnId="{3F4958EC-D1F4-4BB6-A3E8-1215D0E078BF}">
      <dgm:prSet/>
      <dgm:spPr>
        <a:solidFill>
          <a:schemeClr val="accent2"/>
        </a:solidFill>
        <a:ln>
          <a:solidFill>
            <a:schemeClr val="accent2"/>
          </a:solidFill>
        </a:ln>
      </dgm:spPr>
      <dgm:t>
        <a:bodyPr/>
        <a:lstStyle/>
        <a:p>
          <a:endParaRPr lang="en-IN"/>
        </a:p>
      </dgm:t>
    </dgm:pt>
    <dgm:pt modelId="{40B8AE0D-29D3-4FC3-AFA2-8C0F62F351D8}">
      <dgm:prSet custT="1"/>
      <dgm:spPr>
        <a:solidFill>
          <a:srgbClr val="062E2A"/>
        </a:solidFill>
      </dgm:spPr>
      <dgm:t>
        <a:bodyPr/>
        <a:lstStyle/>
        <a:p>
          <a:r>
            <a:rPr lang="en-IN" sz="1200" dirty="0"/>
            <a:t>Probiotics &amp; Prebiotics</a:t>
          </a:r>
        </a:p>
      </dgm:t>
    </dgm:pt>
    <dgm:pt modelId="{A75F4CE7-9714-4D91-8E2C-9CDB7902693A}" type="parTrans" cxnId="{199D19CF-5650-492A-94AF-83B7F6354A72}">
      <dgm:prSet/>
      <dgm:spPr/>
      <dgm:t>
        <a:bodyPr/>
        <a:lstStyle/>
        <a:p>
          <a:endParaRPr lang="en-IN"/>
        </a:p>
      </dgm:t>
    </dgm:pt>
    <dgm:pt modelId="{AC272044-3BD8-4310-8D02-3B791E1D13D6}" type="sibTrans" cxnId="{199D19CF-5650-492A-94AF-83B7F6354A72}">
      <dgm:prSet/>
      <dgm:spPr/>
      <dgm:t>
        <a:bodyPr/>
        <a:lstStyle/>
        <a:p>
          <a:endParaRPr lang="en-IN"/>
        </a:p>
      </dgm:t>
    </dgm:pt>
    <dgm:pt modelId="{ADA94A8E-6D6A-4E58-928D-290F9DB22065}">
      <dgm:prSet custT="1"/>
      <dgm:spPr>
        <a:solidFill>
          <a:srgbClr val="062E2A"/>
        </a:solidFill>
      </dgm:spPr>
      <dgm:t>
        <a:bodyPr/>
        <a:lstStyle/>
        <a:p>
          <a:r>
            <a:rPr lang="en-IN" sz="1200" dirty="0"/>
            <a:t>Amino Acids &amp; Protein</a:t>
          </a:r>
        </a:p>
      </dgm:t>
    </dgm:pt>
    <dgm:pt modelId="{4F267102-429F-4D57-B8B1-CA2F0B53AEC8}" type="parTrans" cxnId="{0D8CD6FD-9909-4C8D-88E6-88F3A4B14CCB}">
      <dgm:prSet/>
      <dgm:spPr/>
      <dgm:t>
        <a:bodyPr/>
        <a:lstStyle/>
        <a:p>
          <a:endParaRPr lang="en-IN"/>
        </a:p>
      </dgm:t>
    </dgm:pt>
    <dgm:pt modelId="{34ADA4C0-288F-4744-A585-F27450281024}" type="sibTrans" cxnId="{0D8CD6FD-9909-4C8D-88E6-88F3A4B14CCB}">
      <dgm:prSet/>
      <dgm:spPr/>
      <dgm:t>
        <a:bodyPr/>
        <a:lstStyle/>
        <a:p>
          <a:endParaRPr lang="en-IN"/>
        </a:p>
      </dgm:t>
    </dgm:pt>
    <dgm:pt modelId="{364691BB-45B0-4EBC-BB09-E6D1B713149B}">
      <dgm:prSet custT="1"/>
      <dgm:spPr>
        <a:solidFill>
          <a:srgbClr val="062E2A"/>
        </a:solidFill>
      </dgm:spPr>
      <dgm:t>
        <a:bodyPr/>
        <a:lstStyle/>
        <a:p>
          <a:r>
            <a:rPr lang="en-IN" sz="1200" dirty="0"/>
            <a:t>Caffeine &amp; Botanicals</a:t>
          </a:r>
        </a:p>
      </dgm:t>
    </dgm:pt>
    <dgm:pt modelId="{32EE93FA-7CB8-4610-965C-2AB493397386}" type="parTrans" cxnId="{3AF0CD3F-969C-41BB-B7B0-0E0D6400EE5F}">
      <dgm:prSet/>
      <dgm:spPr/>
      <dgm:t>
        <a:bodyPr/>
        <a:lstStyle/>
        <a:p>
          <a:endParaRPr lang="en-IN"/>
        </a:p>
      </dgm:t>
    </dgm:pt>
    <dgm:pt modelId="{8B587DF3-4361-4734-A63B-1BAC360D31D2}" type="sibTrans" cxnId="{3AF0CD3F-969C-41BB-B7B0-0E0D6400EE5F}">
      <dgm:prSet/>
      <dgm:spPr/>
      <dgm:t>
        <a:bodyPr/>
        <a:lstStyle/>
        <a:p>
          <a:endParaRPr lang="en-IN"/>
        </a:p>
      </dgm:t>
    </dgm:pt>
    <dgm:pt modelId="{D929A723-EBEF-4682-9923-1049232B44CC}">
      <dgm:prSet custT="1"/>
      <dgm:spPr>
        <a:solidFill>
          <a:srgbClr val="062E2A"/>
        </a:solidFill>
      </dgm:spPr>
      <dgm:t>
        <a:bodyPr/>
        <a:lstStyle/>
        <a:p>
          <a:r>
            <a:rPr lang="en-IN" sz="1200" dirty="0"/>
            <a:t>Adaptogens &amp; Nootropics</a:t>
          </a:r>
          <a:endParaRPr lang="en-IN" sz="1400" dirty="0"/>
        </a:p>
      </dgm:t>
    </dgm:pt>
    <dgm:pt modelId="{A788E8DA-12B1-4868-9AE3-7352BD359334}" type="parTrans" cxnId="{848B0B6E-816A-4C19-B15E-16E19CF960A4}">
      <dgm:prSet/>
      <dgm:spPr/>
      <dgm:t>
        <a:bodyPr/>
        <a:lstStyle/>
        <a:p>
          <a:endParaRPr lang="en-IN"/>
        </a:p>
      </dgm:t>
    </dgm:pt>
    <dgm:pt modelId="{EFB06573-4292-4940-825C-C739099FDEC3}" type="sibTrans" cxnId="{848B0B6E-816A-4C19-B15E-16E19CF960A4}">
      <dgm:prSet/>
      <dgm:spPr/>
      <dgm:t>
        <a:bodyPr/>
        <a:lstStyle/>
        <a:p>
          <a:endParaRPr lang="en-IN"/>
        </a:p>
      </dgm:t>
    </dgm:pt>
    <dgm:pt modelId="{40CCE5A4-71FD-4227-B072-D670B80577C4}">
      <dgm:prSet custT="1"/>
      <dgm:spPr>
        <a:solidFill>
          <a:srgbClr val="062E2A"/>
        </a:solidFill>
      </dgm:spPr>
      <dgm:t>
        <a:bodyPr/>
        <a:lstStyle/>
        <a:p>
          <a:r>
            <a:rPr lang="en-IN" sz="1400" b="1" dirty="0"/>
            <a:t>Packaging</a:t>
          </a:r>
        </a:p>
      </dgm:t>
    </dgm:pt>
    <dgm:pt modelId="{6F9BCEDB-29B5-46EF-A203-F8C28F52A7FB}" type="parTrans" cxnId="{5F26B82E-5E04-4C9C-8467-1C494DB94EAB}">
      <dgm:prSet/>
      <dgm:spPr/>
      <dgm:t>
        <a:bodyPr/>
        <a:lstStyle/>
        <a:p>
          <a:endParaRPr lang="en-IN"/>
        </a:p>
      </dgm:t>
    </dgm:pt>
    <dgm:pt modelId="{2646CB00-F5F8-41EC-80C7-307F12ADE81D}" type="sibTrans" cxnId="{5F26B82E-5E04-4C9C-8467-1C494DB94EAB}">
      <dgm:prSet/>
      <dgm:spPr/>
      <dgm:t>
        <a:bodyPr/>
        <a:lstStyle/>
        <a:p>
          <a:endParaRPr lang="en-IN"/>
        </a:p>
      </dgm:t>
    </dgm:pt>
    <dgm:pt modelId="{A4093C59-8722-4EB0-9339-D79A4098AF7E}">
      <dgm:prSet custT="1"/>
      <dgm:spPr>
        <a:solidFill>
          <a:srgbClr val="062E2A"/>
        </a:solidFill>
      </dgm:spPr>
      <dgm:t>
        <a:bodyPr/>
        <a:lstStyle/>
        <a:p>
          <a:r>
            <a:rPr lang="en-IN" sz="1200" dirty="0"/>
            <a:t>PET Bottles</a:t>
          </a:r>
        </a:p>
      </dgm:t>
    </dgm:pt>
    <dgm:pt modelId="{17CAF6FE-04B7-4B40-92FA-53A9C34D5549}" type="parTrans" cxnId="{6A333565-A28C-4D18-B7BF-F019B9031651}">
      <dgm:prSet/>
      <dgm:spPr/>
      <dgm:t>
        <a:bodyPr/>
        <a:lstStyle/>
        <a:p>
          <a:endParaRPr lang="en-IN"/>
        </a:p>
      </dgm:t>
    </dgm:pt>
    <dgm:pt modelId="{6318D46C-9015-47E6-AC74-97FCA2B8DB9D}" type="sibTrans" cxnId="{6A333565-A28C-4D18-B7BF-F019B9031651}">
      <dgm:prSet/>
      <dgm:spPr/>
      <dgm:t>
        <a:bodyPr/>
        <a:lstStyle/>
        <a:p>
          <a:endParaRPr lang="en-IN"/>
        </a:p>
      </dgm:t>
    </dgm:pt>
    <dgm:pt modelId="{BC862053-8D18-4B50-8FD5-960338746A85}">
      <dgm:prSet custT="1"/>
      <dgm:spPr/>
      <dgm:t>
        <a:bodyPr/>
        <a:lstStyle/>
        <a:p>
          <a:r>
            <a:rPr lang="en-IN" sz="1200" dirty="0"/>
            <a:t>Cans</a:t>
          </a:r>
        </a:p>
      </dgm:t>
    </dgm:pt>
    <dgm:pt modelId="{CD865D89-4816-4557-9052-DDBC4D5B6021}" type="parTrans" cxnId="{37CB920D-40D3-4CF1-8427-26A8BBD4FEC7}">
      <dgm:prSet/>
      <dgm:spPr/>
      <dgm:t>
        <a:bodyPr/>
        <a:lstStyle/>
        <a:p>
          <a:endParaRPr lang="en-IN"/>
        </a:p>
      </dgm:t>
    </dgm:pt>
    <dgm:pt modelId="{C314B8DA-25EB-4160-8554-E28B007F3511}" type="sibTrans" cxnId="{37CB920D-40D3-4CF1-8427-26A8BBD4FEC7}">
      <dgm:prSet/>
      <dgm:spPr/>
      <dgm:t>
        <a:bodyPr/>
        <a:lstStyle/>
        <a:p>
          <a:endParaRPr lang="en-IN"/>
        </a:p>
      </dgm:t>
    </dgm:pt>
    <dgm:pt modelId="{13ED0744-49FB-41C1-A2DC-F0E8CE1CE5A0}">
      <dgm:prSet custT="1"/>
      <dgm:spPr/>
      <dgm:t>
        <a:bodyPr/>
        <a:lstStyle/>
        <a:p>
          <a:r>
            <a:rPr lang="en-IN" sz="1200" dirty="0"/>
            <a:t>Cartons</a:t>
          </a:r>
        </a:p>
      </dgm:t>
    </dgm:pt>
    <dgm:pt modelId="{A49774B9-4B4F-4D1B-9B8F-83C32786CF57}" type="parTrans" cxnId="{CAF64E4B-C1C6-4DE8-9935-18ECFB8D9508}">
      <dgm:prSet/>
      <dgm:spPr/>
      <dgm:t>
        <a:bodyPr/>
        <a:lstStyle/>
        <a:p>
          <a:endParaRPr lang="en-IN"/>
        </a:p>
      </dgm:t>
    </dgm:pt>
    <dgm:pt modelId="{63E22BC3-5595-4E9E-9131-87401093C6B7}" type="sibTrans" cxnId="{CAF64E4B-C1C6-4DE8-9935-18ECFB8D9508}">
      <dgm:prSet/>
      <dgm:spPr/>
      <dgm:t>
        <a:bodyPr/>
        <a:lstStyle/>
        <a:p>
          <a:endParaRPr lang="en-IN"/>
        </a:p>
      </dgm:t>
    </dgm:pt>
    <dgm:pt modelId="{48D87461-90B6-46FE-BCEB-FAEE803E4031}">
      <dgm:prSet custT="1"/>
      <dgm:spPr/>
      <dgm:t>
        <a:bodyPr/>
        <a:lstStyle/>
        <a:p>
          <a:r>
            <a:rPr lang="en-IN" sz="1200" dirty="0"/>
            <a:t>Pouches</a:t>
          </a:r>
          <a:endParaRPr lang="en-IN" sz="1400" dirty="0"/>
        </a:p>
      </dgm:t>
    </dgm:pt>
    <dgm:pt modelId="{E56C1E14-7E03-4FD2-A2C1-57EE26682A6C}" type="parTrans" cxnId="{EB8D5F0D-7412-45C4-B043-84BD666B963D}">
      <dgm:prSet/>
      <dgm:spPr/>
      <dgm:t>
        <a:bodyPr/>
        <a:lstStyle/>
        <a:p>
          <a:endParaRPr lang="en-IN"/>
        </a:p>
      </dgm:t>
    </dgm:pt>
    <dgm:pt modelId="{FFF711D2-76B0-461D-9F04-3EAD019D2321}" type="sibTrans" cxnId="{EB8D5F0D-7412-45C4-B043-84BD666B963D}">
      <dgm:prSet/>
      <dgm:spPr/>
      <dgm:t>
        <a:bodyPr/>
        <a:lstStyle/>
        <a:p>
          <a:endParaRPr lang="en-IN"/>
        </a:p>
      </dgm:t>
    </dgm:pt>
    <dgm:pt modelId="{38669298-3FE7-4315-9B49-3DADB174DBF0}">
      <dgm:prSet custT="1"/>
      <dgm:spPr>
        <a:solidFill>
          <a:srgbClr val="062E2A"/>
        </a:solidFill>
      </dgm:spPr>
      <dgm:t>
        <a:bodyPr/>
        <a:lstStyle/>
        <a:p>
          <a:r>
            <a:rPr lang="en-IN" sz="1400" b="1" dirty="0"/>
            <a:t>Distribution Channel</a:t>
          </a:r>
        </a:p>
      </dgm:t>
    </dgm:pt>
    <dgm:pt modelId="{59AEB350-4011-4B03-835B-09EB3859BCDD}" type="parTrans" cxnId="{99305BBD-8BE7-44F3-8898-6547718B2256}">
      <dgm:prSet/>
      <dgm:spPr/>
      <dgm:t>
        <a:bodyPr/>
        <a:lstStyle/>
        <a:p>
          <a:endParaRPr lang="en-IN"/>
        </a:p>
      </dgm:t>
    </dgm:pt>
    <dgm:pt modelId="{FF89CE22-3757-46FB-8ED8-D0823E0FDAFE}" type="sibTrans" cxnId="{99305BBD-8BE7-44F3-8898-6547718B2256}">
      <dgm:prSet/>
      <dgm:spPr/>
      <dgm:t>
        <a:bodyPr/>
        <a:lstStyle/>
        <a:p>
          <a:endParaRPr lang="en-IN"/>
        </a:p>
      </dgm:t>
    </dgm:pt>
    <dgm:pt modelId="{85665113-79F8-4EFD-BAB7-17261A717EC7}">
      <dgm:prSet custT="1"/>
      <dgm:spPr>
        <a:solidFill>
          <a:srgbClr val="062E2A"/>
        </a:solidFill>
      </dgm:spPr>
      <dgm:t>
        <a:bodyPr/>
        <a:lstStyle/>
        <a:p>
          <a:r>
            <a:rPr lang="en-IN" sz="1200" dirty="0"/>
            <a:t>Supermarkets/Hypermarkets</a:t>
          </a:r>
        </a:p>
      </dgm:t>
    </dgm:pt>
    <dgm:pt modelId="{EEF318B7-3BD2-47FC-B8ED-703ABDD85B7F}" type="parTrans" cxnId="{15B6861A-9193-4F62-BFFA-62CA1219AE08}">
      <dgm:prSet/>
      <dgm:spPr/>
      <dgm:t>
        <a:bodyPr/>
        <a:lstStyle/>
        <a:p>
          <a:endParaRPr lang="en-IN"/>
        </a:p>
      </dgm:t>
    </dgm:pt>
    <dgm:pt modelId="{ED6197D5-B62A-4626-BA65-DDE6094407D8}" type="sibTrans" cxnId="{15B6861A-9193-4F62-BFFA-62CA1219AE08}">
      <dgm:prSet/>
      <dgm:spPr/>
      <dgm:t>
        <a:bodyPr/>
        <a:lstStyle/>
        <a:p>
          <a:endParaRPr lang="en-IN"/>
        </a:p>
      </dgm:t>
    </dgm:pt>
    <dgm:pt modelId="{82CAAAF7-6697-456A-8217-CCE18F1BE00E}">
      <dgm:prSet custT="1"/>
      <dgm:spPr>
        <a:solidFill>
          <a:srgbClr val="062E2A"/>
        </a:solidFill>
      </dgm:spPr>
      <dgm:t>
        <a:bodyPr/>
        <a:lstStyle/>
        <a:p>
          <a:r>
            <a:rPr lang="en-IN" sz="1200" dirty="0"/>
            <a:t>Convenience Stores</a:t>
          </a:r>
        </a:p>
      </dgm:t>
    </dgm:pt>
    <dgm:pt modelId="{07D07C33-6244-44D8-A2C2-AC65228CCC37}" type="parTrans" cxnId="{8FD479F2-AF27-4EEA-87F4-51569725BE94}">
      <dgm:prSet/>
      <dgm:spPr/>
      <dgm:t>
        <a:bodyPr/>
        <a:lstStyle/>
        <a:p>
          <a:endParaRPr lang="en-IN"/>
        </a:p>
      </dgm:t>
    </dgm:pt>
    <dgm:pt modelId="{B54934A2-AD70-4098-A9CB-17DE1735C863}" type="sibTrans" cxnId="{8FD479F2-AF27-4EEA-87F4-51569725BE94}">
      <dgm:prSet/>
      <dgm:spPr/>
      <dgm:t>
        <a:bodyPr/>
        <a:lstStyle/>
        <a:p>
          <a:endParaRPr lang="en-IN"/>
        </a:p>
      </dgm:t>
    </dgm:pt>
    <dgm:pt modelId="{B6FBCE61-B632-42ED-B34D-7741D519351E}">
      <dgm:prSet custT="1"/>
      <dgm:spPr>
        <a:solidFill>
          <a:srgbClr val="062E2A"/>
        </a:solidFill>
      </dgm:spPr>
      <dgm:t>
        <a:bodyPr/>
        <a:lstStyle/>
        <a:p>
          <a:r>
            <a:rPr lang="en-IN" sz="1200" dirty="0"/>
            <a:t>Online/E-commerce</a:t>
          </a:r>
        </a:p>
      </dgm:t>
    </dgm:pt>
    <dgm:pt modelId="{566DBACF-A360-4074-844D-9E497DCA2614}" type="parTrans" cxnId="{5AD9EBD9-BB3C-42FE-8B9B-9F716C3A92A8}">
      <dgm:prSet/>
      <dgm:spPr/>
      <dgm:t>
        <a:bodyPr/>
        <a:lstStyle/>
        <a:p>
          <a:endParaRPr lang="en-IN"/>
        </a:p>
      </dgm:t>
    </dgm:pt>
    <dgm:pt modelId="{A2375237-7491-4371-AAF3-73D88BBA6BF8}" type="sibTrans" cxnId="{5AD9EBD9-BB3C-42FE-8B9B-9F716C3A92A8}">
      <dgm:prSet/>
      <dgm:spPr/>
      <dgm:t>
        <a:bodyPr/>
        <a:lstStyle/>
        <a:p>
          <a:endParaRPr lang="en-IN"/>
        </a:p>
      </dgm:t>
    </dgm:pt>
    <dgm:pt modelId="{DA04076B-D22C-43D9-B722-004ACD4475DF}">
      <dgm:prSet custT="1"/>
      <dgm:spPr>
        <a:solidFill>
          <a:srgbClr val="062E2A"/>
        </a:solidFill>
      </dgm:spPr>
      <dgm:t>
        <a:bodyPr/>
        <a:lstStyle/>
        <a:p>
          <a:r>
            <a:rPr lang="en-IN" sz="1200" dirty="0"/>
            <a:t>Specialty &amp; Health Stores</a:t>
          </a:r>
          <a:endParaRPr lang="en-IN" sz="1400" dirty="0"/>
        </a:p>
      </dgm:t>
    </dgm:pt>
    <dgm:pt modelId="{FED1165A-D836-42C0-AA13-D009054698AA}" type="parTrans" cxnId="{0892A9E8-CD40-4F72-84F2-422A0E9ACFD4}">
      <dgm:prSet/>
      <dgm:spPr/>
      <dgm:t>
        <a:bodyPr/>
        <a:lstStyle/>
        <a:p>
          <a:endParaRPr lang="en-IN"/>
        </a:p>
      </dgm:t>
    </dgm:pt>
    <dgm:pt modelId="{6E6BE44E-D97A-427F-B3E2-BA19A13E4E05}" type="sibTrans" cxnId="{0892A9E8-CD40-4F72-84F2-422A0E9ACFD4}">
      <dgm:prSet/>
      <dgm:spPr/>
      <dgm:t>
        <a:bodyPr/>
        <a:lstStyle/>
        <a:p>
          <a:endParaRPr lang="en-IN"/>
        </a:p>
      </dgm:t>
    </dgm:pt>
    <dgm:pt modelId="{F402B4E7-AC71-4AF8-8D49-C533DA845333}" type="pres">
      <dgm:prSet presAssocID="{4A57D0CC-D7A3-4CA8-99E0-FE978C891040}" presName="Name0" presStyleCnt="0">
        <dgm:presLayoutVars>
          <dgm:chMax val="7"/>
          <dgm:chPref val="7"/>
          <dgm:dir/>
        </dgm:presLayoutVars>
      </dgm:prSet>
      <dgm:spPr/>
    </dgm:pt>
    <dgm:pt modelId="{67E151F4-090E-49EE-AE0D-E5E4E59217BD}" type="pres">
      <dgm:prSet presAssocID="{4A57D0CC-D7A3-4CA8-99E0-FE978C891040}" presName="Name1" presStyleCnt="0"/>
      <dgm:spPr/>
    </dgm:pt>
    <dgm:pt modelId="{57D4640E-7417-45C8-91AB-1D9E9DB2440E}" type="pres">
      <dgm:prSet presAssocID="{4A57D0CC-D7A3-4CA8-99E0-FE978C891040}" presName="cycle" presStyleCnt="0"/>
      <dgm:spPr/>
    </dgm:pt>
    <dgm:pt modelId="{9419B692-D853-4B38-924E-F55E01218285}" type="pres">
      <dgm:prSet presAssocID="{4A57D0CC-D7A3-4CA8-99E0-FE978C891040}" presName="srcNode" presStyleLbl="node1" presStyleIdx="0" presStyleCnt="3"/>
      <dgm:spPr/>
    </dgm:pt>
    <dgm:pt modelId="{F393591B-66CF-4B04-A4EA-9C5605858E32}" type="pres">
      <dgm:prSet presAssocID="{4A57D0CC-D7A3-4CA8-99E0-FE978C891040}" presName="conn" presStyleLbl="parChTrans1D2" presStyleIdx="0" presStyleCnt="1"/>
      <dgm:spPr/>
    </dgm:pt>
    <dgm:pt modelId="{6A45F3AD-94E6-4D2F-B588-B45913886EEA}" type="pres">
      <dgm:prSet presAssocID="{4A57D0CC-D7A3-4CA8-99E0-FE978C891040}" presName="extraNode" presStyleLbl="node1" presStyleIdx="0" presStyleCnt="3"/>
      <dgm:spPr/>
    </dgm:pt>
    <dgm:pt modelId="{826979B0-C4DD-4BB9-82F3-2F66898E62A4}" type="pres">
      <dgm:prSet presAssocID="{4A57D0CC-D7A3-4CA8-99E0-FE978C891040}" presName="dstNode" presStyleLbl="node1" presStyleIdx="0" presStyleCnt="3"/>
      <dgm:spPr/>
    </dgm:pt>
    <dgm:pt modelId="{23043F4A-B9E9-40AB-88EE-E26AB4BABA9F}" type="pres">
      <dgm:prSet presAssocID="{92F00292-FE13-4B41-B50F-032B741E62D7}" presName="text_1" presStyleLbl="node1" presStyleIdx="0" presStyleCnt="3" custScaleY="150718">
        <dgm:presLayoutVars>
          <dgm:bulletEnabled val="1"/>
        </dgm:presLayoutVars>
      </dgm:prSet>
      <dgm:spPr/>
    </dgm:pt>
    <dgm:pt modelId="{70138571-1CDB-4BD9-9AEA-BF031039C420}" type="pres">
      <dgm:prSet presAssocID="{92F00292-FE13-4B41-B50F-032B741E62D7}" presName="accent_1" presStyleCnt="0"/>
      <dgm:spPr/>
    </dgm:pt>
    <dgm:pt modelId="{F5966959-722B-469B-96B0-A631F7C683AD}" type="pres">
      <dgm:prSet presAssocID="{92F00292-FE13-4B41-B50F-032B741E62D7}" presName="accentRepeatNode" presStyleLbl="solidFgAcc1" presStyleIdx="0" presStyleCnt="3"/>
      <dgm:spPr>
        <a:solidFill>
          <a:schemeClr val="accent2"/>
        </a:solidFill>
        <a:ln>
          <a:solidFill>
            <a:schemeClr val="accent2"/>
          </a:solidFill>
        </a:ln>
      </dgm:spPr>
    </dgm:pt>
    <dgm:pt modelId="{AC537C70-020E-4FF9-88E1-D58DF922B262}" type="pres">
      <dgm:prSet presAssocID="{40CCE5A4-71FD-4227-B072-D670B80577C4}" presName="text_2" presStyleLbl="node1" presStyleIdx="1" presStyleCnt="3" custScaleY="123378">
        <dgm:presLayoutVars>
          <dgm:bulletEnabled val="1"/>
        </dgm:presLayoutVars>
      </dgm:prSet>
      <dgm:spPr/>
    </dgm:pt>
    <dgm:pt modelId="{8A71F63D-3BD5-4AC8-A7BA-6C21058F20E5}" type="pres">
      <dgm:prSet presAssocID="{40CCE5A4-71FD-4227-B072-D670B80577C4}" presName="accent_2" presStyleCnt="0"/>
      <dgm:spPr/>
    </dgm:pt>
    <dgm:pt modelId="{229C2032-C523-4E3D-B3AD-3A742DC2E5C2}" type="pres">
      <dgm:prSet presAssocID="{40CCE5A4-71FD-4227-B072-D670B80577C4}" presName="accentRepeatNode" presStyleLbl="solidFgAcc1" presStyleIdx="1" presStyleCnt="3"/>
      <dgm:spPr>
        <a:solidFill>
          <a:schemeClr val="accent2"/>
        </a:solidFill>
        <a:ln>
          <a:solidFill>
            <a:schemeClr val="accent2"/>
          </a:solidFill>
        </a:ln>
      </dgm:spPr>
    </dgm:pt>
    <dgm:pt modelId="{24106020-4595-4F6A-B26E-D54377F7FE47}" type="pres">
      <dgm:prSet presAssocID="{38669298-3FE7-4315-9B49-3DADB174DBF0}" presName="text_3" presStyleLbl="node1" presStyleIdx="2" presStyleCnt="3" custScaleY="134738">
        <dgm:presLayoutVars>
          <dgm:bulletEnabled val="1"/>
        </dgm:presLayoutVars>
      </dgm:prSet>
      <dgm:spPr/>
    </dgm:pt>
    <dgm:pt modelId="{7BE13C2B-04DE-475E-83A5-6C335E392F2D}" type="pres">
      <dgm:prSet presAssocID="{38669298-3FE7-4315-9B49-3DADB174DBF0}" presName="accent_3" presStyleCnt="0"/>
      <dgm:spPr/>
    </dgm:pt>
    <dgm:pt modelId="{AEA18A38-6711-4AF6-A868-559916ED4590}" type="pres">
      <dgm:prSet presAssocID="{38669298-3FE7-4315-9B49-3DADB174DBF0}" presName="accentRepeatNode" presStyleLbl="solidFgAcc1" presStyleIdx="2" presStyleCnt="3"/>
      <dgm:spPr>
        <a:solidFill>
          <a:schemeClr val="accent2"/>
        </a:solidFill>
        <a:ln>
          <a:solidFill>
            <a:schemeClr val="accent2"/>
          </a:solidFill>
        </a:ln>
      </dgm:spPr>
    </dgm:pt>
  </dgm:ptLst>
  <dgm:cxnLst>
    <dgm:cxn modelId="{F9F9F60C-EB32-4DB9-904B-E1C88117258B}" type="presOf" srcId="{ADA94A8E-6D6A-4E58-928D-290F9DB22065}" destId="{23043F4A-B9E9-40AB-88EE-E26AB4BABA9F}" srcOrd="0" destOrd="3" presId="urn:microsoft.com/office/officeart/2008/layout/VerticalCurvedList"/>
    <dgm:cxn modelId="{EB8D5F0D-7412-45C4-B043-84BD666B963D}" srcId="{40CCE5A4-71FD-4227-B072-D670B80577C4}" destId="{48D87461-90B6-46FE-BCEB-FAEE803E4031}" srcOrd="3" destOrd="0" parTransId="{E56C1E14-7E03-4FD2-A2C1-57EE26682A6C}" sibTransId="{FFF711D2-76B0-461D-9F04-3EAD019D2321}"/>
    <dgm:cxn modelId="{37CB920D-40D3-4CF1-8427-26A8BBD4FEC7}" srcId="{40CCE5A4-71FD-4227-B072-D670B80577C4}" destId="{BC862053-8D18-4B50-8FD5-960338746A85}" srcOrd="1" destOrd="0" parTransId="{CD865D89-4816-4557-9052-DDBC4D5B6021}" sibTransId="{C314B8DA-25EB-4160-8554-E28B007F3511}"/>
    <dgm:cxn modelId="{4F89AF14-007F-4F70-8153-C68F651A4FF4}" type="presOf" srcId="{82CAAAF7-6697-456A-8217-CCE18F1BE00E}" destId="{24106020-4595-4F6A-B26E-D54377F7FE47}" srcOrd="0" destOrd="2" presId="urn:microsoft.com/office/officeart/2008/layout/VerticalCurvedList"/>
    <dgm:cxn modelId="{9F639115-440F-4DFF-B3AE-8407A25C1260}" type="presOf" srcId="{DA04076B-D22C-43D9-B722-004ACD4475DF}" destId="{24106020-4595-4F6A-B26E-D54377F7FE47}" srcOrd="0" destOrd="4" presId="urn:microsoft.com/office/officeart/2008/layout/VerticalCurvedList"/>
    <dgm:cxn modelId="{15B6861A-9193-4F62-BFFA-62CA1219AE08}" srcId="{38669298-3FE7-4315-9B49-3DADB174DBF0}" destId="{85665113-79F8-4EFD-BAB7-17261A717EC7}" srcOrd="0" destOrd="0" parTransId="{EEF318B7-3BD2-47FC-B8ED-703ABDD85B7F}" sibTransId="{ED6197D5-B62A-4626-BA65-DDE6094407D8}"/>
    <dgm:cxn modelId="{3CAFA829-0FC5-4C35-AF84-BE3980BA9EBE}" type="presOf" srcId="{B6FBCE61-B632-42ED-B34D-7741D519351E}" destId="{24106020-4595-4F6A-B26E-D54377F7FE47}" srcOrd="0" destOrd="3" presId="urn:microsoft.com/office/officeart/2008/layout/VerticalCurvedList"/>
    <dgm:cxn modelId="{5F26B82E-5E04-4C9C-8467-1C494DB94EAB}" srcId="{4A57D0CC-D7A3-4CA8-99E0-FE978C891040}" destId="{40CCE5A4-71FD-4227-B072-D670B80577C4}" srcOrd="1" destOrd="0" parTransId="{6F9BCEDB-29B5-46EF-A203-F8C28F52A7FB}" sibTransId="{2646CB00-F5F8-41EC-80C7-307F12ADE81D}"/>
    <dgm:cxn modelId="{98058B36-5AF1-4F7D-9F21-BB2FB153782A}" type="presOf" srcId="{38669298-3FE7-4315-9B49-3DADB174DBF0}" destId="{24106020-4595-4F6A-B26E-D54377F7FE47}" srcOrd="0" destOrd="0" presId="urn:microsoft.com/office/officeart/2008/layout/VerticalCurvedList"/>
    <dgm:cxn modelId="{3AF0CD3F-969C-41BB-B7B0-0E0D6400EE5F}" srcId="{92F00292-FE13-4B41-B50F-032B741E62D7}" destId="{364691BB-45B0-4EBC-BB09-E6D1B713149B}" srcOrd="3" destOrd="0" parTransId="{32EE93FA-7CB8-4610-965C-2AB493397386}" sibTransId="{8B587DF3-4361-4734-A63B-1BAC360D31D2}"/>
    <dgm:cxn modelId="{DABFCB41-D58D-4A44-92E4-8EC2847A6EF2}" type="presOf" srcId="{92F00292-FE13-4B41-B50F-032B741E62D7}" destId="{23043F4A-B9E9-40AB-88EE-E26AB4BABA9F}" srcOrd="0" destOrd="0" presId="urn:microsoft.com/office/officeart/2008/layout/VerticalCurvedList"/>
    <dgm:cxn modelId="{83B1A864-8B6E-4667-BEB0-A3F24DA5F6C6}" type="presOf" srcId="{AB849D1D-2893-4718-B8D0-51F63DE26401}" destId="{F393591B-66CF-4B04-A4EA-9C5605858E32}" srcOrd="0" destOrd="0" presId="urn:microsoft.com/office/officeart/2008/layout/VerticalCurvedList"/>
    <dgm:cxn modelId="{6A333565-A28C-4D18-B7BF-F019B9031651}" srcId="{40CCE5A4-71FD-4227-B072-D670B80577C4}" destId="{A4093C59-8722-4EB0-9339-D79A4098AF7E}" srcOrd="0" destOrd="0" parTransId="{17CAF6FE-04B7-4B40-92FA-53A9C34D5549}" sibTransId="{6318D46C-9015-47E6-AC74-97FCA2B8DB9D}"/>
    <dgm:cxn modelId="{87E1C746-C917-47E4-A5AF-B5A543670B43}" srcId="{4A57D0CC-D7A3-4CA8-99E0-FE978C891040}" destId="{92F00292-FE13-4B41-B50F-032B741E62D7}" srcOrd="0" destOrd="0" parTransId="{03D60A89-2A9C-4D75-95B1-76397F7BF58B}" sibTransId="{B129F4A3-D998-4C8B-A4FD-7F15BE4CECFF}"/>
    <dgm:cxn modelId="{CAF64E4B-C1C6-4DE8-9935-18ECFB8D9508}" srcId="{40CCE5A4-71FD-4227-B072-D670B80577C4}" destId="{13ED0744-49FB-41C1-A2DC-F0E8CE1CE5A0}" srcOrd="2" destOrd="0" parTransId="{A49774B9-4B4F-4D1B-9B8F-83C32786CF57}" sibTransId="{63E22BC3-5595-4E9E-9131-87401093C6B7}"/>
    <dgm:cxn modelId="{848B0B6E-816A-4C19-B15E-16E19CF960A4}" srcId="{92F00292-FE13-4B41-B50F-032B741E62D7}" destId="{D929A723-EBEF-4682-9923-1049232B44CC}" srcOrd="4" destOrd="0" parTransId="{A788E8DA-12B1-4868-9AE3-7352BD359334}" sibTransId="{EFB06573-4292-4940-825C-C739099FDEC3}"/>
    <dgm:cxn modelId="{63AE6F4E-12DA-409F-A2AB-47CEAC0BF609}" type="presOf" srcId="{A4093C59-8722-4EB0-9339-D79A4098AF7E}" destId="{AC537C70-020E-4FF9-88E1-D58DF922B262}" srcOrd="0" destOrd="1" presId="urn:microsoft.com/office/officeart/2008/layout/VerticalCurvedList"/>
    <dgm:cxn modelId="{F1081152-52CE-42CB-B67B-387AE2793C0F}" type="presOf" srcId="{85665113-79F8-4EFD-BAB7-17261A717EC7}" destId="{24106020-4595-4F6A-B26E-D54377F7FE47}" srcOrd="0" destOrd="1" presId="urn:microsoft.com/office/officeart/2008/layout/VerticalCurvedList"/>
    <dgm:cxn modelId="{84A392A3-8F34-49DE-86A4-C6E9973E270B}" type="presOf" srcId="{40B8AE0D-29D3-4FC3-AFA2-8C0F62F351D8}" destId="{23043F4A-B9E9-40AB-88EE-E26AB4BABA9F}" srcOrd="0" destOrd="2" presId="urn:microsoft.com/office/officeart/2008/layout/VerticalCurvedList"/>
    <dgm:cxn modelId="{4D3226BC-DFFB-41A4-A669-B3E31483E1BE}" type="presOf" srcId="{D7D4D31A-FB8C-4FC8-9C08-859B415D28F2}" destId="{23043F4A-B9E9-40AB-88EE-E26AB4BABA9F}" srcOrd="0" destOrd="1" presId="urn:microsoft.com/office/officeart/2008/layout/VerticalCurvedList"/>
    <dgm:cxn modelId="{99305BBD-8BE7-44F3-8898-6547718B2256}" srcId="{4A57D0CC-D7A3-4CA8-99E0-FE978C891040}" destId="{38669298-3FE7-4315-9B49-3DADB174DBF0}" srcOrd="2" destOrd="0" parTransId="{59AEB350-4011-4B03-835B-09EB3859BCDD}" sibTransId="{FF89CE22-3757-46FB-8ED8-D0823E0FDAFE}"/>
    <dgm:cxn modelId="{8EC2B3C7-6EB2-45C4-B2DA-6BBAA5BBF61A}" type="presOf" srcId="{13ED0744-49FB-41C1-A2DC-F0E8CE1CE5A0}" destId="{AC537C70-020E-4FF9-88E1-D58DF922B262}" srcOrd="0" destOrd="3" presId="urn:microsoft.com/office/officeart/2008/layout/VerticalCurvedList"/>
    <dgm:cxn modelId="{199D19CF-5650-492A-94AF-83B7F6354A72}" srcId="{92F00292-FE13-4B41-B50F-032B741E62D7}" destId="{40B8AE0D-29D3-4FC3-AFA2-8C0F62F351D8}" srcOrd="1" destOrd="0" parTransId="{A75F4CE7-9714-4D91-8E2C-9CDB7902693A}" sibTransId="{AC272044-3BD8-4310-8D02-3B791E1D13D6}"/>
    <dgm:cxn modelId="{3DC251D6-5991-454C-9AEB-6ED759F1BE71}" type="presOf" srcId="{BC862053-8D18-4B50-8FD5-960338746A85}" destId="{AC537C70-020E-4FF9-88E1-D58DF922B262}" srcOrd="0" destOrd="2" presId="urn:microsoft.com/office/officeart/2008/layout/VerticalCurvedList"/>
    <dgm:cxn modelId="{5AD9EBD9-BB3C-42FE-8B9B-9F716C3A92A8}" srcId="{38669298-3FE7-4315-9B49-3DADB174DBF0}" destId="{B6FBCE61-B632-42ED-B34D-7741D519351E}" srcOrd="2" destOrd="0" parTransId="{566DBACF-A360-4074-844D-9E497DCA2614}" sibTransId="{A2375237-7491-4371-AAF3-73D88BBA6BF8}"/>
    <dgm:cxn modelId="{4A6EF1DD-E891-47D7-BA00-623BA22A1E46}" type="presOf" srcId="{D929A723-EBEF-4682-9923-1049232B44CC}" destId="{23043F4A-B9E9-40AB-88EE-E26AB4BABA9F}" srcOrd="0" destOrd="5" presId="urn:microsoft.com/office/officeart/2008/layout/VerticalCurvedList"/>
    <dgm:cxn modelId="{0892A9E8-CD40-4F72-84F2-422A0E9ACFD4}" srcId="{38669298-3FE7-4315-9B49-3DADB174DBF0}" destId="{DA04076B-D22C-43D9-B722-004ACD4475DF}" srcOrd="3" destOrd="0" parTransId="{FED1165A-D836-42C0-AA13-D009054698AA}" sibTransId="{6E6BE44E-D97A-427F-B3E2-BA19A13E4E05}"/>
    <dgm:cxn modelId="{3F4958EC-D1F4-4BB6-A3E8-1215D0E078BF}" srcId="{92F00292-FE13-4B41-B50F-032B741E62D7}" destId="{D7D4D31A-FB8C-4FC8-9C08-859B415D28F2}" srcOrd="0" destOrd="0" parTransId="{59CF6BA5-F842-4319-A641-94C55D064F02}" sibTransId="{AB849D1D-2893-4718-B8D0-51F63DE26401}"/>
    <dgm:cxn modelId="{02A450F0-5DE5-4660-85CE-851C48BD3F1A}" type="presOf" srcId="{48D87461-90B6-46FE-BCEB-FAEE803E4031}" destId="{AC537C70-020E-4FF9-88E1-D58DF922B262}" srcOrd="0" destOrd="4" presId="urn:microsoft.com/office/officeart/2008/layout/VerticalCurvedList"/>
    <dgm:cxn modelId="{8FD479F2-AF27-4EEA-87F4-51569725BE94}" srcId="{38669298-3FE7-4315-9B49-3DADB174DBF0}" destId="{82CAAAF7-6697-456A-8217-CCE18F1BE00E}" srcOrd="1" destOrd="0" parTransId="{07D07C33-6244-44D8-A2C2-AC65228CCC37}" sibTransId="{B54934A2-AD70-4098-A9CB-17DE1735C863}"/>
    <dgm:cxn modelId="{CCA4F0F5-7899-48C4-B055-42DFE5C0C060}" type="presOf" srcId="{4A57D0CC-D7A3-4CA8-99E0-FE978C891040}" destId="{F402B4E7-AC71-4AF8-8D49-C533DA845333}" srcOrd="0" destOrd="0" presId="urn:microsoft.com/office/officeart/2008/layout/VerticalCurvedList"/>
    <dgm:cxn modelId="{8A8D2DF6-6998-410E-AF85-5A70A7B4F631}" type="presOf" srcId="{364691BB-45B0-4EBC-BB09-E6D1B713149B}" destId="{23043F4A-B9E9-40AB-88EE-E26AB4BABA9F}" srcOrd="0" destOrd="4" presId="urn:microsoft.com/office/officeart/2008/layout/VerticalCurvedList"/>
    <dgm:cxn modelId="{0D8CD6FD-9909-4C8D-88E6-88F3A4B14CCB}" srcId="{92F00292-FE13-4B41-B50F-032B741E62D7}" destId="{ADA94A8E-6D6A-4E58-928D-290F9DB22065}" srcOrd="2" destOrd="0" parTransId="{4F267102-429F-4D57-B8B1-CA2F0B53AEC8}" sibTransId="{34ADA4C0-288F-4744-A585-F27450281024}"/>
    <dgm:cxn modelId="{AE7F9CFE-EF0B-4387-83DB-9C07BA4EE8A6}" type="presOf" srcId="{40CCE5A4-71FD-4227-B072-D670B80577C4}" destId="{AC537C70-020E-4FF9-88E1-D58DF922B262}" srcOrd="0" destOrd="0" presId="urn:microsoft.com/office/officeart/2008/layout/VerticalCurvedList"/>
    <dgm:cxn modelId="{ECC16A3E-92DB-43EE-B179-7A60B290A037}" type="presParOf" srcId="{F402B4E7-AC71-4AF8-8D49-C533DA845333}" destId="{67E151F4-090E-49EE-AE0D-E5E4E59217BD}" srcOrd="0" destOrd="0" presId="urn:microsoft.com/office/officeart/2008/layout/VerticalCurvedList"/>
    <dgm:cxn modelId="{094621A6-A67A-4FC0-9594-1A9C7BD328EE}" type="presParOf" srcId="{67E151F4-090E-49EE-AE0D-E5E4E59217BD}" destId="{57D4640E-7417-45C8-91AB-1D9E9DB2440E}" srcOrd="0" destOrd="0" presId="urn:microsoft.com/office/officeart/2008/layout/VerticalCurvedList"/>
    <dgm:cxn modelId="{05113A5E-D3F4-45FA-9241-BA57A137588D}" type="presParOf" srcId="{57D4640E-7417-45C8-91AB-1D9E9DB2440E}" destId="{9419B692-D853-4B38-924E-F55E01218285}" srcOrd="0" destOrd="0" presId="urn:microsoft.com/office/officeart/2008/layout/VerticalCurvedList"/>
    <dgm:cxn modelId="{16DED144-8D12-4F96-B7FF-AD015165A90B}" type="presParOf" srcId="{57D4640E-7417-45C8-91AB-1D9E9DB2440E}" destId="{F393591B-66CF-4B04-A4EA-9C5605858E32}" srcOrd="1" destOrd="0" presId="urn:microsoft.com/office/officeart/2008/layout/VerticalCurvedList"/>
    <dgm:cxn modelId="{2A1F3E21-3E1C-4A14-A07E-5C91E527938A}" type="presParOf" srcId="{57D4640E-7417-45C8-91AB-1D9E9DB2440E}" destId="{6A45F3AD-94E6-4D2F-B588-B45913886EEA}" srcOrd="2" destOrd="0" presId="urn:microsoft.com/office/officeart/2008/layout/VerticalCurvedList"/>
    <dgm:cxn modelId="{62AC4C64-B0C6-4FE5-8728-5129EC4C3C97}" type="presParOf" srcId="{57D4640E-7417-45C8-91AB-1D9E9DB2440E}" destId="{826979B0-C4DD-4BB9-82F3-2F66898E62A4}" srcOrd="3" destOrd="0" presId="urn:microsoft.com/office/officeart/2008/layout/VerticalCurvedList"/>
    <dgm:cxn modelId="{A6178618-0C43-4FCE-A739-4C9418D2CBDA}" type="presParOf" srcId="{67E151F4-090E-49EE-AE0D-E5E4E59217BD}" destId="{23043F4A-B9E9-40AB-88EE-E26AB4BABA9F}" srcOrd="1" destOrd="0" presId="urn:microsoft.com/office/officeart/2008/layout/VerticalCurvedList"/>
    <dgm:cxn modelId="{28CA3866-5D67-4B2A-8E5E-72AEACFA58F6}" type="presParOf" srcId="{67E151F4-090E-49EE-AE0D-E5E4E59217BD}" destId="{70138571-1CDB-4BD9-9AEA-BF031039C420}" srcOrd="2" destOrd="0" presId="urn:microsoft.com/office/officeart/2008/layout/VerticalCurvedList"/>
    <dgm:cxn modelId="{F79BA145-4C6A-49CA-A979-9B92CE36BEBC}" type="presParOf" srcId="{70138571-1CDB-4BD9-9AEA-BF031039C420}" destId="{F5966959-722B-469B-96B0-A631F7C683AD}" srcOrd="0" destOrd="0" presId="urn:microsoft.com/office/officeart/2008/layout/VerticalCurvedList"/>
    <dgm:cxn modelId="{3707E302-FC9E-490B-A1CB-E719FE398F3D}" type="presParOf" srcId="{67E151F4-090E-49EE-AE0D-E5E4E59217BD}" destId="{AC537C70-020E-4FF9-88E1-D58DF922B262}" srcOrd="3" destOrd="0" presId="urn:microsoft.com/office/officeart/2008/layout/VerticalCurvedList"/>
    <dgm:cxn modelId="{C5B8FCAE-CBEF-4712-98A9-7900EC356099}" type="presParOf" srcId="{67E151F4-090E-49EE-AE0D-E5E4E59217BD}" destId="{8A71F63D-3BD5-4AC8-A7BA-6C21058F20E5}" srcOrd="4" destOrd="0" presId="urn:microsoft.com/office/officeart/2008/layout/VerticalCurvedList"/>
    <dgm:cxn modelId="{1986F98C-329A-45BD-B76D-3A7B1A69708E}" type="presParOf" srcId="{8A71F63D-3BD5-4AC8-A7BA-6C21058F20E5}" destId="{229C2032-C523-4E3D-B3AD-3A742DC2E5C2}" srcOrd="0" destOrd="0" presId="urn:microsoft.com/office/officeart/2008/layout/VerticalCurvedList"/>
    <dgm:cxn modelId="{0A7C4CB3-D323-43EA-A544-0150958802DC}" type="presParOf" srcId="{67E151F4-090E-49EE-AE0D-E5E4E59217BD}" destId="{24106020-4595-4F6A-B26E-D54377F7FE47}" srcOrd="5" destOrd="0" presId="urn:microsoft.com/office/officeart/2008/layout/VerticalCurvedList"/>
    <dgm:cxn modelId="{1BCACF76-D64C-40D5-BC1E-A3BF4D685703}" type="presParOf" srcId="{67E151F4-090E-49EE-AE0D-E5E4E59217BD}" destId="{7BE13C2B-04DE-475E-83A5-6C335E392F2D}" srcOrd="6" destOrd="0" presId="urn:microsoft.com/office/officeart/2008/layout/VerticalCurvedList"/>
    <dgm:cxn modelId="{F73668CD-9932-4FF3-850D-5DB835F7ED02}" type="presParOf" srcId="{7BE13C2B-04DE-475E-83A5-6C335E392F2D}" destId="{AEA18A38-6711-4AF6-A868-559916ED4590}"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57D0CC-D7A3-4CA8-99E0-FE978C89104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EF6B2735-B2CC-407D-A625-9316178FF7C8}">
      <dgm:prSet phldrT="[Text]" phldr="0" custT="1"/>
      <dgm:spPr>
        <a:solidFill>
          <a:srgbClr val="062E2A"/>
        </a:solidFill>
      </dgm:spPr>
      <dgm:t>
        <a:bodyPr/>
        <a:lstStyle/>
        <a:p>
          <a:pPr>
            <a:spcAft>
              <a:spcPct val="35000"/>
            </a:spcAft>
          </a:pPr>
          <a:r>
            <a:rPr lang="en-IN" sz="1400" b="1" dirty="0"/>
            <a:t>End User</a:t>
          </a:r>
        </a:p>
      </dgm:t>
    </dgm:pt>
    <dgm:pt modelId="{4D65A4AC-E751-436F-B487-DAD168B96AD4}" type="parTrans" cxnId="{11A37E54-9EBD-4BB6-856C-22D569767F29}">
      <dgm:prSet/>
      <dgm:spPr/>
      <dgm:t>
        <a:bodyPr/>
        <a:lstStyle/>
        <a:p>
          <a:endParaRPr lang="en-IN"/>
        </a:p>
      </dgm:t>
    </dgm:pt>
    <dgm:pt modelId="{6C774511-9B42-4B62-AF66-64C039F29E1D}" type="sibTrans" cxnId="{11A37E54-9EBD-4BB6-856C-22D569767F29}">
      <dgm:prSet/>
      <dgm:spPr/>
      <dgm:t>
        <a:bodyPr/>
        <a:lstStyle/>
        <a:p>
          <a:endParaRPr lang="en-IN"/>
        </a:p>
      </dgm:t>
    </dgm:pt>
    <dgm:pt modelId="{D09570CF-2581-47D4-9B55-099A9EDA58FC}">
      <dgm:prSet custT="1"/>
      <dgm:spPr>
        <a:solidFill>
          <a:srgbClr val="062E2A"/>
        </a:solidFill>
      </dgm:spPr>
      <dgm:t>
        <a:bodyPr/>
        <a:lstStyle/>
        <a:p>
          <a:pPr>
            <a:spcAft>
              <a:spcPts val="200"/>
            </a:spcAft>
          </a:pPr>
          <a:r>
            <a:rPr lang="en-IN" sz="1200" dirty="0"/>
            <a:t>Gen Z</a:t>
          </a:r>
        </a:p>
      </dgm:t>
    </dgm:pt>
    <dgm:pt modelId="{B40A8B4D-1BD2-4A2B-99B1-FDD26EC046D4}" type="parTrans" cxnId="{A665EFDB-B0A7-4F0D-ABFC-8474504CC3AE}">
      <dgm:prSet/>
      <dgm:spPr/>
      <dgm:t>
        <a:bodyPr/>
        <a:lstStyle/>
        <a:p>
          <a:endParaRPr lang="en-IN"/>
        </a:p>
      </dgm:t>
    </dgm:pt>
    <dgm:pt modelId="{69244F73-F052-42A7-A418-78527A414E37}" type="sibTrans" cxnId="{A665EFDB-B0A7-4F0D-ABFC-8474504CC3AE}">
      <dgm:prSet/>
      <dgm:spPr>
        <a:solidFill>
          <a:schemeClr val="accent2"/>
        </a:solidFill>
        <a:ln>
          <a:solidFill>
            <a:schemeClr val="accent2"/>
          </a:solidFill>
        </a:ln>
      </dgm:spPr>
      <dgm:t>
        <a:bodyPr/>
        <a:lstStyle/>
        <a:p>
          <a:endParaRPr lang="en-IN"/>
        </a:p>
      </dgm:t>
    </dgm:pt>
    <dgm:pt modelId="{806C7DF6-FC83-425B-89D8-EE13F82FFF03}">
      <dgm:prSet custT="1"/>
      <dgm:spPr/>
      <dgm:t>
        <a:bodyPr/>
        <a:lstStyle/>
        <a:p>
          <a:pPr>
            <a:spcAft>
              <a:spcPts val="200"/>
            </a:spcAft>
          </a:pPr>
          <a:r>
            <a:rPr lang="en-IN" sz="1200" dirty="0"/>
            <a:t>Millennials</a:t>
          </a:r>
        </a:p>
      </dgm:t>
    </dgm:pt>
    <dgm:pt modelId="{B169134D-A5D9-44A0-A6A6-38220563DA53}" type="parTrans" cxnId="{96173A9E-4ED4-4738-92BF-8FE758F26DCB}">
      <dgm:prSet/>
      <dgm:spPr/>
      <dgm:t>
        <a:bodyPr/>
        <a:lstStyle/>
        <a:p>
          <a:endParaRPr lang="en-IN"/>
        </a:p>
      </dgm:t>
    </dgm:pt>
    <dgm:pt modelId="{04BE1F32-C002-4A79-BBA9-73B5943CD2C5}" type="sibTrans" cxnId="{96173A9E-4ED4-4738-92BF-8FE758F26DCB}">
      <dgm:prSet/>
      <dgm:spPr/>
      <dgm:t>
        <a:bodyPr/>
        <a:lstStyle/>
        <a:p>
          <a:endParaRPr lang="en-IN"/>
        </a:p>
      </dgm:t>
    </dgm:pt>
    <dgm:pt modelId="{E7CE0F8E-F2A1-4BBA-8078-C8E5CC550F95}">
      <dgm:prSet custT="1"/>
      <dgm:spPr/>
      <dgm:t>
        <a:bodyPr/>
        <a:lstStyle/>
        <a:p>
          <a:pPr>
            <a:spcAft>
              <a:spcPts val="200"/>
            </a:spcAft>
          </a:pPr>
          <a:r>
            <a:rPr lang="en-IN" sz="1200" dirty="0"/>
            <a:t>Athletes &amp; Fitness Enthusiasts</a:t>
          </a:r>
        </a:p>
      </dgm:t>
    </dgm:pt>
    <dgm:pt modelId="{79026242-396D-4238-B2EE-0731446D50A5}" type="parTrans" cxnId="{4521CC91-D0AD-4275-9A6A-246DC923E44D}">
      <dgm:prSet/>
      <dgm:spPr/>
      <dgm:t>
        <a:bodyPr/>
        <a:lstStyle/>
        <a:p>
          <a:endParaRPr lang="en-IN"/>
        </a:p>
      </dgm:t>
    </dgm:pt>
    <dgm:pt modelId="{7D1ABA36-BAB2-4E4C-B2E4-9F311CD6F046}" type="sibTrans" cxnId="{4521CC91-D0AD-4275-9A6A-246DC923E44D}">
      <dgm:prSet/>
      <dgm:spPr/>
      <dgm:t>
        <a:bodyPr/>
        <a:lstStyle/>
        <a:p>
          <a:endParaRPr lang="en-IN"/>
        </a:p>
      </dgm:t>
    </dgm:pt>
    <dgm:pt modelId="{29C02ABA-E7B9-4493-9D08-D03F4113E955}">
      <dgm:prSet custT="1"/>
      <dgm:spPr/>
      <dgm:t>
        <a:bodyPr/>
        <a:lstStyle/>
        <a:p>
          <a:pPr>
            <a:spcAft>
              <a:spcPts val="200"/>
            </a:spcAft>
          </a:pPr>
          <a:r>
            <a:rPr lang="en-IN" sz="1200" dirty="0"/>
            <a:t>Aging Population</a:t>
          </a:r>
        </a:p>
      </dgm:t>
    </dgm:pt>
    <dgm:pt modelId="{4A384FAD-A643-466A-9630-F9C4E77D10DC}" type="parTrans" cxnId="{A3406A79-324C-4A01-A664-796DA4BDCD9A}">
      <dgm:prSet/>
      <dgm:spPr/>
      <dgm:t>
        <a:bodyPr/>
        <a:lstStyle/>
        <a:p>
          <a:endParaRPr lang="en-IN"/>
        </a:p>
      </dgm:t>
    </dgm:pt>
    <dgm:pt modelId="{17E5E08F-6AEE-4A93-9DA7-87B0D91D297D}" type="sibTrans" cxnId="{A3406A79-324C-4A01-A664-796DA4BDCD9A}">
      <dgm:prSet/>
      <dgm:spPr/>
      <dgm:t>
        <a:bodyPr/>
        <a:lstStyle/>
        <a:p>
          <a:endParaRPr lang="en-IN"/>
        </a:p>
      </dgm:t>
    </dgm:pt>
    <dgm:pt modelId="{F402B4E7-AC71-4AF8-8D49-C533DA845333}" type="pres">
      <dgm:prSet presAssocID="{4A57D0CC-D7A3-4CA8-99E0-FE978C891040}" presName="Name0" presStyleCnt="0">
        <dgm:presLayoutVars>
          <dgm:chMax val="7"/>
          <dgm:chPref val="7"/>
          <dgm:dir/>
        </dgm:presLayoutVars>
      </dgm:prSet>
      <dgm:spPr/>
    </dgm:pt>
    <dgm:pt modelId="{67E151F4-090E-49EE-AE0D-E5E4E59217BD}" type="pres">
      <dgm:prSet presAssocID="{4A57D0CC-D7A3-4CA8-99E0-FE978C891040}" presName="Name1" presStyleCnt="0"/>
      <dgm:spPr/>
    </dgm:pt>
    <dgm:pt modelId="{57D4640E-7417-45C8-91AB-1D9E9DB2440E}" type="pres">
      <dgm:prSet presAssocID="{4A57D0CC-D7A3-4CA8-99E0-FE978C891040}" presName="cycle" presStyleCnt="0"/>
      <dgm:spPr/>
    </dgm:pt>
    <dgm:pt modelId="{9419B692-D853-4B38-924E-F55E01218285}" type="pres">
      <dgm:prSet presAssocID="{4A57D0CC-D7A3-4CA8-99E0-FE978C891040}" presName="srcNode" presStyleLbl="node1" presStyleIdx="0" presStyleCnt="1"/>
      <dgm:spPr/>
    </dgm:pt>
    <dgm:pt modelId="{F393591B-66CF-4B04-A4EA-9C5605858E32}" type="pres">
      <dgm:prSet presAssocID="{4A57D0CC-D7A3-4CA8-99E0-FE978C891040}" presName="conn" presStyleLbl="parChTrans1D2" presStyleIdx="0" presStyleCnt="1"/>
      <dgm:spPr/>
    </dgm:pt>
    <dgm:pt modelId="{6A45F3AD-94E6-4D2F-B588-B45913886EEA}" type="pres">
      <dgm:prSet presAssocID="{4A57D0CC-D7A3-4CA8-99E0-FE978C891040}" presName="extraNode" presStyleLbl="node1" presStyleIdx="0" presStyleCnt="1"/>
      <dgm:spPr/>
    </dgm:pt>
    <dgm:pt modelId="{826979B0-C4DD-4BB9-82F3-2F66898E62A4}" type="pres">
      <dgm:prSet presAssocID="{4A57D0CC-D7A3-4CA8-99E0-FE978C891040}" presName="dstNode" presStyleLbl="node1" presStyleIdx="0" presStyleCnt="1"/>
      <dgm:spPr/>
    </dgm:pt>
    <dgm:pt modelId="{B7AE5083-6476-4499-BCCB-208D6C6A1CDB}" type="pres">
      <dgm:prSet presAssocID="{EF6B2735-B2CC-407D-A625-9316178FF7C8}" presName="text_1" presStyleLbl="node1" presStyleIdx="0" presStyleCnt="1" custScaleY="105690">
        <dgm:presLayoutVars>
          <dgm:bulletEnabled val="1"/>
        </dgm:presLayoutVars>
      </dgm:prSet>
      <dgm:spPr/>
    </dgm:pt>
    <dgm:pt modelId="{76709D7D-6676-4D49-BF1B-9F32A63072C6}" type="pres">
      <dgm:prSet presAssocID="{EF6B2735-B2CC-407D-A625-9316178FF7C8}" presName="accent_1" presStyleCnt="0"/>
      <dgm:spPr/>
    </dgm:pt>
    <dgm:pt modelId="{97977FBB-5F86-40E4-A6AC-1F2F356BF3FD}" type="pres">
      <dgm:prSet presAssocID="{EF6B2735-B2CC-407D-A625-9316178FF7C8}" presName="accentRepeatNode" presStyleLbl="solidFgAcc1" presStyleIdx="0" presStyleCnt="1"/>
      <dgm:spPr>
        <a:solidFill>
          <a:schemeClr val="accent2"/>
        </a:solidFill>
        <a:ln>
          <a:solidFill>
            <a:schemeClr val="accent2"/>
          </a:solidFill>
        </a:ln>
      </dgm:spPr>
    </dgm:pt>
  </dgm:ptLst>
  <dgm:cxnLst>
    <dgm:cxn modelId="{02160808-5A79-42FA-82FE-7BBF6D32D6B5}" type="presOf" srcId="{806C7DF6-FC83-425B-89D8-EE13F82FFF03}" destId="{B7AE5083-6476-4499-BCCB-208D6C6A1CDB}" srcOrd="0" destOrd="2" presId="urn:microsoft.com/office/officeart/2008/layout/VerticalCurvedList"/>
    <dgm:cxn modelId="{791D5817-EE41-4632-9692-5F91221A8592}" type="presOf" srcId="{69244F73-F052-42A7-A418-78527A414E37}" destId="{F393591B-66CF-4B04-A4EA-9C5605858E32}" srcOrd="0" destOrd="0" presId="urn:microsoft.com/office/officeart/2008/layout/VerticalCurvedList"/>
    <dgm:cxn modelId="{20177634-4F41-450F-9A3B-4C3B1FF67C30}" type="presOf" srcId="{E7CE0F8E-F2A1-4BBA-8078-C8E5CC550F95}" destId="{B7AE5083-6476-4499-BCCB-208D6C6A1CDB}" srcOrd="0" destOrd="3" presId="urn:microsoft.com/office/officeart/2008/layout/VerticalCurvedList"/>
    <dgm:cxn modelId="{11A37E54-9EBD-4BB6-856C-22D569767F29}" srcId="{4A57D0CC-D7A3-4CA8-99E0-FE978C891040}" destId="{EF6B2735-B2CC-407D-A625-9316178FF7C8}" srcOrd="0" destOrd="0" parTransId="{4D65A4AC-E751-436F-B487-DAD168B96AD4}" sibTransId="{6C774511-9B42-4B62-AF66-64C039F29E1D}"/>
    <dgm:cxn modelId="{A3406A79-324C-4A01-A664-796DA4BDCD9A}" srcId="{EF6B2735-B2CC-407D-A625-9316178FF7C8}" destId="{29C02ABA-E7B9-4493-9D08-D03F4113E955}" srcOrd="3" destOrd="0" parTransId="{4A384FAD-A643-466A-9630-F9C4E77D10DC}" sibTransId="{17E5E08F-6AEE-4A93-9DA7-87B0D91D297D}"/>
    <dgm:cxn modelId="{4521CC91-D0AD-4275-9A6A-246DC923E44D}" srcId="{EF6B2735-B2CC-407D-A625-9316178FF7C8}" destId="{E7CE0F8E-F2A1-4BBA-8078-C8E5CC550F95}" srcOrd="2" destOrd="0" parTransId="{79026242-396D-4238-B2EE-0731446D50A5}" sibTransId="{7D1ABA36-BAB2-4E4C-B2E4-9F311CD6F046}"/>
    <dgm:cxn modelId="{96173A9E-4ED4-4738-92BF-8FE758F26DCB}" srcId="{EF6B2735-B2CC-407D-A625-9316178FF7C8}" destId="{806C7DF6-FC83-425B-89D8-EE13F82FFF03}" srcOrd="1" destOrd="0" parTransId="{B169134D-A5D9-44A0-A6A6-38220563DA53}" sibTransId="{04BE1F32-C002-4A79-BBA9-73B5943CD2C5}"/>
    <dgm:cxn modelId="{BEC6FBB7-E5AF-4F3E-AC30-DB26D7B37D41}" type="presOf" srcId="{D09570CF-2581-47D4-9B55-099A9EDA58FC}" destId="{B7AE5083-6476-4499-BCCB-208D6C6A1CDB}" srcOrd="0" destOrd="1" presId="urn:microsoft.com/office/officeart/2008/layout/VerticalCurvedList"/>
    <dgm:cxn modelId="{0337EBD7-F774-4B83-9C78-AAB22FBDAEC1}" type="presOf" srcId="{EF6B2735-B2CC-407D-A625-9316178FF7C8}" destId="{B7AE5083-6476-4499-BCCB-208D6C6A1CDB}" srcOrd="0" destOrd="0" presId="urn:microsoft.com/office/officeart/2008/layout/VerticalCurvedList"/>
    <dgm:cxn modelId="{A665EFDB-B0A7-4F0D-ABFC-8474504CC3AE}" srcId="{EF6B2735-B2CC-407D-A625-9316178FF7C8}" destId="{D09570CF-2581-47D4-9B55-099A9EDA58FC}" srcOrd="0" destOrd="0" parTransId="{B40A8B4D-1BD2-4A2B-99B1-FDD26EC046D4}" sibTransId="{69244F73-F052-42A7-A418-78527A414E37}"/>
    <dgm:cxn modelId="{633A6EE8-E4F5-4CBC-9475-86DA4AD56E5C}" type="presOf" srcId="{29C02ABA-E7B9-4493-9D08-D03F4113E955}" destId="{B7AE5083-6476-4499-BCCB-208D6C6A1CDB}" srcOrd="0" destOrd="4" presId="urn:microsoft.com/office/officeart/2008/layout/VerticalCurvedList"/>
    <dgm:cxn modelId="{CCA4F0F5-7899-48C4-B055-42DFE5C0C060}" type="presOf" srcId="{4A57D0CC-D7A3-4CA8-99E0-FE978C891040}" destId="{F402B4E7-AC71-4AF8-8D49-C533DA845333}" srcOrd="0" destOrd="0" presId="urn:microsoft.com/office/officeart/2008/layout/VerticalCurvedList"/>
    <dgm:cxn modelId="{05289F8E-E6DF-444A-BAF2-B81984DD2CF4}" type="presParOf" srcId="{F402B4E7-AC71-4AF8-8D49-C533DA845333}" destId="{67E151F4-090E-49EE-AE0D-E5E4E59217BD}" srcOrd="0" destOrd="0" presId="urn:microsoft.com/office/officeart/2008/layout/VerticalCurvedList"/>
    <dgm:cxn modelId="{9724638B-D259-4266-9A75-6B93E041EA97}" type="presParOf" srcId="{67E151F4-090E-49EE-AE0D-E5E4E59217BD}" destId="{57D4640E-7417-45C8-91AB-1D9E9DB2440E}" srcOrd="0" destOrd="0" presId="urn:microsoft.com/office/officeart/2008/layout/VerticalCurvedList"/>
    <dgm:cxn modelId="{C3510490-F2D8-463C-B897-FD07987D0D18}" type="presParOf" srcId="{57D4640E-7417-45C8-91AB-1D9E9DB2440E}" destId="{9419B692-D853-4B38-924E-F55E01218285}" srcOrd="0" destOrd="0" presId="urn:microsoft.com/office/officeart/2008/layout/VerticalCurvedList"/>
    <dgm:cxn modelId="{41746BE4-57C1-42CF-AF2C-191D0FF7A8EA}" type="presParOf" srcId="{57D4640E-7417-45C8-91AB-1D9E9DB2440E}" destId="{F393591B-66CF-4B04-A4EA-9C5605858E32}" srcOrd="1" destOrd="0" presId="urn:microsoft.com/office/officeart/2008/layout/VerticalCurvedList"/>
    <dgm:cxn modelId="{800EF1FC-7056-4F29-B5EF-82E1DA673CAC}" type="presParOf" srcId="{57D4640E-7417-45C8-91AB-1D9E9DB2440E}" destId="{6A45F3AD-94E6-4D2F-B588-B45913886EEA}" srcOrd="2" destOrd="0" presId="urn:microsoft.com/office/officeart/2008/layout/VerticalCurvedList"/>
    <dgm:cxn modelId="{0F4FF076-3E81-484C-B566-FF053A9F96EA}" type="presParOf" srcId="{57D4640E-7417-45C8-91AB-1D9E9DB2440E}" destId="{826979B0-C4DD-4BB9-82F3-2F66898E62A4}" srcOrd="3" destOrd="0" presId="urn:microsoft.com/office/officeart/2008/layout/VerticalCurvedList"/>
    <dgm:cxn modelId="{8A301634-FBB9-4BB5-8A07-0862EFAA45D8}" type="presParOf" srcId="{67E151F4-090E-49EE-AE0D-E5E4E59217BD}" destId="{B7AE5083-6476-4499-BCCB-208D6C6A1CDB}" srcOrd="1" destOrd="0" presId="urn:microsoft.com/office/officeart/2008/layout/VerticalCurvedList"/>
    <dgm:cxn modelId="{DCE9F99E-EAB3-4D80-B455-2EC55EE9BC9D}" type="presParOf" srcId="{67E151F4-090E-49EE-AE0D-E5E4E59217BD}" destId="{76709D7D-6676-4D49-BF1B-9F32A63072C6}" srcOrd="2" destOrd="0" presId="urn:microsoft.com/office/officeart/2008/layout/VerticalCurvedList"/>
    <dgm:cxn modelId="{87558C9C-913F-426C-B049-54E59857C87D}" type="presParOf" srcId="{76709D7D-6676-4D49-BF1B-9F32A63072C6}" destId="{97977FBB-5F86-40E4-A6AC-1F2F356BF3F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3591B-66CF-4B04-A4EA-9C5605858E32}">
      <dsp:nvSpPr>
        <dsp:cNvPr id="0" name=""/>
        <dsp:cNvSpPr/>
      </dsp:nvSpPr>
      <dsp:spPr>
        <a:xfrm>
          <a:off x="-2923550" y="-491211"/>
          <a:ext cx="3806905" cy="3806905"/>
        </a:xfrm>
        <a:prstGeom prst="blockArc">
          <a:avLst>
            <a:gd name="adj1" fmla="val 18900000"/>
            <a:gd name="adj2" fmla="val 2700000"/>
            <a:gd name="adj3" fmla="val 567"/>
          </a:avLst>
        </a:prstGeom>
        <a:solidFill>
          <a:schemeClr val="accent2"/>
        </a:solidFill>
        <a:ln w="1270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B7AE5083-6476-4499-BCCB-208D6C6A1CDB}">
      <dsp:nvSpPr>
        <dsp:cNvPr id="0" name=""/>
        <dsp:cNvSpPr/>
      </dsp:nvSpPr>
      <dsp:spPr>
        <a:xfrm>
          <a:off x="863246" y="656465"/>
          <a:ext cx="10093737" cy="1511551"/>
        </a:xfrm>
        <a:prstGeom prst="rect">
          <a:avLst/>
        </a:prstGeom>
        <a:solidFill>
          <a:srgbClr val="062E2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967" tIns="35560" rIns="35560" bIns="35560" numCol="1" spcCol="1270" anchor="t" anchorCtr="0">
          <a:noAutofit/>
        </a:bodyPr>
        <a:lstStyle/>
        <a:p>
          <a:pPr marL="0" lvl="0" indent="0" algn="l" defTabSz="622300">
            <a:lnSpc>
              <a:spcPct val="90000"/>
            </a:lnSpc>
            <a:spcBef>
              <a:spcPct val="0"/>
            </a:spcBef>
            <a:spcAft>
              <a:spcPct val="35000"/>
            </a:spcAft>
            <a:buNone/>
          </a:pPr>
          <a:r>
            <a:rPr lang="en-IN" sz="1400" b="1" kern="1200" dirty="0"/>
            <a:t>Product Type</a:t>
          </a:r>
        </a:p>
        <a:p>
          <a:pPr marL="114300" lvl="1" indent="-114300" algn="l" defTabSz="533400">
            <a:lnSpc>
              <a:spcPct val="90000"/>
            </a:lnSpc>
            <a:spcBef>
              <a:spcPct val="0"/>
            </a:spcBef>
            <a:spcAft>
              <a:spcPts val="200"/>
            </a:spcAft>
            <a:buChar char="•"/>
          </a:pPr>
          <a:r>
            <a:rPr lang="en-IN" sz="1200" kern="1200" dirty="0"/>
            <a:t>Energy Drinks</a:t>
          </a:r>
        </a:p>
        <a:p>
          <a:pPr marL="114300" lvl="1" indent="-114300" algn="l" defTabSz="533400">
            <a:lnSpc>
              <a:spcPct val="90000"/>
            </a:lnSpc>
            <a:spcBef>
              <a:spcPct val="0"/>
            </a:spcBef>
            <a:spcAft>
              <a:spcPts val="200"/>
            </a:spcAft>
            <a:buChar char="•"/>
          </a:pPr>
          <a:r>
            <a:rPr lang="en-IN" sz="1200" kern="1200" dirty="0"/>
            <a:t>Sports &amp; Performance Drinks</a:t>
          </a:r>
        </a:p>
        <a:p>
          <a:pPr marL="114300" lvl="1" indent="-114300" algn="l" defTabSz="533400">
            <a:lnSpc>
              <a:spcPct val="90000"/>
            </a:lnSpc>
            <a:spcBef>
              <a:spcPct val="0"/>
            </a:spcBef>
            <a:spcAft>
              <a:spcPts val="200"/>
            </a:spcAft>
            <a:buChar char="•"/>
          </a:pPr>
          <a:r>
            <a:rPr lang="en-IN" sz="1200" kern="1200" dirty="0"/>
            <a:t>Fortified Juices</a:t>
          </a:r>
        </a:p>
        <a:p>
          <a:pPr marL="114300" lvl="1" indent="-114300" algn="l" defTabSz="533400">
            <a:lnSpc>
              <a:spcPct val="90000"/>
            </a:lnSpc>
            <a:spcBef>
              <a:spcPct val="0"/>
            </a:spcBef>
            <a:spcAft>
              <a:spcPts val="200"/>
            </a:spcAft>
            <a:buChar char="•"/>
          </a:pPr>
          <a:r>
            <a:rPr lang="en-IN" sz="1200" kern="1200" dirty="0"/>
            <a:t>Functional Water</a:t>
          </a:r>
        </a:p>
        <a:p>
          <a:pPr marL="114300" lvl="1" indent="-114300" algn="l" defTabSz="533400">
            <a:lnSpc>
              <a:spcPct val="90000"/>
            </a:lnSpc>
            <a:spcBef>
              <a:spcPct val="0"/>
            </a:spcBef>
            <a:spcAft>
              <a:spcPts val="200"/>
            </a:spcAft>
            <a:buChar char="•"/>
          </a:pPr>
          <a:r>
            <a:rPr lang="en-IN" sz="1200" kern="1200" dirty="0"/>
            <a:t>Others</a:t>
          </a:r>
        </a:p>
      </dsp:txBody>
      <dsp:txXfrm>
        <a:off x="863246" y="656465"/>
        <a:ext cx="10093737" cy="1511551"/>
      </dsp:txXfrm>
    </dsp:sp>
    <dsp:sp modelId="{97977FBB-5F86-40E4-A6AC-1F2F356BF3FD}">
      <dsp:nvSpPr>
        <dsp:cNvPr id="0" name=""/>
        <dsp:cNvSpPr/>
      </dsp:nvSpPr>
      <dsp:spPr>
        <a:xfrm>
          <a:off x="0" y="548994"/>
          <a:ext cx="1726493" cy="1726493"/>
        </a:xfrm>
        <a:prstGeom prst="ellipse">
          <a:avLst/>
        </a:prstGeom>
        <a:solidFill>
          <a:schemeClr val="accent2"/>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3591B-66CF-4B04-A4EA-9C5605858E32}">
      <dsp:nvSpPr>
        <dsp:cNvPr id="0" name=""/>
        <dsp:cNvSpPr/>
      </dsp:nvSpPr>
      <dsp:spPr>
        <a:xfrm>
          <a:off x="-5543797" y="-848869"/>
          <a:ext cx="6601632" cy="6601632"/>
        </a:xfrm>
        <a:prstGeom prst="blockArc">
          <a:avLst>
            <a:gd name="adj1" fmla="val 18900000"/>
            <a:gd name="adj2" fmla="val 2700000"/>
            <a:gd name="adj3" fmla="val 327"/>
          </a:avLst>
        </a:prstGeom>
        <a:solidFill>
          <a:schemeClr val="accent2"/>
        </a:solidFill>
        <a:ln w="1270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23043F4A-B9E9-40AB-88EE-E26AB4BABA9F}">
      <dsp:nvSpPr>
        <dsp:cNvPr id="0" name=""/>
        <dsp:cNvSpPr/>
      </dsp:nvSpPr>
      <dsp:spPr>
        <a:xfrm>
          <a:off x="680660" y="241673"/>
          <a:ext cx="10208649" cy="1478209"/>
        </a:xfrm>
        <a:prstGeom prst="rect">
          <a:avLst/>
        </a:prstGeom>
        <a:solidFill>
          <a:srgbClr val="062E2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8493" tIns="35560" rIns="35560" bIns="35560" numCol="1" spcCol="1270" anchor="t" anchorCtr="0">
          <a:noAutofit/>
        </a:bodyPr>
        <a:lstStyle/>
        <a:p>
          <a:pPr marL="0" lvl="0" indent="0" algn="l" defTabSz="622300">
            <a:lnSpc>
              <a:spcPct val="90000"/>
            </a:lnSpc>
            <a:spcBef>
              <a:spcPct val="0"/>
            </a:spcBef>
            <a:spcAft>
              <a:spcPct val="35000"/>
            </a:spcAft>
            <a:buNone/>
          </a:pPr>
          <a:r>
            <a:rPr lang="en-IN" sz="1400" b="1" kern="1200" dirty="0"/>
            <a:t>Ingredient Type</a:t>
          </a:r>
        </a:p>
        <a:p>
          <a:pPr marL="114300" lvl="1" indent="-114300" algn="l" defTabSz="533400">
            <a:lnSpc>
              <a:spcPct val="90000"/>
            </a:lnSpc>
            <a:spcBef>
              <a:spcPct val="0"/>
            </a:spcBef>
            <a:spcAft>
              <a:spcPct val="15000"/>
            </a:spcAft>
            <a:buChar char="•"/>
          </a:pPr>
          <a:r>
            <a:rPr lang="en-IN" sz="1200" kern="1200" dirty="0"/>
            <a:t>Vitamins &amp; Minerals</a:t>
          </a:r>
        </a:p>
        <a:p>
          <a:pPr marL="114300" lvl="1" indent="-114300" algn="l" defTabSz="533400">
            <a:lnSpc>
              <a:spcPct val="90000"/>
            </a:lnSpc>
            <a:spcBef>
              <a:spcPct val="0"/>
            </a:spcBef>
            <a:spcAft>
              <a:spcPct val="15000"/>
            </a:spcAft>
            <a:buChar char="•"/>
          </a:pPr>
          <a:r>
            <a:rPr lang="en-IN" sz="1200" kern="1200" dirty="0"/>
            <a:t>Probiotics &amp; Prebiotics</a:t>
          </a:r>
        </a:p>
        <a:p>
          <a:pPr marL="114300" lvl="1" indent="-114300" algn="l" defTabSz="533400">
            <a:lnSpc>
              <a:spcPct val="90000"/>
            </a:lnSpc>
            <a:spcBef>
              <a:spcPct val="0"/>
            </a:spcBef>
            <a:spcAft>
              <a:spcPct val="15000"/>
            </a:spcAft>
            <a:buChar char="•"/>
          </a:pPr>
          <a:r>
            <a:rPr lang="en-IN" sz="1200" kern="1200" dirty="0"/>
            <a:t>Amino Acids &amp; Protein</a:t>
          </a:r>
        </a:p>
        <a:p>
          <a:pPr marL="114300" lvl="1" indent="-114300" algn="l" defTabSz="533400">
            <a:lnSpc>
              <a:spcPct val="90000"/>
            </a:lnSpc>
            <a:spcBef>
              <a:spcPct val="0"/>
            </a:spcBef>
            <a:spcAft>
              <a:spcPct val="15000"/>
            </a:spcAft>
            <a:buChar char="•"/>
          </a:pPr>
          <a:r>
            <a:rPr lang="en-IN" sz="1200" kern="1200" dirty="0"/>
            <a:t>Caffeine &amp; Botanicals</a:t>
          </a:r>
        </a:p>
        <a:p>
          <a:pPr marL="114300" lvl="1" indent="-114300" algn="l" defTabSz="533400">
            <a:lnSpc>
              <a:spcPct val="90000"/>
            </a:lnSpc>
            <a:spcBef>
              <a:spcPct val="0"/>
            </a:spcBef>
            <a:spcAft>
              <a:spcPct val="15000"/>
            </a:spcAft>
            <a:buChar char="•"/>
          </a:pPr>
          <a:r>
            <a:rPr lang="en-IN" sz="1200" kern="1200" dirty="0"/>
            <a:t>Adaptogens &amp; Nootropics</a:t>
          </a:r>
          <a:endParaRPr lang="en-IN" sz="1400" kern="1200" dirty="0"/>
        </a:p>
      </dsp:txBody>
      <dsp:txXfrm>
        <a:off x="680660" y="241673"/>
        <a:ext cx="10208649" cy="1478209"/>
      </dsp:txXfrm>
    </dsp:sp>
    <dsp:sp modelId="{F5966959-722B-469B-96B0-A631F7C683AD}">
      <dsp:nvSpPr>
        <dsp:cNvPr id="0" name=""/>
        <dsp:cNvSpPr/>
      </dsp:nvSpPr>
      <dsp:spPr>
        <a:xfrm>
          <a:off x="67673" y="367791"/>
          <a:ext cx="1225973" cy="1225973"/>
        </a:xfrm>
        <a:prstGeom prst="ellipse">
          <a:avLst/>
        </a:prstGeom>
        <a:solidFill>
          <a:schemeClr val="accent2"/>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 modelId="{AC537C70-020E-4FF9-88E1-D58DF922B262}">
      <dsp:nvSpPr>
        <dsp:cNvPr id="0" name=""/>
        <dsp:cNvSpPr/>
      </dsp:nvSpPr>
      <dsp:spPr>
        <a:xfrm>
          <a:off x="1037173" y="1846913"/>
          <a:ext cx="9852136" cy="1210065"/>
        </a:xfrm>
        <a:prstGeom prst="rect">
          <a:avLst/>
        </a:prstGeom>
        <a:solidFill>
          <a:srgbClr val="062E2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8493" tIns="35560" rIns="35560" bIns="35560" numCol="1" spcCol="1270" anchor="t" anchorCtr="0">
          <a:noAutofit/>
        </a:bodyPr>
        <a:lstStyle/>
        <a:p>
          <a:pPr marL="0" lvl="0" indent="0" algn="l" defTabSz="622300">
            <a:lnSpc>
              <a:spcPct val="90000"/>
            </a:lnSpc>
            <a:spcBef>
              <a:spcPct val="0"/>
            </a:spcBef>
            <a:spcAft>
              <a:spcPct val="35000"/>
            </a:spcAft>
            <a:buNone/>
          </a:pPr>
          <a:r>
            <a:rPr lang="en-IN" sz="1400" b="1" kern="1200" dirty="0"/>
            <a:t>Packaging</a:t>
          </a:r>
        </a:p>
        <a:p>
          <a:pPr marL="114300" lvl="1" indent="-114300" algn="l" defTabSz="533400">
            <a:lnSpc>
              <a:spcPct val="90000"/>
            </a:lnSpc>
            <a:spcBef>
              <a:spcPct val="0"/>
            </a:spcBef>
            <a:spcAft>
              <a:spcPct val="15000"/>
            </a:spcAft>
            <a:buChar char="•"/>
          </a:pPr>
          <a:r>
            <a:rPr lang="en-IN" sz="1200" kern="1200" dirty="0"/>
            <a:t>PET Bottles</a:t>
          </a:r>
        </a:p>
        <a:p>
          <a:pPr marL="114300" lvl="1" indent="-114300" algn="l" defTabSz="533400">
            <a:lnSpc>
              <a:spcPct val="90000"/>
            </a:lnSpc>
            <a:spcBef>
              <a:spcPct val="0"/>
            </a:spcBef>
            <a:spcAft>
              <a:spcPct val="15000"/>
            </a:spcAft>
            <a:buChar char="•"/>
          </a:pPr>
          <a:r>
            <a:rPr lang="en-IN" sz="1200" kern="1200" dirty="0"/>
            <a:t>Cans</a:t>
          </a:r>
        </a:p>
        <a:p>
          <a:pPr marL="114300" lvl="1" indent="-114300" algn="l" defTabSz="533400">
            <a:lnSpc>
              <a:spcPct val="90000"/>
            </a:lnSpc>
            <a:spcBef>
              <a:spcPct val="0"/>
            </a:spcBef>
            <a:spcAft>
              <a:spcPct val="15000"/>
            </a:spcAft>
            <a:buChar char="•"/>
          </a:pPr>
          <a:r>
            <a:rPr lang="en-IN" sz="1200" kern="1200" dirty="0"/>
            <a:t>Cartons</a:t>
          </a:r>
        </a:p>
        <a:p>
          <a:pPr marL="114300" lvl="1" indent="-114300" algn="l" defTabSz="533400">
            <a:lnSpc>
              <a:spcPct val="90000"/>
            </a:lnSpc>
            <a:spcBef>
              <a:spcPct val="0"/>
            </a:spcBef>
            <a:spcAft>
              <a:spcPct val="15000"/>
            </a:spcAft>
            <a:buChar char="•"/>
          </a:pPr>
          <a:r>
            <a:rPr lang="en-IN" sz="1200" kern="1200" dirty="0"/>
            <a:t>Pouches</a:t>
          </a:r>
          <a:endParaRPr lang="en-IN" sz="1400" kern="1200" dirty="0"/>
        </a:p>
      </dsp:txBody>
      <dsp:txXfrm>
        <a:off x="1037173" y="1846913"/>
        <a:ext cx="9852136" cy="1210065"/>
      </dsp:txXfrm>
    </dsp:sp>
    <dsp:sp modelId="{229C2032-C523-4E3D-B3AD-3A742DC2E5C2}">
      <dsp:nvSpPr>
        <dsp:cNvPr id="0" name=""/>
        <dsp:cNvSpPr/>
      </dsp:nvSpPr>
      <dsp:spPr>
        <a:xfrm>
          <a:off x="424186" y="1838959"/>
          <a:ext cx="1225973" cy="1225973"/>
        </a:xfrm>
        <a:prstGeom prst="ellipse">
          <a:avLst/>
        </a:prstGeom>
        <a:solidFill>
          <a:schemeClr val="accent2"/>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 modelId="{24106020-4595-4F6A-B26E-D54377F7FE47}">
      <dsp:nvSpPr>
        <dsp:cNvPr id="0" name=""/>
        <dsp:cNvSpPr/>
      </dsp:nvSpPr>
      <dsp:spPr>
        <a:xfrm>
          <a:off x="680660" y="3262373"/>
          <a:ext cx="10208649" cy="1321481"/>
        </a:xfrm>
        <a:prstGeom prst="rect">
          <a:avLst/>
        </a:prstGeom>
        <a:solidFill>
          <a:srgbClr val="062E2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78493" tIns="35560" rIns="35560" bIns="35560" numCol="1" spcCol="1270" anchor="t" anchorCtr="0">
          <a:noAutofit/>
        </a:bodyPr>
        <a:lstStyle/>
        <a:p>
          <a:pPr marL="0" lvl="0" indent="0" algn="l" defTabSz="622300">
            <a:lnSpc>
              <a:spcPct val="90000"/>
            </a:lnSpc>
            <a:spcBef>
              <a:spcPct val="0"/>
            </a:spcBef>
            <a:spcAft>
              <a:spcPct val="35000"/>
            </a:spcAft>
            <a:buNone/>
          </a:pPr>
          <a:r>
            <a:rPr lang="en-IN" sz="1400" b="1" kern="1200" dirty="0"/>
            <a:t>Distribution Channel</a:t>
          </a:r>
        </a:p>
        <a:p>
          <a:pPr marL="114300" lvl="1" indent="-114300" algn="l" defTabSz="533400">
            <a:lnSpc>
              <a:spcPct val="90000"/>
            </a:lnSpc>
            <a:spcBef>
              <a:spcPct val="0"/>
            </a:spcBef>
            <a:spcAft>
              <a:spcPct val="15000"/>
            </a:spcAft>
            <a:buChar char="•"/>
          </a:pPr>
          <a:r>
            <a:rPr lang="en-IN" sz="1200" kern="1200" dirty="0"/>
            <a:t>Supermarkets/Hypermarkets</a:t>
          </a:r>
        </a:p>
        <a:p>
          <a:pPr marL="114300" lvl="1" indent="-114300" algn="l" defTabSz="533400">
            <a:lnSpc>
              <a:spcPct val="90000"/>
            </a:lnSpc>
            <a:spcBef>
              <a:spcPct val="0"/>
            </a:spcBef>
            <a:spcAft>
              <a:spcPct val="15000"/>
            </a:spcAft>
            <a:buChar char="•"/>
          </a:pPr>
          <a:r>
            <a:rPr lang="en-IN" sz="1200" kern="1200" dirty="0"/>
            <a:t>Convenience Stores</a:t>
          </a:r>
        </a:p>
        <a:p>
          <a:pPr marL="114300" lvl="1" indent="-114300" algn="l" defTabSz="533400">
            <a:lnSpc>
              <a:spcPct val="90000"/>
            </a:lnSpc>
            <a:spcBef>
              <a:spcPct val="0"/>
            </a:spcBef>
            <a:spcAft>
              <a:spcPct val="15000"/>
            </a:spcAft>
            <a:buChar char="•"/>
          </a:pPr>
          <a:r>
            <a:rPr lang="en-IN" sz="1200" kern="1200" dirty="0"/>
            <a:t>Online/E-commerce</a:t>
          </a:r>
        </a:p>
        <a:p>
          <a:pPr marL="114300" lvl="1" indent="-114300" algn="l" defTabSz="533400">
            <a:lnSpc>
              <a:spcPct val="90000"/>
            </a:lnSpc>
            <a:spcBef>
              <a:spcPct val="0"/>
            </a:spcBef>
            <a:spcAft>
              <a:spcPct val="15000"/>
            </a:spcAft>
            <a:buChar char="•"/>
          </a:pPr>
          <a:r>
            <a:rPr lang="en-IN" sz="1200" kern="1200" dirty="0"/>
            <a:t>Specialty &amp; Health Stores</a:t>
          </a:r>
          <a:endParaRPr lang="en-IN" sz="1400" kern="1200" dirty="0"/>
        </a:p>
      </dsp:txBody>
      <dsp:txXfrm>
        <a:off x="680660" y="3262373"/>
        <a:ext cx="10208649" cy="1321481"/>
      </dsp:txXfrm>
    </dsp:sp>
    <dsp:sp modelId="{AEA18A38-6711-4AF6-A868-559916ED4590}">
      <dsp:nvSpPr>
        <dsp:cNvPr id="0" name=""/>
        <dsp:cNvSpPr/>
      </dsp:nvSpPr>
      <dsp:spPr>
        <a:xfrm>
          <a:off x="67673" y="3310127"/>
          <a:ext cx="1225973" cy="1225973"/>
        </a:xfrm>
        <a:prstGeom prst="ellipse">
          <a:avLst/>
        </a:prstGeom>
        <a:solidFill>
          <a:schemeClr val="accent2"/>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3591B-66CF-4B04-A4EA-9C5605858E32}">
      <dsp:nvSpPr>
        <dsp:cNvPr id="0" name=""/>
        <dsp:cNvSpPr/>
      </dsp:nvSpPr>
      <dsp:spPr>
        <a:xfrm>
          <a:off x="-2923550" y="-491211"/>
          <a:ext cx="3806905" cy="3806905"/>
        </a:xfrm>
        <a:prstGeom prst="blockArc">
          <a:avLst>
            <a:gd name="adj1" fmla="val 18900000"/>
            <a:gd name="adj2" fmla="val 2700000"/>
            <a:gd name="adj3" fmla="val 567"/>
          </a:avLst>
        </a:prstGeom>
        <a:solidFill>
          <a:schemeClr val="accent2"/>
        </a:solidFill>
        <a:ln w="1270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B7AE5083-6476-4499-BCCB-208D6C6A1CDB}">
      <dsp:nvSpPr>
        <dsp:cNvPr id="0" name=""/>
        <dsp:cNvSpPr/>
      </dsp:nvSpPr>
      <dsp:spPr>
        <a:xfrm>
          <a:off x="863246" y="682349"/>
          <a:ext cx="10093737" cy="1459784"/>
        </a:xfrm>
        <a:prstGeom prst="rect">
          <a:avLst/>
        </a:prstGeom>
        <a:solidFill>
          <a:srgbClr val="062E2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967" tIns="35560" rIns="35560" bIns="35560" numCol="1" spcCol="1270" anchor="t" anchorCtr="0">
          <a:noAutofit/>
        </a:bodyPr>
        <a:lstStyle/>
        <a:p>
          <a:pPr marL="0" lvl="0" indent="0" algn="l" defTabSz="622300">
            <a:lnSpc>
              <a:spcPct val="90000"/>
            </a:lnSpc>
            <a:spcBef>
              <a:spcPct val="0"/>
            </a:spcBef>
            <a:spcAft>
              <a:spcPct val="35000"/>
            </a:spcAft>
            <a:buNone/>
          </a:pPr>
          <a:r>
            <a:rPr lang="en-IN" sz="1400" b="1" kern="1200" dirty="0"/>
            <a:t>End User</a:t>
          </a:r>
        </a:p>
        <a:p>
          <a:pPr marL="114300" lvl="1" indent="-114300" algn="l" defTabSz="533400">
            <a:lnSpc>
              <a:spcPct val="90000"/>
            </a:lnSpc>
            <a:spcBef>
              <a:spcPct val="0"/>
            </a:spcBef>
            <a:spcAft>
              <a:spcPts val="200"/>
            </a:spcAft>
            <a:buChar char="•"/>
          </a:pPr>
          <a:r>
            <a:rPr lang="en-IN" sz="1200" kern="1200" dirty="0"/>
            <a:t>Gen Z</a:t>
          </a:r>
        </a:p>
        <a:p>
          <a:pPr marL="114300" lvl="1" indent="-114300" algn="l" defTabSz="533400">
            <a:lnSpc>
              <a:spcPct val="90000"/>
            </a:lnSpc>
            <a:spcBef>
              <a:spcPct val="0"/>
            </a:spcBef>
            <a:spcAft>
              <a:spcPts val="200"/>
            </a:spcAft>
            <a:buChar char="•"/>
          </a:pPr>
          <a:r>
            <a:rPr lang="en-IN" sz="1200" kern="1200" dirty="0"/>
            <a:t>Millennials</a:t>
          </a:r>
        </a:p>
        <a:p>
          <a:pPr marL="114300" lvl="1" indent="-114300" algn="l" defTabSz="533400">
            <a:lnSpc>
              <a:spcPct val="90000"/>
            </a:lnSpc>
            <a:spcBef>
              <a:spcPct val="0"/>
            </a:spcBef>
            <a:spcAft>
              <a:spcPts val="200"/>
            </a:spcAft>
            <a:buChar char="•"/>
          </a:pPr>
          <a:r>
            <a:rPr lang="en-IN" sz="1200" kern="1200" dirty="0"/>
            <a:t>Athletes &amp; Fitness Enthusiasts</a:t>
          </a:r>
        </a:p>
        <a:p>
          <a:pPr marL="114300" lvl="1" indent="-114300" algn="l" defTabSz="533400">
            <a:lnSpc>
              <a:spcPct val="90000"/>
            </a:lnSpc>
            <a:spcBef>
              <a:spcPct val="0"/>
            </a:spcBef>
            <a:spcAft>
              <a:spcPts val="200"/>
            </a:spcAft>
            <a:buChar char="•"/>
          </a:pPr>
          <a:r>
            <a:rPr lang="en-IN" sz="1200" kern="1200" dirty="0"/>
            <a:t>Aging Population</a:t>
          </a:r>
        </a:p>
      </dsp:txBody>
      <dsp:txXfrm>
        <a:off x="863246" y="682349"/>
        <a:ext cx="10093737" cy="1459784"/>
      </dsp:txXfrm>
    </dsp:sp>
    <dsp:sp modelId="{97977FBB-5F86-40E4-A6AC-1F2F356BF3FD}">
      <dsp:nvSpPr>
        <dsp:cNvPr id="0" name=""/>
        <dsp:cNvSpPr/>
      </dsp:nvSpPr>
      <dsp:spPr>
        <a:xfrm>
          <a:off x="0" y="548994"/>
          <a:ext cx="1726493" cy="1726493"/>
        </a:xfrm>
        <a:prstGeom prst="ellipse">
          <a:avLst/>
        </a:prstGeom>
        <a:solidFill>
          <a:schemeClr val="accent2"/>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900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CD68-BFC4-6A85-A046-5171D6A40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D34C1-3EDB-6E7C-1A6D-8999EAAF66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DEABE7B-791B-4BAF-F9CD-3112A836C4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8DF25C-AA84-7156-6312-78C2A28545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7381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95612-3521-995A-1933-FE16A5B8C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E26B0-381A-6B8C-0F06-DB4B3836599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DB99C7E-40DC-95A3-9226-0FDA78FC11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17AA80-6991-C51C-F5D2-EF937C3198C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4365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E0C96-E2F9-4D8E-9B6F-406CB7799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71AD2-F76F-F9A8-BE33-03A913485D9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1885A7A-708D-B25B-883E-3C49C2333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0A4F2D-C155-7AA2-11BA-97AA380879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8687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9500E-E761-3738-2094-15CDACEA9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40E66-F7F8-33A8-CC9E-B95C5040EB3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A3607E7-18AD-4D87-DD0A-81490226D8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809E4F-7135-C7D2-E0B5-7C98BB19927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5286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5EF1-8436-819E-3C2E-538167B33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3AC81-D5FC-A74C-DA7F-24ABE511A3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DC94DFE-91F9-6058-4A48-022161AA8F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BA3E56-2AD7-BF40-658D-DD5C4A5D4F6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8512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1A9EC-E41C-888D-3398-DD2286EC0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4B1C2-D4DE-7060-C04E-F1DB8573D1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5D21F19-5943-2FBD-E1C9-14B744B96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E7BC1A-B442-0B13-0EFF-86D14182BAC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4868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BF8C-6A03-C70F-44D5-735B6255D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2148-E9BB-F802-6A5A-D18790B2A6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E20C6-1CE2-61FE-CAA2-41934DF298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4171DF-434D-EDF3-DECC-A5F3E18FB38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44324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74D5D-7C9D-7AC4-E5A9-C35CDDF3D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EEB07-01B6-DF69-16A3-5ABD9BC2C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A4A20-D1C2-C71F-F9CA-CF218ED208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D9C968-BAFF-FE6B-8083-AAF995E6CE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79455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30035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98141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E3A8-5FDE-B4F8-BCC1-EEAB1D2EF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08433-035B-CF41-8B71-CD4544C68E9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101B77C-511B-C67C-4805-0F943898BC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B8AE31-6CDF-9D92-96B9-4022F3636D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37700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A2998-3477-D6DC-B264-46A6D230C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EA6F4-2EDC-80A7-2F57-EAC32C3185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9A66428-1E4A-A911-940B-DE3256B9C6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0E8C2E-1A20-B8C2-5478-0078EAD397D6}"/>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6906006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9F96C-D96D-CB67-042E-CD62E8DF8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17866-C5FD-F5DA-FFC4-9643002D06D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5B5596-6988-41E0-183F-EF5CB10ED1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74C9F-71D6-8067-A3CB-01B6CA322B94}"/>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6095076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62247-F5E3-3683-A35D-C3450206F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3BF07-1A92-2B99-5AF7-4957B00DDA1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E6B9D3C-FE40-2CF3-8C3E-6FBE359236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AE1533-81A5-A19A-2F88-CF1D74CEFD3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30055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8BF25-E514-502B-3C96-5366BFE49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7047D-3F81-8ACB-20EA-52C9A1EC783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B0C7873-2320-39E6-80ED-3498C98B62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E3EDC-463C-DE30-15E3-67C6FF02CF84}"/>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3119525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F7CA2-BC8B-023D-71AE-72B22457C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8A936-6D26-66FD-986B-86AA28B77E2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463D4E4-8AB7-6250-6654-C4EDBF20DC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3F4F0-019D-835A-48EE-17FBF4E9E82E}"/>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0919148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BDC25-D178-290F-8042-08D090485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398B2-0490-75CA-B581-55708C315D3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242DD2-1257-D464-AE51-3219669717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6ECA6A-0416-0BCE-22A7-8045F2AD1552}"/>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3240039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C0F0F-986F-1674-812D-6A217A2E6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918C2-C2E8-CCD7-DF07-A4DF686F914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70DE410-6E9E-9C4C-2C10-3D4D117DE9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7C364F-41BF-072B-B59F-84F2DA33CD8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2724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806A-7B51-023E-CD9C-0B10B7496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3E208-3028-DA97-8309-D55BE9B91CD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79D2B78-223B-938D-A192-93E5B1DC53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9D0B0-5702-38C2-7C47-3574A09B8311}"/>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5752328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5ACF5-FB8D-7382-3752-26534BDBA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69827-8309-217F-07F7-E25C7E06098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25B44A-55B1-9625-8123-16E9E6CE2A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7205B5-1FF6-0304-E485-E14131C34DE3}"/>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1197432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86AE-71BD-C41E-7276-DD46207AF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DF7E2-20FB-2F5D-CC27-5430D879917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385EFFC-B1BC-32FA-C2A6-DCEDDB5B01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E5F522-AEA0-53D5-24A3-9017E031AE1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85032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64285-2740-2A13-D56B-E4B37B7AF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199A1-C591-03A5-737B-CBCD76E3A5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9A19FAB-3DE3-897C-877E-8F492FF2B3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F4D65-C908-1D3D-EDFA-EB9034673EDA}"/>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3445324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9294-AD6B-50C4-AA24-F3302875F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93C64-2D65-2EE6-479E-E773396CB27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4EC3085-88E5-CAE6-0EFE-6FDFFFF753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8568DE-36C8-8B4C-0E37-83B52926076A}"/>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33689372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0035-B832-2E77-5C96-0C62562E9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44703-5962-BB79-2B93-CCD5BA3EE82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191A63F-4DAD-8933-CFD9-A8283FE37C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D820A-8E75-EEB5-B7B4-7E7DDEF1F7F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1547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96243-5BD0-5771-0A9D-6E1ADE089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A65A5-4C62-48DE-4BFD-E3FF80CBA00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7F6C295-1D2C-56AB-046A-14D6B3EB6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D332BF-512F-93E3-6CCA-72C0CAD27CBF}"/>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9618721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B2D39-F04C-F479-4042-625D71ECA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6DB6C-33FD-7AE0-FA7D-6CD4629674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F296617-B2E0-A542-BDC9-AB7CFC5BA6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7ECB75-D054-A97D-3A2E-BC11A4E33453}"/>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79106672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BFB0-CC3F-AA51-8024-82AC201D1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845CD-64A7-A9FC-5CF7-6164261D178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4982E02-F401-B580-3180-9F18CC7DDB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E20337-3A90-68AB-4927-C7FD0801D65F}"/>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5339128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98DD5-C7ED-EF91-3768-6190837C5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90BAB-2FB5-D5E5-0E56-65C45DD85D8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61E2247-7F33-B49E-04EB-95C914C1E6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77E034-01E2-020D-9FAA-AC5D82B8223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2870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4807F-AC76-1355-ED35-8B9305F29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92E81-D6DF-1297-BC2B-A89B0DDD77E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86C7A9A-3765-F4C6-1FE5-AD3AD0307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E31CBB-B21B-9EE5-1E28-E373453B82C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61734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F33B-55D0-1ED8-3BCB-279F3DA7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E02CC-5B2F-9F1D-B627-AC5C1F13A5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BCC60E8-EC82-231A-B18D-068BE99803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14F0AC-CDC8-5706-6307-4829D8249BF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75336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3B90-EEFC-5FC6-E10C-5C25D6D42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79C09-AB7D-831E-881D-29E9C7385E4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13DCFB0-375E-74C7-52EF-48FD4EF267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A2009F-1121-8588-DD29-64152EA9964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54724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5AFC-DCC9-39A5-B37B-7CDC838D3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5637D-866D-1A58-F36F-7EF995F3966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BF5BE8E-459A-7A04-4CAD-4EB63E1BCA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4CDCA-5F3D-A69A-8286-EFB8D360C9F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53722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8FC4A-8C9B-8AFF-20B9-6DCBFE174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A5ECC-ABCE-63DF-798D-84664E61142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9B4891-67EC-7177-6482-E6F011027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8434E5-BB73-E48E-8B84-6F1B675C940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148354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B59D9-3B23-030F-06DF-8DE0CE740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06EED-7423-69A0-2F15-5B6A0BF458F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034F559-303C-BA8E-5920-0DB67F232F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1E0558-ED5D-F237-F807-DBFD1B6D00D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473640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4B678-8AC5-8897-EFC9-84C121D41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CBDC40-208A-7C3E-8260-BC0A8E6367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DBF929-C63B-286E-EB42-39D6D5DA88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E702FE-58EB-B4FA-5C20-C5F705D0D9E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76708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8E9E5-38E2-C6C1-30D2-805996C0DC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1C5B3-F72B-503C-9500-1660993626F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C24BE3E-5A1C-D21E-FB35-349F309343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C376B7-2E03-5479-DA76-A3573AD36AE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030215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8032-D2FD-3B9E-7480-FEAC06EF7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6B262-480A-5E30-DE0C-B430F4BB251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91E8875-247A-DC5C-8F67-A8A84B32AF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719D6E-3473-F222-905F-72820C9180A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69257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37DF-464D-878A-AFA8-AC936297D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79842-052B-6BD4-FE98-D4A440BCB0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5F2C91C-2366-5606-D097-E258F98E49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B4CE4B-8ECC-F543-6435-1169F25A825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905098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DDEFF-6F9E-C0DF-7B44-5828D70E8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92D76-5935-BF7A-6739-A644405B412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377C8E3-BCD7-B59F-B424-B4998D664A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81651-4C52-3EC8-40A9-DE116490ECE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044289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5.jpeg"/><Relationship Id="rId4" Type="http://schemas.openxmlformats.org/officeDocument/2006/relationships/diagramLayout" Target="../diagrams/layout2.xml"/><Relationship Id="rId9" Type="http://schemas.openxmlformats.org/officeDocument/2006/relationships/image" Target="../media/image4.jpe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4.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7.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0.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1.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3.jpg"/></Relationships>
</file>

<file path=ppt/slides/_rels/slide51.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5.jpg"/></Relationships>
</file>

<file path=ppt/slides/_rels/slide5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8.jpg"/></Relationships>
</file>

<file path=ppt/slides/_rels/slide5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0.jpg"/></Relationships>
</file>

<file path=ppt/slides/_rels/slide57.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53.jpg"/></Relationships>
</file>

<file path=ppt/slides/_rels/slide61.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55.jp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7.jpg"/></Relationships>
</file>

<file path=ppt/slides/_rels/slide65.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59.jp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61.jpg"/></Relationships>
</file>

<file path=ppt/slides/_rels/slide69.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63.jp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8" Type="http://schemas.openxmlformats.org/officeDocument/2006/relationships/image" Target="../media/image69.jpg"/><Relationship Id="rId3" Type="http://schemas.openxmlformats.org/officeDocument/2006/relationships/image" Target="../media/image64.png"/><Relationship Id="rId7" Type="http://schemas.openxmlformats.org/officeDocument/2006/relationships/image" Target="../media/image68.svg"/><Relationship Id="rId2" Type="http://schemas.openxmlformats.org/officeDocument/2006/relationships/notesSlide" Target="../notesSlides/notesSlide90.xml"/><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66.svg"/><Relationship Id="rId10" Type="http://schemas.openxmlformats.org/officeDocument/2006/relationships/image" Target="../media/image71.svg"/><Relationship Id="rId4" Type="http://schemas.openxmlformats.org/officeDocument/2006/relationships/image" Target="../media/image65.png"/><Relationship Id="rId9" Type="http://schemas.openxmlformats.org/officeDocument/2006/relationships/image" Target="../media/image70.png"/></Relationships>
</file>

<file path=ppt/slides/_rels/slide91.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8.png"/><Relationship Id="rId3" Type="http://schemas.openxmlformats.org/officeDocument/2006/relationships/image" Target="../media/image19.png"/><Relationship Id="rId7" Type="http://schemas.microsoft.com/office/2007/relationships/hdphoto" Target="../media/hdphoto1.wdp"/><Relationship Id="rId12" Type="http://schemas.openxmlformats.org/officeDocument/2006/relationships/image" Target="../media/image77.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76.png"/><Relationship Id="rId5" Type="http://schemas.openxmlformats.org/officeDocument/2006/relationships/image" Target="../media/image64.png"/><Relationship Id="rId10" Type="http://schemas.microsoft.com/office/2007/relationships/hdphoto" Target="../media/hdphoto2.wdp"/><Relationship Id="rId4" Type="http://schemas.openxmlformats.org/officeDocument/2006/relationships/image" Target="../media/image20.png"/><Relationship Id="rId9" Type="http://schemas.openxmlformats.org/officeDocument/2006/relationships/image" Target="../media/image75.png"/><Relationship Id="rId14" Type="http://schemas.microsoft.com/office/2007/relationships/hdphoto" Target="../media/hdphoto3.wdp"/></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2E2A"/>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754880" cy="4754880"/>
          </a:xfrm>
          <a:prstGeom prst="ellipse">
            <a:avLst/>
          </a:prstGeom>
          <a:solidFill>
            <a:srgbClr val="0B4F4A"/>
          </a:solidFill>
          <a:ln/>
        </p:spPr>
        <p:txBody>
          <a:bodyPr/>
          <a:lstStyle/>
          <a:p>
            <a:endParaRPr lang="en-IN"/>
          </a:p>
        </p:txBody>
      </p:sp>
      <p:sp>
        <p:nvSpPr>
          <p:cNvPr id="3" name="Shape 1"/>
          <p:cNvSpPr/>
          <p:nvPr/>
        </p:nvSpPr>
        <p:spPr>
          <a:xfrm>
            <a:off x="10195560" y="-868680"/>
            <a:ext cx="3200400" cy="3200400"/>
          </a:xfrm>
          <a:prstGeom prst="ellipse">
            <a:avLst/>
          </a:prstGeom>
          <a:solidFill>
            <a:srgbClr val="0E5C56"/>
          </a:solidFill>
          <a:ln/>
        </p:spPr>
        <p:txBody>
          <a:bodyPr/>
          <a:lstStyle/>
          <a:p>
            <a:endParaRPr lang="en-IN"/>
          </a:p>
        </p:txBody>
      </p:sp>
      <p:sp>
        <p:nvSpPr>
          <p:cNvPr id="6" name="Text 4"/>
          <p:cNvSpPr/>
          <p:nvPr/>
        </p:nvSpPr>
        <p:spPr>
          <a:xfrm>
            <a:off x="822960" y="1828800"/>
            <a:ext cx="7315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dirty="0">
                <a:ln>
                  <a:noFill/>
                </a:ln>
                <a:solidFill>
                  <a:srgbClr val="FF6B35"/>
                </a:solidFill>
                <a:effectLst/>
                <a:uLnTx/>
                <a:uFillTx/>
                <a:latin typeface="Calibri" pitchFamily="34" charset="0"/>
                <a:ea typeface="Calibri" pitchFamily="34" charset="-122"/>
                <a:cs typeface="Calibri" pitchFamily="34" charset="-120"/>
              </a:rPr>
              <a:t>PROFESSIONAL INTRODUCTION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77240" y="2194560"/>
            <a:ext cx="9601200" cy="10515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Tejal Mugul</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3246120"/>
            <a:ext cx="91440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ADCD8"/>
                </a:solidFill>
                <a:effectLst/>
                <a:uLnTx/>
                <a:uFillTx/>
                <a:latin typeface="Calibri" pitchFamily="34" charset="0"/>
                <a:ea typeface="Calibri" pitchFamily="34" charset="-122"/>
                <a:cs typeface="Calibri" pitchFamily="34" charset="-120"/>
              </a:rPr>
              <a:t>Market Research Professional  |  Competitive Intelligence  |  Strategic Insights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22960" y="3886200"/>
            <a:ext cx="3108960" cy="0"/>
          </a:xfrm>
          <a:prstGeom prst="line">
            <a:avLst/>
          </a:prstGeom>
          <a:noFill/>
          <a:ln w="25400">
            <a:solidFill>
              <a:srgbClr val="FF6B35"/>
            </a:solidFill>
            <a:prstDash val="solid"/>
          </a:ln>
        </p:spPr>
        <p:txBody>
          <a:bodyPr/>
          <a:lstStyle/>
          <a:p>
            <a:endParaRPr lang="en-IN"/>
          </a:p>
        </p:txBody>
      </p:sp>
      <p:sp>
        <p:nvSpPr>
          <p:cNvPr id="20" name="Tagline"/>
          <p:cNvSpPr/>
          <p:nvPr/>
        </p:nvSpPr>
        <p:spPr>
          <a:xfrm>
            <a:off x="822960" y="3920000"/>
            <a:ext cx="96012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FF6B35"/>
                </a:solidFill>
                <a:effectLst/>
                <a:uLnTx/>
                <a:uFillTx/>
                <a:latin typeface="Calibri" pitchFamily="34" charset="0"/>
                <a:ea typeface="Calibri" pitchFamily="34" charset="-122"/>
                <a:cs typeface="Calibri" pitchFamily="34" charset="-120"/>
              </a:rPr>
              <a:t>USD 400K+ Consulting Impact  •  Fortune 500 Client Trust  •  Cross-Sector Market Intelligence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22960" y="4160520"/>
            <a:ext cx="6400800" cy="175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Pune, Maharashtra, India (Open to All Locations)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tejal10mugul@gmail.com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linkedin.com/in/tejal10mugul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+91 8698741555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tejal10mugulgif.github.io/tejal-portfolio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3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substack.com/@tejmugul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FC7C0"/>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1338560" y="6355080"/>
            <a:ext cx="457200" cy="457200"/>
          </a:xfrm>
          <a:prstGeom prst="ellipse">
            <a:avLst/>
          </a:prstGeom>
          <a:solidFill>
            <a:srgbClr val="FFFFFF"/>
          </a:solidFill>
          <a:ln/>
        </p:spPr>
        <p:txBody>
          <a:bodyPr/>
          <a:lstStyle/>
          <a:p>
            <a:endParaRPr lang="en-IN"/>
          </a:p>
        </p:txBody>
      </p:sp>
      <p:sp>
        <p:nvSpPr>
          <p:cNvPr id="13" name="Text 11"/>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01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D4F55591-F8F4-9CB3-F184-CD04E1265146}"/>
              </a:ext>
            </a:extLst>
          </p:cNvPr>
          <p:cNvPicPr>
            <a:picLocks noChangeAspect="1"/>
          </p:cNvPicPr>
          <p:nvPr/>
        </p:nvPicPr>
        <p:blipFill>
          <a:blip r:embed="rId3"/>
          <a:stretch>
            <a:fillRect/>
          </a:stretch>
        </p:blipFill>
        <p:spPr>
          <a:xfrm>
            <a:off x="7481878" y="2331720"/>
            <a:ext cx="3872883" cy="3913278"/>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5F1"/>
        </a:solidFill>
        <a:effectLst/>
      </p:bgPr>
    </p:bg>
    <p:spTree>
      <p:nvGrpSpPr>
        <p:cNvPr id="1" name=""/>
        <p:cNvGrpSpPr/>
        <p:nvPr/>
      </p:nvGrpSpPr>
      <p:grpSpPr>
        <a:xfrm>
          <a:off x="0" y="0"/>
          <a:ext cx="0" cy="0"/>
          <a:chOff x="0" y="0"/>
          <a:chExt cx="0" cy="0"/>
        </a:xfrm>
      </p:grpSpPr>
      <p:sp>
        <p:nvSpPr>
          <p:cNvPr id="2" name="Text 0"/>
          <p:cNvSpPr/>
          <p:nvPr/>
        </p:nvSpPr>
        <p:spPr>
          <a:xfrm>
            <a:off x="624843" y="411480"/>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2E2A"/>
                </a:solidFill>
                <a:effectLst/>
                <a:uLnTx/>
                <a:uFillTx/>
                <a:latin typeface="Cambria" pitchFamily="34" charset="0"/>
                <a:ea typeface="Cambria" pitchFamily="34" charset="-122"/>
                <a:cs typeface="Cambria" pitchFamily="34" charset="-120"/>
              </a:rPr>
              <a:t>Professional Snapshot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24843" y="960120"/>
            <a:ext cx="9601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Transforming market intelligence into strategic, revenue-driving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09FA85E3-2F24-8AF8-2294-5AA0961446F2}"/>
              </a:ext>
            </a:extLst>
          </p:cNvPr>
          <p:cNvGrpSpPr/>
          <p:nvPr/>
        </p:nvGrpSpPr>
        <p:grpSpPr>
          <a:xfrm>
            <a:off x="599442" y="1554480"/>
            <a:ext cx="11035454" cy="1737360"/>
            <a:chOff x="599442" y="1554480"/>
            <a:chExt cx="11035454" cy="1737360"/>
          </a:xfrm>
        </p:grpSpPr>
        <p:grpSp>
          <p:nvGrpSpPr>
            <p:cNvPr id="31" name="Group 30">
              <a:extLst>
                <a:ext uri="{FF2B5EF4-FFF2-40B4-BE49-F238E27FC236}">
                  <a16:creationId xmlns:a16="http://schemas.microsoft.com/office/drawing/2014/main" id="{75FBDCEB-8110-26A5-32D6-0A72B807CC75}"/>
                </a:ext>
              </a:extLst>
            </p:cNvPr>
            <p:cNvGrpSpPr/>
            <p:nvPr/>
          </p:nvGrpSpPr>
          <p:grpSpPr>
            <a:xfrm>
              <a:off x="599442" y="1554480"/>
              <a:ext cx="10968547" cy="1737360"/>
              <a:chOff x="548640" y="1554480"/>
              <a:chExt cx="11201400" cy="1737360"/>
            </a:xfrm>
          </p:grpSpPr>
          <p:sp>
            <p:nvSpPr>
              <p:cNvPr id="4" name="Shape 2"/>
              <p:cNvSpPr/>
              <p:nvPr/>
            </p:nvSpPr>
            <p:spPr>
              <a:xfrm>
                <a:off x="548640" y="1554480"/>
                <a:ext cx="3520440" cy="1737360"/>
              </a:xfrm>
              <a:prstGeom prst="roundRect">
                <a:avLst>
                  <a:gd name="adj" fmla="val 4211"/>
                </a:avLst>
              </a:prstGeom>
              <a:solidFill>
                <a:srgbClr val="FFFFFF"/>
              </a:solidFill>
              <a:ln/>
              <a:effectLst>
                <a:outerShdw blurRad="76200" dist="25400" dir="5400000" algn="bl" rotWithShape="0">
                  <a:srgbClr val="1E2624">
                    <a:alpha val="12000"/>
                  </a:srgbClr>
                </a:outerShdw>
              </a:effectLst>
            </p:spPr>
            <p:txBody>
              <a:bodyPr/>
              <a:lstStyle/>
              <a:p>
                <a:endParaRPr lang="en-IN" sz="1200"/>
              </a:p>
            </p:txBody>
          </p:sp>
          <p:sp>
            <p:nvSpPr>
              <p:cNvPr id="6" name="Text 4"/>
              <p:cNvSpPr/>
              <p:nvPr/>
            </p:nvSpPr>
            <p:spPr>
              <a:xfrm>
                <a:off x="731520" y="2468880"/>
                <a:ext cx="3154680" cy="7315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Years in Market Research &amp;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Competitive Intelligence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389120" y="1554480"/>
                <a:ext cx="3520440" cy="1737360"/>
              </a:xfrm>
              <a:prstGeom prst="roundRect">
                <a:avLst>
                  <a:gd name="adj" fmla="val 4211"/>
                </a:avLst>
              </a:prstGeom>
              <a:solidFill>
                <a:srgbClr val="FFFFFF"/>
              </a:solidFill>
              <a:ln/>
              <a:effectLst>
                <a:outerShdw blurRad="76200" dist="25400" dir="5400000" algn="bl" rotWithShape="0">
                  <a:srgbClr val="1E2624">
                    <a:alpha val="12000"/>
                  </a:srgbClr>
                </a:outerShdw>
              </a:effectLst>
            </p:spPr>
            <p:txBody>
              <a:bodyPr/>
              <a:lstStyle/>
              <a:p>
                <a:endParaRPr lang="en-IN" sz="1200"/>
              </a:p>
            </p:txBody>
          </p:sp>
          <p:sp>
            <p:nvSpPr>
              <p:cNvPr id="9" name="Text 7"/>
              <p:cNvSpPr/>
              <p:nvPr/>
            </p:nvSpPr>
            <p:spPr>
              <a:xfrm>
                <a:off x="4572000" y="2468880"/>
                <a:ext cx="3154680" cy="7315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Company Intelligence Profiles &amp;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Benchmarking Reports Authored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8229600" y="1554480"/>
                <a:ext cx="3520440" cy="1737360"/>
              </a:xfrm>
              <a:prstGeom prst="roundRect">
                <a:avLst>
                  <a:gd name="adj" fmla="val 4211"/>
                </a:avLst>
              </a:prstGeom>
              <a:solidFill>
                <a:srgbClr val="FFFFFF"/>
              </a:solidFill>
              <a:ln/>
              <a:effectLst>
                <a:outerShdw blurRad="76200" dist="25400" dir="5400000" algn="bl" rotWithShape="0">
                  <a:srgbClr val="1E2624">
                    <a:alpha val="12000"/>
                  </a:srgbClr>
                </a:outerShdw>
              </a:effectLst>
            </p:spPr>
            <p:txBody>
              <a:bodyPr/>
              <a:lstStyle/>
              <a:p>
                <a:endParaRPr lang="en-IN" sz="1200"/>
              </a:p>
            </p:txBody>
          </p:sp>
          <p:sp>
            <p:nvSpPr>
              <p:cNvPr id="12" name="Text 10"/>
              <p:cNvSpPr/>
              <p:nvPr/>
            </p:nvSpPr>
            <p:spPr>
              <a:xfrm>
                <a:off x="8412480" y="2468880"/>
                <a:ext cx="3154680" cy="7315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Repeat Client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Engagements Built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2" name="Group 31">
              <a:extLst>
                <a:ext uri="{FF2B5EF4-FFF2-40B4-BE49-F238E27FC236}">
                  <a16:creationId xmlns:a16="http://schemas.microsoft.com/office/drawing/2014/main" id="{83648179-79F5-E157-3C90-3F0F73710F22}"/>
                </a:ext>
              </a:extLst>
            </p:cNvPr>
            <p:cNvGrpSpPr/>
            <p:nvPr/>
          </p:nvGrpSpPr>
          <p:grpSpPr>
            <a:xfrm>
              <a:off x="799256" y="1710605"/>
              <a:ext cx="10835640" cy="685800"/>
              <a:chOff x="731520" y="1719072"/>
              <a:chExt cx="10835640" cy="685800"/>
            </a:xfrm>
          </p:grpSpPr>
          <p:sp>
            <p:nvSpPr>
              <p:cNvPr id="5" name="Text 3"/>
              <p:cNvSpPr/>
              <p:nvPr/>
            </p:nvSpPr>
            <p:spPr>
              <a:xfrm>
                <a:off x="731520" y="1719072"/>
                <a:ext cx="315468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3</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0" y="1719072"/>
                <a:ext cx="315468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400+</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412480" y="1719072"/>
                <a:ext cx="315468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20+</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13" name="Text 11"/>
          <p:cNvSpPr/>
          <p:nvPr/>
        </p:nvSpPr>
        <p:spPr>
          <a:xfrm>
            <a:off x="624843" y="3630511"/>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2E2A"/>
                </a:solidFill>
                <a:effectLst/>
                <a:uLnTx/>
                <a:uFillTx/>
                <a:latin typeface="Calibri" pitchFamily="34" charset="0"/>
                <a:ea typeface="Cambria" pitchFamily="34" charset="-122"/>
                <a:cs typeface="Cambria" pitchFamily="34" charset="-120"/>
              </a:rPr>
              <a:t>Who I Am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78521" y="3840480"/>
            <a:ext cx="10676880" cy="219456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I am a Competitive Intelligence and Strategy Consulting professional with 3 years of experience delivering market intelligence, market entry strategy, pricing intelligence, and business analysis for Fortune 500 clients across Automotive, FMCG, ICT, Chemicals, and Industrial sectors — spanning North America, Europe, Asia-Pacific, Latin America, and the Middle East &amp; Africa.</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My work applies structured frameworks — SWOT, PESTLE, Porter's Five Forces, and TAM/SAM/SOM market sizing — backed by Power BI and SQL, to build dashboards tracking pricing intelligence, M&amp;A activity, and supply chain signals. I've mentored junior analysts and delivered 100% on-time across concurrent client engagements in distributed Agile teams.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1338560" y="6355080"/>
            <a:ext cx="457200" cy="457200"/>
          </a:xfrm>
          <a:prstGeom prst="ellipse">
            <a:avLst/>
          </a:prstGeom>
          <a:solidFill>
            <a:srgbClr val="0B4F4A"/>
          </a:solidFill>
          <a:ln/>
        </p:spPr>
        <p:txBody>
          <a:bodyPr/>
          <a:lstStyle/>
          <a:p>
            <a:endParaRPr lang="en-IN"/>
          </a:p>
        </p:txBody>
      </p:sp>
      <p:sp>
        <p:nvSpPr>
          <p:cNvPr id="30" name="Text 28"/>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5F1"/>
        </a:solidFill>
        <a:effectLst/>
      </p:bgPr>
    </p:bg>
    <p:spTree>
      <p:nvGrpSpPr>
        <p:cNvPr id="1" name="">
          <a:extLst>
            <a:ext uri="{FF2B5EF4-FFF2-40B4-BE49-F238E27FC236}">
              <a16:creationId xmlns:a16="http://schemas.microsoft.com/office/drawing/2014/main" id="{5D70902F-BD47-6146-893F-3FF6D58A2B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5A51CD-2AD4-7A1C-BECF-5B1A821357FA}"/>
              </a:ext>
            </a:extLst>
          </p:cNvPr>
          <p:cNvSpPr/>
          <p:nvPr/>
        </p:nvSpPr>
        <p:spPr>
          <a:xfrm>
            <a:off x="624841" y="369145"/>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2E2A"/>
                </a:solidFill>
                <a:effectLst/>
                <a:uLnTx/>
                <a:uFillTx/>
                <a:latin typeface="Cambria" pitchFamily="34" charset="0"/>
                <a:ea typeface="Cambria" pitchFamily="34" charset="-122"/>
                <a:cs typeface="Cambria" pitchFamily="34" charset="-120"/>
              </a:rPr>
              <a:t>Sector Coverage (1/2)</a:t>
            </a:r>
          </a:p>
        </p:txBody>
      </p:sp>
      <p:sp>
        <p:nvSpPr>
          <p:cNvPr id="3" name="Text 1">
            <a:extLst>
              <a:ext uri="{FF2B5EF4-FFF2-40B4-BE49-F238E27FC236}">
                <a16:creationId xmlns:a16="http://schemas.microsoft.com/office/drawing/2014/main" id="{83581BE6-88F8-B775-DB81-23ABF8A2007B}"/>
              </a:ext>
            </a:extLst>
          </p:cNvPr>
          <p:cNvSpPr/>
          <p:nvPr/>
        </p:nvSpPr>
        <p:spPr>
          <a:xfrm>
            <a:off x="624841" y="960120"/>
            <a:ext cx="9601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Delivering research across technology, manufacturing, mobility, and advanced materials.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3932AB84-7338-BCCC-19EE-C5EBC97BE360}"/>
              </a:ext>
            </a:extLst>
          </p:cNvPr>
          <p:cNvGrpSpPr/>
          <p:nvPr/>
        </p:nvGrpSpPr>
        <p:grpSpPr>
          <a:xfrm>
            <a:off x="1373300" y="1490472"/>
            <a:ext cx="9099968" cy="392515"/>
            <a:chOff x="1339432" y="1490472"/>
            <a:chExt cx="8845966" cy="392515"/>
          </a:xfrm>
        </p:grpSpPr>
        <p:sp>
          <p:nvSpPr>
            <p:cNvPr id="16" name="Shape 14">
              <a:extLst>
                <a:ext uri="{FF2B5EF4-FFF2-40B4-BE49-F238E27FC236}">
                  <a16:creationId xmlns:a16="http://schemas.microsoft.com/office/drawing/2014/main" id="{489FD501-2A6C-6AAF-A3E7-2223ADB30049}"/>
                </a:ext>
              </a:extLst>
            </p:cNvPr>
            <p:cNvSpPr/>
            <p:nvPr/>
          </p:nvSpPr>
          <p:spPr>
            <a:xfrm>
              <a:off x="1364829" y="1490472"/>
              <a:ext cx="196596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508D8D2F-F938-1231-6FD7-3E008F55CCFA}"/>
                </a:ext>
              </a:extLst>
            </p:cNvPr>
            <p:cNvSpPr/>
            <p:nvPr/>
          </p:nvSpPr>
          <p:spPr>
            <a:xfrm>
              <a:off x="4785363" y="1490472"/>
              <a:ext cx="196596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9AB701F3-00C7-4DF8-09C9-D4C0F83A1FDB}"/>
                </a:ext>
              </a:extLst>
            </p:cNvPr>
            <p:cNvSpPr/>
            <p:nvPr/>
          </p:nvSpPr>
          <p:spPr>
            <a:xfrm>
              <a:off x="8219438" y="1490472"/>
              <a:ext cx="196596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17F5C734-89D1-F876-49DF-396AC8423807}"/>
                </a:ext>
              </a:extLst>
            </p:cNvPr>
            <p:cNvGrpSpPr/>
            <p:nvPr/>
          </p:nvGrpSpPr>
          <p:grpSpPr>
            <a:xfrm>
              <a:off x="1339432" y="1490472"/>
              <a:ext cx="8820569" cy="392515"/>
              <a:chOff x="670560" y="1490472"/>
              <a:chExt cx="8820569" cy="392515"/>
            </a:xfrm>
          </p:grpSpPr>
          <p:sp>
            <p:nvSpPr>
              <p:cNvPr id="17" name="Text 15">
                <a:extLst>
                  <a:ext uri="{FF2B5EF4-FFF2-40B4-BE49-F238E27FC236}">
                    <a16:creationId xmlns:a16="http://schemas.microsoft.com/office/drawing/2014/main" id="{DB252F3C-D7AF-7A19-4BB2-A45EBE791896}"/>
                  </a:ext>
                </a:extLst>
              </p:cNvPr>
              <p:cNvSpPr/>
              <p:nvPr/>
            </p:nvSpPr>
            <p:spPr>
              <a:xfrm>
                <a:off x="670560" y="1498939"/>
                <a:ext cx="1965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a:extLst>
                  <a:ext uri="{FF2B5EF4-FFF2-40B4-BE49-F238E27FC236}">
                    <a16:creationId xmlns:a16="http://schemas.microsoft.com/office/drawing/2014/main" id="{DCCFB055-C72E-DED8-3605-824846921621}"/>
                  </a:ext>
                </a:extLst>
              </p:cNvPr>
              <p:cNvSpPr/>
              <p:nvPr/>
            </p:nvSpPr>
            <p:spPr>
              <a:xfrm>
                <a:off x="4091094" y="1498939"/>
                <a:ext cx="1965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Semiconductors &amp; Electronics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C5BB08E5-590A-0E6D-9135-B76602D9E32A}"/>
                  </a:ext>
                </a:extLst>
              </p:cNvPr>
              <p:cNvSpPr/>
              <p:nvPr/>
            </p:nvSpPr>
            <p:spPr>
              <a:xfrm>
                <a:off x="7525169" y="1490472"/>
                <a:ext cx="1965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Industrial Automation &amp; Manufacturing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28" name="Text 26">
            <a:extLst>
              <a:ext uri="{FF2B5EF4-FFF2-40B4-BE49-F238E27FC236}">
                <a16:creationId xmlns:a16="http://schemas.microsoft.com/office/drawing/2014/main" id="{2B99B2ED-8CE6-22DF-9D8A-577A6E5AE6DD}"/>
              </a:ext>
            </a:extLst>
          </p:cNvPr>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2B43459-0BF7-8EFA-931B-B3E2ABAB84AC}"/>
              </a:ext>
            </a:extLst>
          </p:cNvPr>
          <p:cNvSpPr/>
          <p:nvPr/>
        </p:nvSpPr>
        <p:spPr>
          <a:xfrm>
            <a:off x="11338560" y="6355080"/>
            <a:ext cx="457200" cy="45720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9F03B7D9-F520-987D-EB32-1EBA39ABC48B}"/>
              </a:ext>
            </a:extLst>
          </p:cNvPr>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14">
            <a:extLst>
              <a:ext uri="{FF2B5EF4-FFF2-40B4-BE49-F238E27FC236}">
                <a16:creationId xmlns:a16="http://schemas.microsoft.com/office/drawing/2014/main" id="{B91F8D9A-88A3-F774-EB73-82F59AEFD769}"/>
              </a:ext>
            </a:extLst>
          </p:cNvPr>
          <p:cNvSpPr/>
          <p:nvPr/>
        </p:nvSpPr>
        <p:spPr>
          <a:xfrm>
            <a:off x="1399426" y="2066199"/>
            <a:ext cx="2022410" cy="276826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Data Centre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Japan Data Centre Cooling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NA &amp; Japan Data Centre Infrastructure Management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14">
            <a:extLst>
              <a:ext uri="{FF2B5EF4-FFF2-40B4-BE49-F238E27FC236}">
                <a16:creationId xmlns:a16="http://schemas.microsoft.com/office/drawing/2014/main" id="{E007A627-28C4-FA87-BE47-D3C89D9D7B52}"/>
              </a:ext>
            </a:extLst>
          </p:cNvPr>
          <p:cNvSpPr/>
          <p:nvPr/>
        </p:nvSpPr>
        <p:spPr>
          <a:xfrm>
            <a:off x="4918177" y="2066199"/>
            <a:ext cx="2022410" cy="276826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In-Vehicle USB-C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Photosensitive Polyimide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Electrostatic Discharge (ESD) Packaging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Others</a:t>
            </a:r>
          </a:p>
        </p:txBody>
      </p:sp>
      <p:sp>
        <p:nvSpPr>
          <p:cNvPr id="41" name="Shape 14">
            <a:extLst>
              <a:ext uri="{FF2B5EF4-FFF2-40B4-BE49-F238E27FC236}">
                <a16:creationId xmlns:a16="http://schemas.microsoft.com/office/drawing/2014/main" id="{F1292CBE-2257-E870-81F9-E3076FA20A20}"/>
              </a:ext>
            </a:extLst>
          </p:cNvPr>
          <p:cNvSpPr/>
          <p:nvPr/>
        </p:nvSpPr>
        <p:spPr>
          <a:xfrm>
            <a:off x="8450858" y="2061465"/>
            <a:ext cx="2022410" cy="2773001"/>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Building Management System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Plant Factory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Vacuum Insulated Pipe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14">
            <a:extLst>
              <a:ext uri="{FF2B5EF4-FFF2-40B4-BE49-F238E27FC236}">
                <a16:creationId xmlns:a16="http://schemas.microsoft.com/office/drawing/2014/main" id="{D6987C02-9B19-AF58-2E63-7EBB9EB5F5C6}"/>
              </a:ext>
            </a:extLst>
          </p:cNvPr>
          <p:cNvSpPr/>
          <p:nvPr/>
        </p:nvSpPr>
        <p:spPr>
          <a:xfrm>
            <a:off x="624841" y="5367528"/>
            <a:ext cx="202241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14">
            <a:extLst>
              <a:ext uri="{FF2B5EF4-FFF2-40B4-BE49-F238E27FC236}">
                <a16:creationId xmlns:a16="http://schemas.microsoft.com/office/drawing/2014/main" id="{3BD42700-CD1A-6679-E4FC-EDF6F28527D5}"/>
              </a:ext>
            </a:extLst>
          </p:cNvPr>
          <p:cNvSpPr/>
          <p:nvPr/>
        </p:nvSpPr>
        <p:spPr>
          <a:xfrm>
            <a:off x="2889559" y="4956723"/>
            <a:ext cx="2757708" cy="120057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Vehicle Dynamic Control System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Automotive Polycarbonate Glass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Others</a:t>
            </a:r>
          </a:p>
        </p:txBody>
      </p:sp>
      <p:sp>
        <p:nvSpPr>
          <p:cNvPr id="47" name="Shape 14">
            <a:extLst>
              <a:ext uri="{FF2B5EF4-FFF2-40B4-BE49-F238E27FC236}">
                <a16:creationId xmlns:a16="http://schemas.microsoft.com/office/drawing/2014/main" id="{989861D6-44C3-2042-E9A9-4C9697BD29A7}"/>
              </a:ext>
            </a:extLst>
          </p:cNvPr>
          <p:cNvSpPr/>
          <p:nvPr/>
        </p:nvSpPr>
        <p:spPr>
          <a:xfrm>
            <a:off x="5889575" y="5352288"/>
            <a:ext cx="202241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14">
            <a:extLst>
              <a:ext uri="{FF2B5EF4-FFF2-40B4-BE49-F238E27FC236}">
                <a16:creationId xmlns:a16="http://schemas.microsoft.com/office/drawing/2014/main" id="{FCE71CC8-8B3B-432C-34BF-A34AB4F548D3}"/>
              </a:ext>
            </a:extLst>
          </p:cNvPr>
          <p:cNvSpPr/>
          <p:nvPr/>
        </p:nvSpPr>
        <p:spPr>
          <a:xfrm>
            <a:off x="8154293" y="4941483"/>
            <a:ext cx="2757708" cy="120057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Ammonia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Friction Material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Nickel Alloys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Others</a:t>
            </a:r>
          </a:p>
        </p:txBody>
      </p:sp>
      <p:sp>
        <p:nvSpPr>
          <p:cNvPr id="53" name="Text 15">
            <a:extLst>
              <a:ext uri="{FF2B5EF4-FFF2-40B4-BE49-F238E27FC236}">
                <a16:creationId xmlns:a16="http://schemas.microsoft.com/office/drawing/2014/main" id="{2CE4A139-E632-16A6-CB68-F998A90FE1A1}"/>
              </a:ext>
            </a:extLst>
          </p:cNvPr>
          <p:cNvSpPr/>
          <p:nvPr/>
        </p:nvSpPr>
        <p:spPr>
          <a:xfrm>
            <a:off x="624841" y="5379381"/>
            <a:ext cx="202241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Automotive &amp; Mobility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15">
            <a:extLst>
              <a:ext uri="{FF2B5EF4-FFF2-40B4-BE49-F238E27FC236}">
                <a16:creationId xmlns:a16="http://schemas.microsoft.com/office/drawing/2014/main" id="{15F14D0C-A129-F855-B725-6ED8D7FB0CFF}"/>
              </a:ext>
            </a:extLst>
          </p:cNvPr>
          <p:cNvSpPr/>
          <p:nvPr/>
        </p:nvSpPr>
        <p:spPr>
          <a:xfrm>
            <a:off x="5889575" y="5349747"/>
            <a:ext cx="202241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Chemical &amp; Advanced Materials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999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5F1"/>
        </a:solidFill>
        <a:effectLst/>
      </p:bgPr>
    </p:bg>
    <p:spTree>
      <p:nvGrpSpPr>
        <p:cNvPr id="1" name="">
          <a:extLst>
            <a:ext uri="{FF2B5EF4-FFF2-40B4-BE49-F238E27FC236}">
              <a16:creationId xmlns:a16="http://schemas.microsoft.com/office/drawing/2014/main" id="{34F8BC1C-6311-7449-F052-A06EDB3136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7D5E370-9CA1-23FF-8968-27D194AABC54}"/>
              </a:ext>
            </a:extLst>
          </p:cNvPr>
          <p:cNvSpPr/>
          <p:nvPr/>
        </p:nvSpPr>
        <p:spPr>
          <a:xfrm>
            <a:off x="624841" y="369145"/>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2E2A"/>
                </a:solidFill>
                <a:effectLst/>
                <a:uLnTx/>
                <a:uFillTx/>
                <a:latin typeface="Cambria" pitchFamily="34" charset="0"/>
                <a:ea typeface="Cambria" pitchFamily="34" charset="-122"/>
                <a:cs typeface="Cambria" pitchFamily="34" charset="-120"/>
              </a:rPr>
              <a:t>Sector Coverage (2/2)</a:t>
            </a:r>
          </a:p>
        </p:txBody>
      </p:sp>
      <p:sp>
        <p:nvSpPr>
          <p:cNvPr id="3" name="Text 1">
            <a:extLst>
              <a:ext uri="{FF2B5EF4-FFF2-40B4-BE49-F238E27FC236}">
                <a16:creationId xmlns:a16="http://schemas.microsoft.com/office/drawing/2014/main" id="{7CB4B167-441B-A1A4-D53F-A4A1E00F9CB7}"/>
              </a:ext>
            </a:extLst>
          </p:cNvPr>
          <p:cNvSpPr/>
          <p:nvPr/>
        </p:nvSpPr>
        <p:spPr>
          <a:xfrm>
            <a:off x="624841" y="960120"/>
            <a:ext cx="9601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Expanding expertise across healthcare, infrastructure, energy, and consumer markets.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E7A18FF7-9DB4-CE48-6918-DFCDD4D1A28E}"/>
              </a:ext>
            </a:extLst>
          </p:cNvPr>
          <p:cNvGrpSpPr/>
          <p:nvPr/>
        </p:nvGrpSpPr>
        <p:grpSpPr>
          <a:xfrm>
            <a:off x="1373300" y="1490472"/>
            <a:ext cx="9099968" cy="392515"/>
            <a:chOff x="1339432" y="1490472"/>
            <a:chExt cx="8845966" cy="392515"/>
          </a:xfrm>
        </p:grpSpPr>
        <p:sp>
          <p:nvSpPr>
            <p:cNvPr id="16" name="Shape 14">
              <a:extLst>
                <a:ext uri="{FF2B5EF4-FFF2-40B4-BE49-F238E27FC236}">
                  <a16:creationId xmlns:a16="http://schemas.microsoft.com/office/drawing/2014/main" id="{99017F87-A4F6-369C-0741-C9C5DB4A2C65}"/>
                </a:ext>
              </a:extLst>
            </p:cNvPr>
            <p:cNvSpPr/>
            <p:nvPr/>
          </p:nvSpPr>
          <p:spPr>
            <a:xfrm>
              <a:off x="1364829" y="1490472"/>
              <a:ext cx="196596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409EDA65-96B6-9614-77EC-90AF6F52C203}"/>
                </a:ext>
              </a:extLst>
            </p:cNvPr>
            <p:cNvSpPr/>
            <p:nvPr/>
          </p:nvSpPr>
          <p:spPr>
            <a:xfrm>
              <a:off x="4785363" y="1490472"/>
              <a:ext cx="196596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94E35445-58DF-FDD4-71D7-5367BF9CAF98}"/>
                </a:ext>
              </a:extLst>
            </p:cNvPr>
            <p:cNvSpPr/>
            <p:nvPr/>
          </p:nvSpPr>
          <p:spPr>
            <a:xfrm>
              <a:off x="8219438" y="1490472"/>
              <a:ext cx="196596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E48AF4F7-7024-6EA0-F861-3A95AB421F7D}"/>
                </a:ext>
              </a:extLst>
            </p:cNvPr>
            <p:cNvGrpSpPr/>
            <p:nvPr/>
          </p:nvGrpSpPr>
          <p:grpSpPr>
            <a:xfrm>
              <a:off x="1339432" y="1490472"/>
              <a:ext cx="8820569" cy="392515"/>
              <a:chOff x="670560" y="1490472"/>
              <a:chExt cx="8820569" cy="392515"/>
            </a:xfrm>
          </p:grpSpPr>
          <p:sp>
            <p:nvSpPr>
              <p:cNvPr id="17" name="Text 15">
                <a:extLst>
                  <a:ext uri="{FF2B5EF4-FFF2-40B4-BE49-F238E27FC236}">
                    <a16:creationId xmlns:a16="http://schemas.microsoft.com/office/drawing/2014/main" id="{7DE3075F-4203-52A1-D87E-37151914FBA5}"/>
                  </a:ext>
                </a:extLst>
              </p:cNvPr>
              <p:cNvSpPr/>
              <p:nvPr/>
            </p:nvSpPr>
            <p:spPr>
              <a:xfrm>
                <a:off x="670560" y="1498939"/>
                <a:ext cx="1965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Healthcare &amp; Life Sciences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a:extLst>
                  <a:ext uri="{FF2B5EF4-FFF2-40B4-BE49-F238E27FC236}">
                    <a16:creationId xmlns:a16="http://schemas.microsoft.com/office/drawing/2014/main" id="{1DB59B07-2BFD-63F9-7065-1DCC28785C36}"/>
                  </a:ext>
                </a:extLst>
              </p:cNvPr>
              <p:cNvSpPr/>
              <p:nvPr/>
            </p:nvSpPr>
            <p:spPr>
              <a:xfrm>
                <a:off x="4091094" y="1498939"/>
                <a:ext cx="1965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Energy, Utilities &amp; Sustainability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CCD12C23-1EFF-EB2B-F896-781D72F2DA13}"/>
                  </a:ext>
                </a:extLst>
              </p:cNvPr>
              <p:cNvSpPr/>
              <p:nvPr/>
            </p:nvSpPr>
            <p:spPr>
              <a:xfrm>
                <a:off x="7525169" y="1490472"/>
                <a:ext cx="19659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Construction &amp; Infrastructure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28" name="Text 26">
            <a:extLst>
              <a:ext uri="{FF2B5EF4-FFF2-40B4-BE49-F238E27FC236}">
                <a16:creationId xmlns:a16="http://schemas.microsoft.com/office/drawing/2014/main" id="{D5F3911E-BE49-67E0-6A4F-5DE83EE1F5B9}"/>
              </a:ext>
            </a:extLst>
          </p:cNvPr>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0E91976-2341-0AA1-F221-68F56E20C22F}"/>
              </a:ext>
            </a:extLst>
          </p:cNvPr>
          <p:cNvSpPr/>
          <p:nvPr/>
        </p:nvSpPr>
        <p:spPr>
          <a:xfrm>
            <a:off x="11338560" y="6355080"/>
            <a:ext cx="457200" cy="45720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F1BF8477-CCA8-FB23-633A-9669F64992D6}"/>
              </a:ext>
            </a:extLst>
          </p:cNvPr>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14">
            <a:extLst>
              <a:ext uri="{FF2B5EF4-FFF2-40B4-BE49-F238E27FC236}">
                <a16:creationId xmlns:a16="http://schemas.microsoft.com/office/drawing/2014/main" id="{91A6C0CF-AAE4-B893-D997-CED0C284B226}"/>
              </a:ext>
            </a:extLst>
          </p:cNvPr>
          <p:cNvSpPr/>
          <p:nvPr/>
        </p:nvSpPr>
        <p:spPr>
          <a:xfrm>
            <a:off x="1399426" y="2066199"/>
            <a:ext cx="2022410" cy="276826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Non-Invasive Prenatal Testing (NIPT)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mAbs</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Contract Manufacturing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Medical Rubber Stoppers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14">
            <a:extLst>
              <a:ext uri="{FF2B5EF4-FFF2-40B4-BE49-F238E27FC236}">
                <a16:creationId xmlns:a16="http://schemas.microsoft.com/office/drawing/2014/main" id="{587B0EB4-E90B-4089-472E-99615850D5B8}"/>
              </a:ext>
            </a:extLst>
          </p:cNvPr>
          <p:cNvSpPr/>
          <p:nvPr/>
        </p:nvSpPr>
        <p:spPr>
          <a:xfrm>
            <a:off x="4918177" y="2066199"/>
            <a:ext cx="2022410" cy="276826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Global Smart Water Meter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Smart Water Metering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Global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Water Heater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14">
            <a:extLst>
              <a:ext uri="{FF2B5EF4-FFF2-40B4-BE49-F238E27FC236}">
                <a16:creationId xmlns:a16="http://schemas.microsoft.com/office/drawing/2014/main" id="{5102D965-663E-85B7-931A-D3AD6BF4FFA2}"/>
              </a:ext>
            </a:extLst>
          </p:cNvPr>
          <p:cNvSpPr/>
          <p:nvPr/>
        </p:nvSpPr>
        <p:spPr>
          <a:xfrm>
            <a:off x="8450858" y="2061465"/>
            <a:ext cx="2022410" cy="2773001"/>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Asia Pacific Building Information Modelling (BIM)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Calibri" panose="020F0502020204030204"/>
              </a:rPr>
              <a:t>Global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Concrete Paving Equipment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Global Windows &amp; Doors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14">
            <a:extLst>
              <a:ext uri="{FF2B5EF4-FFF2-40B4-BE49-F238E27FC236}">
                <a16:creationId xmlns:a16="http://schemas.microsoft.com/office/drawing/2014/main" id="{C3D2D109-B183-D159-2BA1-D3B2617DC3AB}"/>
              </a:ext>
            </a:extLst>
          </p:cNvPr>
          <p:cNvSpPr/>
          <p:nvPr/>
        </p:nvSpPr>
        <p:spPr>
          <a:xfrm>
            <a:off x="624841" y="5367528"/>
            <a:ext cx="202241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14">
            <a:extLst>
              <a:ext uri="{FF2B5EF4-FFF2-40B4-BE49-F238E27FC236}">
                <a16:creationId xmlns:a16="http://schemas.microsoft.com/office/drawing/2014/main" id="{C454B558-E56F-A44F-1F78-B68A11073D3D}"/>
              </a:ext>
            </a:extLst>
          </p:cNvPr>
          <p:cNvSpPr/>
          <p:nvPr/>
        </p:nvSpPr>
        <p:spPr>
          <a:xfrm>
            <a:off x="2889559" y="4956723"/>
            <a:ext cx="2757708" cy="120057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Global Access Control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Crowd Management &amp; Event Security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14">
            <a:extLst>
              <a:ext uri="{FF2B5EF4-FFF2-40B4-BE49-F238E27FC236}">
                <a16:creationId xmlns:a16="http://schemas.microsoft.com/office/drawing/2014/main" id="{28D55649-3E66-B673-1304-64DCBFE0117C}"/>
              </a:ext>
            </a:extLst>
          </p:cNvPr>
          <p:cNvSpPr/>
          <p:nvPr/>
        </p:nvSpPr>
        <p:spPr>
          <a:xfrm>
            <a:off x="5889575" y="5352288"/>
            <a:ext cx="2022410" cy="384048"/>
          </a:xfrm>
          <a:prstGeom prst="roundRect">
            <a:avLst>
              <a:gd name="adj" fmla="val 50000"/>
            </a:avLst>
          </a:prstGeom>
          <a:solidFill>
            <a:srgbClr val="D8ECE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14">
            <a:extLst>
              <a:ext uri="{FF2B5EF4-FFF2-40B4-BE49-F238E27FC236}">
                <a16:creationId xmlns:a16="http://schemas.microsoft.com/office/drawing/2014/main" id="{7B05CBD0-8F92-B04B-FE1F-64B748277FF8}"/>
              </a:ext>
            </a:extLst>
          </p:cNvPr>
          <p:cNvSpPr/>
          <p:nvPr/>
        </p:nvSpPr>
        <p:spPr>
          <a:xfrm>
            <a:off x="8154293" y="4941483"/>
            <a:ext cx="2757708" cy="1200577"/>
          </a:xfrm>
          <a:prstGeom prst="roundRect">
            <a:avLst>
              <a:gd name="adj" fmla="val 50000"/>
            </a:avLst>
          </a:prstGeom>
          <a:solidFill>
            <a:srgbClr val="D8ECE4"/>
          </a:solidFill>
          <a:ln/>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Food Packaging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Matcha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Coffee 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prstClr val="black"/>
                </a:solidFill>
                <a:latin typeface="Calibri" panose="020F0502020204030204"/>
              </a:rPr>
              <a:t>Others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15">
            <a:extLst>
              <a:ext uri="{FF2B5EF4-FFF2-40B4-BE49-F238E27FC236}">
                <a16:creationId xmlns:a16="http://schemas.microsoft.com/office/drawing/2014/main" id="{87FBEC92-7FF8-E628-9810-B324DAD6CC3C}"/>
              </a:ext>
            </a:extLst>
          </p:cNvPr>
          <p:cNvSpPr/>
          <p:nvPr/>
        </p:nvSpPr>
        <p:spPr>
          <a:xfrm>
            <a:off x="624841" y="5379381"/>
            <a:ext cx="202241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Security &amp; Safety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15">
            <a:extLst>
              <a:ext uri="{FF2B5EF4-FFF2-40B4-BE49-F238E27FC236}">
                <a16:creationId xmlns:a16="http://schemas.microsoft.com/office/drawing/2014/main" id="{D2098C2B-85D9-25BC-27F8-2626B9E6788F}"/>
              </a:ext>
            </a:extLst>
          </p:cNvPr>
          <p:cNvSpPr/>
          <p:nvPr/>
        </p:nvSpPr>
        <p:spPr>
          <a:xfrm>
            <a:off x="5889575" y="5349747"/>
            <a:ext cx="202241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Chemical &amp; Advanced Materials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0962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F5F1"/>
        </a:solidFill>
        <a:effectLst/>
      </p:bgPr>
    </p:bg>
    <p:spTree>
      <p:nvGrpSpPr>
        <p:cNvPr id="1" name=""/>
        <p:cNvGrpSpPr/>
        <p:nvPr/>
      </p:nvGrpSpPr>
      <p:grpSpPr>
        <a:xfrm>
          <a:off x="0" y="0"/>
          <a:ext cx="0" cy="0"/>
          <a:chOff x="0" y="0"/>
          <a:chExt cx="0" cy="0"/>
        </a:xfrm>
      </p:grpSpPr>
      <p:sp>
        <p:nvSpPr>
          <p:cNvPr id="2" name="Text 0"/>
          <p:cNvSpPr/>
          <p:nvPr/>
        </p:nvSpPr>
        <p:spPr>
          <a:xfrm>
            <a:off x="633310" y="411480"/>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2E2A"/>
                </a:solidFill>
                <a:effectLst/>
                <a:uLnTx/>
                <a:uFillTx/>
                <a:latin typeface="Cambria" pitchFamily="34" charset="0"/>
                <a:ea typeface="Cambria" pitchFamily="34" charset="-122"/>
                <a:cs typeface="Cambria" pitchFamily="34" charset="-120"/>
              </a:rPr>
              <a:t>Experience &amp; Expertise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3310" y="960120"/>
            <a:ext cx="9601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Building data-driven strategies through research, analysis, and business intelligence.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55567" y="1691640"/>
            <a:ext cx="0" cy="4160520"/>
          </a:xfrm>
          <a:prstGeom prst="line">
            <a:avLst/>
          </a:prstGeom>
          <a:noFill/>
          <a:ln w="31750">
            <a:solidFill>
              <a:srgbClr val="D8ECE4"/>
            </a:solidFill>
            <a:prstDash val="solid"/>
          </a:ln>
        </p:spPr>
        <p:txBody>
          <a:bodyPr/>
          <a:lstStyle/>
          <a:p>
            <a:endParaRPr lang="en-IN"/>
          </a:p>
        </p:txBody>
      </p:sp>
      <p:sp>
        <p:nvSpPr>
          <p:cNvPr id="5" name="Shape 3"/>
          <p:cNvSpPr/>
          <p:nvPr/>
        </p:nvSpPr>
        <p:spPr>
          <a:xfrm>
            <a:off x="590975" y="1600200"/>
            <a:ext cx="329184" cy="329184"/>
          </a:xfrm>
          <a:prstGeom prst="ellipse">
            <a:avLst/>
          </a:prstGeom>
          <a:solidFill>
            <a:srgbClr val="FF6B35"/>
          </a:solidFill>
          <a:ln w="25400">
            <a:solidFill>
              <a:srgbClr val="FFFFFF"/>
            </a:solidFill>
            <a:prstDash val="solid"/>
          </a:ln>
        </p:spPr>
        <p:txBody>
          <a:bodyPr/>
          <a:lstStyle/>
          <a:p>
            <a:endParaRPr lang="en-IN"/>
          </a:p>
        </p:txBody>
      </p:sp>
      <p:sp>
        <p:nvSpPr>
          <p:cNvPr id="6" name="Text 4"/>
          <p:cNvSpPr/>
          <p:nvPr/>
        </p:nvSpPr>
        <p:spPr>
          <a:xfrm>
            <a:off x="1051560" y="1527048"/>
            <a:ext cx="58064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2E2A"/>
                </a:solidFill>
                <a:effectLst/>
                <a:uLnTx/>
                <a:uFillTx/>
                <a:latin typeface="Calibri" pitchFamily="34" charset="0"/>
                <a:ea typeface="Cambria" pitchFamily="34" charset="-122"/>
                <a:cs typeface="Cambria" pitchFamily="34" charset="-120"/>
              </a:rPr>
              <a:t>Research Associate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51560" y="1856232"/>
            <a:ext cx="5806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Research Nester Analytics  ·  Nov 2023 - Oct 2025</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51560" y="2148840"/>
            <a:ext cx="5806440" cy="12344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Delivered market intelligence reports and competitive positioning studies for global clients including 3M, ABB, Honda, IBM, Siemens, and BASF. Led PESTEL, SWOT, and M&amp;A tracking across ICT, chemicals, and industrial markets.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90975" y="3703320"/>
            <a:ext cx="329184" cy="329184"/>
          </a:xfrm>
          <a:prstGeom prst="ellipse">
            <a:avLst/>
          </a:prstGeom>
          <a:solidFill>
            <a:srgbClr val="FF6B35"/>
          </a:solidFill>
          <a:ln w="25400">
            <a:solidFill>
              <a:srgbClr val="FFFFFF"/>
            </a:solidFill>
            <a:prstDash val="solid"/>
          </a:ln>
        </p:spPr>
        <p:txBody>
          <a:bodyPr/>
          <a:lstStyle/>
          <a:p>
            <a:endParaRPr lang="en-IN"/>
          </a:p>
        </p:txBody>
      </p:sp>
      <p:sp>
        <p:nvSpPr>
          <p:cNvPr id="10" name="Text 8"/>
          <p:cNvSpPr/>
          <p:nvPr/>
        </p:nvSpPr>
        <p:spPr>
          <a:xfrm>
            <a:off x="1051560" y="3630168"/>
            <a:ext cx="58064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2E2A"/>
                </a:solidFill>
                <a:effectLst/>
                <a:uLnTx/>
                <a:uFillTx/>
                <a:latin typeface="Calibri" pitchFamily="34" charset="0"/>
                <a:ea typeface="Cambria" pitchFamily="34" charset="-122"/>
                <a:cs typeface="Cambria" pitchFamily="34" charset="-120"/>
              </a:rPr>
              <a:t>Research Associate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051560" y="3959352"/>
            <a:ext cx="5806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Prudour Pvt. Ltd.  ·  Dec 2022 - Aug 2023</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51560" y="4251960"/>
            <a:ext cx="5806440" cy="12344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Conducted SWOT, PESTLE, and Porter's Five Forces analysis to assess competitive landscapes, identify risks and opportunities, and produce client-ready research reports.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269480" y="1600200"/>
            <a:ext cx="4251960" cy="1965960"/>
          </a:xfrm>
          <a:prstGeom prst="roundRect">
            <a:avLst>
              <a:gd name="adj" fmla="val 3721"/>
            </a:avLst>
          </a:prstGeom>
          <a:solidFill>
            <a:srgbClr val="FFFFFF"/>
          </a:solidFill>
          <a:ln/>
          <a:effectLst>
            <a:outerShdw blurRad="76200" dist="25400" dir="5400000" algn="bl" rotWithShape="0">
              <a:srgbClr val="1E2624">
                <a:alpha val="12000"/>
              </a:srgbClr>
            </a:outerShdw>
          </a:effectLst>
        </p:spPr>
        <p:txBody>
          <a:bodyPr/>
          <a:lstStyle/>
          <a:p>
            <a:endParaRPr lang="en-IN"/>
          </a:p>
        </p:txBody>
      </p:sp>
      <p:sp>
        <p:nvSpPr>
          <p:cNvPr id="14" name="Text 12"/>
          <p:cNvSpPr/>
          <p:nvPr/>
        </p:nvSpPr>
        <p:spPr>
          <a:xfrm>
            <a:off x="7498080" y="1737360"/>
            <a:ext cx="4023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mbria" pitchFamily="34" charset="-122"/>
                <a:cs typeface="Cambria" pitchFamily="34" charset="-120"/>
              </a:rPr>
              <a:t>Frameworks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498080" y="2103120"/>
            <a:ext cx="4023360" cy="1371600"/>
          </a:xfrm>
          <a:prstGeom prst="rect">
            <a:avLst/>
          </a:prstGeom>
          <a:noFill/>
          <a:ln/>
        </p:spPr>
        <p:txBody>
          <a:bodyPr wrap="square" lIns="0" tIns="0" rIns="0" bIns="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SWOT  •  PESTLE  •  Porter's Five Forces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TAM / SAM / SOM  •  Competitive Benchmarking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7269480" y="3794760"/>
            <a:ext cx="4251960" cy="1965960"/>
          </a:xfrm>
          <a:prstGeom prst="roundRect">
            <a:avLst>
              <a:gd name="adj" fmla="val 3721"/>
            </a:avLst>
          </a:prstGeom>
          <a:solidFill>
            <a:srgbClr val="FFFFFF"/>
          </a:solidFill>
          <a:ln/>
          <a:effectLst>
            <a:outerShdw blurRad="76200" dist="25400" dir="5400000" algn="bl" rotWithShape="0">
              <a:srgbClr val="1E2624">
                <a:alpha val="12000"/>
              </a:srgbClr>
            </a:outerShdw>
          </a:effectLst>
        </p:spPr>
        <p:txBody>
          <a:bodyPr/>
          <a:lstStyle/>
          <a:p>
            <a:endParaRPr lang="en-IN"/>
          </a:p>
        </p:txBody>
      </p:sp>
      <p:sp>
        <p:nvSpPr>
          <p:cNvPr id="17" name="Text 15"/>
          <p:cNvSpPr/>
          <p:nvPr/>
        </p:nvSpPr>
        <p:spPr>
          <a:xfrm>
            <a:off x="7498080" y="3931920"/>
            <a:ext cx="4023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mbria" pitchFamily="34" charset="-122"/>
                <a:cs typeface="Cambria" pitchFamily="34" charset="-120"/>
              </a:rPr>
              <a:t>Tools &amp; Databases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498080" y="4297680"/>
            <a:ext cx="4023360" cy="1371600"/>
          </a:xfrm>
          <a:prstGeom prst="rect">
            <a:avLst/>
          </a:prstGeom>
          <a:noFill/>
          <a:ln/>
        </p:spPr>
        <p:txBody>
          <a:bodyPr wrap="square" lIns="0" tIns="0" rIns="0" bIns="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Advanced Excel  •  Power BI (basic proficiency)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Factiva  •  Statista  •  GlobalData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1338560" y="6355080"/>
            <a:ext cx="457200" cy="457200"/>
          </a:xfrm>
          <a:prstGeom prst="ellipse">
            <a:avLst/>
          </a:prstGeom>
          <a:solidFill>
            <a:srgbClr val="0B4F4A"/>
          </a:solidFill>
          <a:ln/>
        </p:spPr>
        <p:txBody>
          <a:bodyPr/>
          <a:lstStyle/>
          <a:p>
            <a:endParaRPr lang="en-IN"/>
          </a:p>
        </p:txBody>
      </p:sp>
      <p:sp>
        <p:nvSpPr>
          <p:cNvPr id="21" name="Text 19"/>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2E2A"/>
        </a:solidFill>
        <a:effectLst/>
      </p:bgPr>
    </p:bg>
    <p:spTree>
      <p:nvGrpSpPr>
        <p:cNvPr id="1" name=""/>
        <p:cNvGrpSpPr/>
        <p:nvPr/>
      </p:nvGrpSpPr>
      <p:grpSpPr>
        <a:xfrm>
          <a:off x="0" y="0"/>
          <a:ext cx="0" cy="0"/>
          <a:chOff x="0" y="0"/>
          <a:chExt cx="0" cy="0"/>
        </a:xfrm>
      </p:grpSpPr>
      <p:sp>
        <p:nvSpPr>
          <p:cNvPr id="2" name="Shape 0"/>
          <p:cNvSpPr/>
          <p:nvPr/>
        </p:nvSpPr>
        <p:spPr>
          <a:xfrm>
            <a:off x="-1463040" y="4023360"/>
            <a:ext cx="4572000" cy="4572000"/>
          </a:xfrm>
          <a:prstGeom prst="ellipse">
            <a:avLst/>
          </a:prstGeom>
          <a:solidFill>
            <a:srgbClr val="0B4F4A"/>
          </a:solidFill>
          <a:ln/>
        </p:spPr>
        <p:txBody>
          <a:bodyPr/>
          <a:lstStyle/>
          <a:p>
            <a:endParaRPr lang="en-IN"/>
          </a:p>
        </p:txBody>
      </p:sp>
      <p:sp>
        <p:nvSpPr>
          <p:cNvPr id="3" name="Text 1"/>
          <p:cNvSpPr/>
          <p:nvPr/>
        </p:nvSpPr>
        <p:spPr>
          <a:xfrm>
            <a:off x="599442" y="392849"/>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Education &amp; Let's Connect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17730" y="965193"/>
            <a:ext cx="2743200" cy="0"/>
          </a:xfrm>
          <a:prstGeom prst="line">
            <a:avLst/>
          </a:prstGeom>
          <a:noFill/>
          <a:ln w="25400">
            <a:solidFill>
              <a:srgbClr val="FF6B35"/>
            </a:solidFill>
            <a:prstDash val="solid"/>
          </a:ln>
        </p:spPr>
        <p:txBody>
          <a:bodyPr/>
          <a:lstStyle/>
          <a:p>
            <a:endParaRPr lang="en-IN"/>
          </a:p>
        </p:txBody>
      </p:sp>
      <p:sp>
        <p:nvSpPr>
          <p:cNvPr id="5" name="Text 3"/>
          <p:cNvSpPr/>
          <p:nvPr/>
        </p:nvSpPr>
        <p:spPr>
          <a:xfrm>
            <a:off x="658707" y="146304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F6B35"/>
                </a:solidFill>
                <a:effectLst/>
                <a:uLnTx/>
                <a:uFillTx/>
                <a:latin typeface="Calibri" pitchFamily="34" charset="0"/>
                <a:ea typeface="Calibri" pitchFamily="34" charset="-122"/>
                <a:cs typeface="Calibri" pitchFamily="34" charset="-120"/>
              </a:rPr>
              <a:t>EDUCATION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58707" y="1874520"/>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mbria" pitchFamily="34" charset="-122"/>
                <a:cs typeface="Cambria" pitchFamily="34" charset="-120"/>
              </a:rPr>
              <a:t>PGDM, Marketing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58707" y="2221992"/>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Dr. D. Y. Patil B-School, Pune  ·  2020 - 2022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58707" y="2743200"/>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mbria" pitchFamily="34" charset="-122"/>
                <a:cs typeface="Cambria" pitchFamily="34" charset="-120"/>
              </a:rPr>
              <a:t>BMS, E-Commerce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58707" y="3090672"/>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M.D. Palesha Commerce College, Dhule  ·  2017 - 2020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58707" y="379476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F6B35"/>
                </a:solidFill>
                <a:effectLst/>
                <a:uLnTx/>
                <a:uFillTx/>
                <a:latin typeface="Calibri" pitchFamily="34" charset="0"/>
                <a:ea typeface="Calibri" pitchFamily="34" charset="-122"/>
                <a:cs typeface="Calibri" pitchFamily="34" charset="-120"/>
              </a:rPr>
              <a:t>CERTIFICATIONS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58707" y="4160520"/>
            <a:ext cx="5852160" cy="1005840"/>
          </a:xfrm>
          <a:prstGeom prst="rect">
            <a:avLst/>
          </a:prstGeom>
          <a:noFill/>
          <a:ln/>
        </p:spPr>
        <p:txBody>
          <a:bodyPr wrap="square" lIns="0" tIns="0" rIns="0" bIns="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ADCD8"/>
                </a:solidFill>
                <a:effectLst/>
                <a:uLnTx/>
                <a:uFillTx/>
                <a:latin typeface="Calibri" pitchFamily="34" charset="0"/>
                <a:ea typeface="Calibri" pitchFamily="34" charset="-122"/>
                <a:cs typeface="Calibri" pitchFamily="34" charset="-120"/>
              </a:rPr>
              <a:t>Market Research: Qualitative  •  Conducting a SWOT Analysis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ADCD8"/>
                </a:solidFill>
                <a:effectLst/>
                <a:uLnTx/>
                <a:uFillTx/>
                <a:latin typeface="Calibri" pitchFamily="34" charset="0"/>
                <a:ea typeface="Calibri" pitchFamily="34" charset="-122"/>
                <a:cs typeface="Calibri" pitchFamily="34" charset="-120"/>
              </a:rPr>
              <a:t>Excel for Business Analysts  •  Preparing Data for Analysis with Microsoft Excel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223760" y="1463040"/>
            <a:ext cx="4316307" cy="3977640"/>
          </a:xfrm>
          <a:prstGeom prst="roundRect">
            <a:avLst>
              <a:gd name="adj" fmla="val 2299"/>
            </a:avLst>
          </a:prstGeom>
          <a:solidFill>
            <a:srgbClr val="0B4F4A"/>
          </a:solidFill>
          <a:ln w="12700">
            <a:solidFill>
              <a:srgbClr val="FF6B35"/>
            </a:solidFill>
            <a:prstDash val="solid"/>
          </a:ln>
        </p:spPr>
        <p:txBody>
          <a:bodyPr/>
          <a:lstStyle/>
          <a:p>
            <a:endParaRPr lang="en-IN"/>
          </a:p>
        </p:txBody>
      </p:sp>
      <p:sp>
        <p:nvSpPr>
          <p:cNvPr id="13" name="Text 11"/>
          <p:cNvSpPr/>
          <p:nvPr/>
        </p:nvSpPr>
        <p:spPr>
          <a:xfrm>
            <a:off x="7498080" y="173736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mbria" pitchFamily="34" charset="-122"/>
                <a:cs typeface="Cambria" pitchFamily="34" charset="-120"/>
              </a:rPr>
              <a:t>Get In Touch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498080" y="2377440"/>
            <a:ext cx="3931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8BC34A"/>
                </a:solidFill>
                <a:effectLst/>
                <a:uLnTx/>
                <a:uFillTx/>
                <a:latin typeface="Calibri" pitchFamily="34" charset="0"/>
                <a:ea typeface="Calibri" pitchFamily="34" charset="-122"/>
                <a:cs typeface="Calibri" pitchFamily="34" charset="-120"/>
              </a:rPr>
              <a:t>EMAIL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498080" y="265176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tejal10mugul@gmail.com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498080" y="3154680"/>
            <a:ext cx="3931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8BC34A"/>
                </a:solidFill>
                <a:effectLst/>
                <a:uLnTx/>
                <a:uFillTx/>
                <a:latin typeface="Calibri" pitchFamily="34" charset="0"/>
                <a:ea typeface="Calibri" pitchFamily="34" charset="-122"/>
                <a:cs typeface="Calibri" pitchFamily="34" charset="-120"/>
              </a:rPr>
              <a:t>LINKEDIN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498080" y="342900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linkedin.com/in/tejal10mugul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498080" y="3931920"/>
            <a:ext cx="3931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8BC34A"/>
                </a:solidFill>
                <a:effectLst/>
                <a:uLnTx/>
                <a:uFillTx/>
                <a:latin typeface="Calibri" pitchFamily="34" charset="0"/>
                <a:ea typeface="Calibri" pitchFamily="34" charset="-122"/>
                <a:cs typeface="Calibri" pitchFamily="34" charset="-120"/>
              </a:rPr>
              <a:t>LOCATION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498080" y="420624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Pune, Maharashtra, India (Open to All Locations)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FC7C0"/>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11338560" y="6355080"/>
            <a:ext cx="457200" cy="457200"/>
          </a:xfrm>
          <a:prstGeom prst="ellipse">
            <a:avLst/>
          </a:prstGeom>
          <a:solidFill>
            <a:srgbClr val="FFFFFF"/>
          </a:solidFill>
          <a:ln/>
        </p:spPr>
        <p:txBody>
          <a:bodyPr/>
          <a:lstStyle/>
          <a:p>
            <a:endParaRPr lang="en-IN"/>
          </a:p>
        </p:txBody>
      </p:sp>
      <p:sp>
        <p:nvSpPr>
          <p:cNvPr id="22" name="Text 20"/>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08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8686800" y="-2011680"/>
            <a:ext cx="5943600" cy="5943600"/>
          </a:xfrm>
          <a:prstGeom prst="ellipse">
            <a:avLst/>
          </a:prstGeom>
          <a:solidFill>
            <a:srgbClr val="062E2A"/>
          </a:solidFill>
          <a:ln/>
        </p:spPr>
        <p:txBody>
          <a:bodyPr/>
          <a:lstStyle/>
          <a:p>
            <a:endParaRPr lang="en-IN"/>
          </a:p>
        </p:txBody>
      </p:sp>
      <p:sp>
        <p:nvSpPr>
          <p:cNvPr id="3" name="Shape 1"/>
          <p:cNvSpPr/>
          <p:nvPr/>
        </p:nvSpPr>
        <p:spPr>
          <a:xfrm>
            <a:off x="-2286000" y="4389120"/>
            <a:ext cx="5029200" cy="5029200"/>
          </a:xfrm>
          <a:prstGeom prst="ellipse">
            <a:avLst/>
          </a:prstGeom>
          <a:solidFill>
            <a:srgbClr val="062E2A"/>
          </a:solidFill>
          <a:ln/>
        </p:spPr>
        <p:txBody>
          <a:bodyPr/>
          <a:lstStyle/>
          <a:p>
            <a:endParaRPr lang="en-IN"/>
          </a:p>
        </p:txBody>
      </p:sp>
      <p:sp>
        <p:nvSpPr>
          <p:cNvPr id="4" name="Shape 2"/>
          <p:cNvSpPr/>
          <p:nvPr/>
        </p:nvSpPr>
        <p:spPr>
          <a:xfrm>
            <a:off x="9966960" y="4206240"/>
            <a:ext cx="1188720" cy="1188720"/>
          </a:xfrm>
          <a:prstGeom prst="ellipse">
            <a:avLst/>
          </a:prstGeom>
          <a:solidFill>
            <a:srgbClr val="FF6B35"/>
          </a:solidFill>
          <a:ln/>
        </p:spPr>
        <p:txBody>
          <a:bodyPr/>
          <a:lstStyle/>
          <a:p>
            <a:endParaRPr lang="en-IN"/>
          </a:p>
        </p:txBody>
      </p:sp>
      <p:sp>
        <p:nvSpPr>
          <p:cNvPr id="5" name="Shape 3"/>
          <p:cNvSpPr/>
          <p:nvPr/>
        </p:nvSpPr>
        <p:spPr>
          <a:xfrm>
            <a:off x="1188720" y="1188720"/>
            <a:ext cx="502920" cy="502920"/>
          </a:xfrm>
          <a:prstGeom prst="ellipse">
            <a:avLst/>
          </a:prstGeom>
          <a:solidFill>
            <a:srgbClr val="8BC34A"/>
          </a:solidFill>
          <a:ln/>
        </p:spPr>
        <p:txBody>
          <a:bodyPr/>
          <a:lstStyle/>
          <a:p>
            <a:endParaRPr lang="en-IN"/>
          </a:p>
        </p:txBody>
      </p:sp>
      <p:sp>
        <p:nvSpPr>
          <p:cNvPr id="6" name="Text 4"/>
          <p:cNvSpPr/>
          <p:nvPr/>
        </p:nvSpPr>
        <p:spPr>
          <a:xfrm>
            <a:off x="822960" y="1874520"/>
            <a:ext cx="8229600" cy="365760"/>
          </a:xfrm>
          <a:prstGeom prst="rect">
            <a:avLst/>
          </a:prstGeom>
          <a:noFill/>
          <a:ln/>
        </p:spPr>
        <p:txBody>
          <a:bodyPr wrap="square" rtlCol="0" anchor="ctr"/>
          <a:lstStyle/>
          <a:p>
            <a:pPr marL="0" indent="0">
              <a:buNone/>
            </a:pPr>
            <a:r>
              <a:rPr lang="en-US" sz="1400" b="1" kern="0" spc="300" dirty="0">
                <a:solidFill>
                  <a:srgbClr val="FF6B35"/>
                </a:solidFill>
                <a:latin typeface="Calibri" pitchFamily="34" charset="0"/>
                <a:ea typeface="Calibri" pitchFamily="34" charset="-122"/>
                <a:cs typeface="Calibri" pitchFamily="34" charset="-120"/>
              </a:rPr>
              <a:t>MARKET INTELLIGENCE REPORT</a:t>
            </a:r>
            <a:endParaRPr lang="en-US" sz="1400" dirty="0"/>
          </a:p>
        </p:txBody>
      </p:sp>
      <p:sp>
        <p:nvSpPr>
          <p:cNvPr id="7" name="Text 5"/>
          <p:cNvSpPr/>
          <p:nvPr/>
        </p:nvSpPr>
        <p:spPr>
          <a:xfrm>
            <a:off x="822960" y="2240280"/>
            <a:ext cx="10058400" cy="146304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Global Functional Beverage Market</a:t>
            </a:r>
            <a:endParaRPr lang="en-US" sz="4200" dirty="0"/>
          </a:p>
        </p:txBody>
      </p:sp>
      <p:sp>
        <p:nvSpPr>
          <p:cNvPr id="8" name="Text 6"/>
          <p:cNvSpPr/>
          <p:nvPr/>
        </p:nvSpPr>
        <p:spPr>
          <a:xfrm>
            <a:off x="822960" y="3520440"/>
            <a:ext cx="9601200" cy="548640"/>
          </a:xfrm>
          <a:prstGeom prst="rect">
            <a:avLst/>
          </a:prstGeom>
          <a:noFill/>
          <a:ln/>
        </p:spPr>
        <p:txBody>
          <a:bodyPr wrap="square" rtlCol="0" anchor="ctr"/>
          <a:lstStyle/>
          <a:p>
            <a:pPr marL="0" indent="0">
              <a:buNone/>
            </a:pPr>
            <a:r>
              <a:rPr lang="en-US" sz="1400" dirty="0">
                <a:solidFill>
                  <a:srgbClr val="EAF5F1"/>
                </a:solidFill>
                <a:latin typeface="Calibri" pitchFamily="34" charset="0"/>
                <a:ea typeface="Calibri" pitchFamily="34" charset="-122"/>
                <a:cs typeface="Calibri" pitchFamily="34" charset="-120"/>
              </a:rPr>
              <a:t>Size, Share, Competitive Landscape, Regional Analysis &amp; Forecast</a:t>
            </a:r>
            <a:endParaRPr lang="en-US" sz="1400" dirty="0"/>
          </a:p>
        </p:txBody>
      </p:sp>
      <p:sp>
        <p:nvSpPr>
          <p:cNvPr id="9" name="Text 7"/>
          <p:cNvSpPr/>
          <p:nvPr/>
        </p:nvSpPr>
        <p:spPr>
          <a:xfrm>
            <a:off x="822960" y="4114800"/>
            <a:ext cx="54864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2025 – 2036</a:t>
            </a:r>
            <a:endParaRPr lang="en-US" sz="2000" dirty="0"/>
          </a:p>
        </p:txBody>
      </p:sp>
      <p:sp>
        <p:nvSpPr>
          <p:cNvPr id="10" name="Text 8"/>
          <p:cNvSpPr/>
          <p:nvPr/>
        </p:nvSpPr>
        <p:spPr>
          <a:xfrm>
            <a:off x="822960" y="6035040"/>
            <a:ext cx="10058400" cy="365760"/>
          </a:xfrm>
          <a:prstGeom prst="rect">
            <a:avLst/>
          </a:prstGeom>
          <a:noFill/>
          <a:ln/>
        </p:spPr>
        <p:txBody>
          <a:bodyPr wrap="square" rtlCol="0" anchor="ctr"/>
          <a:lstStyle/>
          <a:p>
            <a:pPr marL="0" indent="0">
              <a:buNone/>
            </a:pPr>
            <a:r>
              <a:rPr lang="en-US" sz="1150" dirty="0">
                <a:solidFill>
                  <a:srgbClr val="D8ECE4"/>
                </a:solidFill>
                <a:latin typeface="Calibri" pitchFamily="34" charset="0"/>
                <a:ea typeface="Calibri" pitchFamily="34" charset="-122"/>
                <a:cs typeface="Calibri" pitchFamily="34" charset="-120"/>
              </a:rPr>
              <a:t>By Product Type • Ingredient • Packaging • Distribution Channel • End User • Region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6072"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Table of Contents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6072"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Report structure — Part 01 of 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380744"/>
            <a:ext cx="5303520" cy="4754880"/>
          </a:xfrm>
          <a:prstGeom prst="rect">
            <a:avLst/>
          </a:prstGeom>
          <a:solidFill>
            <a:srgbClr val="EAF5F1"/>
          </a:solidFill>
          <a:ln/>
        </p:spPr>
        <p:txBody>
          <a:bodyPr wrap="square"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Research Methodology</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Definition of Market and Segmentation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Executive Summary</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Market at a Glance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Global Market Size &amp; Forecast, 2025–2036</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Part 1 (Market Dynamics)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Market Growth Drivers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Market Restraints </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Market Opportunities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Market Trends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Part 2 (Industry &amp; Structural Analysis)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PESTEL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Regulatory &amp; Standards Landscape</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Industry Value Chain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Porter's Five Forces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Industry Risk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Trade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Raw Material Analysis</a:t>
            </a:r>
          </a:p>
        </p:txBody>
      </p:sp>
      <p:sp>
        <p:nvSpPr>
          <p:cNvPr id="6" name="Text 4"/>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2">
            <a:extLst>
              <a:ext uri="{FF2B5EF4-FFF2-40B4-BE49-F238E27FC236}">
                <a16:creationId xmlns:a16="http://schemas.microsoft.com/office/drawing/2014/main" id="{1C3B0C2D-EFF5-42D2-76F5-8C1A13A97799}"/>
              </a:ext>
            </a:extLst>
          </p:cNvPr>
          <p:cNvSpPr/>
          <p:nvPr/>
        </p:nvSpPr>
        <p:spPr>
          <a:xfrm>
            <a:off x="6324600" y="1380744"/>
            <a:ext cx="5303520" cy="4754880"/>
          </a:xfrm>
          <a:prstGeom prst="rect">
            <a:avLst/>
          </a:prstGeom>
          <a:solidFill>
            <a:srgbClr val="EAF5F1"/>
          </a:solidFill>
          <a:ln/>
        </p:spPr>
        <p:txBody>
          <a:bodyPr wrap="square" rtlCol="0" anchor="t"/>
          <a:lstStyle/>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Ingredient Innovation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Manufacturing Analysis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Technology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Supply Chain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Pricing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Regional Demand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Distribution Channel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Consumer Behavior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Consumer Preference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Packaging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Competitive Positioning Matrix</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SWOT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Recent Strategic Developments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Brand Positioning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AI Impact Analysis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Sustainability &amp; Clean-Label Trends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FF289-DE5A-E3AD-F013-8290AEFBFD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E9C4A0-EB67-3384-C902-6B025EEF658F}"/>
              </a:ext>
            </a:extLst>
          </p:cNvPr>
          <p:cNvSpPr/>
          <p:nvPr/>
        </p:nvSpPr>
        <p:spPr>
          <a:xfrm>
            <a:off x="576072"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Table of Contents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87C76FF4-EDD9-092E-DE31-3ECA8C9CB82C}"/>
              </a:ext>
            </a:extLst>
          </p:cNvPr>
          <p:cNvSpPr/>
          <p:nvPr/>
        </p:nvSpPr>
        <p:spPr>
          <a:xfrm>
            <a:off x="576072"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Report structure — Part 02 of 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3CE0113D-745D-9AB0-7215-A6D13E733D88}"/>
              </a:ext>
            </a:extLst>
          </p:cNvPr>
          <p:cNvSpPr/>
          <p:nvPr/>
        </p:nvSpPr>
        <p:spPr>
          <a:xfrm>
            <a:off x="640080" y="1380744"/>
            <a:ext cx="5303520" cy="4754880"/>
          </a:xfrm>
          <a:prstGeom prst="rect">
            <a:avLst/>
          </a:prstGeom>
          <a:solidFill>
            <a:srgbClr val="EAF5F1"/>
          </a:solidFill>
          <a:ln/>
        </p:spPr>
        <p:txBody>
          <a:bodyPr wrap="square"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Part 3 (Market Segmentation)</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Product Type Analysis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Ingredient Type Analysis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Packaging Type Analysis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Distribution Channel Analysis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End User Analysis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Part 4 (Regional &amp; Country Analysis)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Global Functional Beverage Market Overview</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North America Functional Beverage Market Overview </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Europe Functional Beverage Market Overview </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Asia-Pacific Functional Beverage Market Overview </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Latin America Functional Beverage Market Overview </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Middle East and Africa Functional Beverage Market Overview</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Part 5 (Competitive Landscape)</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Competitive Landscape Market Share, 2025</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Key Players</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PepsiCo, Inc.</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The Coca-Cola Company</a:t>
            </a:r>
          </a:p>
        </p:txBody>
      </p:sp>
      <p:sp>
        <p:nvSpPr>
          <p:cNvPr id="6" name="Text 4">
            <a:extLst>
              <a:ext uri="{FF2B5EF4-FFF2-40B4-BE49-F238E27FC236}">
                <a16:creationId xmlns:a16="http://schemas.microsoft.com/office/drawing/2014/main" id="{9C971A31-7EA1-DDE0-96BC-4998CAD9219D}"/>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3A35A570-2633-B1C4-0144-6F6F029B6C0D}"/>
              </a:ext>
            </a:extLst>
          </p:cNvPr>
          <p:cNvSpPr/>
          <p:nvPr/>
        </p:nvSpPr>
        <p:spPr>
          <a:xfrm>
            <a:off x="6382512" y="1376172"/>
            <a:ext cx="5303520" cy="4754880"/>
          </a:xfrm>
          <a:prstGeom prst="rect">
            <a:avLst/>
          </a:prstGeom>
          <a:solidFill>
            <a:srgbClr val="EAF5F1"/>
          </a:solidFill>
          <a:ln/>
        </p:spPr>
        <p:txBody>
          <a:bodyPr wrap="square" rtlCol="0" anchor="t"/>
          <a:lstStyle/>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Red Bull GmbH</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Danone S.A.</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Nestle S.A.</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Suntory Holdings</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Monster Beverage Corp.</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Celsius Holdings, Inc.</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GT's Living Foods</a:t>
            </a:r>
          </a:p>
          <a:p>
            <a:pPr marL="1085850" marR="0" lvl="2"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Others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Part 6 (Market Size &amp; Forecast Analysis)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Part 7 (Outlook &amp; Recommendations)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Investment &amp; Funding Landscape</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Impact of Inflation &amp; Economic Slowdown</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Future Outlook to 2036</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Analyst Recommendations for Stakeholders</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Conclusion</a:t>
            </a:r>
          </a:p>
        </p:txBody>
      </p:sp>
    </p:spTree>
    <p:extLst>
      <p:ext uri="{BB962C8B-B14F-4D97-AF65-F5344CB8AC3E}">
        <p14:creationId xmlns:p14="http://schemas.microsoft.com/office/powerpoint/2010/main" val="109976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1387" y="355939"/>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Research Methodology</a:t>
            </a:r>
            <a:endParaRPr lang="en-US" sz="2800" dirty="0"/>
          </a:p>
        </p:txBody>
      </p:sp>
      <p:sp>
        <p:nvSpPr>
          <p:cNvPr id="3" name="Text 1"/>
          <p:cNvSpPr/>
          <p:nvPr/>
        </p:nvSpPr>
        <p:spPr>
          <a:xfrm>
            <a:off x="511387" y="922867"/>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A blended top-down and bottom-up approach validated through primary and secondary research</a:t>
            </a:r>
            <a:endParaRPr lang="en-US" sz="1200" dirty="0"/>
          </a:p>
        </p:txBody>
      </p:sp>
      <p:grpSp>
        <p:nvGrpSpPr>
          <p:cNvPr id="30" name="Group 29">
            <a:extLst>
              <a:ext uri="{FF2B5EF4-FFF2-40B4-BE49-F238E27FC236}">
                <a16:creationId xmlns:a16="http://schemas.microsoft.com/office/drawing/2014/main" id="{97AB9E75-1A66-38C3-096B-A812AA3916D6}"/>
              </a:ext>
            </a:extLst>
          </p:cNvPr>
          <p:cNvGrpSpPr/>
          <p:nvPr/>
        </p:nvGrpSpPr>
        <p:grpSpPr>
          <a:xfrm>
            <a:off x="640080" y="1600200"/>
            <a:ext cx="10883047" cy="3794760"/>
            <a:chOff x="502920" y="1600200"/>
            <a:chExt cx="11155680" cy="3794760"/>
          </a:xfrm>
          <a:solidFill>
            <a:srgbClr val="EAF5F1"/>
          </a:solidFill>
        </p:grpSpPr>
        <p:sp>
          <p:nvSpPr>
            <p:cNvPr id="4" name="Shape 2"/>
            <p:cNvSpPr/>
            <p:nvPr/>
          </p:nvSpPr>
          <p:spPr>
            <a:xfrm>
              <a:off x="1491615" y="1600200"/>
              <a:ext cx="640080" cy="640080"/>
            </a:xfrm>
            <a:prstGeom prst="ellipse">
              <a:avLst/>
            </a:prstGeom>
            <a:grpFill/>
            <a:ln/>
          </p:spPr>
          <p:txBody>
            <a:bodyPr/>
            <a:lstStyle/>
            <a:p>
              <a:endParaRPr lang="en-IN"/>
            </a:p>
          </p:txBody>
        </p:sp>
        <p:sp>
          <p:nvSpPr>
            <p:cNvPr id="5" name="Text 3"/>
            <p:cNvSpPr/>
            <p:nvPr/>
          </p:nvSpPr>
          <p:spPr>
            <a:xfrm>
              <a:off x="1597881" y="1682496"/>
              <a:ext cx="432076" cy="438912"/>
            </a:xfrm>
            <a:prstGeom prst="rect">
              <a:avLst/>
            </a:prstGeom>
            <a:grp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Shape 7"/>
            <p:cNvSpPr/>
            <p:nvPr/>
          </p:nvSpPr>
          <p:spPr>
            <a:xfrm>
              <a:off x="3120390" y="3749040"/>
              <a:ext cx="228600" cy="0"/>
            </a:xfrm>
            <a:prstGeom prst="line">
              <a:avLst/>
            </a:prstGeom>
            <a:grpFill/>
            <a:ln w="19050">
              <a:solidFill>
                <a:srgbClr val="72827E"/>
              </a:solidFill>
              <a:prstDash val="dash"/>
            </a:ln>
          </p:spPr>
          <p:txBody>
            <a:bodyPr/>
            <a:lstStyle/>
            <a:p>
              <a:endParaRPr lang="en-IN"/>
            </a:p>
          </p:txBody>
        </p:sp>
        <p:sp>
          <p:nvSpPr>
            <p:cNvPr id="10" name="Shape 8"/>
            <p:cNvSpPr/>
            <p:nvPr/>
          </p:nvSpPr>
          <p:spPr>
            <a:xfrm>
              <a:off x="4337685" y="1600200"/>
              <a:ext cx="640080" cy="640080"/>
            </a:xfrm>
            <a:prstGeom prst="ellipse">
              <a:avLst/>
            </a:prstGeom>
            <a:grpFill/>
            <a:ln/>
          </p:spPr>
          <p:txBody>
            <a:bodyPr/>
            <a:lstStyle/>
            <a:p>
              <a:endParaRPr lang="en-IN"/>
            </a:p>
          </p:txBody>
        </p:sp>
        <p:sp>
          <p:nvSpPr>
            <p:cNvPr id="11" name="Text 9"/>
            <p:cNvSpPr/>
            <p:nvPr/>
          </p:nvSpPr>
          <p:spPr>
            <a:xfrm>
              <a:off x="4468860" y="1659636"/>
              <a:ext cx="415470" cy="521208"/>
            </a:xfrm>
            <a:prstGeom prst="rect">
              <a:avLst/>
            </a:prstGeom>
            <a:grp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Shape 13"/>
            <p:cNvSpPr/>
            <p:nvPr/>
          </p:nvSpPr>
          <p:spPr>
            <a:xfrm>
              <a:off x="5966460" y="3749040"/>
              <a:ext cx="228600" cy="0"/>
            </a:xfrm>
            <a:prstGeom prst="line">
              <a:avLst/>
            </a:prstGeom>
            <a:grpFill/>
            <a:ln w="19050">
              <a:solidFill>
                <a:srgbClr val="72827E"/>
              </a:solidFill>
              <a:prstDash val="dash"/>
            </a:ln>
          </p:spPr>
          <p:txBody>
            <a:bodyPr/>
            <a:lstStyle/>
            <a:p>
              <a:endParaRPr lang="en-IN"/>
            </a:p>
          </p:txBody>
        </p:sp>
        <p:sp>
          <p:nvSpPr>
            <p:cNvPr id="16" name="Shape 14"/>
            <p:cNvSpPr/>
            <p:nvPr/>
          </p:nvSpPr>
          <p:spPr>
            <a:xfrm>
              <a:off x="7183755" y="1600200"/>
              <a:ext cx="640080" cy="640080"/>
            </a:xfrm>
            <a:prstGeom prst="ellipse">
              <a:avLst/>
            </a:prstGeom>
            <a:grpFill/>
            <a:ln/>
          </p:spPr>
          <p:txBody>
            <a:bodyPr/>
            <a:lstStyle/>
            <a:p>
              <a:endParaRPr lang="en-IN"/>
            </a:p>
          </p:txBody>
        </p:sp>
        <p:sp>
          <p:nvSpPr>
            <p:cNvPr id="17" name="Text 15"/>
            <p:cNvSpPr/>
            <p:nvPr/>
          </p:nvSpPr>
          <p:spPr>
            <a:xfrm>
              <a:off x="7269857" y="1682496"/>
              <a:ext cx="467875" cy="438912"/>
            </a:xfrm>
            <a:prstGeom prst="rect">
              <a:avLst/>
            </a:prstGeom>
            <a:grp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Shape 19"/>
            <p:cNvSpPr/>
            <p:nvPr/>
          </p:nvSpPr>
          <p:spPr>
            <a:xfrm>
              <a:off x="8812530" y="3749040"/>
              <a:ext cx="228600" cy="0"/>
            </a:xfrm>
            <a:prstGeom prst="line">
              <a:avLst/>
            </a:prstGeom>
            <a:grpFill/>
            <a:ln w="19050">
              <a:solidFill>
                <a:srgbClr val="72827E"/>
              </a:solidFill>
              <a:prstDash val="dash"/>
            </a:ln>
          </p:spPr>
          <p:txBody>
            <a:bodyPr/>
            <a:lstStyle/>
            <a:p>
              <a:endParaRPr lang="en-IN"/>
            </a:p>
          </p:txBody>
        </p:sp>
        <p:sp>
          <p:nvSpPr>
            <p:cNvPr id="22" name="Shape 20"/>
            <p:cNvSpPr/>
            <p:nvPr/>
          </p:nvSpPr>
          <p:spPr>
            <a:xfrm>
              <a:off x="10029825" y="1600200"/>
              <a:ext cx="640080" cy="640080"/>
            </a:xfrm>
            <a:prstGeom prst="ellipse">
              <a:avLst/>
            </a:prstGeom>
            <a:grpFill/>
            <a:ln/>
          </p:spPr>
          <p:txBody>
            <a:bodyPr/>
            <a:lstStyle/>
            <a:p>
              <a:endParaRPr lang="en-IN"/>
            </a:p>
          </p:txBody>
        </p:sp>
        <p:sp>
          <p:nvSpPr>
            <p:cNvPr id="23" name="Text 21"/>
            <p:cNvSpPr/>
            <p:nvPr/>
          </p:nvSpPr>
          <p:spPr>
            <a:xfrm>
              <a:off x="10106977" y="1641348"/>
              <a:ext cx="485775" cy="521208"/>
            </a:xfrm>
            <a:prstGeom prst="rect">
              <a:avLst/>
            </a:prstGeom>
            <a:grp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grpSp>
          <p:nvGrpSpPr>
            <p:cNvPr id="29" name="Group 28">
              <a:extLst>
                <a:ext uri="{FF2B5EF4-FFF2-40B4-BE49-F238E27FC236}">
                  <a16:creationId xmlns:a16="http://schemas.microsoft.com/office/drawing/2014/main" id="{B821D612-E455-7BF1-449F-17FB9192AC57}"/>
                </a:ext>
              </a:extLst>
            </p:cNvPr>
            <p:cNvGrpSpPr/>
            <p:nvPr/>
          </p:nvGrpSpPr>
          <p:grpSpPr>
            <a:xfrm>
              <a:off x="502920" y="2103120"/>
              <a:ext cx="11155680" cy="3291840"/>
              <a:chOff x="502920" y="2103120"/>
              <a:chExt cx="11155680" cy="3291840"/>
            </a:xfrm>
            <a:grpFill/>
          </p:grpSpPr>
          <p:sp>
            <p:nvSpPr>
              <p:cNvPr id="6" name="Shape 4"/>
              <p:cNvSpPr/>
              <p:nvPr/>
            </p:nvSpPr>
            <p:spPr>
              <a:xfrm>
                <a:off x="502920" y="2103120"/>
                <a:ext cx="2617470" cy="3291840"/>
              </a:xfrm>
              <a:prstGeom prst="roundRect">
                <a:avLst>
                  <a:gd name="adj" fmla="val 2795"/>
                </a:avLst>
              </a:prstGeom>
              <a:grpFill/>
              <a:ln/>
            </p:spPr>
            <p:txBody>
              <a:bodyPr/>
              <a:lstStyle/>
              <a:p>
                <a:endParaRPr lang="en-IN"/>
              </a:p>
            </p:txBody>
          </p:sp>
          <p:sp>
            <p:nvSpPr>
              <p:cNvPr id="7" name="Text 5"/>
              <p:cNvSpPr/>
              <p:nvPr/>
            </p:nvSpPr>
            <p:spPr>
              <a:xfrm>
                <a:off x="640080" y="2286000"/>
                <a:ext cx="2343150" cy="822960"/>
              </a:xfrm>
              <a:prstGeom prst="rect">
                <a:avLst/>
              </a:prstGeom>
              <a:grpFill/>
              <a:ln/>
            </p:spPr>
            <p:txBody>
              <a:bodyPr wrap="square" rtlCol="0" anchor="t"/>
              <a:lstStyle/>
              <a:p>
                <a:pPr marL="0" indent="0">
                  <a:buNone/>
                </a:pPr>
                <a:r>
                  <a:rPr lang="en-US" sz="1400" b="1" dirty="0">
                    <a:solidFill>
                      <a:srgbClr val="0B4F4A"/>
                    </a:solidFill>
                    <a:latin typeface="Calibri"/>
                    <a:ea typeface="Calibri" pitchFamily="34" charset="-122"/>
                    <a:cs typeface="Calibri" pitchFamily="34" charset="-120"/>
                  </a:rPr>
                  <a:t>Secondary Research</a:t>
                </a:r>
                <a:endParaRPr lang="en-US" sz="1400" dirty="0"/>
              </a:p>
            </p:txBody>
          </p:sp>
          <p:sp>
            <p:nvSpPr>
              <p:cNvPr id="8" name="Text 6"/>
              <p:cNvSpPr/>
              <p:nvPr/>
            </p:nvSpPr>
            <p:spPr>
              <a:xfrm>
                <a:off x="640080" y="3017520"/>
                <a:ext cx="2343150" cy="2240280"/>
              </a:xfrm>
              <a:prstGeom prst="rect">
                <a:avLst/>
              </a:prstGeom>
              <a:grpFill/>
              <a:ln/>
            </p:spPr>
            <p:txBody>
              <a:bodyPr wrap="square" rtlCol="0" anchor="t"/>
              <a:lstStyle/>
              <a:p>
                <a:pPr marL="0" indent="0">
                  <a:buNone/>
                </a:pPr>
                <a:r>
                  <a:rPr lang="en-US" sz="1200" dirty="0">
                    <a:solidFill>
                      <a:srgbClr val="1E2624"/>
                    </a:solidFill>
                    <a:latin typeface="Calibri"/>
                    <a:ea typeface="Calibri" pitchFamily="34" charset="-122"/>
                    <a:cs typeface="Calibri" pitchFamily="34" charset="-120"/>
                  </a:rPr>
                  <a:t>Company reports, trade journals, government &amp; industry association databases, paid statistical databases.</a:t>
                </a:r>
                <a:endParaRPr lang="en-US" sz="1200" dirty="0"/>
              </a:p>
            </p:txBody>
          </p:sp>
          <p:sp>
            <p:nvSpPr>
              <p:cNvPr id="12" name="Shape 10"/>
              <p:cNvSpPr/>
              <p:nvPr/>
            </p:nvSpPr>
            <p:spPr>
              <a:xfrm>
                <a:off x="3348990" y="2103120"/>
                <a:ext cx="2617470" cy="3291840"/>
              </a:xfrm>
              <a:prstGeom prst="roundRect">
                <a:avLst>
                  <a:gd name="adj" fmla="val 2795"/>
                </a:avLst>
              </a:prstGeom>
              <a:grpFill/>
              <a:ln/>
            </p:spPr>
            <p:txBody>
              <a:bodyPr/>
              <a:lstStyle/>
              <a:p>
                <a:endParaRPr lang="en-IN"/>
              </a:p>
            </p:txBody>
          </p:sp>
          <p:sp>
            <p:nvSpPr>
              <p:cNvPr id="13" name="Text 11"/>
              <p:cNvSpPr/>
              <p:nvPr/>
            </p:nvSpPr>
            <p:spPr>
              <a:xfrm>
                <a:off x="3486150" y="2286000"/>
                <a:ext cx="2343150" cy="822960"/>
              </a:xfrm>
              <a:prstGeom prst="rect">
                <a:avLst/>
              </a:prstGeom>
              <a:grpFill/>
              <a:ln/>
            </p:spPr>
            <p:txBody>
              <a:bodyPr wrap="square" rtlCol="0" anchor="t"/>
              <a:lstStyle/>
              <a:p>
                <a:pPr marL="0" indent="0">
                  <a:buNone/>
                </a:pPr>
                <a:r>
                  <a:rPr lang="en-US" sz="1400" b="1" dirty="0">
                    <a:solidFill>
                      <a:srgbClr val="0B4F4A"/>
                    </a:solidFill>
                    <a:latin typeface="Calibri"/>
                    <a:ea typeface="Calibri" pitchFamily="34" charset="-122"/>
                    <a:cs typeface="Calibri" pitchFamily="34" charset="-120"/>
                  </a:rPr>
                  <a:t>Primary Research</a:t>
                </a:r>
                <a:endParaRPr lang="en-US" sz="1400" dirty="0"/>
              </a:p>
            </p:txBody>
          </p:sp>
          <p:sp>
            <p:nvSpPr>
              <p:cNvPr id="14" name="Text 12"/>
              <p:cNvSpPr/>
              <p:nvPr/>
            </p:nvSpPr>
            <p:spPr>
              <a:xfrm>
                <a:off x="3486150" y="3017520"/>
                <a:ext cx="2343150" cy="2240280"/>
              </a:xfrm>
              <a:prstGeom prst="rect">
                <a:avLst/>
              </a:prstGeom>
              <a:grpFill/>
              <a:ln/>
            </p:spPr>
            <p:txBody>
              <a:bodyPr wrap="square" rtlCol="0" anchor="t"/>
              <a:lstStyle/>
              <a:p>
                <a:pPr marL="0" indent="0">
                  <a:buNone/>
                </a:pPr>
                <a:r>
                  <a:rPr lang="en-US" sz="1200" dirty="0">
                    <a:solidFill>
                      <a:srgbClr val="1E2624"/>
                    </a:solidFill>
                    <a:latin typeface="Calibri"/>
                    <a:ea typeface="Calibri" pitchFamily="34" charset="-122"/>
                    <a:cs typeface="Calibri" pitchFamily="34" charset="-120"/>
                  </a:rPr>
                  <a:t>Structured interviews with manufacturers, distributors, retailers, and category experts across regions.</a:t>
                </a:r>
                <a:endParaRPr lang="en-US" sz="1200" dirty="0"/>
              </a:p>
            </p:txBody>
          </p:sp>
          <p:sp>
            <p:nvSpPr>
              <p:cNvPr id="18" name="Shape 16"/>
              <p:cNvSpPr/>
              <p:nvPr/>
            </p:nvSpPr>
            <p:spPr>
              <a:xfrm>
                <a:off x="6195060" y="2103120"/>
                <a:ext cx="2617470" cy="3291840"/>
              </a:xfrm>
              <a:prstGeom prst="roundRect">
                <a:avLst>
                  <a:gd name="adj" fmla="val 2795"/>
                </a:avLst>
              </a:prstGeom>
              <a:grpFill/>
              <a:ln/>
            </p:spPr>
            <p:txBody>
              <a:bodyPr/>
              <a:lstStyle/>
              <a:p>
                <a:endParaRPr lang="en-IN"/>
              </a:p>
            </p:txBody>
          </p:sp>
          <p:sp>
            <p:nvSpPr>
              <p:cNvPr id="19" name="Text 17"/>
              <p:cNvSpPr/>
              <p:nvPr/>
            </p:nvSpPr>
            <p:spPr>
              <a:xfrm>
                <a:off x="6332220" y="2286000"/>
                <a:ext cx="2343150" cy="822960"/>
              </a:xfrm>
              <a:prstGeom prst="rect">
                <a:avLst/>
              </a:prstGeom>
              <a:grpFill/>
              <a:ln/>
            </p:spPr>
            <p:txBody>
              <a:bodyPr wrap="square" rtlCol="0" anchor="t"/>
              <a:lstStyle/>
              <a:p>
                <a:pPr marL="0" indent="0">
                  <a:buNone/>
                </a:pPr>
                <a:r>
                  <a:rPr lang="en-US" sz="1400" b="1" dirty="0">
                    <a:solidFill>
                      <a:srgbClr val="0B4F4A"/>
                    </a:solidFill>
                    <a:latin typeface="Calibri"/>
                    <a:ea typeface="Calibri" pitchFamily="34" charset="-122"/>
                    <a:cs typeface="Calibri" pitchFamily="34" charset="-120"/>
                  </a:rPr>
                  <a:t>Data Modeling</a:t>
                </a:r>
                <a:endParaRPr lang="en-US" sz="1400" dirty="0"/>
              </a:p>
            </p:txBody>
          </p:sp>
          <p:sp>
            <p:nvSpPr>
              <p:cNvPr id="20" name="Text 18"/>
              <p:cNvSpPr/>
              <p:nvPr/>
            </p:nvSpPr>
            <p:spPr>
              <a:xfrm>
                <a:off x="6332220" y="3017520"/>
                <a:ext cx="2343150" cy="2240280"/>
              </a:xfrm>
              <a:prstGeom prst="rect">
                <a:avLst/>
              </a:prstGeom>
              <a:grpFill/>
              <a:ln/>
            </p:spPr>
            <p:txBody>
              <a:bodyPr wrap="square" rtlCol="0" anchor="t"/>
              <a:lstStyle/>
              <a:p>
                <a:pPr marL="0" indent="0">
                  <a:buNone/>
                </a:pPr>
                <a:r>
                  <a:rPr lang="en-US" sz="1200" dirty="0">
                    <a:solidFill>
                      <a:srgbClr val="1E2624"/>
                    </a:solidFill>
                    <a:latin typeface="Calibri"/>
                    <a:ea typeface="Calibri" pitchFamily="34" charset="-122"/>
                    <a:cs typeface="Calibri" pitchFamily="34" charset="-120"/>
                  </a:rPr>
                  <a:t>Top-down and bottom-up triangulation to size the market by segment, region, and country.</a:t>
                </a:r>
                <a:endParaRPr lang="en-US" sz="1200" dirty="0"/>
              </a:p>
            </p:txBody>
          </p:sp>
          <p:sp>
            <p:nvSpPr>
              <p:cNvPr id="24" name="Shape 22"/>
              <p:cNvSpPr/>
              <p:nvPr/>
            </p:nvSpPr>
            <p:spPr>
              <a:xfrm>
                <a:off x="9041130" y="2103120"/>
                <a:ext cx="2617470" cy="3291840"/>
              </a:xfrm>
              <a:prstGeom prst="roundRect">
                <a:avLst>
                  <a:gd name="adj" fmla="val 2795"/>
                </a:avLst>
              </a:prstGeom>
              <a:grpFill/>
              <a:ln/>
            </p:spPr>
            <p:txBody>
              <a:bodyPr/>
              <a:lstStyle/>
              <a:p>
                <a:endParaRPr lang="en-IN"/>
              </a:p>
            </p:txBody>
          </p:sp>
          <p:sp>
            <p:nvSpPr>
              <p:cNvPr id="25" name="Text 23"/>
              <p:cNvSpPr/>
              <p:nvPr/>
            </p:nvSpPr>
            <p:spPr>
              <a:xfrm>
                <a:off x="9178290" y="2286000"/>
                <a:ext cx="2343150" cy="822960"/>
              </a:xfrm>
              <a:prstGeom prst="rect">
                <a:avLst/>
              </a:prstGeom>
              <a:grpFill/>
              <a:ln/>
            </p:spPr>
            <p:txBody>
              <a:bodyPr wrap="square" rtlCol="0" anchor="t"/>
              <a:lstStyle/>
              <a:p>
                <a:pPr marL="0" indent="0">
                  <a:buNone/>
                </a:pPr>
                <a:r>
                  <a:rPr lang="en-US" sz="1400" b="1" dirty="0">
                    <a:solidFill>
                      <a:srgbClr val="0B4F4A"/>
                    </a:solidFill>
                    <a:latin typeface="Calibri"/>
                    <a:ea typeface="Calibri" pitchFamily="34" charset="-122"/>
                    <a:cs typeface="Calibri" pitchFamily="34" charset="-120"/>
                  </a:rPr>
                  <a:t>Expert Validation</a:t>
                </a:r>
                <a:endParaRPr lang="en-US" sz="1400" dirty="0"/>
              </a:p>
            </p:txBody>
          </p:sp>
          <p:sp>
            <p:nvSpPr>
              <p:cNvPr id="26" name="Text 24"/>
              <p:cNvSpPr/>
              <p:nvPr/>
            </p:nvSpPr>
            <p:spPr>
              <a:xfrm>
                <a:off x="9178290" y="3017520"/>
                <a:ext cx="2343150" cy="2240280"/>
              </a:xfrm>
              <a:prstGeom prst="rect">
                <a:avLst/>
              </a:prstGeom>
              <a:grpFill/>
              <a:ln/>
            </p:spPr>
            <p:txBody>
              <a:bodyPr wrap="square" rtlCol="0" anchor="t"/>
              <a:lstStyle/>
              <a:p>
                <a:pPr marL="0" indent="0">
                  <a:buNone/>
                </a:pPr>
                <a:r>
                  <a:rPr lang="en-US" sz="1200" dirty="0">
                    <a:solidFill>
                      <a:srgbClr val="1E2624"/>
                    </a:solidFill>
                    <a:latin typeface="Calibri"/>
                    <a:ea typeface="Calibri" pitchFamily="34" charset="-122"/>
                    <a:cs typeface="Calibri" pitchFamily="34" charset="-120"/>
                  </a:rPr>
                  <a:t>Findings validated with C-level executives and subject-matter experts before publication.</a:t>
                </a:r>
                <a:endParaRPr lang="en-US" sz="1200" dirty="0"/>
              </a:p>
            </p:txBody>
          </p:sp>
        </p:grpSp>
      </p:grpSp>
      <p:sp>
        <p:nvSpPr>
          <p:cNvPr id="27" name="Text 2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Definition of Market and Segmentation</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Segmentation detail — Part 01 of 03</a:t>
            </a:r>
            <a:endParaRPr lang="en-US" sz="1200" dirty="0"/>
          </a:p>
        </p:txBody>
      </p:sp>
      <p:sp>
        <p:nvSpPr>
          <p:cNvPr id="4" name="Shape 2"/>
          <p:cNvSpPr/>
          <p:nvPr/>
        </p:nvSpPr>
        <p:spPr>
          <a:xfrm>
            <a:off x="619665" y="1417320"/>
            <a:ext cx="10956984" cy="1838957"/>
          </a:xfrm>
          <a:prstGeom prst="roundRect">
            <a:avLst>
              <a:gd name="adj" fmla="val 1509"/>
            </a:avLst>
          </a:prstGeom>
          <a:solidFill>
            <a:srgbClr val="EAF5F1"/>
          </a:solidFill>
          <a:ln/>
        </p:spPr>
        <p:txBody>
          <a:bodyPr/>
          <a:lstStyle/>
          <a:p>
            <a:endParaRPr lang="en-IN"/>
          </a:p>
        </p:txBody>
      </p:sp>
      <p:sp>
        <p:nvSpPr>
          <p:cNvPr id="6"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9" name="Text 3">
            <a:extLst>
              <a:ext uri="{FF2B5EF4-FFF2-40B4-BE49-F238E27FC236}">
                <a16:creationId xmlns:a16="http://schemas.microsoft.com/office/drawing/2014/main" id="{F92A5E6A-DE6E-32B4-ACF7-0B460824E9C9}"/>
              </a:ext>
            </a:extLst>
          </p:cNvPr>
          <p:cNvSpPr/>
          <p:nvPr/>
        </p:nvSpPr>
        <p:spPr>
          <a:xfrm>
            <a:off x="822960" y="1521584"/>
            <a:ext cx="10515600" cy="1644308"/>
          </a:xfrm>
          <a:prstGeom prst="rect">
            <a:avLst/>
          </a:prstGeom>
          <a:noFill/>
          <a:ln/>
        </p:spPr>
        <p:txBody>
          <a:bodyPr wrap="square" rtlCol="0" anchor="t"/>
          <a:lstStyle/>
          <a:p>
            <a:pPr marL="228600" indent="-228600">
              <a:spcAft>
                <a:spcPts val="1800"/>
              </a:spcAft>
              <a:buSzPct val="100000"/>
              <a:buChar char="●"/>
            </a:pPr>
            <a:r>
              <a:rPr lang="en-US" sz="1400" dirty="0">
                <a:solidFill>
                  <a:srgbClr val="1E2624"/>
                </a:solidFill>
                <a:latin typeface="Calibri" pitchFamily="34" charset="0"/>
                <a:ea typeface="Calibri" pitchFamily="34" charset="-122"/>
                <a:cs typeface="Calibri" pitchFamily="34" charset="-120"/>
              </a:rPr>
              <a:t>The </a:t>
            </a:r>
            <a:r>
              <a:rPr lang="en-US" sz="1400" b="1" dirty="0">
                <a:solidFill>
                  <a:srgbClr val="1E2624"/>
                </a:solidFill>
                <a:latin typeface="Calibri" pitchFamily="34" charset="0"/>
                <a:ea typeface="Calibri" pitchFamily="34" charset="-122"/>
                <a:cs typeface="Calibri" pitchFamily="34" charset="-120"/>
              </a:rPr>
              <a:t>Global Functional Beverages Market</a:t>
            </a:r>
            <a:r>
              <a:rPr lang="en-US" sz="1200" dirty="0">
                <a:solidFill>
                  <a:srgbClr val="1E2624"/>
                </a:solidFill>
                <a:latin typeface="Calibri" pitchFamily="34" charset="0"/>
                <a:ea typeface="Calibri" pitchFamily="34" charset="-122"/>
                <a:cs typeface="Calibri" pitchFamily="34" charset="-120"/>
              </a:rPr>
              <a:t> comprises beverages fortified with bioactive ingredients that deliver health benefits beyond basic nutrition and hydration. These products are formulated to support specific health outcomes, including energy enhancement, digestive health, immunity, cognitive performance, hydration, and overall wellness.</a:t>
            </a:r>
          </a:p>
          <a:p>
            <a:pPr marL="228600" indent="-228600">
              <a:spcAft>
                <a:spcPts val="1800"/>
              </a:spcAft>
              <a:buSzPct val="100000"/>
              <a:buChar char="●"/>
            </a:pPr>
            <a:r>
              <a:rPr lang="en-US" sz="1200" dirty="0">
                <a:solidFill>
                  <a:srgbClr val="1E2624"/>
                </a:solidFill>
                <a:latin typeface="Calibri" pitchFamily="34" charset="0"/>
                <a:ea typeface="Calibri" pitchFamily="34" charset="-122"/>
                <a:cs typeface="Calibri" pitchFamily="34" charset="-120"/>
              </a:rPr>
              <a:t>The market encompasses categories such as energy drinks, sports and performance drinks, functional waters, fortified juices, probiotic beverages, and other nutritionally enhanced beverages. Market growth is driven by rising health consciousness, increasing demand for preventive nutrition, continuous product innovation, and expanding availability through both retail and e-commerce distribution channels.</a:t>
            </a:r>
          </a:p>
        </p:txBody>
      </p:sp>
      <p:graphicFrame>
        <p:nvGraphicFramePr>
          <p:cNvPr id="12" name="Diagram 11">
            <a:extLst>
              <a:ext uri="{FF2B5EF4-FFF2-40B4-BE49-F238E27FC236}">
                <a16:creationId xmlns:a16="http://schemas.microsoft.com/office/drawing/2014/main" id="{9968B59C-4836-2920-4AB2-D916122409AD}"/>
              </a:ext>
            </a:extLst>
          </p:cNvPr>
          <p:cNvGraphicFramePr/>
          <p:nvPr>
            <p:extLst>
              <p:ext uri="{D42A27DB-BD31-4B8C-83A1-F6EECF244321}">
                <p14:modId xmlns:p14="http://schemas.microsoft.com/office/powerpoint/2010/main" val="565934471"/>
              </p:ext>
            </p:extLst>
          </p:nvPr>
        </p:nvGraphicFramePr>
        <p:xfrm>
          <a:off x="619665" y="3439157"/>
          <a:ext cx="10956984" cy="28244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2EFED612-B692-BBC3-D208-1E057000181E}"/>
              </a:ext>
            </a:extLst>
          </p:cNvPr>
          <p:cNvPicPr>
            <a:picLocks noChangeAspect="1"/>
          </p:cNvPicPr>
          <p:nvPr/>
        </p:nvPicPr>
        <p:blipFill>
          <a:blip r:embed="rId8">
            <a:alphaModFix/>
          </a:blip>
          <a:stretch>
            <a:fillRect/>
          </a:stretch>
        </p:blipFill>
        <p:spPr>
          <a:xfrm>
            <a:off x="705639" y="4106175"/>
            <a:ext cx="1558541" cy="150099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A378B1B-84CB-AF7C-4760-0AEA03A968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244E64-8D4C-B531-CD50-F6864E3D33CD}"/>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Definition of Market and Segmentation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4C35DA9-3711-0DF6-A300-ACFE9391E8C7}"/>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Segmentation detail — Part 02 of 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D22316A8-56A9-8F6D-21CA-D72031C310E8}"/>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0" name="Diagram 9">
            <a:extLst>
              <a:ext uri="{FF2B5EF4-FFF2-40B4-BE49-F238E27FC236}">
                <a16:creationId xmlns:a16="http://schemas.microsoft.com/office/drawing/2014/main" id="{55E3DD59-2DAC-2775-3551-993FEF750A9E}"/>
              </a:ext>
            </a:extLst>
          </p:cNvPr>
          <p:cNvGraphicFramePr/>
          <p:nvPr>
            <p:extLst>
              <p:ext uri="{D42A27DB-BD31-4B8C-83A1-F6EECF244321}">
                <p14:modId xmlns:p14="http://schemas.microsoft.com/office/powerpoint/2010/main" val="2946671703"/>
              </p:ext>
            </p:extLst>
          </p:nvPr>
        </p:nvGraphicFramePr>
        <p:xfrm>
          <a:off x="619665" y="1359747"/>
          <a:ext cx="10956984" cy="4903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3B5D40CC-EBCA-CFEB-63BB-ACB943953575}"/>
              </a:ext>
            </a:extLst>
          </p:cNvPr>
          <p:cNvPicPr>
            <a:picLocks noChangeAspect="1"/>
          </p:cNvPicPr>
          <p:nvPr/>
        </p:nvPicPr>
        <p:blipFill>
          <a:blip r:embed="rId8"/>
          <a:stretch>
            <a:fillRect/>
          </a:stretch>
        </p:blipFill>
        <p:spPr>
          <a:xfrm>
            <a:off x="759124" y="1801368"/>
            <a:ext cx="1104181" cy="10971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 name="Picture 11">
            <a:extLst>
              <a:ext uri="{FF2B5EF4-FFF2-40B4-BE49-F238E27FC236}">
                <a16:creationId xmlns:a16="http://schemas.microsoft.com/office/drawing/2014/main" id="{B850CC29-955C-95D1-C0AE-25BB42DBC4DE}"/>
              </a:ext>
            </a:extLst>
          </p:cNvPr>
          <p:cNvPicPr>
            <a:picLocks noChangeAspect="1"/>
          </p:cNvPicPr>
          <p:nvPr/>
        </p:nvPicPr>
        <p:blipFill>
          <a:blip r:embed="rId9"/>
          <a:stretch>
            <a:fillRect/>
          </a:stretch>
        </p:blipFill>
        <p:spPr>
          <a:xfrm>
            <a:off x="1115252" y="3271319"/>
            <a:ext cx="1104181" cy="10980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6E46D4D0-3B5F-91C0-6812-304EE7C75003}"/>
              </a:ext>
            </a:extLst>
          </p:cNvPr>
          <p:cNvPicPr>
            <a:picLocks noChangeAspect="1"/>
          </p:cNvPicPr>
          <p:nvPr/>
        </p:nvPicPr>
        <p:blipFill>
          <a:blip r:embed="rId10"/>
          <a:stretch>
            <a:fillRect/>
          </a:stretch>
        </p:blipFill>
        <p:spPr>
          <a:xfrm>
            <a:off x="761569" y="4740085"/>
            <a:ext cx="1104181" cy="10980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269230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89CFB3-EF5E-265B-69F6-13CA6C0A8F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6C5033-FA2B-7AF8-9169-1F1A5B88C3D2}"/>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Definition of Market and Segmentation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2542DF5-CEEF-5DBC-1F74-1CB1F37143C9}"/>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Segmentation detail — Part 03 of 03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B6927FB7-2C65-824A-38F9-A743B5BC3C57}"/>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2" name="Diagram 11">
            <a:extLst>
              <a:ext uri="{FF2B5EF4-FFF2-40B4-BE49-F238E27FC236}">
                <a16:creationId xmlns:a16="http://schemas.microsoft.com/office/drawing/2014/main" id="{4417AE4B-E5C6-0CB0-0F0C-B4826B381A2F}"/>
              </a:ext>
            </a:extLst>
          </p:cNvPr>
          <p:cNvGraphicFramePr/>
          <p:nvPr>
            <p:extLst>
              <p:ext uri="{D42A27DB-BD31-4B8C-83A1-F6EECF244321}">
                <p14:modId xmlns:p14="http://schemas.microsoft.com/office/powerpoint/2010/main" val="4276616095"/>
              </p:ext>
            </p:extLst>
          </p:nvPr>
        </p:nvGraphicFramePr>
        <p:xfrm>
          <a:off x="602268" y="1342937"/>
          <a:ext cx="10956984" cy="28244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0569B4BC-B18A-6684-8829-FD42B71A285B}"/>
              </a:ext>
            </a:extLst>
          </p:cNvPr>
          <p:cNvPicPr>
            <a:picLocks noChangeAspect="1"/>
          </p:cNvPicPr>
          <p:nvPr/>
        </p:nvPicPr>
        <p:blipFill>
          <a:blip r:embed="rId8"/>
          <a:stretch>
            <a:fillRect/>
          </a:stretch>
        </p:blipFill>
        <p:spPr>
          <a:xfrm>
            <a:off x="681488" y="1984077"/>
            <a:ext cx="1587260" cy="156759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184916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05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Executive Summary</a:t>
            </a:r>
            <a:endParaRPr lang="en-US" sz="2800" dirty="0"/>
          </a:p>
        </p:txBody>
      </p:sp>
      <p:sp>
        <p:nvSpPr>
          <p:cNvPr id="3" name="Text 1"/>
          <p:cNvSpPr/>
          <p:nvPr/>
        </p:nvSpPr>
        <p:spPr>
          <a:xfrm>
            <a:off x="54605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global functional beverage market is witnessing strong growth, driven by health-conscious consumers, scientific innovation, clean-label formulations, and increasing demand for preventive nutrition and wellness solutions.</a:t>
            </a:r>
            <a:endParaRPr lang="en-US" sz="1200" dirty="0"/>
          </a:p>
        </p:txBody>
      </p:sp>
      <p:sp>
        <p:nvSpPr>
          <p:cNvPr id="4" name="Text 2"/>
          <p:cNvSpPr/>
          <p:nvPr/>
        </p:nvSpPr>
        <p:spPr>
          <a:xfrm>
            <a:off x="635000" y="1554480"/>
            <a:ext cx="6634480" cy="4061316"/>
          </a:xfrm>
          <a:prstGeom prst="rect">
            <a:avLst/>
          </a:prstGeom>
          <a:noFill/>
          <a:ln/>
        </p:spPr>
        <p:txBody>
          <a:bodyPr wrap="square" rtlCol="0" anchor="t"/>
          <a:lstStyle/>
          <a:p>
            <a:pPr marL="171450" lvl="0" indent="-171450">
              <a:buFont typeface="Arial" panose="020B0604020202020204" pitchFamily="34" charset="0"/>
              <a:buChar char="•"/>
            </a:pPr>
            <a:r>
              <a:rPr lang="en-IN" sz="1200" dirty="0"/>
              <a:t>The global functional beverage market is projected to grow from </a:t>
            </a:r>
            <a:r>
              <a:rPr lang="en-IN" sz="1200" b="1" dirty="0"/>
              <a:t>USD 182.47 billion in 2025</a:t>
            </a:r>
            <a:r>
              <a:rPr lang="en-IN" sz="1200" dirty="0"/>
              <a:t> to </a:t>
            </a:r>
            <a:r>
              <a:rPr lang="en-IN" sz="1200" b="1" dirty="0"/>
              <a:t>USD 483.66 billion by 2036</a:t>
            </a:r>
            <a:r>
              <a:rPr lang="en-IN" sz="1200" dirty="0"/>
              <a:t>, registering a </a:t>
            </a:r>
            <a:r>
              <a:rPr lang="en-IN" sz="1200" b="1" dirty="0"/>
              <a:t>CAGR of 9.27%</a:t>
            </a:r>
            <a:r>
              <a:rPr lang="en-IN" sz="1200" dirty="0"/>
              <a:t>, driven by increasing demand for preventive healthcare, immunity, hydration, and wellness-focused beverages. </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Rising consumer preference for </a:t>
            </a:r>
            <a:r>
              <a:rPr lang="en-IN" sz="1200" b="1" dirty="0"/>
              <a:t>clean-label, reduced-sugar, plant-based, probiotic, and protein-enriched beverages</a:t>
            </a:r>
            <a:r>
              <a:rPr lang="en-IN" sz="1200" dirty="0"/>
              <a:t> is accelerating product innovation, while AI, personalized nutrition, and advanced formulation technologies continue to reshape the industry. </a:t>
            </a:r>
          </a:p>
          <a:p>
            <a:pPr marL="171450" lvl="0" indent="-171450">
              <a:buFont typeface="Arial" panose="020B0604020202020204" pitchFamily="34" charset="0"/>
              <a:buChar char="•"/>
            </a:pPr>
            <a:endParaRPr lang="en-IN" sz="1200" b="1" dirty="0"/>
          </a:p>
          <a:p>
            <a:pPr marL="171450" lvl="0" indent="-171450">
              <a:buFont typeface="Arial" panose="020B0604020202020204" pitchFamily="34" charset="0"/>
              <a:buChar char="•"/>
            </a:pPr>
            <a:r>
              <a:rPr lang="en-IN" sz="1200" b="1" dirty="0"/>
              <a:t>Asia Pacific</a:t>
            </a:r>
            <a:r>
              <a:rPr lang="en-IN" sz="1200" dirty="0"/>
              <a:t> is expected to remain the largest and fastest-growing regional market, supported by rapid urbanization, rising disposable incomes, and increasing health awareness, while North America and Europe continue to lead in premiumization and innovation. </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Stringent regulations from organizations such as </a:t>
            </a:r>
            <a:r>
              <a:rPr lang="en-IN" sz="1200" b="1" dirty="0"/>
              <a:t>WHO, FDA, EFSA, FAO, and Codex Alimentarius</a:t>
            </a:r>
            <a:r>
              <a:rPr lang="en-IN" sz="1200" dirty="0"/>
              <a:t> are encouraging healthier formulations, transparent labelling, and scientifically substantiated health claims, driving industry-wide compliance and innovation. </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Leading companies including </a:t>
            </a:r>
            <a:r>
              <a:rPr lang="en-IN" sz="1200" b="1" dirty="0"/>
              <a:t>PepsiCo, The Coca-Cola Company, Danone, Nestlé, Red Bull, and Monster Beverage</a:t>
            </a:r>
            <a:r>
              <a:rPr lang="en-IN" sz="1200" dirty="0"/>
              <a:t> are strengthening their market position through strategic acquisitions, product innovation, sustainability initiatives, and expansion into emerging functional beverage categories.</a:t>
            </a:r>
          </a:p>
        </p:txBody>
      </p:sp>
      <p:sp>
        <p:nvSpPr>
          <p:cNvPr id="5" name="Shape 3"/>
          <p:cNvSpPr/>
          <p:nvPr/>
        </p:nvSpPr>
        <p:spPr>
          <a:xfrm>
            <a:off x="7543800" y="1417320"/>
            <a:ext cx="4013200" cy="1184407"/>
          </a:xfrm>
          <a:prstGeom prst="roundRect">
            <a:avLst>
              <a:gd name="adj" fmla="val 4706"/>
            </a:avLst>
          </a:prstGeom>
          <a:solidFill>
            <a:srgbClr val="0B4F4A"/>
          </a:solidFill>
          <a:ln/>
        </p:spPr>
        <p:txBody>
          <a:bodyPr/>
          <a:lstStyle/>
          <a:p>
            <a:endParaRPr lang="en-IN"/>
          </a:p>
        </p:txBody>
      </p:sp>
      <p:sp>
        <p:nvSpPr>
          <p:cNvPr id="6" name="Text 4"/>
          <p:cNvSpPr/>
          <p:nvPr/>
        </p:nvSpPr>
        <p:spPr>
          <a:xfrm>
            <a:off x="7726680" y="1421464"/>
            <a:ext cx="3749040" cy="854964"/>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9.27%</a:t>
            </a:r>
            <a:endParaRPr lang="en-US" sz="2600" dirty="0"/>
          </a:p>
        </p:txBody>
      </p:sp>
      <p:sp>
        <p:nvSpPr>
          <p:cNvPr id="7" name="Text 5"/>
          <p:cNvSpPr/>
          <p:nvPr/>
        </p:nvSpPr>
        <p:spPr>
          <a:xfrm>
            <a:off x="7726680" y="2118694"/>
            <a:ext cx="3749040" cy="621792"/>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Projected CAGR, 2026–2036</a:t>
            </a:r>
            <a:endParaRPr lang="en-US" sz="1200" dirty="0"/>
          </a:p>
        </p:txBody>
      </p:sp>
      <p:sp>
        <p:nvSpPr>
          <p:cNvPr id="8" name="Shape 6"/>
          <p:cNvSpPr/>
          <p:nvPr/>
        </p:nvSpPr>
        <p:spPr>
          <a:xfrm>
            <a:off x="7543800" y="3200400"/>
            <a:ext cx="4013200" cy="1184407"/>
          </a:xfrm>
          <a:prstGeom prst="roundRect">
            <a:avLst>
              <a:gd name="adj" fmla="val 4706"/>
            </a:avLst>
          </a:prstGeom>
          <a:solidFill>
            <a:srgbClr val="0B4F4A"/>
          </a:solidFill>
          <a:ln/>
        </p:spPr>
        <p:txBody>
          <a:bodyPr/>
          <a:lstStyle/>
          <a:p>
            <a:endParaRPr lang="en-IN"/>
          </a:p>
        </p:txBody>
      </p:sp>
      <p:sp>
        <p:nvSpPr>
          <p:cNvPr id="9" name="Text 7"/>
          <p:cNvSpPr/>
          <p:nvPr/>
        </p:nvSpPr>
        <p:spPr>
          <a:xfrm>
            <a:off x="7726680" y="3195918"/>
            <a:ext cx="3749040" cy="854964"/>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45+</a:t>
            </a:r>
            <a:endParaRPr lang="en-US" sz="2600" dirty="0"/>
          </a:p>
        </p:txBody>
      </p:sp>
      <p:sp>
        <p:nvSpPr>
          <p:cNvPr id="10" name="Text 8"/>
          <p:cNvSpPr/>
          <p:nvPr/>
        </p:nvSpPr>
        <p:spPr>
          <a:xfrm>
            <a:off x="7726680" y="3868132"/>
            <a:ext cx="3749040" cy="621792"/>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Countries covered in this study</a:t>
            </a:r>
            <a:endParaRPr lang="en-US" sz="1200" dirty="0"/>
          </a:p>
        </p:txBody>
      </p:sp>
      <p:sp>
        <p:nvSpPr>
          <p:cNvPr id="11" name="Shape 9"/>
          <p:cNvSpPr/>
          <p:nvPr/>
        </p:nvSpPr>
        <p:spPr>
          <a:xfrm>
            <a:off x="7543800" y="4923098"/>
            <a:ext cx="4013200" cy="1184407"/>
          </a:xfrm>
          <a:prstGeom prst="roundRect">
            <a:avLst>
              <a:gd name="adj" fmla="val 4706"/>
            </a:avLst>
          </a:prstGeom>
          <a:solidFill>
            <a:srgbClr val="0B4F4A"/>
          </a:solidFill>
          <a:ln/>
        </p:spPr>
        <p:txBody>
          <a:bodyPr/>
          <a:lstStyle/>
          <a:p>
            <a:endParaRPr lang="en-IN"/>
          </a:p>
        </p:txBody>
      </p:sp>
      <p:sp>
        <p:nvSpPr>
          <p:cNvPr id="12" name="Text 10"/>
          <p:cNvSpPr/>
          <p:nvPr/>
        </p:nvSpPr>
        <p:spPr>
          <a:xfrm>
            <a:off x="7726680" y="4884112"/>
            <a:ext cx="3749040" cy="854964"/>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12+</a:t>
            </a:r>
            <a:endParaRPr lang="en-US" sz="2600" dirty="0"/>
          </a:p>
        </p:txBody>
      </p:sp>
      <p:sp>
        <p:nvSpPr>
          <p:cNvPr id="13" name="Text 11"/>
          <p:cNvSpPr/>
          <p:nvPr/>
        </p:nvSpPr>
        <p:spPr>
          <a:xfrm>
            <a:off x="7726680" y="5556326"/>
            <a:ext cx="3749040" cy="621792"/>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Companies profiled or referenced</a:t>
            </a:r>
            <a:endParaRPr lang="en-US" sz="1200" dirty="0"/>
          </a:p>
        </p:txBody>
      </p:sp>
      <p:sp>
        <p:nvSpPr>
          <p:cNvPr id="14" name="Text 1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at a Glance</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Key headline figures for the global functional beverage industry</a:t>
            </a:r>
            <a:endParaRPr lang="en-US" sz="1200" dirty="0"/>
          </a:p>
        </p:txBody>
      </p:sp>
      <p:sp>
        <p:nvSpPr>
          <p:cNvPr id="4" name="Shape 2"/>
          <p:cNvSpPr/>
          <p:nvPr/>
        </p:nvSpPr>
        <p:spPr>
          <a:xfrm>
            <a:off x="668867" y="1417320"/>
            <a:ext cx="3259666" cy="2144527"/>
          </a:xfrm>
          <a:prstGeom prst="roundRect">
            <a:avLst>
              <a:gd name="adj" fmla="val 3137"/>
            </a:avLst>
          </a:prstGeom>
          <a:solidFill>
            <a:srgbClr val="0B4F4A"/>
          </a:solidFill>
          <a:ln/>
        </p:spPr>
        <p:txBody>
          <a:bodyPr/>
          <a:lstStyle/>
          <a:p>
            <a:endParaRPr lang="en-IN"/>
          </a:p>
        </p:txBody>
      </p:sp>
      <p:sp>
        <p:nvSpPr>
          <p:cNvPr id="5" name="Text 3"/>
          <p:cNvSpPr/>
          <p:nvPr/>
        </p:nvSpPr>
        <p:spPr>
          <a:xfrm>
            <a:off x="731520" y="1554480"/>
            <a:ext cx="3078480" cy="1165860"/>
          </a:xfrm>
          <a:prstGeom prst="rect">
            <a:avLst/>
          </a:prstGeom>
          <a:noFill/>
          <a:ln/>
        </p:spPr>
        <p:txBody>
          <a:bodyPr wrap="square" rtlCol="0" anchor="ctr"/>
          <a:lstStyle/>
          <a:p>
            <a:pPr marL="0" indent="0">
              <a:buNone/>
            </a:pPr>
            <a:r>
              <a:rPr lang="en-US" sz="3000" b="1" dirty="0">
                <a:solidFill>
                  <a:srgbClr val="FF6B35"/>
                </a:solidFill>
                <a:latin typeface="Cambria" pitchFamily="34" charset="0"/>
                <a:ea typeface="Cambria" pitchFamily="34" charset="-122"/>
                <a:cs typeface="Cambria" pitchFamily="34" charset="-120"/>
              </a:rPr>
              <a:t>$182.47B</a:t>
            </a:r>
          </a:p>
        </p:txBody>
      </p:sp>
      <p:sp>
        <p:nvSpPr>
          <p:cNvPr id="6" name="Text 4"/>
          <p:cNvSpPr/>
          <p:nvPr/>
        </p:nvSpPr>
        <p:spPr>
          <a:xfrm>
            <a:off x="731520" y="2769718"/>
            <a:ext cx="3078480" cy="886054"/>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Estimated market value, 2025</a:t>
            </a:r>
            <a:endParaRPr lang="en-US" sz="1200" dirty="0"/>
          </a:p>
        </p:txBody>
      </p:sp>
      <p:sp>
        <p:nvSpPr>
          <p:cNvPr id="7" name="Shape 5"/>
          <p:cNvSpPr/>
          <p:nvPr/>
        </p:nvSpPr>
        <p:spPr>
          <a:xfrm>
            <a:off x="4478867" y="1417320"/>
            <a:ext cx="3259666" cy="2144527"/>
          </a:xfrm>
          <a:prstGeom prst="roundRect">
            <a:avLst>
              <a:gd name="adj" fmla="val 3137"/>
            </a:avLst>
          </a:prstGeom>
          <a:solidFill>
            <a:srgbClr val="EAF5F1"/>
          </a:solidFill>
          <a:ln/>
        </p:spPr>
        <p:txBody>
          <a:bodyPr/>
          <a:lstStyle/>
          <a:p>
            <a:endParaRPr lang="en-IN"/>
          </a:p>
        </p:txBody>
      </p:sp>
      <p:sp>
        <p:nvSpPr>
          <p:cNvPr id="8" name="Text 6"/>
          <p:cNvSpPr/>
          <p:nvPr/>
        </p:nvSpPr>
        <p:spPr>
          <a:xfrm>
            <a:off x="4541520" y="1554480"/>
            <a:ext cx="3078480" cy="1165860"/>
          </a:xfrm>
          <a:prstGeom prst="rect">
            <a:avLst/>
          </a:prstGeom>
          <a:noFill/>
          <a:ln/>
        </p:spPr>
        <p:txBody>
          <a:bodyPr wrap="square" rtlCol="0" anchor="ctr"/>
          <a:lstStyle/>
          <a:p>
            <a:pPr marL="0" indent="0">
              <a:buNone/>
            </a:pPr>
            <a:r>
              <a:rPr lang="en-US" sz="3000" b="1" dirty="0">
                <a:solidFill>
                  <a:srgbClr val="0B4F4A"/>
                </a:solidFill>
                <a:latin typeface="Cambria" pitchFamily="34" charset="0"/>
                <a:ea typeface="Cambria" pitchFamily="34" charset="-122"/>
                <a:cs typeface="Cambria" pitchFamily="34" charset="-120"/>
              </a:rPr>
              <a:t>$483.66B</a:t>
            </a:r>
            <a:endParaRPr lang="en-US" sz="3000" dirty="0"/>
          </a:p>
        </p:txBody>
      </p:sp>
      <p:sp>
        <p:nvSpPr>
          <p:cNvPr id="9" name="Text 7"/>
          <p:cNvSpPr/>
          <p:nvPr/>
        </p:nvSpPr>
        <p:spPr>
          <a:xfrm>
            <a:off x="4541520" y="2769718"/>
            <a:ext cx="3078480" cy="886054"/>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Forecast market value, 2036</a:t>
            </a:r>
            <a:endParaRPr lang="en-US" sz="1200" dirty="0"/>
          </a:p>
        </p:txBody>
      </p:sp>
      <p:sp>
        <p:nvSpPr>
          <p:cNvPr id="10" name="Shape 8"/>
          <p:cNvSpPr/>
          <p:nvPr/>
        </p:nvSpPr>
        <p:spPr>
          <a:xfrm>
            <a:off x="8288867" y="1417320"/>
            <a:ext cx="3259666" cy="2144527"/>
          </a:xfrm>
          <a:prstGeom prst="roundRect">
            <a:avLst>
              <a:gd name="adj" fmla="val 3137"/>
            </a:avLst>
          </a:prstGeom>
          <a:solidFill>
            <a:srgbClr val="0B4F4A"/>
          </a:solidFill>
          <a:ln/>
        </p:spPr>
        <p:txBody>
          <a:bodyPr/>
          <a:lstStyle/>
          <a:p>
            <a:endParaRPr lang="en-IN"/>
          </a:p>
        </p:txBody>
      </p:sp>
      <p:sp>
        <p:nvSpPr>
          <p:cNvPr id="11" name="Text 9"/>
          <p:cNvSpPr/>
          <p:nvPr/>
        </p:nvSpPr>
        <p:spPr>
          <a:xfrm>
            <a:off x="8351520" y="1554480"/>
            <a:ext cx="3078480" cy="1165860"/>
          </a:xfrm>
          <a:prstGeom prst="rect">
            <a:avLst/>
          </a:prstGeom>
          <a:noFill/>
          <a:ln/>
        </p:spPr>
        <p:txBody>
          <a:bodyPr wrap="square" rtlCol="0" anchor="ctr"/>
          <a:lstStyle/>
          <a:p>
            <a:pPr marL="0" indent="0">
              <a:buNone/>
            </a:pPr>
            <a:r>
              <a:rPr lang="en-US" sz="3000" b="1" dirty="0">
                <a:solidFill>
                  <a:srgbClr val="FF6B35"/>
                </a:solidFill>
                <a:latin typeface="Cambria" pitchFamily="34" charset="0"/>
                <a:ea typeface="Cambria" pitchFamily="34" charset="-122"/>
                <a:cs typeface="Cambria" pitchFamily="34" charset="-120"/>
              </a:rPr>
              <a:t>9.27%</a:t>
            </a:r>
            <a:endParaRPr lang="en-US" sz="3000" dirty="0"/>
          </a:p>
        </p:txBody>
      </p:sp>
      <p:sp>
        <p:nvSpPr>
          <p:cNvPr id="12" name="Text 10"/>
          <p:cNvSpPr/>
          <p:nvPr/>
        </p:nvSpPr>
        <p:spPr>
          <a:xfrm>
            <a:off x="8351520" y="2769718"/>
            <a:ext cx="3078480" cy="886054"/>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CAGR, 2026–2036</a:t>
            </a:r>
            <a:endParaRPr lang="en-US" sz="1200" dirty="0"/>
          </a:p>
        </p:txBody>
      </p:sp>
      <p:sp>
        <p:nvSpPr>
          <p:cNvPr id="13" name="Shape 11"/>
          <p:cNvSpPr/>
          <p:nvPr/>
        </p:nvSpPr>
        <p:spPr>
          <a:xfrm>
            <a:off x="668867" y="4023360"/>
            <a:ext cx="3259666" cy="2144527"/>
          </a:xfrm>
          <a:prstGeom prst="roundRect">
            <a:avLst>
              <a:gd name="adj" fmla="val 3137"/>
            </a:avLst>
          </a:prstGeom>
          <a:solidFill>
            <a:srgbClr val="EAF5F1"/>
          </a:solidFill>
          <a:ln/>
        </p:spPr>
        <p:txBody>
          <a:bodyPr/>
          <a:lstStyle/>
          <a:p>
            <a:endParaRPr lang="en-IN"/>
          </a:p>
        </p:txBody>
      </p:sp>
      <p:sp>
        <p:nvSpPr>
          <p:cNvPr id="14" name="Text 12"/>
          <p:cNvSpPr/>
          <p:nvPr/>
        </p:nvSpPr>
        <p:spPr>
          <a:xfrm>
            <a:off x="731520" y="4160520"/>
            <a:ext cx="3078480" cy="1165860"/>
          </a:xfrm>
          <a:prstGeom prst="rect">
            <a:avLst/>
          </a:prstGeom>
          <a:noFill/>
          <a:ln/>
        </p:spPr>
        <p:txBody>
          <a:bodyPr wrap="square" rtlCol="0" anchor="ctr"/>
          <a:lstStyle/>
          <a:p>
            <a:pPr marL="0" indent="0">
              <a:buNone/>
            </a:pPr>
            <a:r>
              <a:rPr lang="en-US" sz="3000" b="1" dirty="0">
                <a:solidFill>
                  <a:srgbClr val="0B4F4A"/>
                </a:solidFill>
                <a:latin typeface="Cambria" pitchFamily="34" charset="0"/>
                <a:ea typeface="Cambria" pitchFamily="34" charset="-122"/>
                <a:cs typeface="Cambria" pitchFamily="34" charset="-120"/>
              </a:rPr>
              <a:t>APAC</a:t>
            </a:r>
            <a:endParaRPr lang="en-US" sz="3000" dirty="0"/>
          </a:p>
        </p:txBody>
      </p:sp>
      <p:sp>
        <p:nvSpPr>
          <p:cNvPr id="15" name="Text 13"/>
          <p:cNvSpPr/>
          <p:nvPr/>
        </p:nvSpPr>
        <p:spPr>
          <a:xfrm>
            <a:off x="731520" y="5375758"/>
            <a:ext cx="3078480" cy="886054"/>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Fastest-growing region</a:t>
            </a:r>
            <a:endParaRPr lang="en-US" sz="1200" dirty="0"/>
          </a:p>
        </p:txBody>
      </p:sp>
      <p:sp>
        <p:nvSpPr>
          <p:cNvPr id="16" name="Shape 14"/>
          <p:cNvSpPr/>
          <p:nvPr/>
        </p:nvSpPr>
        <p:spPr>
          <a:xfrm>
            <a:off x="4478867" y="4023360"/>
            <a:ext cx="3259666" cy="2144527"/>
          </a:xfrm>
          <a:prstGeom prst="roundRect">
            <a:avLst>
              <a:gd name="adj" fmla="val 3137"/>
            </a:avLst>
          </a:prstGeom>
          <a:solidFill>
            <a:srgbClr val="0B4F4A"/>
          </a:solidFill>
          <a:ln/>
        </p:spPr>
        <p:txBody>
          <a:bodyPr/>
          <a:lstStyle/>
          <a:p>
            <a:endParaRPr lang="en-IN"/>
          </a:p>
        </p:txBody>
      </p:sp>
      <p:sp>
        <p:nvSpPr>
          <p:cNvPr id="17" name="Text 15"/>
          <p:cNvSpPr/>
          <p:nvPr/>
        </p:nvSpPr>
        <p:spPr>
          <a:xfrm>
            <a:off x="4541520" y="4160520"/>
            <a:ext cx="3078480" cy="1165860"/>
          </a:xfrm>
          <a:prstGeom prst="rect">
            <a:avLst/>
          </a:prstGeom>
          <a:noFill/>
          <a:ln/>
        </p:spPr>
        <p:txBody>
          <a:bodyPr wrap="square" rtlCol="0" anchor="ctr"/>
          <a:lstStyle/>
          <a:p>
            <a:pPr marL="0" indent="0">
              <a:buNone/>
            </a:pPr>
            <a:r>
              <a:rPr lang="en-US" sz="3000" b="1" dirty="0">
                <a:solidFill>
                  <a:srgbClr val="FF6B35"/>
                </a:solidFill>
                <a:latin typeface="Cambria" pitchFamily="34" charset="0"/>
                <a:ea typeface="Cambria" pitchFamily="34" charset="-122"/>
                <a:cs typeface="Cambria" pitchFamily="34" charset="-120"/>
              </a:rPr>
              <a:t>53.0%</a:t>
            </a:r>
            <a:endParaRPr lang="en-US" sz="3000" dirty="0"/>
          </a:p>
        </p:txBody>
      </p:sp>
      <p:sp>
        <p:nvSpPr>
          <p:cNvPr id="18" name="Text 16"/>
          <p:cNvSpPr/>
          <p:nvPr/>
        </p:nvSpPr>
        <p:spPr>
          <a:xfrm>
            <a:off x="4541520" y="5375758"/>
            <a:ext cx="3078480" cy="886054"/>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Share held by top 10 players</a:t>
            </a:r>
            <a:endParaRPr lang="en-US" sz="1200" dirty="0"/>
          </a:p>
        </p:txBody>
      </p:sp>
      <p:sp>
        <p:nvSpPr>
          <p:cNvPr id="19" name="Shape 17"/>
          <p:cNvSpPr/>
          <p:nvPr/>
        </p:nvSpPr>
        <p:spPr>
          <a:xfrm>
            <a:off x="8288867" y="4023360"/>
            <a:ext cx="3259666" cy="2144527"/>
          </a:xfrm>
          <a:prstGeom prst="roundRect">
            <a:avLst>
              <a:gd name="adj" fmla="val 3137"/>
            </a:avLst>
          </a:prstGeom>
          <a:solidFill>
            <a:srgbClr val="EAF5F1"/>
          </a:solidFill>
          <a:ln/>
        </p:spPr>
        <p:txBody>
          <a:bodyPr/>
          <a:lstStyle/>
          <a:p>
            <a:endParaRPr lang="en-IN"/>
          </a:p>
        </p:txBody>
      </p:sp>
      <p:sp>
        <p:nvSpPr>
          <p:cNvPr id="20" name="Text 18"/>
          <p:cNvSpPr/>
          <p:nvPr/>
        </p:nvSpPr>
        <p:spPr>
          <a:xfrm>
            <a:off x="8351520" y="4160520"/>
            <a:ext cx="3078480" cy="1165860"/>
          </a:xfrm>
          <a:prstGeom prst="rect">
            <a:avLst/>
          </a:prstGeom>
          <a:noFill/>
          <a:ln/>
        </p:spPr>
        <p:txBody>
          <a:bodyPr wrap="square" rtlCol="0" anchor="ctr"/>
          <a:lstStyle/>
          <a:p>
            <a:pPr marL="0" indent="0">
              <a:buNone/>
            </a:pPr>
            <a:r>
              <a:rPr lang="en-US" sz="3000" b="1" dirty="0">
                <a:solidFill>
                  <a:srgbClr val="0B4F4A"/>
                </a:solidFill>
                <a:latin typeface="Cambria" pitchFamily="34" charset="0"/>
                <a:ea typeface="Cambria" pitchFamily="34" charset="-122"/>
                <a:cs typeface="Cambria" pitchFamily="34" charset="-120"/>
              </a:rPr>
              <a:t>29.0%</a:t>
            </a:r>
            <a:endParaRPr lang="en-US" sz="3000" dirty="0"/>
          </a:p>
        </p:txBody>
      </p:sp>
      <p:sp>
        <p:nvSpPr>
          <p:cNvPr id="21" name="Text 19"/>
          <p:cNvSpPr/>
          <p:nvPr/>
        </p:nvSpPr>
        <p:spPr>
          <a:xfrm>
            <a:off x="8351520" y="5375758"/>
            <a:ext cx="3078480" cy="886054"/>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Online channel share by 2036</a:t>
            </a:r>
            <a:endParaRPr lang="en-US" sz="1200" dirty="0"/>
          </a:p>
        </p:txBody>
      </p:sp>
      <p:sp>
        <p:nvSpPr>
          <p:cNvPr id="22" name="Text 20"/>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Global Market Size &amp; Forecast, 2025–2036</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global functional beverage market is projected to grow steadily through 2036, driven by rising health awareness, premiumization, and continuous product innovation.</a:t>
            </a:r>
            <a:endParaRPr lang="en-US" sz="1200" dirty="0"/>
          </a:p>
        </p:txBody>
      </p:sp>
      <p:graphicFrame>
        <p:nvGraphicFramePr>
          <p:cNvPr id="4" name="Chart 0"/>
          <p:cNvGraphicFramePr/>
          <p:nvPr>
            <p:extLst>
              <p:ext uri="{D42A27DB-BD31-4B8C-83A1-F6EECF244321}">
                <p14:modId xmlns:p14="http://schemas.microsoft.com/office/powerpoint/2010/main" val="761424834"/>
              </p:ext>
            </p:extLst>
          </p:nvPr>
        </p:nvGraphicFramePr>
        <p:xfrm>
          <a:off x="651932" y="1417320"/>
          <a:ext cx="10907464"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p:cNvSpPr/>
          <p:nvPr/>
        </p:nvSpPr>
        <p:spPr>
          <a:xfrm>
            <a:off x="-1645920" y="4846320"/>
            <a:ext cx="3840480" cy="3840480"/>
          </a:xfrm>
          <a:prstGeom prst="ellipse">
            <a:avLst/>
          </a:prstGeom>
          <a:solidFill>
            <a:srgbClr val="062E2A"/>
          </a:solidFill>
          <a:ln/>
        </p:spPr>
        <p:txBody>
          <a:bodyPr/>
          <a:lstStyle/>
          <a:p>
            <a:endParaRPr lang="en-IN"/>
          </a:p>
        </p:txBody>
      </p:sp>
      <p:sp>
        <p:nvSpPr>
          <p:cNvPr id="4" name="Text 2"/>
          <p:cNvSpPr/>
          <p:nvPr/>
        </p:nvSpPr>
        <p:spPr>
          <a:xfrm>
            <a:off x="822960" y="2331720"/>
            <a:ext cx="5486400" cy="457200"/>
          </a:xfrm>
          <a:prstGeom prst="rect">
            <a:avLst/>
          </a:prstGeom>
          <a:noFill/>
          <a:ln/>
        </p:spPr>
        <p:txBody>
          <a:bodyPr wrap="square" rtlCol="0" anchor="ctr"/>
          <a:lstStyle/>
          <a:p>
            <a:pPr marL="0" indent="0">
              <a:buNone/>
            </a:pPr>
            <a:r>
              <a:rPr lang="en-US" sz="1400" b="1" kern="0" spc="200" dirty="0">
                <a:solidFill>
                  <a:srgbClr val="FF6B35"/>
                </a:solidFill>
                <a:latin typeface="Calibri" pitchFamily="34" charset="0"/>
                <a:ea typeface="Calibri" pitchFamily="34" charset="-122"/>
                <a:cs typeface="Calibri" pitchFamily="34" charset="-120"/>
              </a:rPr>
              <a:t>PART 01</a:t>
            </a:r>
            <a:endParaRPr lang="en-US" sz="1500" dirty="0"/>
          </a:p>
        </p:txBody>
      </p:sp>
      <p:sp>
        <p:nvSpPr>
          <p:cNvPr id="5" name="Text 3"/>
          <p:cNvSpPr/>
          <p:nvPr/>
        </p:nvSpPr>
        <p:spPr>
          <a:xfrm>
            <a:off x="822960" y="2743200"/>
            <a:ext cx="9875520" cy="14630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Market Dynamics</a:t>
            </a:r>
            <a:endParaRPr lang="en-US" sz="3400" dirty="0"/>
          </a:p>
        </p:txBody>
      </p:sp>
      <p:sp>
        <p:nvSpPr>
          <p:cNvPr id="6" name="Text 4"/>
          <p:cNvSpPr/>
          <p:nvPr/>
        </p:nvSpPr>
        <p:spPr>
          <a:xfrm>
            <a:off x="822960" y="4114800"/>
            <a:ext cx="8686800" cy="731520"/>
          </a:xfrm>
          <a:prstGeom prst="rect">
            <a:avLst/>
          </a:prstGeom>
          <a:noFill/>
          <a:ln/>
        </p:spPr>
        <p:txBody>
          <a:bodyPr wrap="square" rtlCol="0" anchor="ctr"/>
          <a:lstStyle/>
          <a:p>
            <a:pPr marL="0" indent="0">
              <a:buNone/>
            </a:pPr>
            <a:r>
              <a:rPr lang="en-US" sz="1200" i="1" dirty="0">
                <a:solidFill>
                  <a:srgbClr val="EAF5F1"/>
                </a:solidFill>
                <a:latin typeface="Calibri" pitchFamily="34" charset="0"/>
                <a:ea typeface="Calibri" pitchFamily="34" charset="-122"/>
                <a:cs typeface="Calibri" pitchFamily="34" charset="-120"/>
              </a:rPr>
              <a:t>Forces shaping demand, supply, and innovation across the functional beverage industry</a:t>
            </a:r>
            <a:endParaRPr lang="en-US" sz="140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4676"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Growth Drivers</a:t>
            </a:r>
            <a:endParaRPr lang="en-US" sz="2800" dirty="0"/>
          </a:p>
        </p:txBody>
      </p:sp>
      <p:sp>
        <p:nvSpPr>
          <p:cNvPr id="3" name="Text 1"/>
          <p:cNvSpPr/>
          <p:nvPr/>
        </p:nvSpPr>
        <p:spPr>
          <a:xfrm>
            <a:off x="554676"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Key structural and policy-driven factors accelerating the adoption of functional beverages worldwide.</a:t>
            </a:r>
            <a:endParaRPr lang="en-US" sz="1200" dirty="0"/>
          </a:p>
        </p:txBody>
      </p:sp>
      <p:grpSp>
        <p:nvGrpSpPr>
          <p:cNvPr id="20" name="Group 19">
            <a:extLst>
              <a:ext uri="{FF2B5EF4-FFF2-40B4-BE49-F238E27FC236}">
                <a16:creationId xmlns:a16="http://schemas.microsoft.com/office/drawing/2014/main" id="{AE6ECB69-3D53-32FB-C3EA-1E9BBDFDB617}"/>
              </a:ext>
            </a:extLst>
          </p:cNvPr>
          <p:cNvGrpSpPr/>
          <p:nvPr/>
        </p:nvGrpSpPr>
        <p:grpSpPr>
          <a:xfrm>
            <a:off x="1141273" y="1348284"/>
            <a:ext cx="4477296" cy="2296524"/>
            <a:chOff x="502920" y="1417320"/>
            <a:chExt cx="3960000" cy="2448000"/>
          </a:xfrm>
        </p:grpSpPr>
        <p:sp>
          <p:nvSpPr>
            <p:cNvPr id="4" name="Shape 2"/>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5" name="Text 3"/>
            <p:cNvSpPr/>
            <p:nvPr/>
          </p:nvSpPr>
          <p:spPr>
            <a:xfrm>
              <a:off x="571584" y="1487192"/>
              <a:ext cx="3817188" cy="2302390"/>
            </a:xfrm>
            <a:prstGeom prst="rect">
              <a:avLst/>
            </a:prstGeom>
            <a:noFill/>
            <a:ln/>
          </p:spPr>
          <p:txBody>
            <a:bodyPr wrap="square" rtlCol="0" anchor="t"/>
            <a:lstStyle/>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Rising Preventive Healthcare: </a:t>
              </a:r>
              <a:r>
                <a:rPr lang="en-US" sz="1200" dirty="0">
                  <a:solidFill>
                    <a:srgbClr val="1E2624"/>
                  </a:solidFill>
                  <a:latin typeface="Calibri"/>
                  <a:ea typeface="Calibri" pitchFamily="34" charset="-122"/>
                  <a:cs typeface="Calibri" pitchFamily="34" charset="-120"/>
                </a:rPr>
                <a:t>Increasing focus on preventive healthcare is driving demand for functional beverages fortified with vitamins, minerals, probiotics, and other beneficial ingredients, as consumers seek products that support overall health and wellness.</a:t>
              </a:r>
            </a:p>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WHO – Healthy Diet Fact Sheet, 26 January 2026: </a:t>
              </a:r>
              <a:r>
                <a:rPr lang="en-US" sz="1200" dirty="0">
                  <a:solidFill>
                    <a:srgbClr val="1E2624"/>
                  </a:solidFill>
                  <a:latin typeface="Calibri"/>
                  <a:ea typeface="Calibri" pitchFamily="34" charset="-122"/>
                  <a:cs typeface="Calibri" pitchFamily="34" charset="-120"/>
                </a:rPr>
                <a:t>WHO recommends nutrient-rich diets and reduced free sugar intake to help prevent obesity, diabetes, cardiovascular diseases, and other NCDs.</a:t>
              </a:r>
            </a:p>
          </p:txBody>
        </p:sp>
      </p:grpSp>
      <p:sp>
        <p:nvSpPr>
          <p:cNvPr id="6"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28" name="Group 27">
            <a:extLst>
              <a:ext uri="{FF2B5EF4-FFF2-40B4-BE49-F238E27FC236}">
                <a16:creationId xmlns:a16="http://schemas.microsoft.com/office/drawing/2014/main" id="{439F03D2-BEAC-53D0-449F-3E9013DD6176}"/>
              </a:ext>
            </a:extLst>
          </p:cNvPr>
          <p:cNvGrpSpPr/>
          <p:nvPr/>
        </p:nvGrpSpPr>
        <p:grpSpPr>
          <a:xfrm>
            <a:off x="1138173" y="3920467"/>
            <a:ext cx="4477296" cy="2296524"/>
            <a:chOff x="502920" y="1417320"/>
            <a:chExt cx="3960000" cy="2448000"/>
          </a:xfrm>
        </p:grpSpPr>
        <p:sp>
          <p:nvSpPr>
            <p:cNvPr id="29" name="Shape 2">
              <a:extLst>
                <a:ext uri="{FF2B5EF4-FFF2-40B4-BE49-F238E27FC236}">
                  <a16:creationId xmlns:a16="http://schemas.microsoft.com/office/drawing/2014/main" id="{5B06E621-2F9E-AD72-1542-B01AFA3FDE63}"/>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30" name="Text 3">
              <a:extLst>
                <a:ext uri="{FF2B5EF4-FFF2-40B4-BE49-F238E27FC236}">
                  <a16:creationId xmlns:a16="http://schemas.microsoft.com/office/drawing/2014/main" id="{74E8A8D5-709E-9557-F616-1D6E5A588F1D}"/>
                </a:ext>
              </a:extLst>
            </p:cNvPr>
            <p:cNvSpPr/>
            <p:nvPr/>
          </p:nvSpPr>
          <p:spPr>
            <a:xfrm>
              <a:off x="571584" y="1487192"/>
              <a:ext cx="3817188" cy="2302390"/>
            </a:xfrm>
            <a:prstGeom prst="rect">
              <a:avLst/>
            </a:prstGeom>
            <a:noFill/>
            <a:ln/>
          </p:spPr>
          <p:txBody>
            <a:bodyPr wrap="square" rtlCol="0" anchor="t"/>
            <a:lstStyle/>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Expansion of National Fortification Programs Driving Innovation: </a:t>
              </a:r>
              <a:r>
                <a:rPr lang="en-US" sz="1200" dirty="0">
                  <a:solidFill>
                    <a:srgbClr val="1E2624"/>
                  </a:solidFill>
                  <a:latin typeface="Calibri"/>
                  <a:ea typeface="Calibri" pitchFamily="34" charset="-122"/>
                  <a:cs typeface="Calibri" pitchFamily="34" charset="-120"/>
                </a:rPr>
                <a:t>National micronutrient fortification programs are driving innovation in fortified beverages, including juices, dairy drinks, and functional waters, to address vitamin and mineral deficiencies.</a:t>
              </a:r>
            </a:p>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WHO &amp; FAO – What are Healthy Diets? (24 October 2024): </a:t>
              </a:r>
              <a:r>
                <a:rPr lang="en-US" sz="1200" dirty="0">
                  <a:solidFill>
                    <a:srgbClr val="1E2624"/>
                  </a:solidFill>
                  <a:latin typeface="Calibri"/>
                  <a:ea typeface="Calibri" pitchFamily="34" charset="-122"/>
                  <a:cs typeface="Calibri" pitchFamily="34" charset="-120"/>
                </a:rPr>
                <a:t>The publication supports food fortification to improve micronutrient intake.</a:t>
              </a:r>
            </a:p>
          </p:txBody>
        </p:sp>
      </p:grpSp>
      <p:grpSp>
        <p:nvGrpSpPr>
          <p:cNvPr id="31" name="Group 30">
            <a:extLst>
              <a:ext uri="{FF2B5EF4-FFF2-40B4-BE49-F238E27FC236}">
                <a16:creationId xmlns:a16="http://schemas.microsoft.com/office/drawing/2014/main" id="{868CCCE7-A795-C762-C6FB-7552FFD1D02E}"/>
              </a:ext>
            </a:extLst>
          </p:cNvPr>
          <p:cNvGrpSpPr/>
          <p:nvPr/>
        </p:nvGrpSpPr>
        <p:grpSpPr>
          <a:xfrm>
            <a:off x="6576533" y="1272546"/>
            <a:ext cx="4477296" cy="2296524"/>
            <a:chOff x="502920" y="1417320"/>
            <a:chExt cx="3960000" cy="2448000"/>
          </a:xfrm>
        </p:grpSpPr>
        <p:sp>
          <p:nvSpPr>
            <p:cNvPr id="32" name="Shape 2">
              <a:extLst>
                <a:ext uri="{FF2B5EF4-FFF2-40B4-BE49-F238E27FC236}">
                  <a16:creationId xmlns:a16="http://schemas.microsoft.com/office/drawing/2014/main" id="{FCA180A1-A813-3EF0-632E-1B755ACEFF69}"/>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33" name="Text 3">
              <a:extLst>
                <a:ext uri="{FF2B5EF4-FFF2-40B4-BE49-F238E27FC236}">
                  <a16:creationId xmlns:a16="http://schemas.microsoft.com/office/drawing/2014/main" id="{1BFC5FD9-117F-564F-2DA9-AE52E9EAA4B2}"/>
                </a:ext>
              </a:extLst>
            </p:cNvPr>
            <p:cNvSpPr/>
            <p:nvPr/>
          </p:nvSpPr>
          <p:spPr>
            <a:xfrm>
              <a:off x="571584" y="1487192"/>
              <a:ext cx="3817188" cy="2302390"/>
            </a:xfrm>
            <a:prstGeom prst="rect">
              <a:avLst/>
            </a:prstGeom>
            <a:noFill/>
            <a:ln/>
          </p:spPr>
          <p:txBody>
            <a:bodyPr wrap="square" rtlCol="0" anchor="t"/>
            <a:lstStyle/>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Advancements in Nutrition Research Supporting Innovation: </a:t>
              </a:r>
              <a:r>
                <a:rPr lang="en-US" sz="1200" dirty="0">
                  <a:solidFill>
                    <a:srgbClr val="1E2624"/>
                  </a:solidFill>
                  <a:latin typeface="Calibri"/>
                  <a:ea typeface="Calibri" pitchFamily="34" charset="-122"/>
                  <a:cs typeface="Calibri" pitchFamily="34" charset="-120"/>
                </a:rPr>
                <a:t>Continuous advances in microbiome and nutrition research are driving innovation in functional beverages with probiotics, prebiotics, and other bioactive ingredients, supporting digestive health, immunity, and overall wellness.</a:t>
              </a:r>
            </a:p>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NIH – Precision Nutrition Research Program (Ongoing since 2022): </a:t>
              </a:r>
              <a:r>
                <a:rPr lang="en-US" sz="1200" dirty="0">
                  <a:solidFill>
                    <a:srgbClr val="1E2624"/>
                  </a:solidFill>
                  <a:latin typeface="Calibri"/>
                  <a:ea typeface="Calibri" pitchFamily="34" charset="-122"/>
                  <a:cs typeface="Calibri" pitchFamily="34" charset="-120"/>
                </a:rPr>
                <a:t>NIH continues funding research on personalized nutrition, microbiome science, and diet–health interactions.</a:t>
              </a:r>
            </a:p>
          </p:txBody>
        </p:sp>
      </p:grpSp>
      <p:grpSp>
        <p:nvGrpSpPr>
          <p:cNvPr id="34" name="Group 33">
            <a:extLst>
              <a:ext uri="{FF2B5EF4-FFF2-40B4-BE49-F238E27FC236}">
                <a16:creationId xmlns:a16="http://schemas.microsoft.com/office/drawing/2014/main" id="{B3D6381D-4B2E-959B-1BBF-12BB42EF033C}"/>
              </a:ext>
            </a:extLst>
          </p:cNvPr>
          <p:cNvGrpSpPr/>
          <p:nvPr/>
        </p:nvGrpSpPr>
        <p:grpSpPr>
          <a:xfrm>
            <a:off x="6573433" y="3844729"/>
            <a:ext cx="4477296" cy="2296524"/>
            <a:chOff x="502920" y="1417320"/>
            <a:chExt cx="3960000" cy="2448000"/>
          </a:xfrm>
        </p:grpSpPr>
        <p:sp>
          <p:nvSpPr>
            <p:cNvPr id="35" name="Shape 2">
              <a:extLst>
                <a:ext uri="{FF2B5EF4-FFF2-40B4-BE49-F238E27FC236}">
                  <a16:creationId xmlns:a16="http://schemas.microsoft.com/office/drawing/2014/main" id="{218CBD8A-4D99-0365-2B98-1D063D0DDFA8}"/>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36" name="Text 3">
              <a:extLst>
                <a:ext uri="{FF2B5EF4-FFF2-40B4-BE49-F238E27FC236}">
                  <a16:creationId xmlns:a16="http://schemas.microsoft.com/office/drawing/2014/main" id="{DB3A11CF-75B4-61C1-39D0-DBA0A61F77A0}"/>
                </a:ext>
              </a:extLst>
            </p:cNvPr>
            <p:cNvSpPr/>
            <p:nvPr/>
          </p:nvSpPr>
          <p:spPr>
            <a:xfrm>
              <a:off x="571584" y="1487192"/>
              <a:ext cx="3817188" cy="2302390"/>
            </a:xfrm>
            <a:prstGeom prst="rect">
              <a:avLst/>
            </a:prstGeom>
            <a:noFill/>
            <a:ln/>
          </p:spPr>
          <p:txBody>
            <a:bodyPr wrap="square" rtlCol="0" anchor="t"/>
            <a:lstStyle/>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Sugar Reduction Initiatives:</a:t>
              </a:r>
              <a:r>
                <a:rPr lang="en-US" sz="1200" dirty="0">
                  <a:solidFill>
                    <a:srgbClr val="1E2624"/>
                  </a:solidFill>
                  <a:latin typeface="Calibri"/>
                  <a:ea typeface="Calibri" pitchFamily="34" charset="-122"/>
                  <a:cs typeface="Calibri" pitchFamily="34" charset="-120"/>
                </a:rPr>
                <a:t> Government-led sugar reduction initiatives are driving demand for low-sugar functional beverages with added nutritional benefits. Public health campaigns are encouraging manufacturers to expand reduced-sugar and nutrient-enriched product offerings.</a:t>
              </a:r>
            </a:p>
            <a:p>
              <a:pPr marL="285750" indent="-285750">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WHO – Healthy Diet Fact Sheet (26 January 2026): </a:t>
              </a:r>
              <a:r>
                <a:rPr lang="en-US" sz="1200" dirty="0">
                  <a:solidFill>
                    <a:srgbClr val="1E2624"/>
                  </a:solidFill>
                  <a:latin typeface="Calibri"/>
                  <a:ea typeface="Calibri" pitchFamily="34" charset="-122"/>
                  <a:cs typeface="Calibri" pitchFamily="34" charset="-120"/>
                </a:rPr>
                <a:t>WHO recommends limiting free sugar intake to less than 10% of total daily energy intake to support better health.</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E7018C-D0D6-68EF-E3A1-DB47F83207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4C3BEC-A78B-B118-C01D-7C44084092D0}"/>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Market Restraints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9489DD9B-8F74-EBC9-C173-5DDEA3C11660}"/>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Critical regulatory, formulation, and commercialization challenges influencing market growth.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FC759CB0-1166-F492-ADDC-FF944F866822}"/>
              </a:ext>
            </a:extLst>
          </p:cNvPr>
          <p:cNvGrpSpPr/>
          <p:nvPr/>
        </p:nvGrpSpPr>
        <p:grpSpPr>
          <a:xfrm>
            <a:off x="1141273" y="1494926"/>
            <a:ext cx="4477296" cy="2116131"/>
            <a:chOff x="502920" y="1417320"/>
            <a:chExt cx="3960000" cy="2448000"/>
          </a:xfrm>
        </p:grpSpPr>
        <p:sp>
          <p:nvSpPr>
            <p:cNvPr id="4" name="Shape 2">
              <a:extLst>
                <a:ext uri="{FF2B5EF4-FFF2-40B4-BE49-F238E27FC236}">
                  <a16:creationId xmlns:a16="http://schemas.microsoft.com/office/drawing/2014/main" id="{74BC057F-0C23-4FC9-4331-F7C178A8FB7C}"/>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5" name="Text 3">
              <a:extLst>
                <a:ext uri="{FF2B5EF4-FFF2-40B4-BE49-F238E27FC236}">
                  <a16:creationId xmlns:a16="http://schemas.microsoft.com/office/drawing/2014/main" id="{0E5C292A-77F5-D7DB-9B2F-34B0C669497B}"/>
                </a:ext>
              </a:extLst>
            </p:cNvPr>
            <p:cNvSpPr/>
            <p:nvPr/>
          </p:nvSpPr>
          <p:spPr>
            <a:xfrm>
              <a:off x="571584" y="1487192"/>
              <a:ext cx="3817188" cy="230239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Continuous product reformulation increases R&amp;D costs as manufacturers adapt to evolving nutrition guidelines and regulations. Reducing sugar and improving nutrient profiles while maintaining taste and functionality requires ongoing investment in innovation.</a:t>
              </a: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WHO – Healthy Diet Fact Sheet, 2026):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WHO recommends reducing sugar, sodium, saturated fat, and trans fat through product reformulation.</a:t>
              </a:r>
            </a:p>
          </p:txBody>
        </p:sp>
      </p:grpSp>
      <p:sp>
        <p:nvSpPr>
          <p:cNvPr id="6" name="Text 4">
            <a:extLst>
              <a:ext uri="{FF2B5EF4-FFF2-40B4-BE49-F238E27FC236}">
                <a16:creationId xmlns:a16="http://schemas.microsoft.com/office/drawing/2014/main" id="{D9AB3B6A-E481-97AF-B4B2-293AD57B7A0B}"/>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8" name="Group 27">
            <a:extLst>
              <a:ext uri="{FF2B5EF4-FFF2-40B4-BE49-F238E27FC236}">
                <a16:creationId xmlns:a16="http://schemas.microsoft.com/office/drawing/2014/main" id="{F0305AB6-CDC6-E93B-BE40-9B7AF526369A}"/>
              </a:ext>
            </a:extLst>
          </p:cNvPr>
          <p:cNvGrpSpPr/>
          <p:nvPr/>
        </p:nvGrpSpPr>
        <p:grpSpPr>
          <a:xfrm>
            <a:off x="1138173" y="4067109"/>
            <a:ext cx="4477296" cy="2116131"/>
            <a:chOff x="502920" y="1417320"/>
            <a:chExt cx="3960000" cy="2448000"/>
          </a:xfrm>
        </p:grpSpPr>
        <p:sp>
          <p:nvSpPr>
            <p:cNvPr id="29" name="Shape 2">
              <a:extLst>
                <a:ext uri="{FF2B5EF4-FFF2-40B4-BE49-F238E27FC236}">
                  <a16:creationId xmlns:a16="http://schemas.microsoft.com/office/drawing/2014/main" id="{C1A264EF-CE90-40C0-A45D-B3584178AA30}"/>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30" name="Text 3">
              <a:extLst>
                <a:ext uri="{FF2B5EF4-FFF2-40B4-BE49-F238E27FC236}">
                  <a16:creationId xmlns:a16="http://schemas.microsoft.com/office/drawing/2014/main" id="{D24C891E-5953-E533-EDE0-8D2645CDC13C}"/>
                </a:ext>
              </a:extLst>
            </p:cNvPr>
            <p:cNvSpPr/>
            <p:nvPr/>
          </p:nvSpPr>
          <p:spPr>
            <a:xfrm>
              <a:off x="571584" y="1513070"/>
              <a:ext cx="3817188" cy="230239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Maintaining the stability of probiotics, vitamins, botanical extracts, and other functional ingredients increases production costs. Specialized formulation, packaging, and storage technologies are required to preserve product efficacy and shelf life.</a:t>
              </a:r>
              <a:r>
                <a:rPr lang="en-US" sz="1200" dirty="0">
                  <a:solidFill>
                    <a:srgbClr val="1E2624"/>
                  </a:solidFill>
                  <a:latin typeface="Calibri" pitchFamily="34" charset="0"/>
                  <a:ea typeface="Calibri" pitchFamily="34" charset="-122"/>
                  <a:cs typeface="Calibri" pitchFamily="34" charset="-120"/>
                </a:rPr>
                <a:t> </a:t>
              </a: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Codex Alimentarius – General Principles of Food Hygiene (2022–2024):</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Emphasizes ingredient stability, food safety, and quality management throughout food production and distribution.</a:t>
              </a:r>
            </a:p>
          </p:txBody>
        </p:sp>
      </p:grpSp>
      <p:grpSp>
        <p:nvGrpSpPr>
          <p:cNvPr id="31" name="Group 30">
            <a:extLst>
              <a:ext uri="{FF2B5EF4-FFF2-40B4-BE49-F238E27FC236}">
                <a16:creationId xmlns:a16="http://schemas.microsoft.com/office/drawing/2014/main" id="{4C594069-062C-C5DA-007D-BDB635FDE8D7}"/>
              </a:ext>
            </a:extLst>
          </p:cNvPr>
          <p:cNvGrpSpPr/>
          <p:nvPr/>
        </p:nvGrpSpPr>
        <p:grpSpPr>
          <a:xfrm>
            <a:off x="6576533" y="1419188"/>
            <a:ext cx="4477296" cy="2116131"/>
            <a:chOff x="502920" y="1417320"/>
            <a:chExt cx="3960000" cy="2448000"/>
          </a:xfrm>
        </p:grpSpPr>
        <p:sp>
          <p:nvSpPr>
            <p:cNvPr id="32" name="Shape 2">
              <a:extLst>
                <a:ext uri="{FF2B5EF4-FFF2-40B4-BE49-F238E27FC236}">
                  <a16:creationId xmlns:a16="http://schemas.microsoft.com/office/drawing/2014/main" id="{6B311499-C479-05FD-B04B-1AEE11BABE31}"/>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33" name="Text 3">
              <a:extLst>
                <a:ext uri="{FF2B5EF4-FFF2-40B4-BE49-F238E27FC236}">
                  <a16:creationId xmlns:a16="http://schemas.microsoft.com/office/drawing/2014/main" id="{D86493A5-AC6F-EB68-23EB-EBEBE2547D71}"/>
                </a:ext>
              </a:extLst>
            </p:cNvPr>
            <p:cNvSpPr/>
            <p:nvPr/>
          </p:nvSpPr>
          <p:spPr>
            <a:xfrm>
              <a:off x="571584" y="1562930"/>
              <a:ext cx="3817188" cy="2226652"/>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Scientific substantiation requirements delay the commercialization of novel functional ingredients. Manufacturers must provide robust scientific evidence before making health-related claims, extending product development timelines.</a:t>
              </a: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U.S. FDA – Final Rule for "Healthy" Nutrient Content Claim (19 December 2024):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Strengthens evidence-based requirements for nutrition claims on food and beverage products.</a:t>
              </a:r>
            </a:p>
          </p:txBody>
        </p:sp>
      </p:grpSp>
      <p:grpSp>
        <p:nvGrpSpPr>
          <p:cNvPr id="34" name="Group 33">
            <a:extLst>
              <a:ext uri="{FF2B5EF4-FFF2-40B4-BE49-F238E27FC236}">
                <a16:creationId xmlns:a16="http://schemas.microsoft.com/office/drawing/2014/main" id="{BDF79844-E17B-3C5E-D59C-BB377C62FEBB}"/>
              </a:ext>
            </a:extLst>
          </p:cNvPr>
          <p:cNvGrpSpPr/>
          <p:nvPr/>
        </p:nvGrpSpPr>
        <p:grpSpPr>
          <a:xfrm>
            <a:off x="6573433" y="3991371"/>
            <a:ext cx="4477296" cy="2116131"/>
            <a:chOff x="502920" y="1417320"/>
            <a:chExt cx="3960000" cy="2448000"/>
          </a:xfrm>
        </p:grpSpPr>
        <p:sp>
          <p:nvSpPr>
            <p:cNvPr id="35" name="Shape 2">
              <a:extLst>
                <a:ext uri="{FF2B5EF4-FFF2-40B4-BE49-F238E27FC236}">
                  <a16:creationId xmlns:a16="http://schemas.microsoft.com/office/drawing/2014/main" id="{369AC886-633C-052B-6C48-70A55F75D743}"/>
                </a:ext>
              </a:extLst>
            </p:cNvPr>
            <p:cNvSpPr/>
            <p:nvPr/>
          </p:nvSpPr>
          <p:spPr>
            <a:xfrm>
              <a:off x="502920" y="1417320"/>
              <a:ext cx="3960000" cy="2448000"/>
            </a:xfrm>
            <a:prstGeom prst="roundRect">
              <a:avLst>
                <a:gd name="adj" fmla="val 1600"/>
              </a:avLst>
            </a:prstGeom>
            <a:solidFill>
              <a:srgbClr val="EAF5F1"/>
            </a:solidFill>
            <a:ln/>
          </p:spPr>
          <p:txBody>
            <a:bodyPr/>
            <a:lstStyle/>
            <a:p>
              <a:endParaRPr lang="en-IN" sz="1200"/>
            </a:p>
          </p:txBody>
        </p:sp>
        <p:sp>
          <p:nvSpPr>
            <p:cNvPr id="36" name="Text 3">
              <a:extLst>
                <a:ext uri="{FF2B5EF4-FFF2-40B4-BE49-F238E27FC236}">
                  <a16:creationId xmlns:a16="http://schemas.microsoft.com/office/drawing/2014/main" id="{A87E6313-14C6-16FD-09E2-E0876B47BAC8}"/>
                </a:ext>
              </a:extLst>
            </p:cNvPr>
            <p:cNvSpPr/>
            <p:nvPr/>
          </p:nvSpPr>
          <p:spPr>
            <a:xfrm>
              <a:off x="571584" y="1571556"/>
              <a:ext cx="3817188" cy="2226652"/>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endPar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Diverse international regulations increase compliance complexity. Varying ingredient approvals, labeling standards, and health claim requirements extend product approval timelines and raise regulatory costs.</a:t>
              </a:r>
            </a:p>
            <a:p>
              <a:pPr marL="2857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Codex Alimentarius (2024–2025), U.S. FDA, and EFSA: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Continue enforcing stringent requirements for food safety, ingredient approvals, and nutrition claims.</a:t>
              </a:r>
            </a:p>
          </p:txBody>
        </p:sp>
      </p:grpSp>
      <p:grpSp>
        <p:nvGrpSpPr>
          <p:cNvPr id="12" name="Group 11">
            <a:extLst>
              <a:ext uri="{FF2B5EF4-FFF2-40B4-BE49-F238E27FC236}">
                <a16:creationId xmlns:a16="http://schemas.microsoft.com/office/drawing/2014/main" id="{36C1C5FB-F1A4-1480-4F15-6F40516CE784}"/>
              </a:ext>
            </a:extLst>
          </p:cNvPr>
          <p:cNvGrpSpPr/>
          <p:nvPr/>
        </p:nvGrpSpPr>
        <p:grpSpPr>
          <a:xfrm>
            <a:off x="1141273" y="1393141"/>
            <a:ext cx="3137427" cy="355697"/>
            <a:chOff x="502920" y="1387800"/>
            <a:chExt cx="5486400" cy="411480"/>
          </a:xfrm>
        </p:grpSpPr>
        <p:sp>
          <p:nvSpPr>
            <p:cNvPr id="9" name="Shape 3">
              <a:extLst>
                <a:ext uri="{FF2B5EF4-FFF2-40B4-BE49-F238E27FC236}">
                  <a16:creationId xmlns:a16="http://schemas.microsoft.com/office/drawing/2014/main" id="{37E56FBF-BFF9-6F99-C8F6-9EA44E271BA5}"/>
                </a:ext>
              </a:extLst>
            </p:cNvPr>
            <p:cNvSpPr/>
            <p:nvPr/>
          </p:nvSpPr>
          <p:spPr>
            <a:xfrm>
              <a:off x="502920" y="1387800"/>
              <a:ext cx="5486400" cy="411480"/>
            </a:xfrm>
            <a:prstGeom prst="roundRect">
              <a:avLst>
                <a:gd name="adj" fmla="val 26667"/>
              </a:avLst>
            </a:prstGeom>
            <a:solidFill>
              <a:srgbClr val="0B4F4A"/>
            </a:solidFill>
            <a:ln/>
          </p:spPr>
          <p:txBody>
            <a:bodyPr/>
            <a:lstStyle/>
            <a:p>
              <a:endParaRPr lang="en-IN" sz="1400"/>
            </a:p>
          </p:txBody>
        </p:sp>
        <p:sp>
          <p:nvSpPr>
            <p:cNvPr id="11" name="Text 4">
              <a:extLst>
                <a:ext uri="{FF2B5EF4-FFF2-40B4-BE49-F238E27FC236}">
                  <a16:creationId xmlns:a16="http://schemas.microsoft.com/office/drawing/2014/main" id="{2C52B04B-C228-EDF3-6FE1-0FC38492DD42}"/>
                </a:ext>
              </a:extLst>
            </p:cNvPr>
            <p:cNvSpPr/>
            <p:nvPr/>
          </p:nvSpPr>
          <p:spPr>
            <a:xfrm>
              <a:off x="1033272" y="1387800"/>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High Product Reformulation Costs</a:t>
              </a:r>
              <a:endParaRPr lang="en-US" sz="1400" dirty="0"/>
            </a:p>
          </p:txBody>
        </p:sp>
      </p:grpSp>
      <p:grpSp>
        <p:nvGrpSpPr>
          <p:cNvPr id="13" name="Group 12">
            <a:extLst>
              <a:ext uri="{FF2B5EF4-FFF2-40B4-BE49-F238E27FC236}">
                <a16:creationId xmlns:a16="http://schemas.microsoft.com/office/drawing/2014/main" id="{CF8A4726-78FE-8526-373E-A9866B099719}"/>
              </a:ext>
            </a:extLst>
          </p:cNvPr>
          <p:cNvGrpSpPr/>
          <p:nvPr/>
        </p:nvGrpSpPr>
        <p:grpSpPr>
          <a:xfrm>
            <a:off x="1131973" y="3989236"/>
            <a:ext cx="3137427" cy="355697"/>
            <a:chOff x="502920" y="1387800"/>
            <a:chExt cx="5486400" cy="411480"/>
          </a:xfrm>
        </p:grpSpPr>
        <p:sp>
          <p:nvSpPr>
            <p:cNvPr id="14" name="Shape 3">
              <a:extLst>
                <a:ext uri="{FF2B5EF4-FFF2-40B4-BE49-F238E27FC236}">
                  <a16:creationId xmlns:a16="http://schemas.microsoft.com/office/drawing/2014/main" id="{A0A8D6BF-269F-32A5-F8E5-F5B5BCA7AAC4}"/>
                </a:ext>
              </a:extLst>
            </p:cNvPr>
            <p:cNvSpPr/>
            <p:nvPr/>
          </p:nvSpPr>
          <p:spPr>
            <a:xfrm>
              <a:off x="502920" y="1387800"/>
              <a:ext cx="5486400" cy="411480"/>
            </a:xfrm>
            <a:prstGeom prst="roundRect">
              <a:avLst>
                <a:gd name="adj" fmla="val 26667"/>
              </a:avLst>
            </a:prstGeom>
            <a:solidFill>
              <a:srgbClr val="0B4F4A"/>
            </a:solidFill>
            <a:ln/>
          </p:spPr>
          <p:txBody>
            <a:bodyPr/>
            <a:lstStyle/>
            <a:p>
              <a:endParaRPr lang="en-IN" sz="1400"/>
            </a:p>
          </p:txBody>
        </p:sp>
        <p:sp>
          <p:nvSpPr>
            <p:cNvPr id="15" name="Text 4">
              <a:extLst>
                <a:ext uri="{FF2B5EF4-FFF2-40B4-BE49-F238E27FC236}">
                  <a16:creationId xmlns:a16="http://schemas.microsoft.com/office/drawing/2014/main" id="{5609ED50-2B20-598C-7B31-F8C8926438E0}"/>
                </a:ext>
              </a:extLst>
            </p:cNvPr>
            <p:cNvSpPr/>
            <p:nvPr/>
          </p:nvSpPr>
          <p:spPr>
            <a:xfrm>
              <a:off x="1033272" y="1387800"/>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Ingredient Stability Challenges</a:t>
              </a:r>
              <a:endParaRPr lang="en-US" sz="1400" dirty="0"/>
            </a:p>
          </p:txBody>
        </p:sp>
      </p:grpSp>
      <p:grpSp>
        <p:nvGrpSpPr>
          <p:cNvPr id="16" name="Group 15">
            <a:extLst>
              <a:ext uri="{FF2B5EF4-FFF2-40B4-BE49-F238E27FC236}">
                <a16:creationId xmlns:a16="http://schemas.microsoft.com/office/drawing/2014/main" id="{0ACE2205-1E7C-5331-D512-229C5F3B82FF}"/>
              </a:ext>
            </a:extLst>
          </p:cNvPr>
          <p:cNvGrpSpPr/>
          <p:nvPr/>
        </p:nvGrpSpPr>
        <p:grpSpPr>
          <a:xfrm>
            <a:off x="6585833" y="1381082"/>
            <a:ext cx="3137427" cy="355697"/>
            <a:chOff x="502920" y="1387800"/>
            <a:chExt cx="5486400" cy="411480"/>
          </a:xfrm>
          <a:solidFill>
            <a:schemeClr val="accent2"/>
          </a:solidFill>
        </p:grpSpPr>
        <p:sp>
          <p:nvSpPr>
            <p:cNvPr id="17" name="Shape 3">
              <a:extLst>
                <a:ext uri="{FF2B5EF4-FFF2-40B4-BE49-F238E27FC236}">
                  <a16:creationId xmlns:a16="http://schemas.microsoft.com/office/drawing/2014/main" id="{434049F4-AF4B-E712-34F9-4F78D7EAED90}"/>
                </a:ext>
              </a:extLst>
            </p:cNvPr>
            <p:cNvSpPr/>
            <p:nvPr/>
          </p:nvSpPr>
          <p:spPr>
            <a:xfrm>
              <a:off x="502920" y="1387800"/>
              <a:ext cx="5486400" cy="411480"/>
            </a:xfrm>
            <a:prstGeom prst="roundRect">
              <a:avLst>
                <a:gd name="adj" fmla="val 26667"/>
              </a:avLst>
            </a:prstGeom>
            <a:grpFill/>
            <a:ln/>
          </p:spPr>
          <p:txBody>
            <a:bodyPr/>
            <a:lstStyle/>
            <a:p>
              <a:endParaRPr lang="en-IN" sz="1400"/>
            </a:p>
          </p:txBody>
        </p:sp>
        <p:sp>
          <p:nvSpPr>
            <p:cNvPr id="18" name="Text 4">
              <a:extLst>
                <a:ext uri="{FF2B5EF4-FFF2-40B4-BE49-F238E27FC236}">
                  <a16:creationId xmlns:a16="http://schemas.microsoft.com/office/drawing/2014/main" id="{EFFA52EE-6298-46C2-53ED-33FA33346358}"/>
                </a:ext>
              </a:extLst>
            </p:cNvPr>
            <p:cNvSpPr/>
            <p:nvPr/>
          </p:nvSpPr>
          <p:spPr>
            <a:xfrm>
              <a:off x="1033272" y="1387800"/>
              <a:ext cx="4800600" cy="411480"/>
            </a:xfrm>
            <a:prstGeom prst="rect">
              <a:avLst/>
            </a:prstGeom>
            <a:grp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Evidence-Based Claim Requirements</a:t>
              </a:r>
              <a:endParaRPr lang="en-US" sz="1400" dirty="0"/>
            </a:p>
          </p:txBody>
        </p:sp>
      </p:grpSp>
      <p:grpSp>
        <p:nvGrpSpPr>
          <p:cNvPr id="19" name="Group 18">
            <a:extLst>
              <a:ext uri="{FF2B5EF4-FFF2-40B4-BE49-F238E27FC236}">
                <a16:creationId xmlns:a16="http://schemas.microsoft.com/office/drawing/2014/main" id="{C688C089-2700-ED36-D9CA-E5DDB60BC121}"/>
              </a:ext>
            </a:extLst>
          </p:cNvPr>
          <p:cNvGrpSpPr/>
          <p:nvPr/>
        </p:nvGrpSpPr>
        <p:grpSpPr>
          <a:xfrm>
            <a:off x="6576534" y="3977177"/>
            <a:ext cx="3464614" cy="355697"/>
            <a:chOff x="502920" y="1387800"/>
            <a:chExt cx="5486400" cy="411480"/>
          </a:xfrm>
          <a:solidFill>
            <a:schemeClr val="accent2"/>
          </a:solidFill>
        </p:grpSpPr>
        <p:sp>
          <p:nvSpPr>
            <p:cNvPr id="21" name="Shape 3">
              <a:extLst>
                <a:ext uri="{FF2B5EF4-FFF2-40B4-BE49-F238E27FC236}">
                  <a16:creationId xmlns:a16="http://schemas.microsoft.com/office/drawing/2014/main" id="{45A565FC-E3CE-F59C-3206-12B063356F46}"/>
                </a:ext>
              </a:extLst>
            </p:cNvPr>
            <p:cNvSpPr/>
            <p:nvPr/>
          </p:nvSpPr>
          <p:spPr>
            <a:xfrm>
              <a:off x="502920" y="1387800"/>
              <a:ext cx="5486400" cy="411480"/>
            </a:xfrm>
            <a:prstGeom prst="roundRect">
              <a:avLst>
                <a:gd name="adj" fmla="val 26667"/>
              </a:avLst>
            </a:prstGeom>
            <a:grpFill/>
            <a:ln/>
          </p:spPr>
          <p:txBody>
            <a:bodyPr/>
            <a:lstStyle/>
            <a:p>
              <a:endParaRPr lang="en-IN" sz="1400"/>
            </a:p>
          </p:txBody>
        </p:sp>
        <p:sp>
          <p:nvSpPr>
            <p:cNvPr id="22" name="Text 4">
              <a:extLst>
                <a:ext uri="{FF2B5EF4-FFF2-40B4-BE49-F238E27FC236}">
                  <a16:creationId xmlns:a16="http://schemas.microsoft.com/office/drawing/2014/main" id="{65D3E87B-CA28-D36F-9635-F8447679CF11}"/>
                </a:ext>
              </a:extLst>
            </p:cNvPr>
            <p:cNvSpPr/>
            <p:nvPr/>
          </p:nvSpPr>
          <p:spPr>
            <a:xfrm>
              <a:off x="1033272" y="1387800"/>
              <a:ext cx="4800600" cy="411480"/>
            </a:xfrm>
            <a:prstGeom prst="rect">
              <a:avLst/>
            </a:prstGeom>
            <a:grp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Complex Global Regulatory Frameworks</a:t>
              </a:r>
              <a:endParaRPr lang="en-US" sz="1400" dirty="0"/>
            </a:p>
          </p:txBody>
        </p:sp>
      </p:grpSp>
    </p:spTree>
    <p:extLst>
      <p:ext uri="{BB962C8B-B14F-4D97-AF65-F5344CB8AC3E}">
        <p14:creationId xmlns:p14="http://schemas.microsoft.com/office/powerpoint/2010/main" val="1586618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7424"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Opportunities</a:t>
            </a:r>
            <a:endParaRPr lang="en-US" sz="2800" dirty="0"/>
          </a:p>
        </p:txBody>
      </p:sp>
      <p:sp>
        <p:nvSpPr>
          <p:cNvPr id="3" name="Text 1"/>
          <p:cNvSpPr/>
          <p:nvPr/>
        </p:nvSpPr>
        <p:spPr>
          <a:xfrm>
            <a:off x="537424"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Emerging growth avenues creating long-term value across the functional beverage ecosystem.</a:t>
            </a:r>
            <a:endParaRPr lang="en-US" sz="1200" dirty="0"/>
          </a:p>
        </p:txBody>
      </p:sp>
      <p:sp>
        <p:nvSpPr>
          <p:cNvPr id="4" name="Text 2"/>
          <p:cNvSpPr/>
          <p:nvPr/>
        </p:nvSpPr>
        <p:spPr>
          <a:xfrm>
            <a:off x="595222" y="1417320"/>
            <a:ext cx="6674257" cy="4931722"/>
          </a:xfrm>
          <a:prstGeom prst="rect">
            <a:avLst/>
          </a:prstGeom>
          <a:noFill/>
          <a:ln/>
        </p:spPr>
        <p:txBody>
          <a:bodyPr wrap="square" rtlCol="0" anchor="t"/>
          <a:lstStyle/>
          <a:p>
            <a:pPr marL="342900" indent="-342900">
              <a:spcAft>
                <a:spcPts val="600"/>
              </a:spcAft>
              <a:buSzPct val="100000"/>
              <a:buFont typeface="+mj-lt"/>
              <a:buAutoNum type="arabicPeriod"/>
            </a:pPr>
            <a:r>
              <a:rPr lang="en-US" sz="1200" b="1" dirty="0">
                <a:solidFill>
                  <a:srgbClr val="1E2624"/>
                </a:solidFill>
                <a:latin typeface="Calibri" pitchFamily="34" charset="0"/>
                <a:ea typeface="Calibri" pitchFamily="34" charset="-122"/>
                <a:cs typeface="Calibri" pitchFamily="34" charset="-120"/>
              </a:rPr>
              <a:t>Personalized Nutrition:</a:t>
            </a:r>
          </a:p>
          <a:p>
            <a:pPr marL="742950" lvl="1" indent="-285750">
              <a:spcAft>
                <a:spcPts val="6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Advances in precision nutrition, nutrigenomics, microbiome research, and wearable health technologies are creating opportunities for personalized functional beverages.</a:t>
            </a:r>
          </a:p>
          <a:p>
            <a:pPr marL="742950" lvl="1" indent="-285750">
              <a:spcAft>
                <a:spcPts val="6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can develop targeted products tailored to individual health goals, age groups, and lifestyle needs, enabling greater product differentiation and consumer engagement.</a:t>
            </a:r>
          </a:p>
          <a:p>
            <a:pPr marL="342900" indent="-342900">
              <a:spcAft>
                <a:spcPts val="600"/>
              </a:spcAft>
              <a:buSzPct val="100000"/>
              <a:buFont typeface="+mj-lt"/>
              <a:buAutoNum type="arabicPeriod"/>
            </a:pPr>
            <a:r>
              <a:rPr lang="en-US" sz="1200" b="1" dirty="0">
                <a:solidFill>
                  <a:srgbClr val="1E2624"/>
                </a:solidFill>
                <a:latin typeface="Calibri" pitchFamily="34" charset="0"/>
                <a:ea typeface="Calibri" pitchFamily="34" charset="-122"/>
                <a:cs typeface="Calibri" pitchFamily="34" charset="-120"/>
              </a:rPr>
              <a:t>Healthy Aging</a:t>
            </a:r>
          </a:p>
          <a:p>
            <a:pPr marL="800100" lvl="1" indent="-342900">
              <a:spcAft>
                <a:spcPts val="6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The growing global aging population is increasing demand for functional beverages that support hydration, muscle health, bone health, immunity, and cognitive function.</a:t>
            </a:r>
          </a:p>
          <a:p>
            <a:pPr marL="800100" lvl="1" indent="-342900">
              <a:spcAft>
                <a:spcPts val="6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This demographic shift presents significant opportunities for manufacturers to develop nutrition-focused products for healthy aging.</a:t>
            </a:r>
          </a:p>
          <a:p>
            <a:pPr marL="342900" indent="-342900">
              <a:spcAft>
                <a:spcPts val="600"/>
              </a:spcAft>
              <a:buSzPct val="100000"/>
              <a:buFont typeface="+mj-lt"/>
              <a:buAutoNum type="arabicPeriod"/>
            </a:pPr>
            <a:r>
              <a:rPr lang="en-US" sz="1200" b="1" dirty="0">
                <a:solidFill>
                  <a:srgbClr val="1E2624"/>
                </a:solidFill>
                <a:latin typeface="Calibri" pitchFamily="34" charset="0"/>
                <a:ea typeface="Calibri" pitchFamily="34" charset="-122"/>
                <a:cs typeface="Calibri" pitchFamily="34" charset="-120"/>
              </a:rPr>
              <a:t>Plant-Based Nutrition</a:t>
            </a:r>
          </a:p>
          <a:p>
            <a:pPr marL="800100" lvl="1" indent="-342900">
              <a:spcAft>
                <a:spcPts val="6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Rising adoption of plant-based diets is driving innovation in functional beverages formulated with plant proteins, oats, soy, almonds, and botanical ingredients.</a:t>
            </a:r>
          </a:p>
          <a:p>
            <a:pPr marL="800100" lvl="1" indent="-342900">
              <a:spcAft>
                <a:spcPts val="6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This trend supports the development of sustainable and nutrient-rich beverage offerings.</a:t>
            </a:r>
          </a:p>
        </p:txBody>
      </p:sp>
      <p:grpSp>
        <p:nvGrpSpPr>
          <p:cNvPr id="13" name="Group 12">
            <a:extLst>
              <a:ext uri="{FF2B5EF4-FFF2-40B4-BE49-F238E27FC236}">
                <a16:creationId xmlns:a16="http://schemas.microsoft.com/office/drawing/2014/main" id="{55DD8E6B-81EE-1AD6-965C-C58C5E2A77BE}"/>
              </a:ext>
            </a:extLst>
          </p:cNvPr>
          <p:cNvGrpSpPr/>
          <p:nvPr/>
        </p:nvGrpSpPr>
        <p:grpSpPr>
          <a:xfrm>
            <a:off x="7501465" y="1374985"/>
            <a:ext cx="4052978" cy="1129284"/>
            <a:chOff x="7543800" y="1417320"/>
            <a:chExt cx="4114800" cy="1129284"/>
          </a:xfrm>
        </p:grpSpPr>
        <p:sp>
          <p:nvSpPr>
            <p:cNvPr id="5" name="Shape 3"/>
            <p:cNvSpPr/>
            <p:nvPr/>
          </p:nvSpPr>
          <p:spPr>
            <a:xfrm>
              <a:off x="7543800" y="1417320"/>
              <a:ext cx="4114800" cy="1129284"/>
            </a:xfrm>
            <a:prstGeom prst="roundRect">
              <a:avLst>
                <a:gd name="adj" fmla="val 2991"/>
              </a:avLst>
            </a:prstGeom>
            <a:solidFill>
              <a:srgbClr val="0B4F4A"/>
            </a:solidFill>
            <a:ln/>
          </p:spPr>
          <p:txBody>
            <a:bodyPr/>
            <a:lstStyle/>
            <a:p>
              <a:endParaRPr lang="en-IN" sz="1200"/>
            </a:p>
          </p:txBody>
        </p:sp>
        <p:sp>
          <p:nvSpPr>
            <p:cNvPr id="7" name="Text 5"/>
            <p:cNvSpPr/>
            <p:nvPr/>
          </p:nvSpPr>
          <p:spPr>
            <a:xfrm>
              <a:off x="7726680" y="1494098"/>
              <a:ext cx="3749040" cy="978408"/>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NIH – Precision Nutrition Research Program (Ongoing since 2022):</a:t>
              </a:r>
              <a:r>
                <a:rPr lang="en-US" sz="1200" dirty="0">
                  <a:solidFill>
                    <a:srgbClr val="FFFFFF"/>
                  </a:solidFill>
                  <a:latin typeface="Calibri" pitchFamily="34" charset="0"/>
                  <a:ea typeface="Calibri" pitchFamily="34" charset="-122"/>
                  <a:cs typeface="Calibri" pitchFamily="34" charset="-120"/>
                </a:rPr>
                <a:t> NIH continues advancing personalized nutrition research to improve dietary interventions and health outcomes.</a:t>
              </a:r>
            </a:p>
          </p:txBody>
        </p:sp>
      </p:grpSp>
      <p:sp>
        <p:nvSpPr>
          <p:cNvPr id="11" name="Text 9"/>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4" name="Group 13">
            <a:extLst>
              <a:ext uri="{FF2B5EF4-FFF2-40B4-BE49-F238E27FC236}">
                <a16:creationId xmlns:a16="http://schemas.microsoft.com/office/drawing/2014/main" id="{A376B84C-0638-0176-2840-7FC77B701BBC}"/>
              </a:ext>
            </a:extLst>
          </p:cNvPr>
          <p:cNvGrpSpPr/>
          <p:nvPr/>
        </p:nvGrpSpPr>
        <p:grpSpPr>
          <a:xfrm>
            <a:off x="7501465" y="3265507"/>
            <a:ext cx="4052978" cy="1129284"/>
            <a:chOff x="7543800" y="1417320"/>
            <a:chExt cx="4114800" cy="1129284"/>
          </a:xfrm>
        </p:grpSpPr>
        <p:sp>
          <p:nvSpPr>
            <p:cNvPr id="15" name="Shape 3">
              <a:extLst>
                <a:ext uri="{FF2B5EF4-FFF2-40B4-BE49-F238E27FC236}">
                  <a16:creationId xmlns:a16="http://schemas.microsoft.com/office/drawing/2014/main" id="{B0776328-C9D3-2D26-A32F-37D235F2BC54}"/>
                </a:ext>
              </a:extLst>
            </p:cNvPr>
            <p:cNvSpPr/>
            <p:nvPr/>
          </p:nvSpPr>
          <p:spPr>
            <a:xfrm>
              <a:off x="7543800" y="1417320"/>
              <a:ext cx="4114800" cy="1129284"/>
            </a:xfrm>
            <a:prstGeom prst="roundRect">
              <a:avLst>
                <a:gd name="adj" fmla="val 2991"/>
              </a:avLst>
            </a:prstGeom>
            <a:solidFill>
              <a:srgbClr val="0B4F4A"/>
            </a:solidFill>
            <a:ln/>
          </p:spPr>
          <p:txBody>
            <a:bodyPr/>
            <a:lstStyle/>
            <a:p>
              <a:endParaRPr lang="en-IN" sz="1200"/>
            </a:p>
          </p:txBody>
        </p:sp>
        <p:sp>
          <p:nvSpPr>
            <p:cNvPr id="16" name="Text 5">
              <a:extLst>
                <a:ext uri="{FF2B5EF4-FFF2-40B4-BE49-F238E27FC236}">
                  <a16:creationId xmlns:a16="http://schemas.microsoft.com/office/drawing/2014/main" id="{3D057AF1-57AD-EFA9-2422-51F6315213FA}"/>
                </a:ext>
              </a:extLst>
            </p:cNvPr>
            <p:cNvSpPr/>
            <p:nvPr/>
          </p:nvSpPr>
          <p:spPr>
            <a:xfrm>
              <a:off x="7726680" y="1494098"/>
              <a:ext cx="3749040" cy="978408"/>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WHO – Decade of Healthy Ageing (2021–2030):</a:t>
              </a:r>
              <a:r>
                <a:rPr lang="en-US" sz="1200" dirty="0">
                  <a:solidFill>
                    <a:srgbClr val="FFFFFF"/>
                  </a:solidFill>
                  <a:latin typeface="Calibri" pitchFamily="34" charset="0"/>
                  <a:ea typeface="Calibri" pitchFamily="34" charset="-122"/>
                  <a:cs typeface="Calibri" pitchFamily="34" charset="-120"/>
                </a:rPr>
                <a:t> WHO promotes nutrition-focused interventions to improve health and functional ability among older adults.</a:t>
              </a:r>
            </a:p>
          </p:txBody>
        </p:sp>
      </p:grpSp>
      <p:grpSp>
        <p:nvGrpSpPr>
          <p:cNvPr id="20" name="Group 19">
            <a:extLst>
              <a:ext uri="{FF2B5EF4-FFF2-40B4-BE49-F238E27FC236}">
                <a16:creationId xmlns:a16="http://schemas.microsoft.com/office/drawing/2014/main" id="{F577D753-ECCF-C7B1-1B7C-495219048A33}"/>
              </a:ext>
            </a:extLst>
          </p:cNvPr>
          <p:cNvGrpSpPr/>
          <p:nvPr/>
        </p:nvGrpSpPr>
        <p:grpSpPr>
          <a:xfrm>
            <a:off x="7501465" y="4810427"/>
            <a:ext cx="4052978" cy="1316262"/>
            <a:chOff x="7543800" y="1417320"/>
            <a:chExt cx="4114800" cy="1129284"/>
          </a:xfrm>
        </p:grpSpPr>
        <p:sp>
          <p:nvSpPr>
            <p:cNvPr id="21" name="Shape 3">
              <a:extLst>
                <a:ext uri="{FF2B5EF4-FFF2-40B4-BE49-F238E27FC236}">
                  <a16:creationId xmlns:a16="http://schemas.microsoft.com/office/drawing/2014/main" id="{09E574CF-74D1-8C84-B4DA-8935D56FFB7C}"/>
                </a:ext>
              </a:extLst>
            </p:cNvPr>
            <p:cNvSpPr/>
            <p:nvPr/>
          </p:nvSpPr>
          <p:spPr>
            <a:xfrm>
              <a:off x="7543800" y="1417320"/>
              <a:ext cx="4114800" cy="1129284"/>
            </a:xfrm>
            <a:prstGeom prst="roundRect">
              <a:avLst>
                <a:gd name="adj" fmla="val 2991"/>
              </a:avLst>
            </a:prstGeom>
            <a:solidFill>
              <a:srgbClr val="0B4F4A"/>
            </a:solidFill>
            <a:ln/>
          </p:spPr>
          <p:txBody>
            <a:bodyPr/>
            <a:lstStyle/>
            <a:p>
              <a:endParaRPr lang="en-IN" sz="1200"/>
            </a:p>
          </p:txBody>
        </p:sp>
        <p:sp>
          <p:nvSpPr>
            <p:cNvPr id="22" name="Text 5">
              <a:extLst>
                <a:ext uri="{FF2B5EF4-FFF2-40B4-BE49-F238E27FC236}">
                  <a16:creationId xmlns:a16="http://schemas.microsoft.com/office/drawing/2014/main" id="{A99BCED3-1C16-3A15-9679-BE616637E3B5}"/>
                </a:ext>
              </a:extLst>
            </p:cNvPr>
            <p:cNvSpPr/>
            <p:nvPr/>
          </p:nvSpPr>
          <p:spPr>
            <a:xfrm>
              <a:off x="7726680" y="1494098"/>
              <a:ext cx="3749040" cy="978408"/>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WHO &amp; FAO – "What are Healthy Diets?" (Published: 24 October 2024):</a:t>
              </a:r>
              <a:r>
                <a:rPr lang="en-US" sz="1200" dirty="0">
                  <a:solidFill>
                    <a:srgbClr val="FFFFFF"/>
                  </a:solidFill>
                  <a:latin typeface="Calibri" pitchFamily="34" charset="0"/>
                  <a:ea typeface="Calibri" pitchFamily="34" charset="-122"/>
                  <a:cs typeface="Calibri" pitchFamily="34" charset="-120"/>
                </a:rPr>
                <a:t> The joint publication encourages diversified dietary patterns with greater consumption of plant-based foods.</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5396" y="434262"/>
            <a:ext cx="77724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Market Trends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05396" y="879728"/>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Emerging innovation, formulation, and consumer trends reshaping the functional beverage industry.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7" name="Group 66">
            <a:extLst>
              <a:ext uri="{FF2B5EF4-FFF2-40B4-BE49-F238E27FC236}">
                <a16:creationId xmlns:a16="http://schemas.microsoft.com/office/drawing/2014/main" id="{E8350F52-7A75-C885-E6A1-6AD031E2F265}"/>
              </a:ext>
            </a:extLst>
          </p:cNvPr>
          <p:cNvGrpSpPr/>
          <p:nvPr/>
        </p:nvGrpSpPr>
        <p:grpSpPr>
          <a:xfrm>
            <a:off x="605396" y="1423526"/>
            <a:ext cx="6161164" cy="1465796"/>
            <a:chOff x="502920" y="932688"/>
            <a:chExt cx="6263640" cy="1465796"/>
          </a:xfrm>
        </p:grpSpPr>
        <p:sp>
          <p:nvSpPr>
            <p:cNvPr id="4" name="Shape 2"/>
            <p:cNvSpPr/>
            <p:nvPr/>
          </p:nvSpPr>
          <p:spPr>
            <a:xfrm>
              <a:off x="502920" y="932688"/>
              <a:ext cx="6263640" cy="1465796"/>
            </a:xfrm>
            <a:prstGeom prst="roundRect">
              <a:avLst>
                <a:gd name="adj" fmla="val 5714"/>
              </a:avLst>
            </a:prstGeom>
            <a:solidFill>
              <a:srgbClr val="EAF5F1"/>
            </a:solidFill>
            <a:ln/>
          </p:spPr>
          <p:txBody>
            <a:bodyPr/>
            <a:lstStyle/>
            <a:p>
              <a:endParaRPr lang="en-IN"/>
            </a:p>
          </p:txBody>
        </p:sp>
        <p:sp>
          <p:nvSpPr>
            <p:cNvPr id="5" name="Shape 3"/>
            <p:cNvSpPr/>
            <p:nvPr/>
          </p:nvSpPr>
          <p:spPr>
            <a:xfrm>
              <a:off x="502920" y="932688"/>
              <a:ext cx="6263640" cy="365760"/>
            </a:xfrm>
            <a:prstGeom prst="roundRect">
              <a:avLst>
                <a:gd name="adj" fmla="val 25000"/>
              </a:avLst>
            </a:prstGeom>
            <a:solidFill>
              <a:srgbClr val="0B4F4A"/>
            </a:solidFill>
            <a:ln/>
          </p:spPr>
          <p:txBody>
            <a:bodyPr/>
            <a:lstStyle/>
            <a:p>
              <a:endParaRPr lang="en-IN"/>
            </a:p>
          </p:txBody>
        </p:sp>
        <p:pic>
          <p:nvPicPr>
            <p:cNvPr id="6" name="Image 0" descr="/home/claude/icon_trend1_layers.png"/>
            <p:cNvPicPr>
              <a:picLocks noChangeAspect="1"/>
            </p:cNvPicPr>
            <p:nvPr/>
          </p:nvPicPr>
          <p:blipFill>
            <a:blip r:embed="rId3"/>
            <a:stretch>
              <a:fillRect/>
            </a:stretch>
          </p:blipFill>
          <p:spPr>
            <a:xfrm>
              <a:off x="649224" y="1005840"/>
              <a:ext cx="219456" cy="219456"/>
            </a:xfrm>
            <a:prstGeom prst="rect">
              <a:avLst/>
            </a:prstGeom>
          </p:spPr>
        </p:pic>
        <p:sp>
          <p:nvSpPr>
            <p:cNvPr id="7" name="Text 4"/>
            <p:cNvSpPr/>
            <p:nvPr/>
          </p:nvSpPr>
          <p:spPr>
            <a:xfrm>
              <a:off x="978408" y="932688"/>
              <a:ext cx="56235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Multi-functional formulations lead product development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87949" y="1391244"/>
              <a:ext cx="2035676" cy="192542"/>
            </a:xfrm>
            <a:prstGeom prst="roundRect">
              <a:avLst>
                <a:gd name="adj" fmla="val 50000"/>
              </a:avLst>
            </a:prstGeom>
            <a:solidFill>
              <a:srgbClr val="D9EBE8"/>
            </a:solidFill>
            <a:ln/>
          </p:spPr>
          <p:txBody>
            <a:bodyPr/>
            <a:lstStyle/>
            <a:p>
              <a:endParaRPr lang="en-IN"/>
            </a:p>
          </p:txBody>
        </p:sp>
        <p:sp>
          <p:nvSpPr>
            <p:cNvPr id="9" name="Text 6"/>
            <p:cNvSpPr/>
            <p:nvPr/>
          </p:nvSpPr>
          <p:spPr>
            <a:xfrm>
              <a:off x="722374" y="1408176"/>
              <a:ext cx="1900051" cy="15596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50" normalizeH="0" baseline="0" noProof="0" dirty="0">
                  <a:ln>
                    <a:noFill/>
                  </a:ln>
                  <a:solidFill>
                    <a:srgbClr val="1E2624"/>
                  </a:solidFill>
                  <a:effectLst/>
                  <a:uLnTx/>
                  <a:uFillTx/>
                  <a:latin typeface="Calibri" pitchFamily="34" charset="0"/>
                  <a:ea typeface="Calibri" pitchFamily="34" charset="-122"/>
                  <a:cs typeface="Calibri" pitchFamily="34" charset="-120"/>
                </a:rPr>
                <a:t>PRODUCT INNOVATION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22376" y="1682496"/>
              <a:ext cx="5945492" cy="45720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Manufacturers increasingly combine hydration, immunity, digestive health, vitamins, electrolytes, and botanicals within a single product to meet multiple wellness needs.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 name="Group 64">
            <a:extLst>
              <a:ext uri="{FF2B5EF4-FFF2-40B4-BE49-F238E27FC236}">
                <a16:creationId xmlns:a16="http://schemas.microsoft.com/office/drawing/2014/main" id="{2CCE5EFA-4471-9C0F-FD8F-C014B4A07453}"/>
              </a:ext>
            </a:extLst>
          </p:cNvPr>
          <p:cNvGrpSpPr/>
          <p:nvPr/>
        </p:nvGrpSpPr>
        <p:grpSpPr>
          <a:xfrm>
            <a:off x="6986016" y="1419046"/>
            <a:ext cx="4600588" cy="1463900"/>
            <a:chOff x="6967728" y="932688"/>
            <a:chExt cx="4600588" cy="1463900"/>
          </a:xfrm>
        </p:grpSpPr>
        <p:sp>
          <p:nvSpPr>
            <p:cNvPr id="11" name="Shape 8"/>
            <p:cNvSpPr/>
            <p:nvPr/>
          </p:nvSpPr>
          <p:spPr>
            <a:xfrm>
              <a:off x="6967728" y="932688"/>
              <a:ext cx="4600588" cy="1463900"/>
            </a:xfrm>
            <a:prstGeom prst="roundRect">
              <a:avLst>
                <a:gd name="adj" fmla="val 5714"/>
              </a:avLst>
            </a:prstGeom>
            <a:solidFill>
              <a:srgbClr val="EFF3F6"/>
            </a:solidFill>
            <a:ln w="9525">
              <a:solidFill>
                <a:srgbClr val="D8E0E6"/>
              </a:solidFill>
              <a:prstDash val="solid"/>
            </a:ln>
          </p:spPr>
          <p:txBody>
            <a:bodyPr/>
            <a:lstStyle/>
            <a:p>
              <a:endParaRPr lang="en-IN"/>
            </a:p>
          </p:txBody>
        </p:sp>
        <p:grpSp>
          <p:nvGrpSpPr>
            <p:cNvPr id="64" name="Group 63">
              <a:extLst>
                <a:ext uri="{FF2B5EF4-FFF2-40B4-BE49-F238E27FC236}">
                  <a16:creationId xmlns:a16="http://schemas.microsoft.com/office/drawing/2014/main" id="{5E3C479F-F6B7-939A-4328-0951E4A84975}"/>
                </a:ext>
              </a:extLst>
            </p:cNvPr>
            <p:cNvGrpSpPr/>
            <p:nvPr/>
          </p:nvGrpSpPr>
          <p:grpSpPr>
            <a:xfrm>
              <a:off x="7132320" y="1035862"/>
              <a:ext cx="310896" cy="310896"/>
              <a:chOff x="7132320" y="1035862"/>
              <a:chExt cx="310896" cy="310896"/>
            </a:xfrm>
          </p:grpSpPr>
          <p:sp>
            <p:nvSpPr>
              <p:cNvPr id="12" name="Shape 9"/>
              <p:cNvSpPr/>
              <p:nvPr/>
            </p:nvSpPr>
            <p:spPr>
              <a:xfrm>
                <a:off x="7132320" y="1035862"/>
                <a:ext cx="310896" cy="310896"/>
              </a:xfrm>
              <a:prstGeom prst="ellipse">
                <a:avLst/>
              </a:prstGeom>
              <a:solidFill>
                <a:srgbClr val="0B4F4A"/>
              </a:solidFill>
              <a:ln/>
            </p:spPr>
            <p:txBody>
              <a:bodyPr/>
              <a:lstStyle/>
              <a:p>
                <a:endParaRPr lang="en-IN"/>
              </a:p>
            </p:txBody>
          </p:sp>
          <p:pic>
            <p:nvPicPr>
              <p:cNvPr id="13" name="Image 1" descr="/home/claude/icon_evidence_file.png"/>
              <p:cNvPicPr>
                <a:picLocks noChangeAspect="1"/>
              </p:cNvPicPr>
              <p:nvPr/>
            </p:nvPicPr>
            <p:blipFill>
              <a:blip r:embed="rId4"/>
              <a:stretch>
                <a:fillRect/>
              </a:stretch>
            </p:blipFill>
            <p:spPr>
              <a:xfrm>
                <a:off x="7200900" y="1095816"/>
                <a:ext cx="173736" cy="173736"/>
              </a:xfrm>
              <a:prstGeom prst="rect">
                <a:avLst/>
              </a:prstGeom>
            </p:spPr>
          </p:pic>
        </p:grpSp>
        <p:sp>
          <p:nvSpPr>
            <p:cNvPr id="14" name="Text 10"/>
            <p:cNvSpPr/>
            <p:nvPr/>
          </p:nvSpPr>
          <p:spPr>
            <a:xfrm>
              <a:off x="7534656" y="1078992"/>
              <a:ext cx="39593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80" normalizeH="0" baseline="0" noProof="0" dirty="0">
                  <a:ln>
                    <a:noFill/>
                  </a:ln>
                  <a:solidFill>
                    <a:srgbClr val="72827E"/>
                  </a:solidFill>
                  <a:effectLst/>
                  <a:uLnTx/>
                  <a:uFillTx/>
                  <a:latin typeface="Calibri" pitchFamily="34" charset="0"/>
                  <a:ea typeface="Calibri" pitchFamily="34" charset="-122"/>
                  <a:cs typeface="Calibri" pitchFamily="34" charset="-120"/>
                </a:rPr>
                <a:t>OFFICIAL SOURCE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7168896" y="1353312"/>
              <a:ext cx="4288536" cy="384048"/>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U.S. FDA — Final Rule, “Healthy” Nutrient Claim (Dec 19, 2024)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7168896" y="1719072"/>
              <a:ext cx="4288536" cy="384048"/>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Updated nutrient criteria encourage development of foods and beverages with more balanced nutritional profiles.</a:t>
              </a:r>
              <a:endParaRPr kumimoji="0" lang="en-US" sz="1200" b="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8" name="Group 67">
            <a:extLst>
              <a:ext uri="{FF2B5EF4-FFF2-40B4-BE49-F238E27FC236}">
                <a16:creationId xmlns:a16="http://schemas.microsoft.com/office/drawing/2014/main" id="{6E871231-1FCF-13ED-15C3-E3B5968B2A85}"/>
              </a:ext>
            </a:extLst>
          </p:cNvPr>
          <p:cNvGrpSpPr/>
          <p:nvPr/>
        </p:nvGrpSpPr>
        <p:grpSpPr>
          <a:xfrm>
            <a:off x="623684" y="3152086"/>
            <a:ext cx="6142876" cy="1280160"/>
            <a:chOff x="623684" y="3221102"/>
            <a:chExt cx="6142876" cy="1280160"/>
          </a:xfrm>
        </p:grpSpPr>
        <p:sp>
          <p:nvSpPr>
            <p:cNvPr id="17" name="Shape 13"/>
            <p:cNvSpPr/>
            <p:nvPr/>
          </p:nvSpPr>
          <p:spPr>
            <a:xfrm>
              <a:off x="623684" y="3221102"/>
              <a:ext cx="6142876" cy="1280160"/>
            </a:xfrm>
            <a:prstGeom prst="roundRect">
              <a:avLst>
                <a:gd name="adj" fmla="val 5714"/>
              </a:avLst>
            </a:prstGeom>
            <a:solidFill>
              <a:srgbClr val="EAF5F1"/>
            </a:solidFill>
            <a:ln/>
          </p:spPr>
          <p:txBody>
            <a:bodyPr/>
            <a:lstStyle/>
            <a:p>
              <a:endParaRPr lang="en-IN"/>
            </a:p>
          </p:txBody>
        </p:sp>
        <p:sp>
          <p:nvSpPr>
            <p:cNvPr id="18" name="Shape 14"/>
            <p:cNvSpPr/>
            <p:nvPr/>
          </p:nvSpPr>
          <p:spPr>
            <a:xfrm>
              <a:off x="623684" y="3221102"/>
              <a:ext cx="6142876" cy="365760"/>
            </a:xfrm>
            <a:prstGeom prst="roundRect">
              <a:avLst>
                <a:gd name="adj" fmla="val 25000"/>
              </a:avLst>
            </a:prstGeom>
            <a:solidFill>
              <a:srgbClr val="FF6B35"/>
            </a:solidFill>
            <a:ln/>
          </p:spPr>
          <p:txBody>
            <a:bodyPr/>
            <a:lstStyle/>
            <a:p>
              <a:endParaRPr lang="en-IN"/>
            </a:p>
          </p:txBody>
        </p:sp>
        <p:pic>
          <p:nvPicPr>
            <p:cNvPr id="19" name="Image 2" descr="/home/claude/icon_trend2_tag.png"/>
            <p:cNvPicPr>
              <a:picLocks noChangeAspect="1"/>
            </p:cNvPicPr>
            <p:nvPr/>
          </p:nvPicPr>
          <p:blipFill>
            <a:blip r:embed="rId5"/>
            <a:stretch>
              <a:fillRect/>
            </a:stretch>
          </p:blipFill>
          <p:spPr>
            <a:xfrm>
              <a:off x="731088" y="3294254"/>
              <a:ext cx="215225" cy="219456"/>
            </a:xfrm>
            <a:prstGeom prst="rect">
              <a:avLst/>
            </a:prstGeom>
          </p:spPr>
        </p:pic>
        <p:sp>
          <p:nvSpPr>
            <p:cNvPr id="20" name="Text 15"/>
            <p:cNvSpPr/>
            <p:nvPr/>
          </p:nvSpPr>
          <p:spPr>
            <a:xfrm>
              <a:off x="1086830" y="3221102"/>
              <a:ext cx="5515137"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Clean-label &amp; ingredient transparency shape formulation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722375" y="3696590"/>
              <a:ext cx="2494958" cy="201168"/>
            </a:xfrm>
            <a:prstGeom prst="roundRect">
              <a:avLst>
                <a:gd name="adj" fmla="val 50000"/>
              </a:avLst>
            </a:prstGeom>
            <a:solidFill>
              <a:srgbClr val="FFE7DA"/>
            </a:solidFill>
            <a:ln/>
          </p:spPr>
          <p:txBody>
            <a:bodyPr/>
            <a:lstStyle/>
            <a:p>
              <a:endParaRPr lang="en-IN"/>
            </a:p>
          </p:txBody>
        </p:sp>
        <p:sp>
          <p:nvSpPr>
            <p:cNvPr id="22" name="Text 17"/>
            <p:cNvSpPr/>
            <p:nvPr/>
          </p:nvSpPr>
          <p:spPr>
            <a:xfrm>
              <a:off x="750816" y="3679658"/>
              <a:ext cx="2386076" cy="2184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50" normalizeH="0" baseline="0" noProof="0" dirty="0">
                  <a:ln>
                    <a:noFill/>
                  </a:ln>
                  <a:solidFill>
                    <a:srgbClr val="8A3A0F"/>
                  </a:solidFill>
                  <a:effectLst/>
                  <a:uLnTx/>
                  <a:uFillTx/>
                  <a:latin typeface="Calibri" pitchFamily="34" charset="0"/>
                  <a:ea typeface="Calibri" pitchFamily="34" charset="-122"/>
                  <a:cs typeface="Calibri" pitchFamily="34" charset="-120"/>
                </a:rPr>
                <a:t>LABELING &amp; TRANSPARENCY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834678" y="3970910"/>
              <a:ext cx="5712426" cy="45720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Brands prioritize recognizable ingredients, natural flavors, and reduced sugar to meet evolving regulatory expectations and consumer demand.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 name="Group 62">
            <a:extLst>
              <a:ext uri="{FF2B5EF4-FFF2-40B4-BE49-F238E27FC236}">
                <a16:creationId xmlns:a16="http://schemas.microsoft.com/office/drawing/2014/main" id="{0D2ECB9F-11A5-5FE8-588B-26F7CCC8190E}"/>
              </a:ext>
            </a:extLst>
          </p:cNvPr>
          <p:cNvGrpSpPr/>
          <p:nvPr/>
        </p:nvGrpSpPr>
        <p:grpSpPr>
          <a:xfrm>
            <a:off x="6967728" y="3152086"/>
            <a:ext cx="4600588" cy="1280160"/>
            <a:chOff x="6967728" y="2331720"/>
            <a:chExt cx="4690872" cy="1280160"/>
          </a:xfrm>
        </p:grpSpPr>
        <p:sp>
          <p:nvSpPr>
            <p:cNvPr id="24" name="Shape 19"/>
            <p:cNvSpPr/>
            <p:nvPr/>
          </p:nvSpPr>
          <p:spPr>
            <a:xfrm>
              <a:off x="6967728" y="2331720"/>
              <a:ext cx="4690872" cy="1280160"/>
            </a:xfrm>
            <a:prstGeom prst="roundRect">
              <a:avLst>
                <a:gd name="adj" fmla="val 5714"/>
              </a:avLst>
            </a:prstGeom>
            <a:solidFill>
              <a:srgbClr val="EFF3F6"/>
            </a:solidFill>
            <a:ln w="9525">
              <a:solidFill>
                <a:srgbClr val="D8E0E6"/>
              </a:solidFill>
              <a:prstDash val="solid"/>
            </a:ln>
          </p:spPr>
          <p:txBody>
            <a:bodyPr/>
            <a:lstStyle/>
            <a:p>
              <a:endParaRPr lang="en-IN"/>
            </a:p>
          </p:txBody>
        </p:sp>
        <p:grpSp>
          <p:nvGrpSpPr>
            <p:cNvPr id="62" name="Group 61">
              <a:extLst>
                <a:ext uri="{FF2B5EF4-FFF2-40B4-BE49-F238E27FC236}">
                  <a16:creationId xmlns:a16="http://schemas.microsoft.com/office/drawing/2014/main" id="{DCA197C7-CCA4-8C65-7D91-EBA8DA9AE6DA}"/>
                </a:ext>
              </a:extLst>
            </p:cNvPr>
            <p:cNvGrpSpPr/>
            <p:nvPr/>
          </p:nvGrpSpPr>
          <p:grpSpPr>
            <a:xfrm>
              <a:off x="7132320" y="2409016"/>
              <a:ext cx="310896" cy="310896"/>
              <a:chOff x="7132320" y="2409016"/>
              <a:chExt cx="310896" cy="310896"/>
            </a:xfrm>
          </p:grpSpPr>
          <p:sp>
            <p:nvSpPr>
              <p:cNvPr id="25" name="Shape 20"/>
              <p:cNvSpPr/>
              <p:nvPr/>
            </p:nvSpPr>
            <p:spPr>
              <a:xfrm>
                <a:off x="7132320" y="2409016"/>
                <a:ext cx="310896" cy="310896"/>
              </a:xfrm>
              <a:prstGeom prst="ellipse">
                <a:avLst/>
              </a:prstGeom>
              <a:solidFill>
                <a:srgbClr val="FF6B35"/>
              </a:solidFill>
              <a:ln/>
            </p:spPr>
            <p:txBody>
              <a:bodyPr/>
              <a:lstStyle/>
              <a:p>
                <a:endParaRPr lang="en-IN"/>
              </a:p>
            </p:txBody>
          </p:sp>
          <p:pic>
            <p:nvPicPr>
              <p:cNvPr id="26" name="Image 3" descr="/home/claude/icon_evidence_file.png"/>
              <p:cNvPicPr>
                <a:picLocks noChangeAspect="1"/>
              </p:cNvPicPr>
              <p:nvPr/>
            </p:nvPicPr>
            <p:blipFill>
              <a:blip r:embed="rId4"/>
              <a:stretch>
                <a:fillRect/>
              </a:stretch>
            </p:blipFill>
            <p:spPr>
              <a:xfrm>
                <a:off x="7200900" y="2477596"/>
                <a:ext cx="173736" cy="173736"/>
              </a:xfrm>
              <a:prstGeom prst="rect">
                <a:avLst/>
              </a:prstGeom>
            </p:spPr>
          </p:pic>
        </p:grpSp>
        <p:sp>
          <p:nvSpPr>
            <p:cNvPr id="27" name="Text 21"/>
            <p:cNvSpPr/>
            <p:nvPr/>
          </p:nvSpPr>
          <p:spPr>
            <a:xfrm>
              <a:off x="7534656" y="2478024"/>
              <a:ext cx="39593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80" normalizeH="0" baseline="0" noProof="0" dirty="0">
                  <a:ln>
                    <a:noFill/>
                  </a:ln>
                  <a:solidFill>
                    <a:srgbClr val="72827E"/>
                  </a:solidFill>
                  <a:effectLst/>
                  <a:uLnTx/>
                  <a:uFillTx/>
                  <a:latin typeface="Calibri" pitchFamily="34" charset="0"/>
                  <a:ea typeface="Calibri" pitchFamily="34" charset="-122"/>
                  <a:cs typeface="Calibri" pitchFamily="34" charset="-120"/>
                </a:rPr>
                <a:t>OFFICIAL SOURCE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2"/>
            <p:cNvSpPr/>
            <p:nvPr/>
          </p:nvSpPr>
          <p:spPr>
            <a:xfrm>
              <a:off x="7168896" y="2752344"/>
              <a:ext cx="4288536" cy="384048"/>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U.S. FDA — Final Rule, “Healthy” Nutrient Claim (Dec 19, 2024)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7168896" y="3118104"/>
              <a:ext cx="4288536" cy="384048"/>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Reinforces clearer nutrition labeling and encourages healthier product formulations.</a:t>
              </a:r>
              <a:endParaRPr kumimoji="0" lang="en-US" sz="1200" b="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0" name="Group 69">
            <a:extLst>
              <a:ext uri="{FF2B5EF4-FFF2-40B4-BE49-F238E27FC236}">
                <a16:creationId xmlns:a16="http://schemas.microsoft.com/office/drawing/2014/main" id="{06030E59-2B2F-C5CB-BEF6-F61DA6805446}"/>
              </a:ext>
            </a:extLst>
          </p:cNvPr>
          <p:cNvGrpSpPr/>
          <p:nvPr/>
        </p:nvGrpSpPr>
        <p:grpSpPr>
          <a:xfrm>
            <a:off x="623684" y="4744872"/>
            <a:ext cx="6142876" cy="1280160"/>
            <a:chOff x="623684" y="4891522"/>
            <a:chExt cx="6142876" cy="1280160"/>
          </a:xfrm>
        </p:grpSpPr>
        <p:sp>
          <p:nvSpPr>
            <p:cNvPr id="30" name="Shape 24"/>
            <p:cNvSpPr/>
            <p:nvPr/>
          </p:nvSpPr>
          <p:spPr>
            <a:xfrm>
              <a:off x="623684" y="4891522"/>
              <a:ext cx="6142876" cy="1280160"/>
            </a:xfrm>
            <a:prstGeom prst="roundRect">
              <a:avLst>
                <a:gd name="adj" fmla="val 5714"/>
              </a:avLst>
            </a:prstGeom>
            <a:solidFill>
              <a:srgbClr val="EAF5F1"/>
            </a:solidFill>
            <a:ln/>
          </p:spPr>
          <p:txBody>
            <a:bodyPr/>
            <a:lstStyle/>
            <a:p>
              <a:endParaRPr lang="en-IN"/>
            </a:p>
          </p:txBody>
        </p:sp>
        <p:sp>
          <p:nvSpPr>
            <p:cNvPr id="31" name="Shape 25"/>
            <p:cNvSpPr/>
            <p:nvPr/>
          </p:nvSpPr>
          <p:spPr>
            <a:xfrm>
              <a:off x="623684" y="4891522"/>
              <a:ext cx="6142876" cy="365760"/>
            </a:xfrm>
            <a:prstGeom prst="roundRect">
              <a:avLst>
                <a:gd name="adj" fmla="val 25000"/>
              </a:avLst>
            </a:prstGeom>
            <a:solidFill>
              <a:srgbClr val="8BC34A"/>
            </a:solidFill>
            <a:ln/>
          </p:spPr>
          <p:txBody>
            <a:bodyPr/>
            <a:lstStyle/>
            <a:p>
              <a:endParaRPr lang="en-IN"/>
            </a:p>
          </p:txBody>
        </p:sp>
        <p:pic>
          <p:nvPicPr>
            <p:cNvPr id="32" name="Image 4" descr="/home/claude/icon_trend3_users.png"/>
            <p:cNvPicPr>
              <a:picLocks noChangeAspect="1"/>
            </p:cNvPicPr>
            <p:nvPr/>
          </p:nvPicPr>
          <p:blipFill>
            <a:blip r:embed="rId6"/>
            <a:stretch>
              <a:fillRect/>
            </a:stretch>
          </p:blipFill>
          <p:spPr>
            <a:xfrm>
              <a:off x="769988" y="4964674"/>
              <a:ext cx="219456" cy="219456"/>
            </a:xfrm>
            <a:prstGeom prst="rect">
              <a:avLst/>
            </a:prstGeom>
          </p:spPr>
        </p:pic>
        <p:sp>
          <p:nvSpPr>
            <p:cNvPr id="33" name="Text 26"/>
            <p:cNvSpPr/>
            <p:nvPr/>
          </p:nvSpPr>
          <p:spPr>
            <a:xfrm>
              <a:off x="1099172" y="4891522"/>
              <a:ext cx="56235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Life-stage-specific nutrition is expanding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843139" y="5367010"/>
              <a:ext cx="2018594" cy="209794"/>
            </a:xfrm>
            <a:prstGeom prst="roundRect">
              <a:avLst>
                <a:gd name="adj" fmla="val 50000"/>
              </a:avLst>
            </a:prstGeom>
            <a:solidFill>
              <a:srgbClr val="EBF5DD"/>
            </a:solidFill>
            <a:ln/>
          </p:spPr>
          <p:txBody>
            <a:bodyPr/>
            <a:lstStyle/>
            <a:p>
              <a:endParaRPr lang="en-IN"/>
            </a:p>
          </p:txBody>
        </p:sp>
        <p:sp>
          <p:nvSpPr>
            <p:cNvPr id="35" name="Text 28"/>
            <p:cNvSpPr/>
            <p:nvPr/>
          </p:nvSpPr>
          <p:spPr>
            <a:xfrm>
              <a:off x="847938" y="5375636"/>
              <a:ext cx="1975699"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50" normalizeH="0" baseline="0" noProof="0" dirty="0">
                  <a:ln>
                    <a:noFill/>
                  </a:ln>
                  <a:solidFill>
                    <a:srgbClr val="1E2624"/>
                  </a:solidFill>
                  <a:effectLst/>
                  <a:uLnTx/>
                  <a:uFillTx/>
                  <a:latin typeface="Calibri" pitchFamily="34" charset="0"/>
                  <a:ea typeface="Calibri" pitchFamily="34" charset="-122"/>
                  <a:cs typeface="Calibri" pitchFamily="34" charset="-120"/>
                </a:rPr>
                <a:t>LIFE-STAGE NUTRITION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9"/>
            <p:cNvSpPr/>
            <p:nvPr/>
          </p:nvSpPr>
          <p:spPr>
            <a:xfrm>
              <a:off x="843140" y="5641330"/>
              <a:ext cx="5824728" cy="45720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Companies are developing beverages tailored for children, athletes, working professionals, and older adults, backed by evolving nutrition science.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6" name="Group 95">
            <a:extLst>
              <a:ext uri="{FF2B5EF4-FFF2-40B4-BE49-F238E27FC236}">
                <a16:creationId xmlns:a16="http://schemas.microsoft.com/office/drawing/2014/main" id="{E58AEF0A-EB58-F02F-4CA8-96C9681679D7}"/>
              </a:ext>
            </a:extLst>
          </p:cNvPr>
          <p:cNvGrpSpPr/>
          <p:nvPr/>
        </p:nvGrpSpPr>
        <p:grpSpPr>
          <a:xfrm>
            <a:off x="6967728" y="4744872"/>
            <a:ext cx="4600588" cy="1280160"/>
            <a:chOff x="6967728" y="4891522"/>
            <a:chExt cx="4600588" cy="1280160"/>
          </a:xfrm>
        </p:grpSpPr>
        <p:sp>
          <p:nvSpPr>
            <p:cNvPr id="37" name="Shape 30"/>
            <p:cNvSpPr/>
            <p:nvPr/>
          </p:nvSpPr>
          <p:spPr>
            <a:xfrm>
              <a:off x="6967728" y="4891522"/>
              <a:ext cx="4600588" cy="1280160"/>
            </a:xfrm>
            <a:prstGeom prst="roundRect">
              <a:avLst>
                <a:gd name="adj" fmla="val 5714"/>
              </a:avLst>
            </a:prstGeom>
            <a:solidFill>
              <a:srgbClr val="EFF3F6"/>
            </a:solidFill>
            <a:ln w="9525">
              <a:solidFill>
                <a:srgbClr val="D8E0E6"/>
              </a:solidFill>
              <a:prstDash val="solid"/>
            </a:ln>
          </p:spPr>
          <p:txBody>
            <a:bodyPr/>
            <a:lstStyle/>
            <a:p>
              <a:endParaRPr lang="en-IN"/>
            </a:p>
          </p:txBody>
        </p:sp>
        <p:grpSp>
          <p:nvGrpSpPr>
            <p:cNvPr id="61" name="Group 60">
              <a:extLst>
                <a:ext uri="{FF2B5EF4-FFF2-40B4-BE49-F238E27FC236}">
                  <a16:creationId xmlns:a16="http://schemas.microsoft.com/office/drawing/2014/main" id="{E02A2323-7720-28AC-00FB-A89668D441DF}"/>
                </a:ext>
              </a:extLst>
            </p:cNvPr>
            <p:cNvGrpSpPr/>
            <p:nvPr/>
          </p:nvGrpSpPr>
          <p:grpSpPr>
            <a:xfrm>
              <a:off x="7132320" y="4934314"/>
              <a:ext cx="310896" cy="310896"/>
              <a:chOff x="7132320" y="5037826"/>
              <a:chExt cx="310896" cy="310896"/>
            </a:xfrm>
          </p:grpSpPr>
          <p:sp>
            <p:nvSpPr>
              <p:cNvPr id="38" name="Shape 31"/>
              <p:cNvSpPr/>
              <p:nvPr/>
            </p:nvSpPr>
            <p:spPr>
              <a:xfrm>
                <a:off x="7132320" y="5037826"/>
                <a:ext cx="310896" cy="310896"/>
              </a:xfrm>
              <a:prstGeom prst="ellipse">
                <a:avLst/>
              </a:prstGeom>
              <a:solidFill>
                <a:srgbClr val="8BC34A"/>
              </a:solidFill>
              <a:ln/>
            </p:spPr>
            <p:txBody>
              <a:bodyPr/>
              <a:lstStyle/>
              <a:p>
                <a:endParaRPr lang="en-IN"/>
              </a:p>
            </p:txBody>
          </p:sp>
          <p:pic>
            <p:nvPicPr>
              <p:cNvPr id="39" name="Image 5" descr="/home/claude/icon_evidence_file.png"/>
              <p:cNvPicPr>
                <a:picLocks noChangeAspect="1"/>
              </p:cNvPicPr>
              <p:nvPr/>
            </p:nvPicPr>
            <p:blipFill>
              <a:blip r:embed="rId4"/>
              <a:stretch>
                <a:fillRect/>
              </a:stretch>
            </p:blipFill>
            <p:spPr>
              <a:xfrm>
                <a:off x="7200900" y="5106406"/>
                <a:ext cx="173736" cy="173736"/>
              </a:xfrm>
              <a:prstGeom prst="rect">
                <a:avLst/>
              </a:prstGeom>
            </p:spPr>
          </p:pic>
        </p:grpSp>
        <p:sp>
          <p:nvSpPr>
            <p:cNvPr id="40" name="Text 32"/>
            <p:cNvSpPr/>
            <p:nvPr/>
          </p:nvSpPr>
          <p:spPr>
            <a:xfrm>
              <a:off x="7534656" y="5010748"/>
              <a:ext cx="39593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80" normalizeH="0" baseline="0" noProof="0" dirty="0">
                  <a:ln>
                    <a:noFill/>
                  </a:ln>
                  <a:solidFill>
                    <a:srgbClr val="72827E"/>
                  </a:solidFill>
                  <a:effectLst/>
                  <a:uLnTx/>
                  <a:uFillTx/>
                  <a:latin typeface="Calibri" pitchFamily="34" charset="0"/>
                  <a:ea typeface="Calibri" pitchFamily="34" charset="-122"/>
                  <a:cs typeface="Calibri" pitchFamily="34" charset="-120"/>
                </a:rPr>
                <a:t>OFFICIAL SOURCE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3"/>
            <p:cNvSpPr/>
            <p:nvPr/>
          </p:nvSpPr>
          <p:spPr>
            <a:xfrm>
              <a:off x="7168896" y="5312146"/>
              <a:ext cx="4288536" cy="384048"/>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WHO — Healthy Diet Fact Sheet (Updated Jan 26, 2026)</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4"/>
            <p:cNvSpPr/>
            <p:nvPr/>
          </p:nvSpPr>
          <p:spPr>
            <a:xfrm>
              <a:off x="7168896" y="5677906"/>
              <a:ext cx="4288536" cy="384048"/>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WHO emphasizes healthy nutrition across the life course to support long-term health outcomes.</a:t>
              </a:r>
              <a:endParaRPr kumimoji="0" lang="en-US" sz="1200" b="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6" name="Text 46"/>
          <p:cNvSpPr/>
          <p:nvPr/>
        </p:nvSpPr>
        <p:spPr>
          <a:xfrm>
            <a:off x="502920" y="6559354"/>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p:cNvSpPr/>
          <p:nvPr/>
        </p:nvSpPr>
        <p:spPr>
          <a:xfrm>
            <a:off x="-1645920" y="4846320"/>
            <a:ext cx="3840480" cy="3840480"/>
          </a:xfrm>
          <a:prstGeom prst="ellipse">
            <a:avLst/>
          </a:prstGeom>
          <a:solidFill>
            <a:srgbClr val="062E2A"/>
          </a:solidFill>
          <a:ln/>
        </p:spPr>
        <p:txBody>
          <a:bodyPr/>
          <a:lstStyle/>
          <a:p>
            <a:endParaRPr lang="en-IN"/>
          </a:p>
        </p:txBody>
      </p:sp>
      <p:sp>
        <p:nvSpPr>
          <p:cNvPr id="4" name="Text 2"/>
          <p:cNvSpPr/>
          <p:nvPr/>
        </p:nvSpPr>
        <p:spPr>
          <a:xfrm>
            <a:off x="822960" y="2331720"/>
            <a:ext cx="5486400" cy="457200"/>
          </a:xfrm>
          <a:prstGeom prst="rect">
            <a:avLst/>
          </a:prstGeom>
          <a:noFill/>
          <a:ln/>
        </p:spPr>
        <p:txBody>
          <a:bodyPr wrap="square" rtlCol="0" anchor="ctr"/>
          <a:lstStyle/>
          <a:p>
            <a:pPr marL="0" indent="0">
              <a:buNone/>
            </a:pPr>
            <a:r>
              <a:rPr lang="en-US" sz="1400" b="1" kern="0" spc="200" dirty="0">
                <a:solidFill>
                  <a:srgbClr val="FF6B35"/>
                </a:solidFill>
                <a:latin typeface="Calibri" pitchFamily="34" charset="0"/>
                <a:ea typeface="Calibri" pitchFamily="34" charset="-122"/>
                <a:cs typeface="Calibri" pitchFamily="34" charset="-120"/>
              </a:rPr>
              <a:t>PART 02</a:t>
            </a:r>
            <a:endParaRPr lang="en-US" sz="1500" dirty="0"/>
          </a:p>
        </p:txBody>
      </p:sp>
      <p:sp>
        <p:nvSpPr>
          <p:cNvPr id="5" name="Text 3"/>
          <p:cNvSpPr/>
          <p:nvPr/>
        </p:nvSpPr>
        <p:spPr>
          <a:xfrm>
            <a:off x="822960" y="2743200"/>
            <a:ext cx="9875520" cy="14630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Industry &amp; Structural Analysis</a:t>
            </a:r>
            <a:endParaRPr lang="en-US" sz="3400" dirty="0"/>
          </a:p>
        </p:txBody>
      </p:sp>
      <p:sp>
        <p:nvSpPr>
          <p:cNvPr id="6" name="Text 4"/>
          <p:cNvSpPr/>
          <p:nvPr/>
        </p:nvSpPr>
        <p:spPr>
          <a:xfrm>
            <a:off x="822960" y="4114800"/>
            <a:ext cx="8686800" cy="731520"/>
          </a:xfrm>
          <a:prstGeom prst="rect">
            <a:avLst/>
          </a:prstGeom>
          <a:noFill/>
          <a:ln/>
        </p:spPr>
        <p:txBody>
          <a:bodyPr wrap="square" rtlCol="0" anchor="ctr"/>
          <a:lstStyle/>
          <a:p>
            <a:pPr marL="0" indent="0">
              <a:buNone/>
            </a:pPr>
            <a:r>
              <a:rPr lang="en-US" sz="1200" i="1" dirty="0">
                <a:solidFill>
                  <a:srgbClr val="EAF5F1"/>
                </a:solidFill>
                <a:latin typeface="Calibri" pitchFamily="34" charset="0"/>
                <a:ea typeface="Calibri" pitchFamily="34" charset="-122"/>
                <a:cs typeface="Calibri" pitchFamily="34" charset="-120"/>
              </a:rPr>
              <a:t>Frameworks assessing competitive intensity, macro forces, and category strengths</a:t>
            </a:r>
            <a:endParaRPr lang="en-US" sz="140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8798" y="322071"/>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PESTEL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54676"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Government nutrition policies, evolving food safety regulations, consumer health awareness, technological advancements, and sustainability initiatives are collectively driving innovation while shaping compliance, operational strategies, and long-term growth in the global functional beverage market.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7" name="Table 0"/>
          <p:cNvGraphicFramePr>
            <a:graphicFrameLocks noGrp="1"/>
          </p:cNvGraphicFramePr>
          <p:nvPr>
            <p:extLst>
              <p:ext uri="{D42A27DB-BD31-4B8C-83A1-F6EECF244321}">
                <p14:modId xmlns:p14="http://schemas.microsoft.com/office/powerpoint/2010/main" val="2264477165"/>
              </p:ext>
            </p:extLst>
          </p:nvPr>
        </p:nvGraphicFramePr>
        <p:xfrm>
          <a:off x="603848" y="1371602"/>
          <a:ext cx="10964176" cy="4825306"/>
        </p:xfrm>
        <a:graphic>
          <a:graphicData uri="http://schemas.openxmlformats.org/drawingml/2006/table">
            <a:tbl>
              <a:tblPr/>
              <a:tblGrid>
                <a:gridCol w="5482088">
                  <a:extLst>
                    <a:ext uri="{9D8B030D-6E8A-4147-A177-3AD203B41FA5}">
                      <a16:colId xmlns:a16="http://schemas.microsoft.com/office/drawing/2014/main" val="20000"/>
                    </a:ext>
                  </a:extLst>
                </a:gridCol>
                <a:gridCol w="5482088">
                  <a:extLst>
                    <a:ext uri="{9D8B030D-6E8A-4147-A177-3AD203B41FA5}">
                      <a16:colId xmlns:a16="http://schemas.microsoft.com/office/drawing/2014/main" val="20001"/>
                    </a:ext>
                  </a:extLst>
                </a:gridCol>
              </a:tblGrid>
              <a:tr h="361282">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Factor</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Impact on the Functional Beverage Market</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801784">
                <a:tc>
                  <a:txBody>
                    <a:bodyPr/>
                    <a:lstStyle/>
                    <a:p>
                      <a:pPr marL="0" indent="0" algn="l">
                        <a:buNone/>
                      </a:pPr>
                      <a:r>
                        <a:rPr lang="en-US" sz="1200" b="1" dirty="0">
                          <a:solidFill>
                            <a:srgbClr val="1E2624"/>
                          </a:solidFill>
                          <a:latin typeface="Calibri" pitchFamily="34" charset="0"/>
                          <a:ea typeface="Calibri" pitchFamily="34" charset="-122"/>
                          <a:cs typeface="Calibri" pitchFamily="34" charset="-120"/>
                        </a:rPr>
                        <a:t>Political</a:t>
                      </a:r>
                      <a:endParaRPr lang="en-US" sz="1200" b="1"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Government nutrition policies promoting healthier diets encourage manufacturers to develop functional beverages with improved nutritional profiles.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Harmonized food safety standards (e.g., Codex Alimentarius) facilitate international trade while requiring compliance with national regulations.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6660">
                <a:tc>
                  <a:txBody>
                    <a:bodyPr/>
                    <a:lstStyle/>
                    <a:p>
                      <a:pPr marL="0" indent="0" algn="l">
                        <a:buNone/>
                      </a:pPr>
                      <a:r>
                        <a:rPr lang="en-US" sz="1200" b="1" dirty="0">
                          <a:solidFill>
                            <a:srgbClr val="1E2624"/>
                          </a:solidFill>
                          <a:latin typeface="Calibri" pitchFamily="34" charset="0"/>
                          <a:ea typeface="Calibri" pitchFamily="34" charset="-122"/>
                          <a:cs typeface="Calibri" pitchFamily="34" charset="-120"/>
                        </a:rPr>
                        <a:t>Economic</a:t>
                      </a:r>
                      <a:endParaRPr lang="en-US" sz="1200" b="1"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Rising production costs for high-quality functional ingredients and regulatory compliance increase manufacturing expenses.</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801784">
                <a:tc>
                  <a:txBody>
                    <a:bodyPr/>
                    <a:lstStyle/>
                    <a:p>
                      <a:pPr marL="0" indent="0" algn="l">
                        <a:buNone/>
                      </a:pPr>
                      <a:r>
                        <a:rPr lang="en-US" sz="1200" b="1" dirty="0">
                          <a:solidFill>
                            <a:srgbClr val="1E2624"/>
                          </a:solidFill>
                          <a:latin typeface="Calibri" pitchFamily="34" charset="0"/>
                          <a:ea typeface="Calibri" pitchFamily="34" charset="-122"/>
                          <a:cs typeface="Calibri" pitchFamily="34" charset="-120"/>
                        </a:rPr>
                        <a:t>Social</a:t>
                      </a:r>
                      <a:endParaRPr lang="en-US" sz="1200" b="1"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Growing consumer awareness of healthy lifestyles, immunity, digestive health, and hydration increases demand for functional beverages.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Consumers increasingly prefer clean-label products with transparent ingredient information and scientifically supported health benefits.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1784">
                <a:tc>
                  <a:txBody>
                    <a:bodyPr/>
                    <a:lstStyle/>
                    <a:p>
                      <a:pPr marL="0" indent="0" algn="l">
                        <a:buNone/>
                      </a:pPr>
                      <a:r>
                        <a:rPr lang="en-US" sz="1200" b="1" dirty="0">
                          <a:solidFill>
                            <a:srgbClr val="1E2624"/>
                          </a:solidFill>
                          <a:latin typeface="Calibri" pitchFamily="34" charset="0"/>
                          <a:ea typeface="Calibri" pitchFamily="34" charset="-122"/>
                          <a:cs typeface="Calibri" pitchFamily="34" charset="-120"/>
                        </a:rPr>
                        <a:t>Technological</a:t>
                      </a:r>
                      <a:endParaRPr lang="en-US" sz="1200" b="1"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Advances in food processing, fermentation, encapsulation, and ingredient stabilization improve product quality and shelf life.</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Digital traceability and quality management systems strengthen food safety and supply chain transparency.</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r h="741824">
                <a:tc>
                  <a:txBody>
                    <a:bodyPr/>
                    <a:lstStyle/>
                    <a:p>
                      <a:pPr marL="0" indent="0" algn="l">
                        <a:buNone/>
                      </a:pPr>
                      <a:r>
                        <a:rPr lang="en-US" sz="1200" b="1" dirty="0">
                          <a:solidFill>
                            <a:srgbClr val="1E2624"/>
                          </a:solidFill>
                          <a:latin typeface="Calibri" pitchFamily="34" charset="0"/>
                          <a:ea typeface="Calibri" pitchFamily="34" charset="-122"/>
                          <a:cs typeface="Calibri" pitchFamily="34" charset="-120"/>
                        </a:rPr>
                        <a:t>Environmental</a:t>
                      </a:r>
                      <a:endParaRPr lang="en-US" sz="1200" b="1"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6660">
                <a:tc>
                  <a:txBody>
                    <a:bodyPr/>
                    <a:lstStyle/>
                    <a:p>
                      <a:pPr marL="0" indent="0" algn="l">
                        <a:buNone/>
                      </a:pPr>
                      <a:r>
                        <a:rPr lang="en-US" sz="1200" b="1" dirty="0">
                          <a:solidFill>
                            <a:srgbClr val="1E2624"/>
                          </a:solidFill>
                          <a:latin typeface="Calibri" pitchFamily="34" charset="0"/>
                          <a:ea typeface="Calibri" pitchFamily="34" charset="-122"/>
                          <a:cs typeface="Calibri" pitchFamily="34" charset="-120"/>
                        </a:rPr>
                        <a:t>Legal</a:t>
                      </a:r>
                      <a:endParaRPr lang="en-US" sz="1200" b="1"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6"/>
                  </a:ext>
                </a:extLst>
              </a:tr>
            </a:tbl>
          </a:graphicData>
        </a:graphic>
      </p:graphicFrame>
      <p:sp>
        <p:nvSpPr>
          <p:cNvPr id="5" name="Text 2"/>
          <p:cNvSpPr/>
          <p:nvPr/>
        </p:nvSpPr>
        <p:spPr>
          <a:xfrm>
            <a:off x="502920" y="6501902"/>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7424"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Regulatory &amp; Standards Landscape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37424" y="922867"/>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manufacturers operate within evolving food safety, labeling, and health claim regulations, making scientific substantiation, regulatory compliance, and transparent consumer communication essential for sustainable market success.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328466" y="1417320"/>
            <a:ext cx="6208501" cy="1334506"/>
          </a:xfrm>
          <a:prstGeom prst="roundRect">
            <a:avLst>
              <a:gd name="adj" fmla="val 1600"/>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366492" y="1550691"/>
            <a:ext cx="6170475" cy="1060186"/>
          </a:xfrm>
          <a:prstGeom prst="rect">
            <a:avLst/>
          </a:prstGeom>
          <a:noFill/>
          <a:ln/>
        </p:spPr>
        <p:txBody>
          <a:bodyPr wrap="square" rtlCol="0" anchor="t"/>
          <a:lstStyle/>
          <a:p>
            <a:pPr marL="228600" marR="0" lvl="0" indent="-228600" algn="l" defTabSz="914400" rtl="0" eaLnBrk="1" fontAlgn="auto" latinLnBrk="0" hangingPunct="1">
              <a:lnSpc>
                <a:spcPct val="100000"/>
              </a:lnSpc>
              <a:spcBef>
                <a:spcPts val="0"/>
              </a:spcBef>
              <a:spcAft>
                <a:spcPts val="120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Developed by the FAO and WHO to harmonize international food standards and facilitate fair trade.</a:t>
            </a:r>
          </a:p>
          <a:p>
            <a:pPr marL="228600" marR="0" lvl="0" indent="-228600" algn="l" defTabSz="914400" rtl="0" eaLnBrk="1" fontAlgn="auto" latinLnBrk="0" hangingPunct="1">
              <a:lnSpc>
                <a:spcPct val="100000"/>
              </a:lnSpc>
              <a:spcBef>
                <a:spcPts val="0"/>
              </a:spcBef>
              <a:spcAft>
                <a:spcPts val="120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Establishes requirements for food labeling, ingredient declarations, nutrition information, allergen labeling, and consumer information.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2">
            <a:extLst>
              <a:ext uri="{FF2B5EF4-FFF2-40B4-BE49-F238E27FC236}">
                <a16:creationId xmlns:a16="http://schemas.microsoft.com/office/drawing/2014/main" id="{A6262035-600C-EC25-B4F8-306C7D247E69}"/>
              </a:ext>
            </a:extLst>
          </p:cNvPr>
          <p:cNvSpPr/>
          <p:nvPr/>
        </p:nvSpPr>
        <p:spPr>
          <a:xfrm>
            <a:off x="5328466" y="3205231"/>
            <a:ext cx="6208501" cy="1334506"/>
          </a:xfrm>
          <a:prstGeom prst="roundRect">
            <a:avLst>
              <a:gd name="adj" fmla="val 1600"/>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2">
            <a:extLst>
              <a:ext uri="{FF2B5EF4-FFF2-40B4-BE49-F238E27FC236}">
                <a16:creationId xmlns:a16="http://schemas.microsoft.com/office/drawing/2014/main" id="{1EBE40C0-6A7F-0FF2-43ED-85C7EF178AA8}"/>
              </a:ext>
            </a:extLst>
          </p:cNvPr>
          <p:cNvSpPr/>
          <p:nvPr/>
        </p:nvSpPr>
        <p:spPr>
          <a:xfrm>
            <a:off x="5328466" y="4968126"/>
            <a:ext cx="6208501" cy="1197346"/>
          </a:xfrm>
          <a:prstGeom prst="roundRect">
            <a:avLst>
              <a:gd name="adj" fmla="val 1600"/>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3">
            <a:extLst>
              <a:ext uri="{FF2B5EF4-FFF2-40B4-BE49-F238E27FC236}">
                <a16:creationId xmlns:a16="http://schemas.microsoft.com/office/drawing/2014/main" id="{214602A8-C0B5-51BB-FDF7-E55FB58CB5CE}"/>
              </a:ext>
            </a:extLst>
          </p:cNvPr>
          <p:cNvSpPr/>
          <p:nvPr/>
        </p:nvSpPr>
        <p:spPr>
          <a:xfrm>
            <a:off x="5366492" y="3345215"/>
            <a:ext cx="6170475" cy="1060186"/>
          </a:xfrm>
          <a:prstGeom prst="rect">
            <a:avLst/>
          </a:prstGeom>
          <a:noFill/>
          <a:ln/>
        </p:spPr>
        <p:txBody>
          <a:bodyPr wrap="square" rtlCol="0" anchor="t"/>
          <a:lstStyle/>
          <a:p>
            <a:pPr marL="228600" marR="0" lvl="0" indent="-228600" algn="l" defTabSz="914400" rtl="0" eaLnBrk="1" fontAlgn="auto" latinLnBrk="0" hangingPunct="1">
              <a:lnSpc>
                <a:spcPct val="100000"/>
              </a:lnSpc>
              <a:spcBef>
                <a:spcPts val="0"/>
              </a:spcBef>
              <a:spcAft>
                <a:spcPts val="120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Shifts food safety from reactive measures to preventive controls across the food supply chain.</a:t>
            </a:r>
          </a:p>
          <a:p>
            <a:pPr marL="228600" marR="0" lvl="0" indent="-228600" algn="l" defTabSz="914400" rtl="0" eaLnBrk="1" fontAlgn="auto" latinLnBrk="0" hangingPunct="1">
              <a:lnSpc>
                <a:spcPct val="100000"/>
              </a:lnSpc>
              <a:spcBef>
                <a:spcPts val="0"/>
              </a:spcBef>
              <a:spcAft>
                <a:spcPts val="120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Requires manufacturers to implement hazard analysis, preventive controls, supplier verification, and risk-based food safety plans.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3">
            <a:extLst>
              <a:ext uri="{FF2B5EF4-FFF2-40B4-BE49-F238E27FC236}">
                <a16:creationId xmlns:a16="http://schemas.microsoft.com/office/drawing/2014/main" id="{CA199D6E-EF8D-4032-1709-C490EEBE20B8}"/>
              </a:ext>
            </a:extLst>
          </p:cNvPr>
          <p:cNvSpPr/>
          <p:nvPr/>
        </p:nvSpPr>
        <p:spPr>
          <a:xfrm>
            <a:off x="5366492" y="5105286"/>
            <a:ext cx="6170475" cy="1060186"/>
          </a:xfrm>
          <a:prstGeom prst="rect">
            <a:avLst/>
          </a:prstGeom>
          <a:noFill/>
          <a:ln/>
        </p:spPr>
        <p:txBody>
          <a:bodyPr wrap="square" rtlCol="0" anchor="t"/>
          <a:lstStyle/>
          <a:p>
            <a:pPr marL="228600" marR="0" lvl="0" indent="-228600" algn="l" defTabSz="914400" rtl="0" eaLnBrk="1" fontAlgn="auto" latinLnBrk="0" hangingPunct="1">
              <a:lnSpc>
                <a:spcPct val="100000"/>
              </a:lnSpc>
              <a:spcBef>
                <a:spcPts val="0"/>
              </a:spcBef>
              <a:spcAft>
                <a:spcPts val="120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Regulates nutrition and health claims made on foods and beverages marketed in the European Union.</a:t>
            </a:r>
          </a:p>
          <a:p>
            <a:pPr marL="228600" marR="0" lvl="0" indent="-228600" algn="l" defTabSz="914400" rtl="0" eaLnBrk="1" fontAlgn="auto" latinLnBrk="0" hangingPunct="1">
              <a:lnSpc>
                <a:spcPct val="100000"/>
              </a:lnSpc>
              <a:spcBef>
                <a:spcPts val="0"/>
              </a:spcBef>
              <a:spcAft>
                <a:spcPts val="120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Requires all health claims to be scientifically substantiated and authorized before use.</a:t>
            </a:r>
          </a:p>
        </p:txBody>
      </p:sp>
      <p:grpSp>
        <p:nvGrpSpPr>
          <p:cNvPr id="20" name="Group 19">
            <a:extLst>
              <a:ext uri="{FF2B5EF4-FFF2-40B4-BE49-F238E27FC236}">
                <a16:creationId xmlns:a16="http://schemas.microsoft.com/office/drawing/2014/main" id="{9D6269DD-F97B-F699-CA7E-77DA022E9032}"/>
              </a:ext>
            </a:extLst>
          </p:cNvPr>
          <p:cNvGrpSpPr/>
          <p:nvPr/>
        </p:nvGrpSpPr>
        <p:grpSpPr>
          <a:xfrm>
            <a:off x="655033" y="1662576"/>
            <a:ext cx="4262024" cy="836416"/>
            <a:chOff x="502920" y="1846399"/>
            <a:chExt cx="5486400" cy="411480"/>
          </a:xfrm>
        </p:grpSpPr>
        <p:sp>
          <p:nvSpPr>
            <p:cNvPr id="17" name="Shape 3">
              <a:extLst>
                <a:ext uri="{FF2B5EF4-FFF2-40B4-BE49-F238E27FC236}">
                  <a16:creationId xmlns:a16="http://schemas.microsoft.com/office/drawing/2014/main" id="{BA3BDAB6-327F-5604-E855-1EA064068C7A}"/>
                </a:ext>
              </a:extLst>
            </p:cNvPr>
            <p:cNvSpPr/>
            <p:nvPr/>
          </p:nvSpPr>
          <p:spPr>
            <a:xfrm>
              <a:off x="502920" y="1846399"/>
              <a:ext cx="5486400" cy="411480"/>
            </a:xfrm>
            <a:prstGeom prst="roundRect">
              <a:avLst>
                <a:gd name="adj" fmla="val 2666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4">
              <a:extLst>
                <a:ext uri="{FF2B5EF4-FFF2-40B4-BE49-F238E27FC236}">
                  <a16:creationId xmlns:a16="http://schemas.microsoft.com/office/drawing/2014/main" id="{AA64D3B3-70F3-8E98-B03E-1D8B9882E25B}"/>
                </a:ext>
              </a:extLst>
            </p:cNvPr>
            <p:cNvSpPr/>
            <p:nvPr/>
          </p:nvSpPr>
          <p:spPr>
            <a:xfrm>
              <a:off x="1033272" y="1846399"/>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Codex Alimentarius – General Standard for the Labelling of Prepackaged Foods (CODEX STAN 1-1985)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 name="Group 24">
            <a:extLst>
              <a:ext uri="{FF2B5EF4-FFF2-40B4-BE49-F238E27FC236}">
                <a16:creationId xmlns:a16="http://schemas.microsoft.com/office/drawing/2014/main" id="{8414C5DA-8659-F91D-3568-7952D0C5198D}"/>
              </a:ext>
            </a:extLst>
          </p:cNvPr>
          <p:cNvGrpSpPr/>
          <p:nvPr/>
        </p:nvGrpSpPr>
        <p:grpSpPr>
          <a:xfrm>
            <a:off x="655014" y="3461442"/>
            <a:ext cx="4261506" cy="835200"/>
            <a:chOff x="6172200" y="896112"/>
            <a:chExt cx="5486400" cy="411480"/>
          </a:xfrm>
        </p:grpSpPr>
        <p:sp>
          <p:nvSpPr>
            <p:cNvPr id="22" name="Shape 7">
              <a:extLst>
                <a:ext uri="{FF2B5EF4-FFF2-40B4-BE49-F238E27FC236}">
                  <a16:creationId xmlns:a16="http://schemas.microsoft.com/office/drawing/2014/main" id="{0FF49223-F26B-BA94-EF88-62999649547F}"/>
                </a:ext>
              </a:extLst>
            </p:cNvPr>
            <p:cNvSpPr/>
            <p:nvPr/>
          </p:nvSpPr>
          <p:spPr>
            <a:xfrm>
              <a:off x="6172200" y="896112"/>
              <a:ext cx="5486400" cy="411480"/>
            </a:xfrm>
            <a:prstGeom prst="roundRect">
              <a:avLst>
                <a:gd name="adj" fmla="val 26667"/>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8">
              <a:extLst>
                <a:ext uri="{FF2B5EF4-FFF2-40B4-BE49-F238E27FC236}">
                  <a16:creationId xmlns:a16="http://schemas.microsoft.com/office/drawing/2014/main" id="{2B2DD6FC-4FAF-3A85-2A5E-0133470BAEC0}"/>
                </a:ext>
              </a:extLst>
            </p:cNvPr>
            <p:cNvSpPr/>
            <p:nvPr/>
          </p:nvSpPr>
          <p:spPr>
            <a:xfrm>
              <a:off x="6702552" y="896112"/>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 FDA – Food Safety Modernization Act (FSMA)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397139F-7D50-F44C-D14A-241EE469EBA0}"/>
              </a:ext>
            </a:extLst>
          </p:cNvPr>
          <p:cNvGrpSpPr/>
          <p:nvPr/>
        </p:nvGrpSpPr>
        <p:grpSpPr>
          <a:xfrm>
            <a:off x="655014" y="5215355"/>
            <a:ext cx="4261506" cy="835200"/>
            <a:chOff x="502920" y="3730752"/>
            <a:chExt cx="5486400" cy="411480"/>
          </a:xfrm>
        </p:grpSpPr>
        <p:sp>
          <p:nvSpPr>
            <p:cNvPr id="27" name="Shape 11">
              <a:extLst>
                <a:ext uri="{FF2B5EF4-FFF2-40B4-BE49-F238E27FC236}">
                  <a16:creationId xmlns:a16="http://schemas.microsoft.com/office/drawing/2014/main" id="{7185CCBD-BB50-5A86-32A2-A6CC14F2BF3D}"/>
                </a:ext>
              </a:extLst>
            </p:cNvPr>
            <p:cNvSpPr/>
            <p:nvPr/>
          </p:nvSpPr>
          <p:spPr>
            <a:xfrm>
              <a:off x="502920" y="3730752"/>
              <a:ext cx="5486400" cy="41148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12">
              <a:extLst>
                <a:ext uri="{FF2B5EF4-FFF2-40B4-BE49-F238E27FC236}">
                  <a16:creationId xmlns:a16="http://schemas.microsoft.com/office/drawing/2014/main" id="{503472C7-29A8-4C47-08D5-9A0A25C1F7D1}"/>
                </a:ext>
              </a:extLst>
            </p:cNvPr>
            <p:cNvSpPr/>
            <p:nvPr/>
          </p:nvSpPr>
          <p:spPr>
            <a:xfrm>
              <a:off x="1033272" y="3730752"/>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European Union – Regulation (EC) No. 1924/2006 on Nutrition and Health Claims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5255" y="330538"/>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Industry Value Chain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5255"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The functional beverage value chain integrates quality sourcing, scientific formulation, compliant manufacturing, efficient distribution, and consumer-focused innovation to deliver safe, effective, and nutritionally beneficial products.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207008" y="1600200"/>
            <a:ext cx="640080" cy="64008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207008" y="160020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483864" y="1600200"/>
            <a:ext cx="640080" cy="64008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483864" y="160020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760720" y="1600200"/>
            <a:ext cx="640080" cy="64008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5760720" y="160020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8037576" y="1600200"/>
            <a:ext cx="640080" cy="64008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8037576" y="160020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10314432" y="1600200"/>
            <a:ext cx="640080" cy="64008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10314432" y="1600200"/>
            <a:ext cx="64008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4ECE93EA-861F-5CEE-F303-5BC9225967F5}"/>
              </a:ext>
            </a:extLst>
          </p:cNvPr>
          <p:cNvGrpSpPr/>
          <p:nvPr/>
        </p:nvGrpSpPr>
        <p:grpSpPr>
          <a:xfrm>
            <a:off x="640080" y="2103119"/>
            <a:ext cx="10883046" cy="4073393"/>
            <a:chOff x="502920" y="2103120"/>
            <a:chExt cx="11155680" cy="3538728"/>
          </a:xfrm>
        </p:grpSpPr>
        <p:sp>
          <p:nvSpPr>
            <p:cNvPr id="6" name="Shape 4"/>
            <p:cNvSpPr/>
            <p:nvPr/>
          </p:nvSpPr>
          <p:spPr>
            <a:xfrm>
              <a:off x="502920" y="2103120"/>
              <a:ext cx="2048256" cy="3538728"/>
            </a:xfrm>
            <a:prstGeom prst="roundRect">
              <a:avLst>
                <a:gd name="adj" fmla="val 357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40080" y="2286000"/>
              <a:ext cx="1773936" cy="82296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Ingredient Sourcing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40080" y="2628899"/>
              <a:ext cx="1773936" cy="224028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Source vitamins, minerals, probiotics, botanicals, proteins, and other functional ingredients from qualified suppliers.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Verify ingredient identity, purity, safety, and traceability through quality testing and supplier audits.</a:t>
              </a:r>
            </a:p>
          </p:txBody>
        </p:sp>
        <p:sp>
          <p:nvSpPr>
            <p:cNvPr id="9" name="Shape 7"/>
            <p:cNvSpPr/>
            <p:nvPr/>
          </p:nvSpPr>
          <p:spPr>
            <a:xfrm>
              <a:off x="2551176" y="3749040"/>
              <a:ext cx="228600" cy="0"/>
            </a:xfrm>
            <a:prstGeom prst="line">
              <a:avLst/>
            </a:prstGeom>
            <a:noFill/>
            <a:ln w="19050">
              <a:solidFill>
                <a:srgbClr val="72827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2779776" y="2103120"/>
              <a:ext cx="2048256" cy="3538728"/>
            </a:xfrm>
            <a:prstGeom prst="roundRect">
              <a:avLst>
                <a:gd name="adj" fmla="val 357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2916936" y="2286000"/>
              <a:ext cx="1773936" cy="82296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Formulation &amp; R&amp;D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916936" y="2628899"/>
              <a:ext cx="1773936" cy="224028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Develop scientifically supported formulations that deliver targeted health and nutritional benefits.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Optimize taste, stability, bioavailability, and shelf life while maintaining product quality.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828032" y="3749040"/>
              <a:ext cx="228600" cy="0"/>
            </a:xfrm>
            <a:prstGeom prst="line">
              <a:avLst/>
            </a:prstGeom>
            <a:noFill/>
            <a:ln w="19050">
              <a:solidFill>
                <a:srgbClr val="72827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056632" y="2103120"/>
              <a:ext cx="2048256" cy="3538728"/>
            </a:xfrm>
            <a:prstGeom prst="roundRect">
              <a:avLst>
                <a:gd name="adj" fmla="val 357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5193792" y="2286000"/>
              <a:ext cx="1773936" cy="82296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Manufacturing &amp; Fill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193792" y="2628899"/>
              <a:ext cx="1773936" cy="2240280"/>
            </a:xfrm>
            <a:prstGeom prst="rect">
              <a:avLst/>
            </a:prstGeom>
            <a:noFill/>
            <a:ln/>
          </p:spPr>
          <p:txBody>
            <a:bodyPr wrap="square" rtlCol="0" anchor="t"/>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Produce beverages under GMP and HACCP-based quality management systems.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p:txBody>
        </p:sp>
        <p:sp>
          <p:nvSpPr>
            <p:cNvPr id="21" name="Shape 19"/>
            <p:cNvSpPr/>
            <p:nvPr/>
          </p:nvSpPr>
          <p:spPr>
            <a:xfrm>
              <a:off x="7104888" y="3749040"/>
              <a:ext cx="228600" cy="0"/>
            </a:xfrm>
            <a:prstGeom prst="line">
              <a:avLst/>
            </a:prstGeom>
            <a:noFill/>
            <a:ln w="19050">
              <a:solidFill>
                <a:srgbClr val="72827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7333488" y="2103120"/>
              <a:ext cx="2048256" cy="3538728"/>
            </a:xfrm>
            <a:prstGeom prst="roundRect">
              <a:avLst>
                <a:gd name="adj" fmla="val 357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7470648" y="2286000"/>
              <a:ext cx="1773936" cy="82296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Distribution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7470648" y="2628899"/>
              <a:ext cx="1773936" cy="22402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p:txBody>
        </p:sp>
        <p:sp>
          <p:nvSpPr>
            <p:cNvPr id="27" name="Shape 25"/>
            <p:cNvSpPr/>
            <p:nvPr/>
          </p:nvSpPr>
          <p:spPr>
            <a:xfrm>
              <a:off x="9381744" y="3749040"/>
              <a:ext cx="228600" cy="0"/>
            </a:xfrm>
            <a:prstGeom prst="line">
              <a:avLst/>
            </a:prstGeom>
            <a:noFill/>
            <a:ln w="19050">
              <a:solidFill>
                <a:srgbClr val="72827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9610344" y="2103120"/>
              <a:ext cx="2048256" cy="3538728"/>
            </a:xfrm>
            <a:prstGeom prst="roundRect">
              <a:avLst>
                <a:gd name="adj" fmla="val 357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9747504" y="2286000"/>
              <a:ext cx="1773936" cy="82296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Consumer Purchase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747504" y="2628899"/>
              <a:ext cx="1773936" cy="22402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p:txBody>
        </p:sp>
      </p:grpSp>
      <p:sp>
        <p:nvSpPr>
          <p:cNvPr id="33" name="Text 31"/>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05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Porter's Five Forces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605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The functional beverage market is characterized by intense competition, strong buyer influence, moderate supplier and substitution pressures, and evolving entry barriers, encouraging continuous innovation, product differentiation, and regulatory compliance to sustain competitive advantage.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28008" y="1417320"/>
            <a:ext cx="3315984" cy="2085650"/>
          </a:xfrm>
          <a:prstGeom prst="roundRect">
            <a:avLst>
              <a:gd name="adj" fmla="val 313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643471" y="1489464"/>
            <a:ext cx="2520000" cy="7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6B35"/>
                </a:solidFill>
                <a:effectLst/>
                <a:uLnTx/>
                <a:uFillTx/>
                <a:latin typeface="Cambria" pitchFamily="34" charset="0"/>
                <a:ea typeface="Cambria" pitchFamily="34" charset="-122"/>
                <a:cs typeface="Cambria" pitchFamily="34" charset="-120"/>
              </a:rPr>
              <a:t>Moderate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38079" y="2070982"/>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Threat of new entrants</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438008" y="1417320"/>
            <a:ext cx="3315984" cy="2085650"/>
          </a:xfrm>
          <a:prstGeom prst="roundRect">
            <a:avLst>
              <a:gd name="adj" fmla="val 3137"/>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4436537" y="1489464"/>
            <a:ext cx="2520000" cy="7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High</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31145" y="2070982"/>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Bargaining power of buyers</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8248008" y="1417320"/>
            <a:ext cx="3315984" cy="2085650"/>
          </a:xfrm>
          <a:prstGeom prst="roundRect">
            <a:avLst>
              <a:gd name="adj" fmla="val 313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8246537" y="1489464"/>
            <a:ext cx="2520000" cy="7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6B35"/>
                </a:solidFill>
                <a:effectLst/>
                <a:uLnTx/>
                <a:uFillTx/>
                <a:latin typeface="Cambria" pitchFamily="34" charset="0"/>
                <a:ea typeface="Cambria" pitchFamily="34" charset="-122"/>
                <a:cs typeface="Cambria" pitchFamily="34" charset="-120"/>
              </a:rPr>
              <a:t>Moderate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341145" y="2070982"/>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Bargaining power of suppliers</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28008" y="4023360"/>
            <a:ext cx="3315984" cy="2085650"/>
          </a:xfrm>
          <a:prstGeom prst="roundRect">
            <a:avLst>
              <a:gd name="adj" fmla="val 3137"/>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3471" y="4095504"/>
            <a:ext cx="2520000" cy="7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Moderate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8079" y="4677022"/>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Threat of substitutes</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438008" y="4023360"/>
            <a:ext cx="3315984" cy="2085650"/>
          </a:xfrm>
          <a:prstGeom prst="roundRect">
            <a:avLst>
              <a:gd name="adj" fmla="val 313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436537" y="4095504"/>
            <a:ext cx="2520000" cy="72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6B35"/>
                </a:solidFill>
                <a:effectLst/>
                <a:uLnTx/>
                <a:uFillTx/>
                <a:latin typeface="Cambria" pitchFamily="34" charset="0"/>
                <a:ea typeface="Cambria" pitchFamily="34" charset="-122"/>
                <a:cs typeface="Cambria" pitchFamily="34" charset="-120"/>
              </a:rPr>
              <a:t>High</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531145" y="4677022"/>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Competitive rivalry</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4">
            <a:extLst>
              <a:ext uri="{FF2B5EF4-FFF2-40B4-BE49-F238E27FC236}">
                <a16:creationId xmlns:a16="http://schemas.microsoft.com/office/drawing/2014/main" id="{46D0EB2F-5615-D54C-D757-C7B931441235}"/>
              </a:ext>
            </a:extLst>
          </p:cNvPr>
          <p:cNvSpPr/>
          <p:nvPr/>
        </p:nvSpPr>
        <p:spPr>
          <a:xfrm>
            <a:off x="738079" y="2564640"/>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Contract manufacturing and e-commerce lower market entry barriers for emerging brands.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7">
            <a:extLst>
              <a:ext uri="{FF2B5EF4-FFF2-40B4-BE49-F238E27FC236}">
                <a16:creationId xmlns:a16="http://schemas.microsoft.com/office/drawing/2014/main" id="{4D8561DE-D616-E8EA-DC93-0DEDBF2B3D1A}"/>
              </a:ext>
            </a:extLst>
          </p:cNvPr>
          <p:cNvSpPr/>
          <p:nvPr/>
        </p:nvSpPr>
        <p:spPr>
          <a:xfrm>
            <a:off x="4531145" y="2564640"/>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Consumers have extensive product choices and can easily switch between competing brands.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10">
            <a:extLst>
              <a:ext uri="{FF2B5EF4-FFF2-40B4-BE49-F238E27FC236}">
                <a16:creationId xmlns:a16="http://schemas.microsoft.com/office/drawing/2014/main" id="{0EBC4321-1406-7198-5BA4-C94CDE312CC8}"/>
              </a:ext>
            </a:extLst>
          </p:cNvPr>
          <p:cNvSpPr/>
          <p:nvPr/>
        </p:nvSpPr>
        <p:spPr>
          <a:xfrm>
            <a:off x="8341145" y="2564640"/>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Dependence on specialized ingredients (probiotics, botanicals, proteins) increases supplier influence.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13">
            <a:extLst>
              <a:ext uri="{FF2B5EF4-FFF2-40B4-BE49-F238E27FC236}">
                <a16:creationId xmlns:a16="http://schemas.microsoft.com/office/drawing/2014/main" id="{51E95195-AD4B-B2A9-32FB-181EACD2037C}"/>
              </a:ext>
            </a:extLst>
          </p:cNvPr>
          <p:cNvSpPr/>
          <p:nvPr/>
        </p:nvSpPr>
        <p:spPr>
          <a:xfrm>
            <a:off x="738079" y="5170680"/>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Conventional beverages, bottled water, dairy products, and dietary supplements provide readily available alternatives.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16">
            <a:extLst>
              <a:ext uri="{FF2B5EF4-FFF2-40B4-BE49-F238E27FC236}">
                <a16:creationId xmlns:a16="http://schemas.microsoft.com/office/drawing/2014/main" id="{90854FE2-54F6-B62C-D361-93E4816A1592}"/>
              </a:ext>
            </a:extLst>
          </p:cNvPr>
          <p:cNvSpPr/>
          <p:nvPr/>
        </p:nvSpPr>
        <p:spPr>
          <a:xfrm>
            <a:off x="4531145" y="5170680"/>
            <a:ext cx="3078480" cy="54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Intense competition exists among multinational beverage companies, regional manufacturers, and emerging wellness brands.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936" y="38781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Industry Risk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936" y="819852"/>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Assessing key operational, regulatory, and market uncertainties influencing profitability, resilience, and long-term growth across the global functional beverage industry.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42301" y="1188720"/>
            <a:ext cx="402336" cy="256032"/>
          </a:xfrm>
          <a:prstGeom prst="triangl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24597" y="1444752"/>
            <a:ext cx="237744" cy="3858768"/>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rot="16200000">
            <a:off x="-1256929" y="3302538"/>
            <a:ext cx="37642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Probability of Occurrence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53443" y="1188720"/>
            <a:ext cx="360000" cy="1371600"/>
          </a:xfrm>
          <a:prstGeom prst="rect">
            <a:avLst/>
          </a:prstGeom>
          <a:solidFill>
            <a:srgbClr val="0B4F4A"/>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rot="16200000">
            <a:off x="320040" y="1645920"/>
            <a:ext cx="13716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371600" y="1188720"/>
            <a:ext cx="3438144" cy="1371600"/>
          </a:xfrm>
          <a:prstGeom prst="rect">
            <a:avLst/>
          </a:prstGeom>
          <a:solidFill>
            <a:srgbClr val="0B4F4A"/>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508760" y="11887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Raw material price volatility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Seasonal demand swings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809744" y="1188720"/>
            <a:ext cx="3438144" cy="1371600"/>
          </a:xfrm>
          <a:prstGeom prst="rect">
            <a:avLst/>
          </a:prstGeom>
          <a:solidFill>
            <a:srgbClr val="0B4F4A"/>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946904" y="11887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Calibri" pitchFamily="34" charset="-122"/>
                <a:cs typeface="Calibri" pitchFamily="34" charset="-120"/>
              </a:rPr>
              <a:t>Rising</a:t>
            </a: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competition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Private-label expansion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8247888" y="1188720"/>
            <a:ext cx="3300984" cy="1371600"/>
          </a:xfrm>
          <a:prstGeom prst="rect">
            <a:avLst/>
          </a:prstGeom>
          <a:solidFill>
            <a:srgbClr val="0B4F4A"/>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8385048" y="11887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Regulatory &amp; health-claim changes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53443" y="2560320"/>
            <a:ext cx="360000" cy="1371600"/>
          </a:xfrm>
          <a:prstGeom prst="rect">
            <a:avLst/>
          </a:prstGeom>
          <a:solidFill>
            <a:srgbClr val="4E9187"/>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rot="16200000">
            <a:off x="320040" y="3017520"/>
            <a:ext cx="13716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1371600" y="2560320"/>
            <a:ext cx="3438144" cy="1371600"/>
          </a:xfrm>
          <a:prstGeom prst="rect">
            <a:avLst/>
          </a:prstGeom>
          <a:solidFill>
            <a:srgbClr val="4E9187"/>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1508760" y="25603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Consumer preference shifts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809744" y="2560320"/>
            <a:ext cx="3438144" cy="1371600"/>
          </a:xfrm>
          <a:prstGeom prst="rect">
            <a:avLst/>
          </a:prstGeom>
          <a:solidFill>
            <a:srgbClr val="4E9187"/>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4946904" y="25603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Supply chain disruptions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Packaging cost inflation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8247888" y="2560320"/>
            <a:ext cx="3300984" cy="1371600"/>
          </a:xfrm>
          <a:prstGeom prst="rect">
            <a:avLst/>
          </a:prstGeom>
          <a:solidFill>
            <a:srgbClr val="4E9187"/>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385048" y="25603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Ingredient safety recalls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853443" y="3931920"/>
            <a:ext cx="360000" cy="1371600"/>
          </a:xfrm>
          <a:prstGeom prst="rect">
            <a:avLst/>
          </a:prstGeom>
          <a:solidFill>
            <a:srgbClr val="AFD8CE"/>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rot="16200000">
            <a:off x="320040" y="4389120"/>
            <a:ext cx="13716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Low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1371600" y="3931920"/>
            <a:ext cx="3438144" cy="1371600"/>
          </a:xfrm>
          <a:prstGeom prst="rect">
            <a:avLst/>
          </a:prstGeom>
          <a:solidFill>
            <a:srgbClr val="AFD8CE"/>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1508760" y="39319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Currency fluctuations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809744" y="3931920"/>
            <a:ext cx="3438144" cy="1371600"/>
          </a:xfrm>
          <a:prstGeom prst="rect">
            <a:avLst/>
          </a:prstGeom>
          <a:solidFill>
            <a:srgbClr val="AFD8CE"/>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4946904" y="39319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Trade policy changes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8247888" y="3931920"/>
            <a:ext cx="3300984" cy="1371600"/>
          </a:xfrm>
          <a:prstGeom prst="rect">
            <a:avLst/>
          </a:prstGeom>
          <a:solidFill>
            <a:srgbClr val="AFD8CE"/>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8385048" y="3931920"/>
            <a:ext cx="3163824" cy="1371600"/>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Sugar-tax / regulatory bans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1371600" y="5349240"/>
            <a:ext cx="3438144" cy="292608"/>
          </a:xfrm>
          <a:prstGeom prst="rect">
            <a:avLst/>
          </a:prstGeom>
          <a:solidFill>
            <a:srgbClr val="AFD8CE"/>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1371600" y="5349240"/>
            <a:ext cx="3438144"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Low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4809744" y="5349240"/>
            <a:ext cx="3438144" cy="292608"/>
          </a:xfrm>
          <a:prstGeom prst="rect">
            <a:avLst/>
          </a:prstGeom>
          <a:solidFill>
            <a:srgbClr val="4E9187"/>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4809744" y="5349240"/>
            <a:ext cx="3438144"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8247888" y="5349240"/>
            <a:ext cx="3300984" cy="292608"/>
          </a:xfrm>
          <a:prstGeom prst="rect">
            <a:avLst/>
          </a:prstGeom>
          <a:solidFill>
            <a:srgbClr val="0B4F4A"/>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8247888" y="5349240"/>
            <a:ext cx="3438144"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1371600" y="5715000"/>
            <a:ext cx="9804392" cy="27432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rot="5400000">
            <a:off x="11166848" y="5724144"/>
            <a:ext cx="274320" cy="256032"/>
          </a:xfrm>
          <a:prstGeom prst="triangl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1371600" y="5715000"/>
            <a:ext cx="100584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Impact of Risk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8869" y="394210"/>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Trade Analysis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8869" y="869698"/>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Evaluating global trade dynamics, tariff frameworks, import-export patterns, and regional agreements shaping functional beverage supply and market accessibility.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925F224B-E956-29B4-266B-755806D5F173}"/>
              </a:ext>
            </a:extLst>
          </p:cNvPr>
          <p:cNvGrpSpPr/>
          <p:nvPr/>
        </p:nvGrpSpPr>
        <p:grpSpPr>
          <a:xfrm>
            <a:off x="687154" y="1415034"/>
            <a:ext cx="10881360" cy="4674870"/>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arrowupright.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Export Trends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1883664"/>
              <a:ext cx="2258568" cy="433425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Established manufacturing hubs continue expanding exports of concentrates and finished goods.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Export growth concentrates among manufacturers with strong regulatory compliance infrastructure.</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arrowdownleft.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Import Trends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1883664"/>
              <a:ext cx="2258568" cy="433425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Emerging markets increase imports of premium functional beverages as demand outpaces local capacity.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Import reliance is most pronounced in categories needing specialized cold-chain logistics.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filetext.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Tariff &amp; Trade Policy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1883664"/>
              <a:ext cx="2258568" cy="433425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Ingredient and finished-product tariffs vary by region, influencing sourcing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Policy shifts can materially affect landed-cost competitiveness across trading blocs.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globe.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0"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Regional Trade Agreements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1883664"/>
              <a:ext cx="2258568" cy="433425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Agreements across North America, Europe, and Asia Pacific ease cross-border movement of compliant products.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Harmonized labeling standards reduce reformulation costs for exporters.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2310" y="378868"/>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Raw Material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2310" y="854356"/>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Analyzing critical ingredient categories, sourcing considerations, quality requirements, and supply trends driving formulation and production efficiency.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0E6760EB-40C4-0A7C-0840-35FE1BE2F89D}"/>
              </a:ext>
            </a:extLst>
          </p:cNvPr>
          <p:cNvGrpSpPr/>
          <p:nvPr/>
        </p:nvGrpSpPr>
        <p:grpSpPr>
          <a:xfrm>
            <a:off x="624380" y="1380530"/>
            <a:ext cx="10952269" cy="4807700"/>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droplet.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Functional Ingredients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168044"/>
              <a:ext cx="2258568" cy="4049875"/>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Vitamins, minerals, and electrolytes form the nutritional backbone of fortified and hydration-focused beverages.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Sourcing emphasizes bioavailability and stability across shelf life and formulation </a:t>
              </a:r>
              <a:r>
                <a:rPr kumimoji="0" lang="en-US" sz="1200" b="0" i="0" u="none" strike="noStrike" kern="1200" cap="none" spc="0" normalizeH="0" baseline="0" noProof="0" dirty="0" err="1">
                  <a:ln>
                    <a:noFill/>
                  </a:ln>
                  <a:solidFill>
                    <a:srgbClr val="1E2624"/>
                  </a:solidFill>
                  <a:effectLst/>
                  <a:uLnTx/>
                  <a:uFillTx/>
                  <a:latin typeface="Calibri" pitchFamily="34" charset="0"/>
                  <a:ea typeface="Calibri" pitchFamily="34" charset="-122"/>
                  <a:cs typeface="Calibri" pitchFamily="34" charset="-120"/>
                </a:rPr>
                <a:t>pH.</a:t>
              </a:r>
              <a:endPar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sun.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Botanical Extracts &amp; Adaptogens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168044"/>
              <a:ext cx="2258568" cy="4049875"/>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Ashwagandha, ginseng, and green tea extract are increasingly used for stress-support and energy positioning.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Supply is shifting toward standardized, traceable extracts to meet quality and potency requirements.</a:t>
              </a: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Content</a:t>
              </a: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activity.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Probiotics &amp; Prebiotics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168044"/>
              <a:ext cx="2258568" cy="4049875"/>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Live cultures and fiber-based prebiotics anchor the fast-growing gut-health and kombucha segments.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Cold-chain-compatible and heat-stable strains are both in active development.</a:t>
              </a: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zap.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0"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Proteins &amp; Amino Acids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168044"/>
              <a:ext cx="2258568" cy="4049875"/>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Whey, plant, and collagen proteins supply the sports-nutrition and recovery-beverage categories.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Blended amino-acid profiles are optimized to match dairy-equivalent nutritional completeness.</a:t>
              </a:r>
            </a:p>
            <a:p>
              <a:pPr marL="171450" marR="0" lvl="0" indent="-1714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190" y="41337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Ingredient Innovation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58190" y="888860"/>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Exploring next-generation functional ingredients, scientific advancements, and formulation innovations enabling product differentiation and premium consumer positioning.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01E44D44-BE6A-2AE7-2ECD-B802F4AC34A7}"/>
              </a:ext>
            </a:extLst>
          </p:cNvPr>
          <p:cNvGrpSpPr/>
          <p:nvPr/>
        </p:nvGrpSpPr>
        <p:grpSpPr>
          <a:xfrm>
            <a:off x="623686" y="1415034"/>
            <a:ext cx="10926668" cy="4718347"/>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wind.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Novel Botanicals &amp; Adaptogens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013128"/>
              <a:ext cx="2258568" cy="420479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Functional mushrooms, L-theanine, and ashwagandha enter stress-relief and focus formulations.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Clinical-style dosing transparency is becoming a competitive differentiator.</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shield.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Postbiotics &amp; Next-Gen Probiotics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013128"/>
              <a:ext cx="2258568" cy="420479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Heat-stable postbiotic strains offer shelf-stable alternatives to live-culture probiotics.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Broaden distribution beyond cold-chain-dependent retail channels.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trendingup.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234440"/>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Plant-Based Protein Blends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013128"/>
              <a:ext cx="2258568" cy="420479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Pea, rice, and algae protein combinations close the amino-acid gap versus dairy proteins.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Blends improve solubility and reduce characteristic plant-protein off-notes.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target.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1" y="1262776"/>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Functional Mushrooms &amp; Nootropics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013128"/>
              <a:ext cx="2258568" cy="420479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Lion's mane and reishi extracts gain traction in cognitive-wellness and energy beverages.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Nootropic blends pair botanicals with amino acids for compounded focus benefits.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936" y="396597"/>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Manufacturing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936" y="897486"/>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Examining end-to-end production processes, quality assurance practices, packaging technologies, and operational efficiencies supporting scalable beverage manufacturing.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2" name="Group 41">
            <a:extLst>
              <a:ext uri="{FF2B5EF4-FFF2-40B4-BE49-F238E27FC236}">
                <a16:creationId xmlns:a16="http://schemas.microsoft.com/office/drawing/2014/main" id="{26646372-D16D-D491-0A6D-83CA65E9DD8D}"/>
              </a:ext>
            </a:extLst>
          </p:cNvPr>
          <p:cNvGrpSpPr/>
          <p:nvPr/>
        </p:nvGrpSpPr>
        <p:grpSpPr>
          <a:xfrm>
            <a:off x="620438" y="1415947"/>
            <a:ext cx="10961963" cy="4722386"/>
            <a:chOff x="620438" y="1415947"/>
            <a:chExt cx="10961963" cy="4722386"/>
          </a:xfrm>
        </p:grpSpPr>
        <p:grpSp>
          <p:nvGrpSpPr>
            <p:cNvPr id="41" name="Group 40">
              <a:extLst>
                <a:ext uri="{FF2B5EF4-FFF2-40B4-BE49-F238E27FC236}">
                  <a16:creationId xmlns:a16="http://schemas.microsoft.com/office/drawing/2014/main" id="{A4B235D0-F8F7-2FA0-DEE6-B24F5D66E1B2}"/>
                </a:ext>
              </a:extLst>
            </p:cNvPr>
            <p:cNvGrpSpPr/>
            <p:nvPr/>
          </p:nvGrpSpPr>
          <p:grpSpPr>
            <a:xfrm>
              <a:off x="2578608" y="1627638"/>
              <a:ext cx="7031736" cy="0"/>
              <a:chOff x="2578608" y="1170432"/>
              <a:chExt cx="7031736" cy="0"/>
            </a:xfrm>
          </p:grpSpPr>
          <p:sp>
            <p:nvSpPr>
              <p:cNvPr id="6" name="Shape 4"/>
              <p:cNvSpPr/>
              <p:nvPr/>
            </p:nvSpPr>
            <p:spPr>
              <a:xfrm>
                <a:off x="2578608"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855464"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7132320"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9409176"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 name="Group 39">
              <a:extLst>
                <a:ext uri="{FF2B5EF4-FFF2-40B4-BE49-F238E27FC236}">
                  <a16:creationId xmlns:a16="http://schemas.microsoft.com/office/drawing/2014/main" id="{D2EBFCE0-684C-196F-4782-C43213E6BE5E}"/>
                </a:ext>
              </a:extLst>
            </p:cNvPr>
            <p:cNvGrpSpPr/>
            <p:nvPr/>
          </p:nvGrpSpPr>
          <p:grpSpPr>
            <a:xfrm>
              <a:off x="620438" y="1415947"/>
              <a:ext cx="10961963" cy="4722386"/>
              <a:chOff x="603504" y="1415947"/>
              <a:chExt cx="11183112" cy="5065776"/>
            </a:xfrm>
          </p:grpSpPr>
          <p:grpSp>
            <p:nvGrpSpPr>
              <p:cNvPr id="35" name="Group 34">
                <a:extLst>
                  <a:ext uri="{FF2B5EF4-FFF2-40B4-BE49-F238E27FC236}">
                    <a16:creationId xmlns:a16="http://schemas.microsoft.com/office/drawing/2014/main" id="{DA5A8DD1-79EB-7CE8-4BE6-67A67AFC9D6D}"/>
                  </a:ext>
                </a:extLst>
              </p:cNvPr>
              <p:cNvGrpSpPr/>
              <p:nvPr/>
            </p:nvGrpSpPr>
            <p:grpSpPr>
              <a:xfrm>
                <a:off x="603504" y="1415947"/>
                <a:ext cx="2075688" cy="5065776"/>
                <a:chOff x="502920" y="1170432"/>
                <a:chExt cx="2075688" cy="5065776"/>
              </a:xfrm>
            </p:grpSpPr>
            <p:sp>
              <p:nvSpPr>
                <p:cNvPr id="7" name="Shape 5"/>
                <p:cNvSpPr/>
                <p:nvPr/>
              </p:nvSpPr>
              <p:spPr>
                <a:xfrm>
                  <a:off x="1257300"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329438" y="1253246"/>
                  <a:ext cx="422651"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12648" y="1746504"/>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Formulation Design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9224" y="2487168"/>
                  <a:ext cx="1783080" cy="36576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Blend functional ingredients to targeted health-benefit and sensory specifications.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Validate nutrient stability and interaction effects prior to scale-up.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Confirm regulatory compliance before production commitment.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D785807D-C170-8699-8795-84751856BEAA}"/>
                  </a:ext>
                </a:extLst>
              </p:cNvPr>
              <p:cNvGrpSpPr/>
              <p:nvPr/>
            </p:nvGrpSpPr>
            <p:grpSpPr>
              <a:xfrm>
                <a:off x="2880360" y="1415947"/>
                <a:ext cx="2075688" cy="5065776"/>
                <a:chOff x="2779776" y="1170432"/>
                <a:chExt cx="2075688" cy="5065776"/>
              </a:xfrm>
            </p:grpSpPr>
            <p:sp>
              <p:nvSpPr>
                <p:cNvPr id="13" name="Shape 11"/>
                <p:cNvSpPr/>
                <p:nvPr/>
              </p:nvSpPr>
              <p:spPr>
                <a:xfrm>
                  <a:off x="3534156"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3622929" y="1235146"/>
                  <a:ext cx="389382" cy="38284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2779776"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2889504" y="1746504"/>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Batching &amp; Blending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926080" y="2487168"/>
                  <a:ext cx="1783080" cy="36576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Precisely dose vitamins, botanicals, and proteins using automated metering.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Maintain temperature and pH control to protect sensitive bioactives.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Conduct in-process quality checks to verify batch consistency.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2C9E1BAE-4886-C050-ADB8-5B2F793EDC1E}"/>
                  </a:ext>
                </a:extLst>
              </p:cNvPr>
              <p:cNvGrpSpPr/>
              <p:nvPr/>
            </p:nvGrpSpPr>
            <p:grpSpPr>
              <a:xfrm>
                <a:off x="5157216" y="1415947"/>
                <a:ext cx="2075688" cy="5065776"/>
                <a:chOff x="5056632" y="1170432"/>
                <a:chExt cx="2075688" cy="5065776"/>
              </a:xfrm>
            </p:grpSpPr>
            <p:sp>
              <p:nvSpPr>
                <p:cNvPr id="19" name="Shape 17"/>
                <p:cNvSpPr/>
                <p:nvPr/>
              </p:nvSpPr>
              <p:spPr>
                <a:xfrm>
                  <a:off x="5811012"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933574" y="1216255"/>
                  <a:ext cx="3510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5056632"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166360" y="1746504"/>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Filling &amp; Packaging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202936" y="2487168"/>
                  <a:ext cx="1783080" cy="36576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Apply cold-fill, hot-fill, or aseptic processing per ingredient sensitivity.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Seal products under controlled conditions to preserve shelf life.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Integrate tamper-evident and traceability packaging features.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B5EE2AD0-544D-9702-2161-80CCF9DA1DDC}"/>
                  </a:ext>
                </a:extLst>
              </p:cNvPr>
              <p:cNvGrpSpPr/>
              <p:nvPr/>
            </p:nvGrpSpPr>
            <p:grpSpPr>
              <a:xfrm>
                <a:off x="7434072" y="1415947"/>
                <a:ext cx="2075688" cy="5065776"/>
                <a:chOff x="7333488" y="1170432"/>
                <a:chExt cx="2075688" cy="5065776"/>
              </a:xfrm>
            </p:grpSpPr>
            <p:sp>
              <p:nvSpPr>
                <p:cNvPr id="25" name="Shape 23"/>
                <p:cNvSpPr/>
                <p:nvPr/>
              </p:nvSpPr>
              <p:spPr>
                <a:xfrm>
                  <a:off x="8087868"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8211566" y="1240894"/>
                  <a:ext cx="319532" cy="401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333488"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7443216" y="1746504"/>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Quality Control &amp; Testing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7479792" y="2487168"/>
                  <a:ext cx="1783080" cy="36576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Test for nutrient potency, microbial safety, and label accuracy.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Conduct shelf-life and stability studies across storage conditions.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Document compliance with GMP and HACCP-based systems.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9" name="Group 38">
                <a:extLst>
                  <a:ext uri="{FF2B5EF4-FFF2-40B4-BE49-F238E27FC236}">
                    <a16:creationId xmlns:a16="http://schemas.microsoft.com/office/drawing/2014/main" id="{B47171AE-A174-AB4F-4EB0-1526339DC9CC}"/>
                  </a:ext>
                </a:extLst>
              </p:cNvPr>
              <p:cNvGrpSpPr/>
              <p:nvPr/>
            </p:nvGrpSpPr>
            <p:grpSpPr>
              <a:xfrm>
                <a:off x="9710928" y="1415947"/>
                <a:ext cx="2075688" cy="5065776"/>
                <a:chOff x="9610344" y="1170432"/>
                <a:chExt cx="2075688" cy="5065776"/>
              </a:xfrm>
            </p:grpSpPr>
            <p:sp>
              <p:nvSpPr>
                <p:cNvPr id="30" name="Shape 28"/>
                <p:cNvSpPr/>
                <p:nvPr/>
              </p:nvSpPr>
              <p:spPr>
                <a:xfrm>
                  <a:off x="10364724"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10478770" y="1267469"/>
                  <a:ext cx="338836"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9610344"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9720072" y="1746504"/>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Distribution Readiness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56648" y="2487168"/>
                  <a:ext cx="1783080" cy="36576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Palletize and prepare products for warehousing and cold-chain logistics.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Align production schedules with distribution partner demand forecasts.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Finalize labeling and documentation for regional requirements.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8866" y="402674"/>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Technology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8866" y="903563"/>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Assessing emerging processing, formulation, and digital technologies improving product quality, manufacturing efficiency, innovation speed, and competitive differentiation.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4CD0B96B-58B3-EF0F-3863-3B413D649615}"/>
              </a:ext>
            </a:extLst>
          </p:cNvPr>
          <p:cNvGrpSpPr/>
          <p:nvPr/>
        </p:nvGrpSpPr>
        <p:grpSpPr>
          <a:xfrm>
            <a:off x="626533" y="1415034"/>
            <a:ext cx="10923856" cy="4740233"/>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tool.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326722"/>
              <a:ext cx="174184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High-Pressure Processing (HPP)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072608"/>
              <a:ext cx="2258568" cy="414531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Preserves nutrients and live cultures without heat, extending shelf life for cold-pressed and probiotic drinks.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Enables clean-label preservation, replacing thermal pasteurization in premium lines.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package.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326722"/>
              <a:ext cx="174184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Microencapsulation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072608"/>
              <a:ext cx="2258568" cy="414531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Protects sensitive bioactives such as probiotics and omega-3s from degradation and off-flavors.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Improves controlled release and taste-masking for reactive functional ingredients.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refreshcw.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326722"/>
              <a:ext cx="174184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Fermentation Technology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072608"/>
              <a:ext cx="2258568" cy="414531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Precision fermentation enables scalable, consistent production of postbiotics and novel compounds.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Reduces reliance on traditional agricultural inputs for select ingredients.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cpu.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0" y="1326722"/>
              <a:ext cx="174184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AI-Enabled Formulation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072608"/>
              <a:ext cx="2258568" cy="4145312"/>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Machine-learning platforms accelerate ingredient-combination testing and shorten development cycles.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Predictive modeling helps optimize taste, stability, and cost simultaneously.</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940" y="413373"/>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Supply Chain Analysis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940" y="888861"/>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Evaluating sourcing strategies, production networks, logistics capabilities, and inventory resilience supporting reliable functional beverage manufacturing and distribution.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7FD2B628-8A09-BB6B-A347-61A8B2796703}"/>
              </a:ext>
            </a:extLst>
          </p:cNvPr>
          <p:cNvGrpSpPr/>
          <p:nvPr/>
        </p:nvGrpSpPr>
        <p:grpSpPr>
          <a:xfrm>
            <a:off x="666158" y="1391780"/>
            <a:ext cx="10935547" cy="4752987"/>
            <a:chOff x="649224" y="1391780"/>
            <a:chExt cx="10935547" cy="4844428"/>
          </a:xfrm>
        </p:grpSpPr>
        <p:grpSp>
          <p:nvGrpSpPr>
            <p:cNvPr id="37" name="Group 36">
              <a:extLst>
                <a:ext uri="{FF2B5EF4-FFF2-40B4-BE49-F238E27FC236}">
                  <a16:creationId xmlns:a16="http://schemas.microsoft.com/office/drawing/2014/main" id="{81B65073-910D-4AD4-0140-D6CA97D4E62A}"/>
                </a:ext>
              </a:extLst>
            </p:cNvPr>
            <p:cNvGrpSpPr/>
            <p:nvPr/>
          </p:nvGrpSpPr>
          <p:grpSpPr>
            <a:xfrm>
              <a:off x="649224" y="1618488"/>
              <a:ext cx="10927080" cy="4617720"/>
              <a:chOff x="502920" y="1618488"/>
              <a:chExt cx="11183112" cy="4617720"/>
            </a:xfrm>
          </p:grpSpPr>
          <p:sp>
            <p:nvSpPr>
              <p:cNvPr id="9" name="Shape 7"/>
              <p:cNvSpPr/>
              <p:nvPr/>
            </p:nvSpPr>
            <p:spPr>
              <a:xfrm>
                <a:off x="502920"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2779776"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056632"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7333488"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9610344" y="1618488"/>
                <a:ext cx="2075688" cy="4617720"/>
              </a:xfrm>
              <a:prstGeom prst="roundRect">
                <a:avLst>
                  <a:gd name="adj" fmla="val 2643"/>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8FC56436-E521-F20D-190D-2C213BA33887}"/>
                </a:ext>
              </a:extLst>
            </p:cNvPr>
            <p:cNvGrpSpPr/>
            <p:nvPr/>
          </p:nvGrpSpPr>
          <p:grpSpPr>
            <a:xfrm>
              <a:off x="688851" y="1391780"/>
              <a:ext cx="10895920" cy="4752987"/>
              <a:chOff x="688851" y="1170432"/>
              <a:chExt cx="10895920" cy="4974336"/>
            </a:xfrm>
          </p:grpSpPr>
          <p:sp>
            <p:nvSpPr>
              <p:cNvPr id="6" name="Shape 4"/>
              <p:cNvSpPr/>
              <p:nvPr/>
            </p:nvSpPr>
            <p:spPr>
              <a:xfrm>
                <a:off x="2578608"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855464"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7132320"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9409176" y="1170432"/>
                <a:ext cx="201168" cy="0"/>
              </a:xfrm>
              <a:prstGeom prst="line">
                <a:avLst/>
              </a:prstGeom>
              <a:noFill/>
              <a:ln w="19050">
                <a:solidFill>
                  <a:srgbClr val="0B4F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C49C0C0F-80F8-5725-34F1-632535A5763F}"/>
                  </a:ext>
                </a:extLst>
              </p:cNvPr>
              <p:cNvGrpSpPr/>
              <p:nvPr/>
            </p:nvGrpSpPr>
            <p:grpSpPr>
              <a:xfrm>
                <a:off x="688851" y="1170432"/>
                <a:ext cx="10895920" cy="4974336"/>
                <a:chOff x="688851" y="1170432"/>
                <a:chExt cx="10895920" cy="4974336"/>
              </a:xfrm>
            </p:grpSpPr>
            <p:sp>
              <p:nvSpPr>
                <p:cNvPr id="7" name="Shape 5"/>
                <p:cNvSpPr/>
                <p:nvPr/>
              </p:nvSpPr>
              <p:spPr>
                <a:xfrm>
                  <a:off x="1257300"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341278" y="1196133"/>
                  <a:ext cx="398972"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88851" y="1789399"/>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Sourcing &amp; Supplier Risk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50828" y="2487168"/>
                  <a:ext cx="1783080" cy="3657600"/>
                </a:xfrm>
                <a:prstGeom prst="rect">
                  <a:avLst/>
                </a:prstGeom>
                <a:noFill/>
                <a:ln/>
              </p:spPr>
              <p:txBody>
                <a:bodyPr wrap="square" lIns="0" tIns="0" rIns="0" bIns="0" rtlCol="0" anchor="t"/>
                <a:lstStyle/>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Diversify supplier base across regions to mitigate single-source dependency.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Conduct supplier audits for quality, ethics, and continuity assurance.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Monitor agricultural and geopolitical risk affecting key raw materials.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534156"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3611964" y="1216829"/>
                  <a:ext cx="411311" cy="39440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2897971" y="1789399"/>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Inventory &amp; Demand Planning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976882" y="2487168"/>
                  <a:ext cx="1783080" cy="3657600"/>
                </a:xfrm>
                <a:prstGeom prst="rect">
                  <a:avLst/>
                </a:prstGeom>
                <a:noFill/>
                <a:ln/>
              </p:spPr>
              <p:txBody>
                <a:bodyPr wrap="square" lIns="0" tIns="0" rIns="0" bIns="0" rtlCol="0" anchor="t"/>
                <a:lstStyle/>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Align raw-material inventory with seasonal and promotional demand forecasts.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Use safety-stock buffers for ingredients with volatile pricing or lead times.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Coordinate cross-functionally across procurement, production, and sales.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811012"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915998" y="1245476"/>
                  <a:ext cx="356955" cy="3730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174827" y="1789399"/>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Manufacturing &amp; Co-Packing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202936" y="2487168"/>
                  <a:ext cx="1783080" cy="3657600"/>
                </a:xfrm>
                <a:prstGeom prst="rect">
                  <a:avLst/>
                </a:prstGeom>
                <a:noFill/>
                <a:ln/>
              </p:spPr>
              <p:txBody>
                <a:bodyPr wrap="square" lIns="0" tIns="0" rIns="0" bIns="0" rtlCol="0" anchor="t"/>
                <a:lstStyle/>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Balance in-house capacity with co-packing partnerships for flexibility.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Maintain redundant production sites to reduce facility-disruption risk.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Standardize quality across all manufacturing and co-packing partners.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8087868"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8164999" y="1244262"/>
                  <a:ext cx="412665" cy="394407"/>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7451683" y="1789399"/>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Logistics &amp; Cold Chain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7479792" y="2487168"/>
                  <a:ext cx="1783080" cy="3657600"/>
                </a:xfrm>
                <a:prstGeom prst="rect">
                  <a:avLst/>
                </a:prstGeom>
                <a:noFill/>
                <a:ln/>
              </p:spPr>
              <p:txBody>
                <a:bodyPr wrap="square" lIns="0" tIns="0" rIns="0" bIns="0" rtlCol="0" anchor="t"/>
                <a:lstStyle/>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Manage temperature-controlled logistics for probiotic and perishable products.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Optimize distribution routing to reduce lead times and transport costs.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Deploy tracking systems for real-time shipment visibility.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10364724" y="1170432"/>
                  <a:ext cx="566928" cy="566928"/>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10430933" y="1250726"/>
                  <a:ext cx="434509" cy="3730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9728539" y="1789399"/>
                  <a:ext cx="1856232"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Retail Fulfillment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56648" y="2487168"/>
                  <a:ext cx="1783080" cy="3657600"/>
                </a:xfrm>
                <a:prstGeom prst="rect">
                  <a:avLst/>
                </a:prstGeom>
                <a:noFill/>
                <a:ln/>
              </p:spPr>
              <p:txBody>
                <a:bodyPr wrap="square" lIns="0" tIns="0" rIns="0" bIns="0" rtlCol="0" anchor="t"/>
                <a:lstStyle/>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8000"/>
                    </a:lnSpc>
                    <a:spcBef>
                      <a:spcPts val="0"/>
                    </a:spcBef>
                    <a:spcAft>
                      <a:spcPts val="8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936" y="396439"/>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mn-cs"/>
              </a:rPr>
              <a:t>Pricing Analysis</a:t>
            </a:r>
          </a:p>
        </p:txBody>
      </p:sp>
      <p:sp>
        <p:nvSpPr>
          <p:cNvPr id="3" name="Text 1"/>
          <p:cNvSpPr/>
          <p:nvPr/>
        </p:nvSpPr>
        <p:spPr>
          <a:xfrm>
            <a:off x="640936" y="888861"/>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Comparing product pricing, premium positioning, package formats, and value propositions influencing purchasing decisions across key beverage categories.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20708"/>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3" name="Group 82">
            <a:extLst>
              <a:ext uri="{FF2B5EF4-FFF2-40B4-BE49-F238E27FC236}">
                <a16:creationId xmlns:a16="http://schemas.microsoft.com/office/drawing/2014/main" id="{51140D83-78E8-8D40-078B-0A8CA98A09B9}"/>
              </a:ext>
            </a:extLst>
          </p:cNvPr>
          <p:cNvGrpSpPr/>
          <p:nvPr/>
        </p:nvGrpSpPr>
        <p:grpSpPr>
          <a:xfrm>
            <a:off x="606724" y="1344328"/>
            <a:ext cx="10996388" cy="353730"/>
            <a:chOff x="615058" y="1109310"/>
            <a:chExt cx="10996388" cy="353730"/>
          </a:xfrm>
        </p:grpSpPr>
        <p:sp>
          <p:nvSpPr>
            <p:cNvPr id="6" name="Shape 4"/>
            <p:cNvSpPr/>
            <p:nvPr/>
          </p:nvSpPr>
          <p:spPr>
            <a:xfrm>
              <a:off x="615058" y="1115568"/>
              <a:ext cx="3256964" cy="347472"/>
            </a:xfrm>
            <a:prstGeom prst="rect">
              <a:avLst/>
            </a:prstGeom>
            <a:solidFill>
              <a:srgbClr val="0B4F4A"/>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22782" y="1109310"/>
              <a:ext cx="2922446"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Product Type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794760" y="1115568"/>
              <a:ext cx="2437784" cy="347472"/>
            </a:xfrm>
            <a:prstGeom prst="rect">
              <a:avLst/>
            </a:prstGeom>
            <a:solidFill>
              <a:srgbClr val="0B4F4A"/>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3794760" y="1115568"/>
              <a:ext cx="2249424"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Typical Format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32544" y="1115568"/>
              <a:ext cx="5378902" cy="347472"/>
            </a:xfrm>
            <a:prstGeom prst="rect">
              <a:avLst/>
            </a:prstGeom>
            <a:solidFill>
              <a:srgbClr val="0B4F4A"/>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172200" y="1115568"/>
              <a:ext cx="5015394"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Relative Price Positioning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1" name="Group 80">
            <a:extLst>
              <a:ext uri="{FF2B5EF4-FFF2-40B4-BE49-F238E27FC236}">
                <a16:creationId xmlns:a16="http://schemas.microsoft.com/office/drawing/2014/main" id="{7CA1F812-3582-C8D7-F63F-598819C0546A}"/>
              </a:ext>
            </a:extLst>
          </p:cNvPr>
          <p:cNvGrpSpPr/>
          <p:nvPr/>
        </p:nvGrpSpPr>
        <p:grpSpPr>
          <a:xfrm>
            <a:off x="615058" y="1644186"/>
            <a:ext cx="10978844" cy="4390658"/>
            <a:chOff x="502920" y="1463040"/>
            <a:chExt cx="11183112" cy="4846320"/>
          </a:xfrm>
        </p:grpSpPr>
        <p:grpSp>
          <p:nvGrpSpPr>
            <p:cNvPr id="76" name="Group 75">
              <a:extLst>
                <a:ext uri="{FF2B5EF4-FFF2-40B4-BE49-F238E27FC236}">
                  <a16:creationId xmlns:a16="http://schemas.microsoft.com/office/drawing/2014/main" id="{0F4AF864-06FB-411A-164C-2D8ABFB4EC5F}"/>
                </a:ext>
              </a:extLst>
            </p:cNvPr>
            <p:cNvGrpSpPr/>
            <p:nvPr/>
          </p:nvGrpSpPr>
          <p:grpSpPr>
            <a:xfrm>
              <a:off x="502920" y="1463040"/>
              <a:ext cx="11183112" cy="1615440"/>
              <a:chOff x="502920" y="1463040"/>
              <a:chExt cx="11183112" cy="1615440"/>
            </a:xfrm>
          </p:grpSpPr>
          <p:grpSp>
            <p:nvGrpSpPr>
              <p:cNvPr id="74" name="Group 73">
                <a:extLst>
                  <a:ext uri="{FF2B5EF4-FFF2-40B4-BE49-F238E27FC236}">
                    <a16:creationId xmlns:a16="http://schemas.microsoft.com/office/drawing/2014/main" id="{6B6D56A1-B96D-8D5B-94E3-AF90311BBA7C}"/>
                  </a:ext>
                </a:extLst>
              </p:cNvPr>
              <p:cNvGrpSpPr/>
              <p:nvPr/>
            </p:nvGrpSpPr>
            <p:grpSpPr>
              <a:xfrm>
                <a:off x="502920" y="1463040"/>
                <a:ext cx="11183112" cy="807720"/>
                <a:chOff x="502920" y="1463040"/>
                <a:chExt cx="11183112" cy="807720"/>
              </a:xfrm>
            </p:grpSpPr>
            <p:sp>
              <p:nvSpPr>
                <p:cNvPr id="12" name="Shape 10"/>
                <p:cNvSpPr/>
                <p:nvPr/>
              </p:nvSpPr>
              <p:spPr>
                <a:xfrm>
                  <a:off x="502920" y="1463040"/>
                  <a:ext cx="32918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12648" y="1684020"/>
                  <a:ext cx="365760" cy="36576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0" descr="/home/claude/tv_zap.png"/>
                <p:cNvPicPr>
                  <a:picLocks noChangeAspect="1"/>
                </p:cNvPicPr>
                <p:nvPr/>
              </p:nvPicPr>
              <p:blipFill>
                <a:blip r:embed="rId3"/>
                <a:stretch>
                  <a:fillRect/>
                </a:stretch>
              </p:blipFill>
              <p:spPr>
                <a:xfrm>
                  <a:off x="704088" y="1775460"/>
                  <a:ext cx="182880" cy="182880"/>
                </a:xfrm>
                <a:prstGeom prst="rect">
                  <a:avLst/>
                </a:prstGeom>
              </p:spPr>
            </p:pic>
            <p:sp>
              <p:nvSpPr>
                <p:cNvPr id="15" name="Text 12"/>
                <p:cNvSpPr/>
                <p:nvPr/>
              </p:nvSpPr>
              <p:spPr>
                <a:xfrm>
                  <a:off x="1014984" y="1463040"/>
                  <a:ext cx="2651760" cy="80772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Energy Drinks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3794760" y="1463040"/>
                  <a:ext cx="2377440" cy="807720"/>
                </a:xfrm>
                <a:prstGeom prst="rect">
                  <a:avLst/>
                </a:prstGeom>
                <a:solidFill>
                  <a:srgbClr val="FFFFFF"/>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3922776" y="1463040"/>
                  <a:ext cx="2121408" cy="8077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250 ml can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6172200" y="1463040"/>
                  <a:ext cx="5513832" cy="807720"/>
                </a:xfrm>
                <a:prstGeom prst="rect">
                  <a:avLst/>
                </a:prstGeom>
                <a:solidFill>
                  <a:srgbClr val="FFFFFF"/>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6309360" y="1848271"/>
                  <a:ext cx="5239512"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6309360" y="1848271"/>
                  <a:ext cx="2850295" cy="146304"/>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6309360" y="1628814"/>
                  <a:ext cx="523951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$2.10 – $2.80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5" name="Group 74">
                <a:extLst>
                  <a:ext uri="{FF2B5EF4-FFF2-40B4-BE49-F238E27FC236}">
                    <a16:creationId xmlns:a16="http://schemas.microsoft.com/office/drawing/2014/main" id="{C3288740-05E4-3BE0-220F-7D402EED95E4}"/>
                  </a:ext>
                </a:extLst>
              </p:cNvPr>
              <p:cNvGrpSpPr/>
              <p:nvPr/>
            </p:nvGrpSpPr>
            <p:grpSpPr>
              <a:xfrm>
                <a:off x="502920" y="2270760"/>
                <a:ext cx="11183112" cy="807720"/>
                <a:chOff x="502920" y="2270760"/>
                <a:chExt cx="11183112" cy="807720"/>
              </a:xfrm>
            </p:grpSpPr>
            <p:sp>
              <p:nvSpPr>
                <p:cNvPr id="22" name="Shape 19"/>
                <p:cNvSpPr/>
                <p:nvPr/>
              </p:nvSpPr>
              <p:spPr>
                <a:xfrm>
                  <a:off x="502920" y="2270760"/>
                  <a:ext cx="32918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12648" y="2491740"/>
                  <a:ext cx="365760" cy="36576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1" descr="/home/claude/tv_activity.png"/>
                <p:cNvPicPr>
                  <a:picLocks noChangeAspect="1"/>
                </p:cNvPicPr>
                <p:nvPr/>
              </p:nvPicPr>
              <p:blipFill>
                <a:blip r:embed="rId4"/>
                <a:stretch>
                  <a:fillRect/>
                </a:stretch>
              </p:blipFill>
              <p:spPr>
                <a:xfrm>
                  <a:off x="704088" y="2583180"/>
                  <a:ext cx="182880" cy="182880"/>
                </a:xfrm>
                <a:prstGeom prst="rect">
                  <a:avLst/>
                </a:prstGeom>
              </p:spPr>
            </p:pic>
            <p:sp>
              <p:nvSpPr>
                <p:cNvPr id="25" name="Text 21"/>
                <p:cNvSpPr/>
                <p:nvPr/>
              </p:nvSpPr>
              <p:spPr>
                <a:xfrm>
                  <a:off x="1014984" y="2270760"/>
                  <a:ext cx="2651760" cy="80772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Sports &amp; Performance Drinks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2"/>
                <p:cNvSpPr/>
                <p:nvPr/>
              </p:nvSpPr>
              <p:spPr>
                <a:xfrm>
                  <a:off x="3794760" y="2270760"/>
                  <a:ext cx="23774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3"/>
                <p:cNvSpPr/>
                <p:nvPr/>
              </p:nvSpPr>
              <p:spPr>
                <a:xfrm>
                  <a:off x="3922776" y="2270760"/>
                  <a:ext cx="2121408" cy="8077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500 ml bottle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4"/>
                <p:cNvSpPr/>
                <p:nvPr/>
              </p:nvSpPr>
              <p:spPr>
                <a:xfrm>
                  <a:off x="6172200" y="2270760"/>
                  <a:ext cx="5513832"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5"/>
                <p:cNvSpPr/>
                <p:nvPr/>
              </p:nvSpPr>
              <p:spPr>
                <a:xfrm>
                  <a:off x="6309360" y="2692339"/>
                  <a:ext cx="5239512"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6"/>
                <p:cNvSpPr/>
                <p:nvPr/>
              </p:nvSpPr>
              <p:spPr>
                <a:xfrm>
                  <a:off x="6309360" y="2692339"/>
                  <a:ext cx="2268709" cy="146304"/>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7"/>
                <p:cNvSpPr/>
                <p:nvPr/>
              </p:nvSpPr>
              <p:spPr>
                <a:xfrm>
                  <a:off x="6309360" y="2472882"/>
                  <a:ext cx="523951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$1.60 – $2.30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77" name="Group 76">
              <a:extLst>
                <a:ext uri="{FF2B5EF4-FFF2-40B4-BE49-F238E27FC236}">
                  <a16:creationId xmlns:a16="http://schemas.microsoft.com/office/drawing/2014/main" id="{F4FF2CF3-2F9C-A89D-2A71-0B6DBAAACA52}"/>
                </a:ext>
              </a:extLst>
            </p:cNvPr>
            <p:cNvGrpSpPr/>
            <p:nvPr/>
          </p:nvGrpSpPr>
          <p:grpSpPr>
            <a:xfrm>
              <a:off x="502920" y="3078480"/>
              <a:ext cx="11183112" cy="807720"/>
              <a:chOff x="502920" y="3078480"/>
              <a:chExt cx="11183112" cy="807720"/>
            </a:xfrm>
          </p:grpSpPr>
          <p:sp>
            <p:nvSpPr>
              <p:cNvPr id="32" name="Shape 28"/>
              <p:cNvSpPr/>
              <p:nvPr/>
            </p:nvSpPr>
            <p:spPr>
              <a:xfrm>
                <a:off x="502920" y="3078480"/>
                <a:ext cx="32918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29"/>
              <p:cNvSpPr/>
              <p:nvPr/>
            </p:nvSpPr>
            <p:spPr>
              <a:xfrm>
                <a:off x="612648" y="3299460"/>
                <a:ext cx="365760" cy="36576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Image 2" descr="/home/claude/tv_droplet.png"/>
              <p:cNvPicPr>
                <a:picLocks noChangeAspect="1"/>
              </p:cNvPicPr>
              <p:nvPr/>
            </p:nvPicPr>
            <p:blipFill>
              <a:blip r:embed="rId5"/>
              <a:stretch>
                <a:fillRect/>
              </a:stretch>
            </p:blipFill>
            <p:spPr>
              <a:xfrm>
                <a:off x="704088" y="3390900"/>
                <a:ext cx="182880" cy="182880"/>
              </a:xfrm>
              <a:prstGeom prst="rect">
                <a:avLst/>
              </a:prstGeom>
            </p:spPr>
          </p:pic>
          <p:sp>
            <p:nvSpPr>
              <p:cNvPr id="35" name="Text 30"/>
              <p:cNvSpPr/>
              <p:nvPr/>
            </p:nvSpPr>
            <p:spPr>
              <a:xfrm>
                <a:off x="1014984" y="3078480"/>
                <a:ext cx="2651760" cy="80772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Fortified Juices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1"/>
              <p:cNvSpPr/>
              <p:nvPr/>
            </p:nvSpPr>
            <p:spPr>
              <a:xfrm>
                <a:off x="3794760" y="3078480"/>
                <a:ext cx="2377440" cy="807720"/>
              </a:xfrm>
              <a:prstGeom prst="rect">
                <a:avLst/>
              </a:prstGeom>
              <a:solidFill>
                <a:srgbClr val="FFFFFF"/>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2"/>
              <p:cNvSpPr/>
              <p:nvPr/>
            </p:nvSpPr>
            <p:spPr>
              <a:xfrm>
                <a:off x="3922776" y="3078480"/>
                <a:ext cx="2121408" cy="8077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330 ml bottle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3"/>
              <p:cNvSpPr/>
              <p:nvPr/>
            </p:nvSpPr>
            <p:spPr>
              <a:xfrm>
                <a:off x="6172200" y="3078480"/>
                <a:ext cx="5513832" cy="807720"/>
              </a:xfrm>
              <a:prstGeom prst="rect">
                <a:avLst/>
              </a:prstGeom>
              <a:solidFill>
                <a:srgbClr val="FFFFFF"/>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4"/>
              <p:cNvSpPr/>
              <p:nvPr/>
            </p:nvSpPr>
            <p:spPr>
              <a:xfrm>
                <a:off x="6309360" y="3518233"/>
                <a:ext cx="5239512"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5"/>
              <p:cNvSpPr/>
              <p:nvPr/>
            </p:nvSpPr>
            <p:spPr>
              <a:xfrm>
                <a:off x="6309360" y="3518233"/>
                <a:ext cx="3086073" cy="146304"/>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6"/>
              <p:cNvSpPr/>
              <p:nvPr/>
            </p:nvSpPr>
            <p:spPr>
              <a:xfrm>
                <a:off x="6309360" y="3298776"/>
                <a:ext cx="523951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$2.20 – $3.10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8" name="Group 77">
              <a:extLst>
                <a:ext uri="{FF2B5EF4-FFF2-40B4-BE49-F238E27FC236}">
                  <a16:creationId xmlns:a16="http://schemas.microsoft.com/office/drawing/2014/main" id="{FDC22972-A86D-9A35-7EB1-BBC9F4D581C3}"/>
                </a:ext>
              </a:extLst>
            </p:cNvPr>
            <p:cNvGrpSpPr/>
            <p:nvPr/>
          </p:nvGrpSpPr>
          <p:grpSpPr>
            <a:xfrm>
              <a:off x="502920" y="3886200"/>
              <a:ext cx="11183112" cy="807720"/>
              <a:chOff x="502920" y="3886200"/>
              <a:chExt cx="11183112" cy="807720"/>
            </a:xfrm>
          </p:grpSpPr>
          <p:sp>
            <p:nvSpPr>
              <p:cNvPr id="42" name="Shape 37"/>
              <p:cNvSpPr/>
              <p:nvPr/>
            </p:nvSpPr>
            <p:spPr>
              <a:xfrm>
                <a:off x="502920" y="3886200"/>
                <a:ext cx="32918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8"/>
              <p:cNvSpPr/>
              <p:nvPr/>
            </p:nvSpPr>
            <p:spPr>
              <a:xfrm>
                <a:off x="612648" y="4107180"/>
                <a:ext cx="365760" cy="36576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4" name="Image 3" descr="/home/claude/tv_cloudrain.png"/>
              <p:cNvPicPr>
                <a:picLocks noChangeAspect="1"/>
              </p:cNvPicPr>
              <p:nvPr/>
            </p:nvPicPr>
            <p:blipFill>
              <a:blip r:embed="rId6"/>
              <a:stretch>
                <a:fillRect/>
              </a:stretch>
            </p:blipFill>
            <p:spPr>
              <a:xfrm>
                <a:off x="704088" y="4198620"/>
                <a:ext cx="182880" cy="182880"/>
              </a:xfrm>
              <a:prstGeom prst="rect">
                <a:avLst/>
              </a:prstGeom>
            </p:spPr>
          </p:pic>
          <p:sp>
            <p:nvSpPr>
              <p:cNvPr id="45" name="Text 39"/>
              <p:cNvSpPr/>
              <p:nvPr/>
            </p:nvSpPr>
            <p:spPr>
              <a:xfrm>
                <a:off x="1014984" y="3886200"/>
                <a:ext cx="2651760" cy="80772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Functional Water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0"/>
              <p:cNvSpPr/>
              <p:nvPr/>
            </p:nvSpPr>
            <p:spPr>
              <a:xfrm>
                <a:off x="3794760" y="3886200"/>
                <a:ext cx="23774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1"/>
              <p:cNvSpPr/>
              <p:nvPr/>
            </p:nvSpPr>
            <p:spPr>
              <a:xfrm>
                <a:off x="3922776" y="3886200"/>
                <a:ext cx="2121408" cy="8077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500 ml bottle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2"/>
              <p:cNvSpPr/>
              <p:nvPr/>
            </p:nvSpPr>
            <p:spPr>
              <a:xfrm>
                <a:off x="6172200" y="3886200"/>
                <a:ext cx="5513832"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3"/>
              <p:cNvSpPr/>
              <p:nvPr/>
            </p:nvSpPr>
            <p:spPr>
              <a:xfrm>
                <a:off x="6309360" y="4280518"/>
                <a:ext cx="5239512"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4"/>
              <p:cNvSpPr/>
              <p:nvPr/>
            </p:nvSpPr>
            <p:spPr>
              <a:xfrm>
                <a:off x="6309360" y="4280518"/>
                <a:ext cx="2562121" cy="146304"/>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5"/>
              <p:cNvSpPr/>
              <p:nvPr/>
            </p:nvSpPr>
            <p:spPr>
              <a:xfrm>
                <a:off x="6309360" y="4061061"/>
                <a:ext cx="523951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$1.80 – $2.60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9" name="Group 78">
              <a:extLst>
                <a:ext uri="{FF2B5EF4-FFF2-40B4-BE49-F238E27FC236}">
                  <a16:creationId xmlns:a16="http://schemas.microsoft.com/office/drawing/2014/main" id="{C76B1F91-0302-FC4A-DBE1-878DD9B9C842}"/>
                </a:ext>
              </a:extLst>
            </p:cNvPr>
            <p:cNvGrpSpPr/>
            <p:nvPr/>
          </p:nvGrpSpPr>
          <p:grpSpPr>
            <a:xfrm>
              <a:off x="502920" y="4693920"/>
              <a:ext cx="11183112" cy="807720"/>
              <a:chOff x="502920" y="4693920"/>
              <a:chExt cx="11183112" cy="807720"/>
            </a:xfrm>
          </p:grpSpPr>
          <p:sp>
            <p:nvSpPr>
              <p:cNvPr id="52" name="Shape 46"/>
              <p:cNvSpPr/>
              <p:nvPr/>
            </p:nvSpPr>
            <p:spPr>
              <a:xfrm>
                <a:off x="502920" y="4693920"/>
                <a:ext cx="32918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47"/>
              <p:cNvSpPr/>
              <p:nvPr/>
            </p:nvSpPr>
            <p:spPr>
              <a:xfrm>
                <a:off x="612648" y="4914900"/>
                <a:ext cx="365760" cy="36576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4" name="Image 4" descr="/home/claude/tv_refreshcw.png"/>
              <p:cNvPicPr>
                <a:picLocks noChangeAspect="1"/>
              </p:cNvPicPr>
              <p:nvPr/>
            </p:nvPicPr>
            <p:blipFill>
              <a:blip r:embed="rId7"/>
              <a:stretch>
                <a:fillRect/>
              </a:stretch>
            </p:blipFill>
            <p:spPr>
              <a:xfrm>
                <a:off x="704088" y="5006340"/>
                <a:ext cx="182880" cy="182880"/>
              </a:xfrm>
              <a:prstGeom prst="rect">
                <a:avLst/>
              </a:prstGeom>
            </p:spPr>
          </p:pic>
          <p:sp>
            <p:nvSpPr>
              <p:cNvPr id="55" name="Text 48"/>
              <p:cNvSpPr/>
              <p:nvPr/>
            </p:nvSpPr>
            <p:spPr>
              <a:xfrm>
                <a:off x="1014984" y="4693920"/>
                <a:ext cx="2651760" cy="80772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Probiotic &amp; Kombucha Drinks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Shape 49"/>
              <p:cNvSpPr/>
              <p:nvPr/>
            </p:nvSpPr>
            <p:spPr>
              <a:xfrm>
                <a:off x="3794760" y="4693920"/>
                <a:ext cx="2377440" cy="807720"/>
              </a:xfrm>
              <a:prstGeom prst="rect">
                <a:avLst/>
              </a:prstGeom>
              <a:solidFill>
                <a:srgbClr val="FFFFFF"/>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0"/>
              <p:cNvSpPr/>
              <p:nvPr/>
            </p:nvSpPr>
            <p:spPr>
              <a:xfrm>
                <a:off x="3922776" y="4693920"/>
                <a:ext cx="2121408" cy="8077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355 ml bottle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1"/>
              <p:cNvSpPr/>
              <p:nvPr/>
            </p:nvSpPr>
            <p:spPr>
              <a:xfrm>
                <a:off x="6172200" y="4693920"/>
                <a:ext cx="5513832" cy="807720"/>
              </a:xfrm>
              <a:prstGeom prst="rect">
                <a:avLst/>
              </a:prstGeom>
              <a:solidFill>
                <a:srgbClr val="FFFFFF"/>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2"/>
              <p:cNvSpPr/>
              <p:nvPr/>
            </p:nvSpPr>
            <p:spPr>
              <a:xfrm>
                <a:off x="6309360" y="5088238"/>
                <a:ext cx="5239512"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3"/>
              <p:cNvSpPr/>
              <p:nvPr/>
            </p:nvSpPr>
            <p:spPr>
              <a:xfrm>
                <a:off x="6309360" y="5088238"/>
                <a:ext cx="4364513" cy="146304"/>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4"/>
              <p:cNvSpPr/>
              <p:nvPr/>
            </p:nvSpPr>
            <p:spPr>
              <a:xfrm>
                <a:off x="6309360" y="4868781"/>
                <a:ext cx="523951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$3.00 – $4.50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0" name="Group 79">
              <a:extLst>
                <a:ext uri="{FF2B5EF4-FFF2-40B4-BE49-F238E27FC236}">
                  <a16:creationId xmlns:a16="http://schemas.microsoft.com/office/drawing/2014/main" id="{DF07A9E6-176A-D9DF-104A-E1B72315F01C}"/>
                </a:ext>
              </a:extLst>
            </p:cNvPr>
            <p:cNvGrpSpPr/>
            <p:nvPr/>
          </p:nvGrpSpPr>
          <p:grpSpPr>
            <a:xfrm>
              <a:off x="502920" y="5501640"/>
              <a:ext cx="11183112" cy="807720"/>
              <a:chOff x="502920" y="5501640"/>
              <a:chExt cx="11183112" cy="807720"/>
            </a:xfrm>
          </p:grpSpPr>
          <p:sp>
            <p:nvSpPr>
              <p:cNvPr id="62" name="Shape 55"/>
              <p:cNvSpPr/>
              <p:nvPr/>
            </p:nvSpPr>
            <p:spPr>
              <a:xfrm>
                <a:off x="502920" y="5501640"/>
                <a:ext cx="32918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56"/>
              <p:cNvSpPr/>
              <p:nvPr/>
            </p:nvSpPr>
            <p:spPr>
              <a:xfrm>
                <a:off x="612648" y="5722620"/>
                <a:ext cx="365760" cy="36576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4" name="Image 5" descr="/home/claude/tv_feather.png"/>
              <p:cNvPicPr>
                <a:picLocks noChangeAspect="1"/>
              </p:cNvPicPr>
              <p:nvPr/>
            </p:nvPicPr>
            <p:blipFill>
              <a:blip r:embed="rId8"/>
              <a:stretch>
                <a:fillRect/>
              </a:stretch>
            </p:blipFill>
            <p:spPr>
              <a:xfrm>
                <a:off x="704088" y="5814060"/>
                <a:ext cx="182880" cy="182880"/>
              </a:xfrm>
              <a:prstGeom prst="rect">
                <a:avLst/>
              </a:prstGeom>
            </p:spPr>
          </p:pic>
          <p:sp>
            <p:nvSpPr>
              <p:cNvPr id="65" name="Text 57"/>
              <p:cNvSpPr/>
              <p:nvPr/>
            </p:nvSpPr>
            <p:spPr>
              <a:xfrm>
                <a:off x="1014984" y="5501640"/>
                <a:ext cx="2651760" cy="807720"/>
              </a:xfrm>
              <a:prstGeom prst="rect">
                <a:avLst/>
              </a:prstGeom>
              <a:noFill/>
              <a:ln/>
            </p:spPr>
            <p:txBody>
              <a:bodyPr wrap="square" lIns="0" tIns="0" rIns="0" bIns="0" rtlCol="0" anchor="ctr"/>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Plant-Based &amp; Dairy Beverages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58"/>
              <p:cNvSpPr/>
              <p:nvPr/>
            </p:nvSpPr>
            <p:spPr>
              <a:xfrm>
                <a:off x="3794760" y="5501640"/>
                <a:ext cx="2377440"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59"/>
              <p:cNvSpPr/>
              <p:nvPr/>
            </p:nvSpPr>
            <p:spPr>
              <a:xfrm>
                <a:off x="3922776" y="5501640"/>
                <a:ext cx="2121408" cy="80772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330 ml bottle/carton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0"/>
              <p:cNvSpPr/>
              <p:nvPr/>
            </p:nvSpPr>
            <p:spPr>
              <a:xfrm>
                <a:off x="6172200" y="5501640"/>
                <a:ext cx="5513832" cy="807720"/>
              </a:xfrm>
              <a:prstGeom prst="rect">
                <a:avLst/>
              </a:prstGeom>
              <a:solidFill>
                <a:srgbClr val="EAF5F1"/>
              </a:solidFill>
              <a:ln w="9525">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1"/>
              <p:cNvSpPr/>
              <p:nvPr/>
            </p:nvSpPr>
            <p:spPr>
              <a:xfrm>
                <a:off x="6309360" y="5941393"/>
                <a:ext cx="5239512"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2"/>
              <p:cNvSpPr/>
              <p:nvPr/>
            </p:nvSpPr>
            <p:spPr>
              <a:xfrm>
                <a:off x="6309360" y="5941393"/>
                <a:ext cx="3667658" cy="146304"/>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Text 63"/>
              <p:cNvSpPr/>
              <p:nvPr/>
            </p:nvSpPr>
            <p:spPr>
              <a:xfrm>
                <a:off x="6309360" y="5721936"/>
                <a:ext cx="523951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$2.50 – $3.80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0C5559-3C01-AA60-055D-8316FBE2A3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4E7DFB-BD56-6D98-7973-2978CEED4045}"/>
              </a:ext>
            </a:extLst>
          </p:cNvPr>
          <p:cNvSpPr/>
          <p:nvPr/>
        </p:nvSpPr>
        <p:spPr>
          <a:xfrm>
            <a:off x="615058" y="41337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Regional Demand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50297B8-1D89-FE4C-F850-6595D9270196}"/>
              </a:ext>
            </a:extLst>
          </p:cNvPr>
          <p:cNvSpPr/>
          <p:nvPr/>
        </p:nvSpPr>
        <p:spPr>
          <a:xfrm>
            <a:off x="623684" y="888860"/>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Analyzing regional demand patterns, adoption levels, growth drivers, and competitive dynamics shaping future market expansion across major geographies.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3" name="Table 62">
            <a:extLst>
              <a:ext uri="{FF2B5EF4-FFF2-40B4-BE49-F238E27FC236}">
                <a16:creationId xmlns:a16="http://schemas.microsoft.com/office/drawing/2014/main" id="{AB279A16-C535-CBAF-BFC6-CEBCB64E7AE5}"/>
              </a:ext>
            </a:extLst>
          </p:cNvPr>
          <p:cNvGraphicFramePr>
            <a:graphicFrameLocks noGrp="1"/>
          </p:cNvGraphicFramePr>
          <p:nvPr/>
        </p:nvGraphicFramePr>
        <p:xfrm>
          <a:off x="606432" y="1391779"/>
          <a:ext cx="10996096" cy="4776108"/>
        </p:xfrm>
        <a:graphic>
          <a:graphicData uri="http://schemas.openxmlformats.org/drawingml/2006/table">
            <a:tbl>
              <a:tblPr firstRow="1" bandRow="1">
                <a:tableStyleId>{5C22544A-7EE6-4342-B048-85BDC9FD1C3A}</a:tableStyleId>
              </a:tblPr>
              <a:tblGrid>
                <a:gridCol w="1567425">
                  <a:extLst>
                    <a:ext uri="{9D8B030D-6E8A-4147-A177-3AD203B41FA5}">
                      <a16:colId xmlns:a16="http://schemas.microsoft.com/office/drawing/2014/main" val="971259005"/>
                    </a:ext>
                  </a:extLst>
                </a:gridCol>
                <a:gridCol w="3930623">
                  <a:extLst>
                    <a:ext uri="{9D8B030D-6E8A-4147-A177-3AD203B41FA5}">
                      <a16:colId xmlns:a16="http://schemas.microsoft.com/office/drawing/2014/main" val="1733777650"/>
                    </a:ext>
                  </a:extLst>
                </a:gridCol>
                <a:gridCol w="2749024">
                  <a:extLst>
                    <a:ext uri="{9D8B030D-6E8A-4147-A177-3AD203B41FA5}">
                      <a16:colId xmlns:a16="http://schemas.microsoft.com/office/drawing/2014/main" val="714682999"/>
                    </a:ext>
                  </a:extLst>
                </a:gridCol>
                <a:gridCol w="2749024">
                  <a:extLst>
                    <a:ext uri="{9D8B030D-6E8A-4147-A177-3AD203B41FA5}">
                      <a16:colId xmlns:a16="http://schemas.microsoft.com/office/drawing/2014/main" val="3245319936"/>
                    </a:ext>
                  </a:extLst>
                </a:gridCol>
              </a:tblGrid>
              <a:tr h="629433">
                <a:tc>
                  <a:txBody>
                    <a:bodyPr/>
                    <a:lstStyle/>
                    <a:p>
                      <a:pPr algn="ctr"/>
                      <a:r>
                        <a:rPr lang="en-IN" sz="1400" dirty="0"/>
                        <a:t>Region</a:t>
                      </a:r>
                    </a:p>
                  </a:txBody>
                  <a:tcPr anchor="ctr">
                    <a:solidFill>
                      <a:srgbClr val="0B4F4A"/>
                    </a:solidFill>
                  </a:tcPr>
                </a:tc>
                <a:tc>
                  <a:txBody>
                    <a:bodyPr/>
                    <a:lstStyle/>
                    <a:p>
                      <a:pPr algn="ctr"/>
                      <a:r>
                        <a:rPr lang="en-IN" sz="1400" dirty="0"/>
                        <a:t>Key Players &amp; Demand Drivers</a:t>
                      </a:r>
                    </a:p>
                  </a:txBody>
                  <a:tcPr anchor="ctr">
                    <a:solidFill>
                      <a:srgbClr val="0B4F4A"/>
                    </a:solidFill>
                  </a:tcPr>
                </a:tc>
                <a:tc>
                  <a:txBody>
                    <a:bodyPr/>
                    <a:lstStyle/>
                    <a:p>
                      <a:pPr algn="ctr"/>
                      <a:r>
                        <a:rPr lang="en-IN" sz="1400" dirty="0"/>
                        <a:t>Adoption Rate</a:t>
                      </a:r>
                    </a:p>
                  </a:txBody>
                  <a:tcPr anchor="ctr">
                    <a:solidFill>
                      <a:srgbClr val="0B4F4A"/>
                    </a:solidFill>
                  </a:tcPr>
                </a:tc>
                <a:tc>
                  <a:txBody>
                    <a:bodyPr/>
                    <a:lstStyle/>
                    <a:p>
                      <a:pPr algn="ctr"/>
                      <a:r>
                        <a:rPr lang="en-IN" sz="1400" dirty="0"/>
                        <a:t>Future Outlook</a:t>
                      </a:r>
                    </a:p>
                  </a:txBody>
                  <a:tcPr anchor="ctr">
                    <a:solidFill>
                      <a:srgbClr val="0B4F4A"/>
                    </a:solidFill>
                  </a:tcPr>
                </a:tc>
                <a:extLst>
                  <a:ext uri="{0D108BD9-81ED-4DB2-BD59-A6C34878D82A}">
                    <a16:rowId xmlns:a16="http://schemas.microsoft.com/office/drawing/2014/main" val="321382960"/>
                  </a:ext>
                </a:extLst>
              </a:tr>
              <a:tr h="893723">
                <a:tc>
                  <a:txBody>
                    <a:bodyPr/>
                    <a:lstStyle/>
                    <a:p>
                      <a:pPr algn="ctr"/>
                      <a:r>
                        <a:rPr lang="en-IN" sz="1200" b="1" dirty="0">
                          <a:latin typeface="+mn-lt"/>
                        </a:rPr>
                        <a:t>North America</a:t>
                      </a:r>
                    </a:p>
                  </a:txBody>
                  <a:tcPr anchor="ctr">
                    <a:solidFill>
                      <a:schemeClr val="bg1"/>
                    </a:solidFill>
                  </a:tcPr>
                </a:tc>
                <a:tc>
                  <a:txBody>
                    <a:bodyPr/>
                    <a:lstStyle/>
                    <a:p>
                      <a:pPr marL="285750" indent="-285750" algn="l">
                        <a:buFont typeface="Arial" panose="020B0604020202020204" pitchFamily="34" charset="0"/>
                        <a:buChar char="•"/>
                      </a:pPr>
                      <a:r>
                        <a:rPr lang="en-US" sz="1200" dirty="0">
                          <a:latin typeface="+mn-lt"/>
                        </a:rPr>
                        <a:t>Key players: PepsiCo, Coca-Cola, Monster Beverage, Chobani</a:t>
                      </a:r>
                    </a:p>
                    <a:p>
                      <a:pPr marL="285750" indent="-285750" algn="l">
                        <a:buFont typeface="Arial" panose="020B0604020202020204" pitchFamily="34" charset="0"/>
                        <a:buChar char="•"/>
                      </a:pPr>
                      <a:r>
                        <a:rPr lang="en-US" sz="1200" dirty="0">
                          <a:latin typeface="+mn-lt"/>
                        </a:rPr>
                        <a:t>Demand led by sports nutrition and fortified-water formats</a:t>
                      </a:r>
                    </a:p>
                  </a:txBody>
                  <a:tcPr anchor="ctr">
                    <a:solidFill>
                      <a:schemeClr val="bg1"/>
                    </a:solidFill>
                  </a:tcPr>
                </a:tc>
                <a:tc>
                  <a:txBody>
                    <a:bodyPr/>
                    <a:lstStyle/>
                    <a:p>
                      <a:pPr algn="ctr"/>
                      <a:endParaRPr lang="en-IN" sz="1200" dirty="0">
                        <a:latin typeface="+mn-lt"/>
                      </a:endParaRPr>
                    </a:p>
                  </a:txBody>
                  <a:tcPr anchor="ctr">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Personalization and app-linked nutrition tracking to shape next-gen launches.</a:t>
                      </a:r>
                    </a:p>
                  </a:txBody>
                  <a:tcPr anchor="ctr">
                    <a:solidFill>
                      <a:schemeClr val="bg1"/>
                    </a:solidFill>
                  </a:tcPr>
                </a:tc>
                <a:extLst>
                  <a:ext uri="{0D108BD9-81ED-4DB2-BD59-A6C34878D82A}">
                    <a16:rowId xmlns:a16="http://schemas.microsoft.com/office/drawing/2014/main" val="3177820791"/>
                  </a:ext>
                </a:extLst>
              </a:tr>
              <a:tr h="893723">
                <a:tc>
                  <a:txBody>
                    <a:bodyPr/>
                    <a:lstStyle/>
                    <a:p>
                      <a:pPr algn="ctr"/>
                      <a:r>
                        <a:rPr lang="en-IN" sz="1200" b="1" dirty="0">
                          <a:latin typeface="+mn-lt"/>
                        </a:rPr>
                        <a:t>Europe</a:t>
                      </a:r>
                    </a:p>
                  </a:txBody>
                  <a:tcPr anchor="ctr">
                    <a:solidFill>
                      <a:srgbClr val="EAF5F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Key players: Danone, Nestlé, Suntory, Innocent Drinks</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Clean-label expectations push evidence-backed, low-sugar formulations</a:t>
                      </a:r>
                    </a:p>
                  </a:txBody>
                  <a:tcPr anchor="ctr">
                    <a:solidFill>
                      <a:srgbClr val="EAF5F1"/>
                    </a:solidFill>
                  </a:tcPr>
                </a:tc>
                <a:tc>
                  <a:txBody>
                    <a:bodyPr/>
                    <a:lstStyle/>
                    <a:p>
                      <a:pPr algn="ctr"/>
                      <a:endParaRPr lang="en-IN" sz="1200" dirty="0">
                        <a:latin typeface="+mn-lt"/>
                      </a:endParaRPr>
                    </a:p>
                  </a:txBody>
                  <a:tcPr anchor="ctr">
                    <a:solidFill>
                      <a:srgbClr val="EAF5F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EU regulatory harmonization may streamline cross-border product launches.</a:t>
                      </a:r>
                    </a:p>
                  </a:txBody>
                  <a:tcPr anchor="ctr">
                    <a:solidFill>
                      <a:srgbClr val="EAF5F1"/>
                    </a:solidFill>
                  </a:tcPr>
                </a:tc>
                <a:extLst>
                  <a:ext uri="{0D108BD9-81ED-4DB2-BD59-A6C34878D82A}">
                    <a16:rowId xmlns:a16="http://schemas.microsoft.com/office/drawing/2014/main" val="4282273932"/>
                  </a:ext>
                </a:extLst>
              </a:tr>
              <a:tr h="893723">
                <a:tc>
                  <a:txBody>
                    <a:bodyPr/>
                    <a:lstStyle/>
                    <a:p>
                      <a:pPr algn="ctr"/>
                      <a:r>
                        <a:rPr lang="en-IN" sz="1200" b="1" dirty="0">
                          <a:latin typeface="+mn-lt"/>
                        </a:rPr>
                        <a:t>Asia Pacific</a:t>
                      </a:r>
                    </a:p>
                  </a:txBody>
                  <a:tcPr anchor="ctr">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Key players: Suntory, Otsuka Pharmaceutical, </a:t>
                      </a:r>
                      <a:r>
                        <a:rPr lang="en-US" sz="1200" kern="1200" dirty="0" err="1">
                          <a:solidFill>
                            <a:schemeClr val="dk1"/>
                          </a:solidFill>
                          <a:latin typeface="+mn-lt"/>
                          <a:ea typeface="+mn-ea"/>
                          <a:cs typeface="+mn-cs"/>
                        </a:rPr>
                        <a:t>Nongfu</a:t>
                      </a:r>
                      <a:r>
                        <a:rPr lang="en-US" sz="1200" kern="1200" dirty="0">
                          <a:solidFill>
                            <a:schemeClr val="dk1"/>
                          </a:solidFill>
                          <a:latin typeface="+mn-lt"/>
                          <a:ea typeface="+mn-ea"/>
                          <a:cs typeface="+mn-cs"/>
                        </a:rPr>
                        <a:t> Spring, Danone</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Urbanization and rising health awareness fuel fortified/probiotic uptake</a:t>
                      </a:r>
                    </a:p>
                  </a:txBody>
                  <a:tcPr anchor="ctr">
                    <a:solidFill>
                      <a:schemeClr val="bg1"/>
                    </a:solidFill>
                  </a:tcPr>
                </a:tc>
                <a:tc>
                  <a:txBody>
                    <a:bodyPr/>
                    <a:lstStyle/>
                    <a:p>
                      <a:pPr algn="ctr"/>
                      <a:endParaRPr lang="en-IN" sz="1200" dirty="0">
                        <a:latin typeface="+mn-lt"/>
                      </a:endParaRPr>
                    </a:p>
                  </a:txBody>
                  <a:tcPr anchor="ctr">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Continued premiumization and local-flavor innovation to sustain growth lead.</a:t>
                      </a:r>
                    </a:p>
                  </a:txBody>
                  <a:tcPr anchor="ctr">
                    <a:solidFill>
                      <a:schemeClr val="bg1"/>
                    </a:solidFill>
                  </a:tcPr>
                </a:tc>
                <a:extLst>
                  <a:ext uri="{0D108BD9-81ED-4DB2-BD59-A6C34878D82A}">
                    <a16:rowId xmlns:a16="http://schemas.microsoft.com/office/drawing/2014/main" val="1345937173"/>
                  </a:ext>
                </a:extLst>
              </a:tr>
              <a:tr h="732753">
                <a:tc>
                  <a:txBody>
                    <a:bodyPr/>
                    <a:lstStyle/>
                    <a:p>
                      <a:pPr algn="ctr"/>
                      <a:r>
                        <a:rPr lang="en-IN" sz="1200" b="1" dirty="0">
                          <a:latin typeface="+mn-lt"/>
                        </a:rPr>
                        <a:t>Latin America</a:t>
                      </a:r>
                    </a:p>
                  </a:txBody>
                  <a:tcPr anchor="ctr">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mn-lt"/>
                          <a:ea typeface="+mn-ea"/>
                          <a:cs typeface="+mn-cs"/>
                        </a:rPr>
                        <a:t>Content</a:t>
                      </a:r>
                    </a:p>
                  </a:txBody>
                  <a:tcPr anchor="ctr">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mn-lt"/>
                          <a:ea typeface="+mn-ea"/>
                          <a:cs typeface="+mn-cs"/>
                        </a:rPr>
                        <a:t>Content</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nchor="ctr">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mn-lt"/>
                          <a:ea typeface="+mn-ea"/>
                          <a:cs typeface="+mn-cs"/>
                        </a:rPr>
                        <a:t>Content</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nchor="ctr">
                    <a:solidFill>
                      <a:srgbClr val="EAF5F1"/>
                    </a:solidFill>
                  </a:tcPr>
                </a:tc>
                <a:extLst>
                  <a:ext uri="{0D108BD9-81ED-4DB2-BD59-A6C34878D82A}">
                    <a16:rowId xmlns:a16="http://schemas.microsoft.com/office/drawing/2014/main" val="2378928391"/>
                  </a:ext>
                </a:extLst>
              </a:tr>
              <a:tr h="732753">
                <a:tc>
                  <a:txBody>
                    <a:bodyPr/>
                    <a:lstStyle/>
                    <a:p>
                      <a:pPr algn="ctr"/>
                      <a:r>
                        <a:rPr lang="en-IN" sz="1200" b="1" dirty="0">
                          <a:latin typeface="+mn-lt"/>
                        </a:rPr>
                        <a:t>Middle East and Africa</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mn-lt"/>
                          <a:ea typeface="+mn-ea"/>
                          <a:cs typeface="+mn-cs"/>
                        </a:rPr>
                        <a:t>Content</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mn-lt"/>
                          <a:ea typeface="+mn-ea"/>
                          <a:cs typeface="+mn-cs"/>
                        </a:rPr>
                        <a:t>Content</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mn-lt"/>
                          <a:ea typeface="+mn-ea"/>
                          <a:cs typeface="+mn-cs"/>
                        </a:rPr>
                        <a:t>Content</a:t>
                      </a:r>
                    </a:p>
                  </a:txBody>
                  <a:tcPr anchor="ctr">
                    <a:solidFill>
                      <a:schemeClr val="bg1"/>
                    </a:solidFill>
                  </a:tcPr>
                </a:tc>
                <a:extLst>
                  <a:ext uri="{0D108BD9-81ED-4DB2-BD59-A6C34878D82A}">
                    <a16:rowId xmlns:a16="http://schemas.microsoft.com/office/drawing/2014/main" val="845481264"/>
                  </a:ext>
                </a:extLst>
              </a:tr>
            </a:tbl>
          </a:graphicData>
        </a:graphic>
      </p:graphicFrame>
      <p:sp>
        <p:nvSpPr>
          <p:cNvPr id="65" name="Text 2">
            <a:extLst>
              <a:ext uri="{FF2B5EF4-FFF2-40B4-BE49-F238E27FC236}">
                <a16:creationId xmlns:a16="http://schemas.microsoft.com/office/drawing/2014/main" id="{9DF390D0-FFAC-95A0-9FCF-67603B12A544}"/>
              </a:ext>
            </a:extLst>
          </p:cNvPr>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Shape 18">
            <a:extLst>
              <a:ext uri="{FF2B5EF4-FFF2-40B4-BE49-F238E27FC236}">
                <a16:creationId xmlns:a16="http://schemas.microsoft.com/office/drawing/2014/main" id="{148AE7D3-6B55-F3BE-5B76-5B2D6AF8C565}"/>
              </a:ext>
            </a:extLst>
          </p:cNvPr>
          <p:cNvSpPr/>
          <p:nvPr/>
        </p:nvSpPr>
        <p:spPr>
          <a:xfrm>
            <a:off x="6809692" y="2426999"/>
            <a:ext cx="1463040"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19">
            <a:extLst>
              <a:ext uri="{FF2B5EF4-FFF2-40B4-BE49-F238E27FC236}">
                <a16:creationId xmlns:a16="http://schemas.microsoft.com/office/drawing/2014/main" id="{84F550FB-A015-E8D9-0F32-11885877C958}"/>
              </a:ext>
            </a:extLst>
          </p:cNvPr>
          <p:cNvSpPr/>
          <p:nvPr/>
        </p:nvSpPr>
        <p:spPr>
          <a:xfrm>
            <a:off x="6809692" y="2426999"/>
            <a:ext cx="1170432" cy="146304"/>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20">
            <a:extLst>
              <a:ext uri="{FF2B5EF4-FFF2-40B4-BE49-F238E27FC236}">
                <a16:creationId xmlns:a16="http://schemas.microsoft.com/office/drawing/2014/main" id="{C9B6F244-6577-8ABE-86ED-0FC83FC4AB64}"/>
              </a:ext>
            </a:extLst>
          </p:cNvPr>
          <p:cNvSpPr/>
          <p:nvPr/>
        </p:nvSpPr>
        <p:spPr>
          <a:xfrm>
            <a:off x="6809692" y="2207543"/>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High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Shape 29">
            <a:extLst>
              <a:ext uri="{FF2B5EF4-FFF2-40B4-BE49-F238E27FC236}">
                <a16:creationId xmlns:a16="http://schemas.microsoft.com/office/drawing/2014/main" id="{82448BC4-CFC8-21FB-6F09-0B6DA6B6F742}"/>
              </a:ext>
            </a:extLst>
          </p:cNvPr>
          <p:cNvSpPr/>
          <p:nvPr/>
        </p:nvSpPr>
        <p:spPr>
          <a:xfrm>
            <a:off x="6809692" y="3353562"/>
            <a:ext cx="1463040"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30">
            <a:extLst>
              <a:ext uri="{FF2B5EF4-FFF2-40B4-BE49-F238E27FC236}">
                <a16:creationId xmlns:a16="http://schemas.microsoft.com/office/drawing/2014/main" id="{4CC36A2F-3510-4389-FFE4-1AA0C2E6D983}"/>
              </a:ext>
            </a:extLst>
          </p:cNvPr>
          <p:cNvSpPr/>
          <p:nvPr/>
        </p:nvSpPr>
        <p:spPr>
          <a:xfrm>
            <a:off x="6809692" y="3353562"/>
            <a:ext cx="1097280" cy="146304"/>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Text 31">
            <a:extLst>
              <a:ext uri="{FF2B5EF4-FFF2-40B4-BE49-F238E27FC236}">
                <a16:creationId xmlns:a16="http://schemas.microsoft.com/office/drawing/2014/main" id="{21608F3C-BED0-D139-7402-5994CE2093AB}"/>
              </a:ext>
            </a:extLst>
          </p:cNvPr>
          <p:cNvSpPr/>
          <p:nvPr/>
        </p:nvSpPr>
        <p:spPr>
          <a:xfrm>
            <a:off x="6809692" y="3134106"/>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High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Shape 40">
            <a:extLst>
              <a:ext uri="{FF2B5EF4-FFF2-40B4-BE49-F238E27FC236}">
                <a16:creationId xmlns:a16="http://schemas.microsoft.com/office/drawing/2014/main" id="{631FDAC5-4534-1BC7-4163-4447A7F7B1BE}"/>
              </a:ext>
            </a:extLst>
          </p:cNvPr>
          <p:cNvSpPr/>
          <p:nvPr/>
        </p:nvSpPr>
        <p:spPr>
          <a:xfrm>
            <a:off x="6809692" y="4418838"/>
            <a:ext cx="1463040"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41">
            <a:extLst>
              <a:ext uri="{FF2B5EF4-FFF2-40B4-BE49-F238E27FC236}">
                <a16:creationId xmlns:a16="http://schemas.microsoft.com/office/drawing/2014/main" id="{8C2D30B2-1CA6-25AF-3F45-1CE2A3F2E083}"/>
              </a:ext>
            </a:extLst>
          </p:cNvPr>
          <p:cNvSpPr/>
          <p:nvPr/>
        </p:nvSpPr>
        <p:spPr>
          <a:xfrm>
            <a:off x="6809692" y="4418838"/>
            <a:ext cx="1389888" cy="146304"/>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Text 42">
            <a:extLst>
              <a:ext uri="{FF2B5EF4-FFF2-40B4-BE49-F238E27FC236}">
                <a16:creationId xmlns:a16="http://schemas.microsoft.com/office/drawing/2014/main" id="{D167415A-2A8A-0F99-4A41-6D2DBDB72C4C}"/>
              </a:ext>
            </a:extLst>
          </p:cNvPr>
          <p:cNvSpPr/>
          <p:nvPr/>
        </p:nvSpPr>
        <p:spPr>
          <a:xfrm>
            <a:off x="6809692" y="4199382"/>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Very High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4507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8F3022D-B030-8D36-E88E-7C8B60CBED2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81AC2D-CF8E-3FBD-AC3D-E11A8F0751A4}"/>
              </a:ext>
            </a:extLst>
          </p:cNvPr>
          <p:cNvSpPr/>
          <p:nvPr/>
        </p:nvSpPr>
        <p:spPr>
          <a:xfrm>
            <a:off x="597806" y="41337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Distribution Channel Analysis</a:t>
            </a:r>
          </a:p>
        </p:txBody>
      </p:sp>
      <p:sp>
        <p:nvSpPr>
          <p:cNvPr id="3" name="Text 1">
            <a:extLst>
              <a:ext uri="{FF2B5EF4-FFF2-40B4-BE49-F238E27FC236}">
                <a16:creationId xmlns:a16="http://schemas.microsoft.com/office/drawing/2014/main" id="{60D6E58D-542D-5378-F12A-68A8216D965D}"/>
              </a:ext>
            </a:extLst>
          </p:cNvPr>
          <p:cNvSpPr/>
          <p:nvPr/>
        </p:nvSpPr>
        <p:spPr>
          <a:xfrm>
            <a:off x="606432" y="888860"/>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Examining channel performance, sales contribution, consumer accessibility, and retail trends influencing product availability and market penetration globally.</a:t>
            </a:r>
          </a:p>
        </p:txBody>
      </p:sp>
      <p:graphicFrame>
        <p:nvGraphicFramePr>
          <p:cNvPr id="63" name="Table 62">
            <a:extLst>
              <a:ext uri="{FF2B5EF4-FFF2-40B4-BE49-F238E27FC236}">
                <a16:creationId xmlns:a16="http://schemas.microsoft.com/office/drawing/2014/main" id="{9A05AE97-C71A-CF05-6F34-F65FC47B7C60}"/>
              </a:ext>
            </a:extLst>
          </p:cNvPr>
          <p:cNvGraphicFramePr>
            <a:graphicFrameLocks noGrp="1"/>
          </p:cNvGraphicFramePr>
          <p:nvPr/>
        </p:nvGraphicFramePr>
        <p:xfrm>
          <a:off x="606432" y="1391779"/>
          <a:ext cx="10996096" cy="4784734"/>
        </p:xfrm>
        <a:graphic>
          <a:graphicData uri="http://schemas.openxmlformats.org/drawingml/2006/table">
            <a:tbl>
              <a:tblPr firstRow="1" bandRow="1">
                <a:tableStyleId>{5C22544A-7EE6-4342-B048-85BDC9FD1C3A}</a:tableStyleId>
              </a:tblPr>
              <a:tblGrid>
                <a:gridCol w="1567425">
                  <a:extLst>
                    <a:ext uri="{9D8B030D-6E8A-4147-A177-3AD203B41FA5}">
                      <a16:colId xmlns:a16="http://schemas.microsoft.com/office/drawing/2014/main" val="971259005"/>
                    </a:ext>
                  </a:extLst>
                </a:gridCol>
                <a:gridCol w="3930623">
                  <a:extLst>
                    <a:ext uri="{9D8B030D-6E8A-4147-A177-3AD203B41FA5}">
                      <a16:colId xmlns:a16="http://schemas.microsoft.com/office/drawing/2014/main" val="1733777650"/>
                    </a:ext>
                  </a:extLst>
                </a:gridCol>
                <a:gridCol w="2749024">
                  <a:extLst>
                    <a:ext uri="{9D8B030D-6E8A-4147-A177-3AD203B41FA5}">
                      <a16:colId xmlns:a16="http://schemas.microsoft.com/office/drawing/2014/main" val="714682999"/>
                    </a:ext>
                  </a:extLst>
                </a:gridCol>
                <a:gridCol w="2749024">
                  <a:extLst>
                    <a:ext uri="{9D8B030D-6E8A-4147-A177-3AD203B41FA5}">
                      <a16:colId xmlns:a16="http://schemas.microsoft.com/office/drawing/2014/main" val="3245319936"/>
                    </a:ext>
                  </a:extLst>
                </a:gridCol>
              </a:tblGrid>
              <a:tr h="599909">
                <a:tc>
                  <a:txBody>
                    <a:bodyPr/>
                    <a:lstStyle/>
                    <a:p>
                      <a:pPr algn="ctr"/>
                      <a:r>
                        <a:rPr lang="en-IN" sz="1400" dirty="0"/>
                        <a:t>Channel</a:t>
                      </a:r>
                    </a:p>
                  </a:txBody>
                  <a:tcPr anchor="ctr">
                    <a:solidFill>
                      <a:srgbClr val="0B4F4A"/>
                    </a:solidFill>
                  </a:tcPr>
                </a:tc>
                <a:tc>
                  <a:txBody>
                    <a:bodyPr/>
                    <a:lstStyle/>
                    <a:p>
                      <a:pPr algn="ctr"/>
                      <a:r>
                        <a:rPr lang="en-IN" sz="1400" dirty="0"/>
                        <a:t>Description</a:t>
                      </a:r>
                    </a:p>
                  </a:txBody>
                  <a:tcPr anchor="ctr">
                    <a:solidFill>
                      <a:srgbClr val="0B4F4A"/>
                    </a:solidFill>
                  </a:tcPr>
                </a:tc>
                <a:tc>
                  <a:txBody>
                    <a:bodyPr/>
                    <a:lstStyle/>
                    <a:p>
                      <a:pPr algn="ctr"/>
                      <a:r>
                        <a:rPr lang="en-IN" sz="1400" dirty="0"/>
                        <a:t>Share of Sales</a:t>
                      </a:r>
                    </a:p>
                  </a:txBody>
                  <a:tcPr anchor="ctr">
                    <a:solidFill>
                      <a:srgbClr val="0B4F4A"/>
                    </a:solidFill>
                  </a:tcPr>
                </a:tc>
                <a:tc>
                  <a:txBody>
                    <a:bodyPr/>
                    <a:lstStyle/>
                    <a:p>
                      <a:pPr algn="ctr"/>
                      <a:r>
                        <a:rPr lang="en-IN" sz="1400" dirty="0"/>
                        <a:t>Outlook</a:t>
                      </a:r>
                    </a:p>
                  </a:txBody>
                  <a:tcPr anchor="ctr">
                    <a:solidFill>
                      <a:srgbClr val="0B4F4A"/>
                    </a:solidFill>
                  </a:tcPr>
                </a:tc>
                <a:extLst>
                  <a:ext uri="{0D108BD9-81ED-4DB2-BD59-A6C34878D82A}">
                    <a16:rowId xmlns:a16="http://schemas.microsoft.com/office/drawing/2014/main" val="321382960"/>
                  </a:ext>
                </a:extLst>
              </a:tr>
              <a:tr h="1095536">
                <a:tc>
                  <a:txBody>
                    <a:bodyPr/>
                    <a:lstStyle/>
                    <a:p>
                      <a:pPr algn="ctr"/>
                      <a:r>
                        <a:rPr lang="en-IN" sz="1200" b="1" dirty="0"/>
                        <a:t>Supermarkets &amp; Hypermarkets</a:t>
                      </a:r>
                    </a:p>
                  </a:txBody>
                  <a:tcPr anchor="ctr">
                    <a:solidFill>
                      <a:schemeClr val="bg1"/>
                    </a:solidFill>
                  </a:tcPr>
                </a:tc>
                <a:tc>
                  <a:txBody>
                    <a:bodyPr/>
                    <a:lstStyle/>
                    <a:p>
                      <a:pPr marL="285750" indent="-285750" algn="l">
                        <a:buFont typeface="Arial" panose="020B0604020202020204" pitchFamily="34" charset="0"/>
                        <a:buChar char="•"/>
                      </a:pPr>
                      <a:r>
                        <a:rPr lang="en-US" sz="1200" dirty="0"/>
                        <a:t>Dominant channel, offering broad assortment and in-store sampling for new launches.</a:t>
                      </a:r>
                    </a:p>
                  </a:txBody>
                  <a:tcPr anchor="ctr">
                    <a:solidFill>
                      <a:schemeClr val="bg1"/>
                    </a:solidFill>
                  </a:tcPr>
                </a:tc>
                <a:tc>
                  <a:txBody>
                    <a:bodyPr/>
                    <a:lstStyle/>
                    <a:p>
                      <a:pPr algn="ctr"/>
                      <a:endParaRPr lang="en-IN" sz="1200" dirty="0"/>
                    </a:p>
                  </a:txBody>
                  <a:tcPr anchor="ctr">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Steady growth; share gradually ceded to e-commerce.</a:t>
                      </a:r>
                    </a:p>
                  </a:txBody>
                  <a:tcPr anchor="ctr">
                    <a:solidFill>
                      <a:schemeClr val="bg1"/>
                    </a:solidFill>
                  </a:tcPr>
                </a:tc>
                <a:extLst>
                  <a:ext uri="{0D108BD9-81ED-4DB2-BD59-A6C34878D82A}">
                    <a16:rowId xmlns:a16="http://schemas.microsoft.com/office/drawing/2014/main" val="3177820791"/>
                  </a:ext>
                </a:extLst>
              </a:tr>
              <a:tr h="1095536">
                <a:tc>
                  <a:txBody>
                    <a:bodyPr/>
                    <a:lstStyle/>
                    <a:p>
                      <a:pPr algn="ctr"/>
                      <a:r>
                        <a:rPr lang="en-IN" sz="1200" b="1" dirty="0"/>
                        <a:t>Convenience Stores</a:t>
                      </a:r>
                    </a:p>
                  </a:txBody>
                  <a:tcPr anchor="ctr">
                    <a:solidFill>
                      <a:srgbClr val="EAF5F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Favored for impulse and on-the-go purchases of single-serve beverages.</a:t>
                      </a:r>
                    </a:p>
                  </a:txBody>
                  <a:tcPr anchor="ctr">
                    <a:solidFill>
                      <a:srgbClr val="EAF5F1"/>
                    </a:solidFill>
                  </a:tcPr>
                </a:tc>
                <a:tc>
                  <a:txBody>
                    <a:bodyPr/>
                    <a:lstStyle/>
                    <a:p>
                      <a:pPr algn="ctr"/>
                      <a:endParaRPr lang="en-IN" sz="1200" dirty="0"/>
                    </a:p>
                  </a:txBody>
                  <a:tcPr anchor="ctr">
                    <a:solidFill>
                      <a:srgbClr val="EAF5F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Stable demand tied to urban commuter traffic.</a:t>
                      </a:r>
                    </a:p>
                  </a:txBody>
                  <a:tcPr anchor="ctr">
                    <a:solidFill>
                      <a:srgbClr val="EAF5F1"/>
                    </a:solidFill>
                  </a:tcPr>
                </a:tc>
                <a:extLst>
                  <a:ext uri="{0D108BD9-81ED-4DB2-BD59-A6C34878D82A}">
                    <a16:rowId xmlns:a16="http://schemas.microsoft.com/office/drawing/2014/main" val="4282273932"/>
                  </a:ext>
                </a:extLst>
              </a:tr>
              <a:tr h="1095536">
                <a:tc>
                  <a:txBody>
                    <a:bodyPr/>
                    <a:lstStyle/>
                    <a:p>
                      <a:pPr algn="ctr"/>
                      <a:r>
                        <a:rPr lang="en-IN" sz="1200" b="1" dirty="0"/>
                        <a:t>Online E-commerce</a:t>
                      </a:r>
                    </a:p>
                  </a:txBody>
                  <a:tcPr anchor="ctr">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Fastest-growing channel, enabling subscriptions and direct brand relationships.</a:t>
                      </a:r>
                    </a:p>
                  </a:txBody>
                  <a:tcPr anchor="ctr">
                    <a:solidFill>
                      <a:schemeClr val="bg1"/>
                    </a:solidFill>
                  </a:tcPr>
                </a:tc>
                <a:tc>
                  <a:txBody>
                    <a:bodyPr/>
                    <a:lstStyle/>
                    <a:p>
                      <a:pPr algn="ctr"/>
                      <a:endParaRPr lang="en-IN" sz="1200" dirty="0"/>
                    </a:p>
                  </a:txBody>
                  <a:tcPr anchor="ctr">
                    <a:solidFill>
                      <a:schemeClr val="bg1"/>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Expected to post the strongest channel growth through 2032.</a:t>
                      </a:r>
                    </a:p>
                  </a:txBody>
                  <a:tcPr anchor="ctr">
                    <a:solidFill>
                      <a:schemeClr val="bg1"/>
                    </a:solidFill>
                  </a:tcPr>
                </a:tc>
                <a:extLst>
                  <a:ext uri="{0D108BD9-81ED-4DB2-BD59-A6C34878D82A}">
                    <a16:rowId xmlns:a16="http://schemas.microsoft.com/office/drawing/2014/main" val="1345937173"/>
                  </a:ext>
                </a:extLst>
              </a:tr>
              <a:tr h="898217">
                <a:tc>
                  <a:txBody>
                    <a:bodyPr/>
                    <a:lstStyle/>
                    <a:p>
                      <a:pPr algn="ctr"/>
                      <a:r>
                        <a:rPr lang="en-IN" sz="1200" b="1" dirty="0"/>
                        <a:t>Specialty &amp; Health Stores</a:t>
                      </a:r>
                    </a:p>
                  </a:txBody>
                  <a:tcPr anchor="ctr">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Content</a:t>
                      </a:r>
                    </a:p>
                  </a:txBody>
                  <a:tcPr anchor="ctr">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t>Content</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nchor="ctr">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Content</a:t>
                      </a:r>
                    </a:p>
                  </a:txBody>
                  <a:tcPr anchor="ctr">
                    <a:solidFill>
                      <a:srgbClr val="EAF5F1"/>
                    </a:solidFill>
                  </a:tcPr>
                </a:tc>
                <a:extLst>
                  <a:ext uri="{0D108BD9-81ED-4DB2-BD59-A6C34878D82A}">
                    <a16:rowId xmlns:a16="http://schemas.microsoft.com/office/drawing/2014/main" val="2378928391"/>
                  </a:ext>
                </a:extLst>
              </a:tr>
            </a:tbl>
          </a:graphicData>
        </a:graphic>
      </p:graphicFrame>
      <p:sp>
        <p:nvSpPr>
          <p:cNvPr id="65" name="Text 2">
            <a:extLst>
              <a:ext uri="{FF2B5EF4-FFF2-40B4-BE49-F238E27FC236}">
                <a16:creationId xmlns:a16="http://schemas.microsoft.com/office/drawing/2014/main" id="{E2A36ECF-5E11-D042-F647-400A300A883C}"/>
              </a:ext>
            </a:extLst>
          </p:cNvPr>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2" name="Group 21">
            <a:extLst>
              <a:ext uri="{FF2B5EF4-FFF2-40B4-BE49-F238E27FC236}">
                <a16:creationId xmlns:a16="http://schemas.microsoft.com/office/drawing/2014/main" id="{123B36ED-C360-64E0-62A5-F2793B04B6F0}"/>
              </a:ext>
            </a:extLst>
          </p:cNvPr>
          <p:cNvGrpSpPr/>
          <p:nvPr/>
        </p:nvGrpSpPr>
        <p:grpSpPr>
          <a:xfrm>
            <a:off x="6621464" y="2265372"/>
            <a:ext cx="1737360" cy="2581894"/>
            <a:chOff x="6621464" y="2448252"/>
            <a:chExt cx="1737360" cy="2581894"/>
          </a:xfrm>
        </p:grpSpPr>
        <p:sp>
          <p:nvSpPr>
            <p:cNvPr id="5" name="Shape 18">
              <a:extLst>
                <a:ext uri="{FF2B5EF4-FFF2-40B4-BE49-F238E27FC236}">
                  <a16:creationId xmlns:a16="http://schemas.microsoft.com/office/drawing/2014/main" id="{AA72E46A-E750-3141-DBEE-96CA0AC46253}"/>
                </a:ext>
              </a:extLst>
            </p:cNvPr>
            <p:cNvSpPr/>
            <p:nvPr/>
          </p:nvSpPr>
          <p:spPr>
            <a:xfrm>
              <a:off x="6621464" y="2667708"/>
              <a:ext cx="1737360"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19">
              <a:extLst>
                <a:ext uri="{FF2B5EF4-FFF2-40B4-BE49-F238E27FC236}">
                  <a16:creationId xmlns:a16="http://schemas.microsoft.com/office/drawing/2014/main" id="{A4E4CA55-EF50-F572-98FF-D57D3B9DD697}"/>
                </a:ext>
              </a:extLst>
            </p:cNvPr>
            <p:cNvSpPr/>
            <p:nvPr/>
          </p:nvSpPr>
          <p:spPr>
            <a:xfrm>
              <a:off x="6621464" y="2667708"/>
              <a:ext cx="781812" cy="146304"/>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20">
              <a:extLst>
                <a:ext uri="{FF2B5EF4-FFF2-40B4-BE49-F238E27FC236}">
                  <a16:creationId xmlns:a16="http://schemas.microsoft.com/office/drawing/2014/main" id="{4FC92893-C8E3-86AE-7850-77DC39045A58}"/>
                </a:ext>
              </a:extLst>
            </p:cNvPr>
            <p:cNvSpPr/>
            <p:nvPr/>
          </p:nvSpPr>
          <p:spPr>
            <a:xfrm>
              <a:off x="6621464" y="2448252"/>
              <a:ext cx="1737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~45%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29">
              <a:extLst>
                <a:ext uri="{FF2B5EF4-FFF2-40B4-BE49-F238E27FC236}">
                  <a16:creationId xmlns:a16="http://schemas.microsoft.com/office/drawing/2014/main" id="{87D2159D-7666-88E3-C4A0-CFB7A18E037D}"/>
                </a:ext>
              </a:extLst>
            </p:cNvPr>
            <p:cNvSpPr/>
            <p:nvPr/>
          </p:nvSpPr>
          <p:spPr>
            <a:xfrm>
              <a:off x="6621464" y="3672262"/>
              <a:ext cx="1737360"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30">
              <a:extLst>
                <a:ext uri="{FF2B5EF4-FFF2-40B4-BE49-F238E27FC236}">
                  <a16:creationId xmlns:a16="http://schemas.microsoft.com/office/drawing/2014/main" id="{253C0F37-0DBE-68ED-7352-800666663CDB}"/>
                </a:ext>
              </a:extLst>
            </p:cNvPr>
            <p:cNvSpPr/>
            <p:nvPr/>
          </p:nvSpPr>
          <p:spPr>
            <a:xfrm>
              <a:off x="6621464" y="3672262"/>
              <a:ext cx="347472" cy="146304"/>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31">
              <a:extLst>
                <a:ext uri="{FF2B5EF4-FFF2-40B4-BE49-F238E27FC236}">
                  <a16:creationId xmlns:a16="http://schemas.microsoft.com/office/drawing/2014/main" id="{DB565429-EE0B-D5A3-C94B-67509A10A70A}"/>
                </a:ext>
              </a:extLst>
            </p:cNvPr>
            <p:cNvSpPr/>
            <p:nvPr/>
          </p:nvSpPr>
          <p:spPr>
            <a:xfrm>
              <a:off x="6621464" y="3452806"/>
              <a:ext cx="1737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~20%</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40">
              <a:extLst>
                <a:ext uri="{FF2B5EF4-FFF2-40B4-BE49-F238E27FC236}">
                  <a16:creationId xmlns:a16="http://schemas.microsoft.com/office/drawing/2014/main" id="{5BB5BE6B-2049-A5F9-2B0D-335DD299F712}"/>
                </a:ext>
              </a:extLst>
            </p:cNvPr>
            <p:cNvSpPr/>
            <p:nvPr/>
          </p:nvSpPr>
          <p:spPr>
            <a:xfrm>
              <a:off x="6621464" y="4883842"/>
              <a:ext cx="1737360" cy="146304"/>
            </a:xfrm>
            <a:prstGeom prst="rect">
              <a:avLst/>
            </a:prstGeom>
            <a:solidFill>
              <a:srgbClr val="E5E5E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41">
              <a:extLst>
                <a:ext uri="{FF2B5EF4-FFF2-40B4-BE49-F238E27FC236}">
                  <a16:creationId xmlns:a16="http://schemas.microsoft.com/office/drawing/2014/main" id="{4E678AB1-A9FE-3B06-B77B-B0B87BBDA5D6}"/>
                </a:ext>
              </a:extLst>
            </p:cNvPr>
            <p:cNvSpPr/>
            <p:nvPr/>
          </p:nvSpPr>
          <p:spPr>
            <a:xfrm>
              <a:off x="6621464" y="4883842"/>
              <a:ext cx="434340" cy="146304"/>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42">
              <a:extLst>
                <a:ext uri="{FF2B5EF4-FFF2-40B4-BE49-F238E27FC236}">
                  <a16:creationId xmlns:a16="http://schemas.microsoft.com/office/drawing/2014/main" id="{31C887DC-1FFF-4DF1-5492-15ED48049EA2}"/>
                </a:ext>
              </a:extLst>
            </p:cNvPr>
            <p:cNvSpPr/>
            <p:nvPr/>
          </p:nvSpPr>
          <p:spPr>
            <a:xfrm>
              <a:off x="6621464" y="4664386"/>
              <a:ext cx="1737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834550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3684" y="40475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Consumer Behavior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2310" y="880240"/>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Understanding evolving purchase motivations, consumption habits, wellness priorities, and digital influences shaping functional beverage demand across diverse consumer segments.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CE018084-1D6E-2A07-D8E8-4EDF3B634493}"/>
              </a:ext>
            </a:extLst>
          </p:cNvPr>
          <p:cNvGrpSpPr/>
          <p:nvPr/>
        </p:nvGrpSpPr>
        <p:grpSpPr>
          <a:xfrm>
            <a:off x="685800" y="1415034"/>
            <a:ext cx="10881360" cy="4701094"/>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403060"/>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heart.png"/>
            <p:cNvPicPr>
              <a:picLocks noChangeAspect="1"/>
            </p:cNvPicPr>
            <p:nvPr/>
          </p:nvPicPr>
          <p:blipFill>
            <a:blip r:embed="rId3"/>
            <a:stretch>
              <a:fillRect/>
            </a:stretch>
          </p:blipFill>
          <p:spPr>
            <a:xfrm>
              <a:off x="829818" y="1528790"/>
              <a:ext cx="251460" cy="251460"/>
            </a:xfrm>
            <a:prstGeom prst="rect">
              <a:avLst/>
            </a:prstGeom>
          </p:spPr>
        </p:pic>
        <p:sp>
          <p:nvSpPr>
            <p:cNvPr id="10" name="Text 7"/>
            <p:cNvSpPr/>
            <p:nvPr/>
          </p:nvSpPr>
          <p:spPr>
            <a:xfrm>
              <a:off x="1316736" y="1348196"/>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Preventive Health Mindset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255805"/>
              <a:ext cx="2258568" cy="396211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Consumers increasingly choose beverages to proactively support immunity, digestion, and wellness.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Purchase decisions shift from symptom relief toward everyday preventive nutrition.</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403060"/>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clock.png"/>
            <p:cNvPicPr>
              <a:picLocks noChangeAspect="1"/>
            </p:cNvPicPr>
            <p:nvPr/>
          </p:nvPicPr>
          <p:blipFill>
            <a:blip r:embed="rId4"/>
            <a:stretch>
              <a:fillRect/>
            </a:stretch>
          </p:blipFill>
          <p:spPr>
            <a:xfrm>
              <a:off x="3682746" y="1528790"/>
              <a:ext cx="251460" cy="251460"/>
            </a:xfrm>
            <a:prstGeom prst="rect">
              <a:avLst/>
            </a:prstGeom>
          </p:spPr>
        </p:pic>
        <p:sp>
          <p:nvSpPr>
            <p:cNvPr id="16" name="Text 12"/>
            <p:cNvSpPr/>
            <p:nvPr/>
          </p:nvSpPr>
          <p:spPr>
            <a:xfrm>
              <a:off x="4169664" y="1348196"/>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On-the-Go Consumption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255805"/>
              <a:ext cx="2258568" cy="396211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Busy lifestyles drive demand for portable, ready-to-drink formats fitting daily routines.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Single-serve, travel-friendly packaging is now a baseline expectation.</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403060"/>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smartphone.png"/>
            <p:cNvPicPr>
              <a:picLocks noChangeAspect="1"/>
            </p:cNvPicPr>
            <p:nvPr/>
          </p:nvPicPr>
          <p:blipFill>
            <a:blip r:embed="rId5"/>
            <a:stretch>
              <a:fillRect/>
            </a:stretch>
          </p:blipFill>
          <p:spPr>
            <a:xfrm>
              <a:off x="6535674" y="1528790"/>
              <a:ext cx="251460" cy="251460"/>
            </a:xfrm>
            <a:prstGeom prst="rect">
              <a:avLst/>
            </a:prstGeom>
          </p:spPr>
        </p:pic>
        <p:sp>
          <p:nvSpPr>
            <p:cNvPr id="22" name="Text 17"/>
            <p:cNvSpPr/>
            <p:nvPr/>
          </p:nvSpPr>
          <p:spPr>
            <a:xfrm>
              <a:off x="7022592" y="1348196"/>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Digital &amp; Social Discovery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255805"/>
              <a:ext cx="2258568" cy="396211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Social media and influencer content increasingly shape awareness and trial of new brands.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Short-form video reviews influence purchase decisions among younger consumers.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403060"/>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dollarsign.png"/>
            <p:cNvPicPr>
              <a:picLocks noChangeAspect="1"/>
            </p:cNvPicPr>
            <p:nvPr/>
          </p:nvPicPr>
          <p:blipFill>
            <a:blip r:embed="rId6"/>
            <a:stretch>
              <a:fillRect/>
            </a:stretch>
          </p:blipFill>
          <p:spPr>
            <a:xfrm>
              <a:off x="9388602" y="1528790"/>
              <a:ext cx="251460" cy="251460"/>
            </a:xfrm>
            <a:prstGeom prst="rect">
              <a:avLst/>
            </a:prstGeom>
          </p:spPr>
        </p:pic>
        <p:sp>
          <p:nvSpPr>
            <p:cNvPr id="28" name="Text 22"/>
            <p:cNvSpPr/>
            <p:nvPr/>
          </p:nvSpPr>
          <p:spPr>
            <a:xfrm>
              <a:off x="9875520" y="1348196"/>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Value-Conscious Premiumization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255805"/>
              <a:ext cx="2258568" cy="3962116"/>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Shoppers pay a premium for evidence-backed benefits but stay price-sensitive in downturns.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Mid-tier ‘accessible functional’ products are emerging between mass and premium tiers.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5058" y="413376"/>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Consumer Preference Analysis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15058" y="888864"/>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Evaluating product attributes, ingredient transparency, taste expectations, and sustainability factors influencing purchasing decisions and long-term brand loyalty.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83A3F671-D1C0-1E21-67C5-C68CA4469497}"/>
              </a:ext>
            </a:extLst>
          </p:cNvPr>
          <p:cNvGrpSpPr/>
          <p:nvPr/>
        </p:nvGrpSpPr>
        <p:grpSpPr>
          <a:xfrm>
            <a:off x="685800" y="1415034"/>
            <a:ext cx="10810618" cy="4722607"/>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checkcircle.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291059"/>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Clean-Label &amp; Natural Ingredients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067739"/>
              <a:ext cx="2258568" cy="415018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Recognizable, minimally processed ingredient lists remain a top purchase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Short ingredient panels are increasingly used as a proxy for healthfulness.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minuscircle.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291059"/>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Low / No-Sugar Formulations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067739"/>
              <a:ext cx="2258568" cy="415018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Reduced-sugar and sugar-free options are increasingly preferred, per public-health guidance.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Natural sweetener systems are replacing artificial alternatives in premium lines.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grid.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291059"/>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Flavor &amp; Format Variety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067739"/>
              <a:ext cx="2258568" cy="415018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Consumers seek diverse flavors and formats, from single-serve bottles to powdered sachets.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Limited-edition and seasonal flavors support repeat engagement and sharing.</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globe.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0" y="1291059"/>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Sustainability-Linked Choices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067739"/>
              <a:ext cx="2258568" cy="415018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Recyclable packaging and responsible sourcing are becoming meaningful purchase factors.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Transparent sourcing claims increasingly influence brand trust and loyalty.</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5058" y="404751"/>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Packaging Analysis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15058" y="880239"/>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Assessing packaging innovations, material choices, sustainability initiatives, and convenience features enhancing product protection, consumer engagement, and operational efficiency.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A81FF596-2A5A-BE2E-FC6B-0864C451F396}"/>
              </a:ext>
            </a:extLst>
          </p:cNvPr>
          <p:cNvGrpSpPr/>
          <p:nvPr/>
        </p:nvGrpSpPr>
        <p:grpSpPr>
          <a:xfrm>
            <a:off x="685800" y="1383159"/>
            <a:ext cx="10881360" cy="4758850"/>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refreshccw.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281263"/>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Recyclable &amp; Lightweight PET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096350"/>
              <a:ext cx="2258568" cy="4121568"/>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Widely adopted for single-serve formats, balancing cost efficiency with improving recyclability.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Lightweighting reduces material use without compromising structural integrity.</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box.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281263"/>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Aseptic Cartons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096350"/>
              <a:ext cx="2258568" cy="4121568"/>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Support ambient-stable distribution of fortified juices and dairy-based beverages.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Enable longer shelf life while reducing cold-chain logistics costs.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repeat.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281263"/>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Reusable &amp; Refillable Formats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096350"/>
              <a:ext cx="2258568" cy="4121568"/>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Emerging in premium and DTC channels as brands respond to plastic-reduction commitments.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Subscription-based refill models are being piloted by wellness challenger brands.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tag.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0" y="1281263"/>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Smart &amp; QR-Enabled Packaging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096350"/>
              <a:ext cx="2258568" cy="4121568"/>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Interactive labels provide sourcing transparency and nutrition info at the point of purchase.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QR-linked content supports traceability claims and deeper engagement.</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05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Competitive Positioning Matrix</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605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Comparing leading market participants based on innovation capabilities, portfolio differentiation, and distribution strength to evaluate competitive positioning and market leadership.</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188720" y="1554480"/>
            <a:ext cx="9692640" cy="4578901"/>
          </a:xfrm>
          <a:prstGeom prst="rect">
            <a:avLst/>
          </a:prstGeom>
          <a:solidFill>
            <a:srgbClr val="EAF5F1"/>
          </a:solidFill>
          <a:ln w="12700">
            <a:solidFill>
              <a:srgbClr val="72827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6035040" y="1554480"/>
            <a:ext cx="0" cy="4663440"/>
          </a:xfrm>
          <a:prstGeom prst="line">
            <a:avLst/>
          </a:prstGeom>
          <a:noFill/>
          <a:ln w="12700">
            <a:solidFill>
              <a:srgbClr val="72827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188720" y="3886200"/>
            <a:ext cx="9692640" cy="0"/>
          </a:xfrm>
          <a:prstGeom prst="line">
            <a:avLst/>
          </a:prstGeom>
          <a:noFill/>
          <a:ln w="12700">
            <a:solidFill>
              <a:srgbClr val="72827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1188720" y="1234440"/>
            <a:ext cx="96926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HIGH INNOVATION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188720" y="6160128"/>
            <a:ext cx="96926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LOW INNOVATION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rot="16200000">
            <a:off x="362627" y="3092501"/>
            <a:ext cx="914400" cy="1554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LOW SCALE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rot="16200000">
            <a:off x="10885017" y="3096814"/>
            <a:ext cx="914400" cy="1554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HIGH SCALE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8085125" y="2964485"/>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344461" y="3138221"/>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PepsiCo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697419" y="2777947"/>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956755" y="2951683"/>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Coca-Cola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6922008" y="2498141"/>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181344" y="2671877"/>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Red Bull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437376" y="3104388"/>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696712" y="3278124"/>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Danone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3820363" y="4643323"/>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3079699" y="4817059"/>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Celsius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044952" y="4969764"/>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2304288" y="5143500"/>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GT's Living Foods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468112" y="2871216"/>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727448" y="3044952"/>
            <a:ext cx="16459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Monster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380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3684" y="430979"/>
            <a:ext cx="77724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SWOT Analysis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936" y="925134"/>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Identifying key strengths, weaknesses, opportunities, and threats influencing competitive advantage, innovation potential, and sustainable growth within the functional beverage market.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23684" y="1387800"/>
            <a:ext cx="5249812" cy="2141784"/>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623684" y="1387800"/>
            <a:ext cx="5249812" cy="411480"/>
          </a:xfrm>
          <a:prstGeom prst="roundRect">
            <a:avLst>
              <a:gd name="adj" fmla="val 2666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home/claude/icon_strengths.png"/>
          <p:cNvPicPr>
            <a:picLocks noChangeAspect="1"/>
          </p:cNvPicPr>
          <p:nvPr/>
        </p:nvPicPr>
        <p:blipFill>
          <a:blip r:embed="rId3"/>
          <a:stretch>
            <a:fillRect/>
          </a:stretch>
        </p:blipFill>
        <p:spPr>
          <a:xfrm>
            <a:off x="700026" y="1470096"/>
            <a:ext cx="246888" cy="246888"/>
          </a:xfrm>
          <a:prstGeom prst="rect">
            <a:avLst/>
          </a:prstGeom>
        </p:spPr>
      </p:pic>
      <p:sp>
        <p:nvSpPr>
          <p:cNvPr id="7" name="Text 4"/>
          <p:cNvSpPr/>
          <p:nvPr/>
        </p:nvSpPr>
        <p:spPr>
          <a:xfrm>
            <a:off x="1084074" y="1387800"/>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STRENGTHS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40664" y="1890721"/>
            <a:ext cx="5010912" cy="1866073"/>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Preventive-nutrition alignment —  </a:t>
            </a: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supports WHO/health-agency goals for diet, hydration, and nutrient intake.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Bioactive ingredient innovation —  </a:t>
            </a: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vitamins, probiotics, amino acids, and botanicals drive continuous product development.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Broad wellness applications —  </a:t>
            </a: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hydration, sports nutrition, digestive health, cognition, and healthy aging.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6292964" y="1387800"/>
            <a:ext cx="5249812" cy="2141784"/>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6292964" y="1387800"/>
            <a:ext cx="5249812" cy="411480"/>
          </a:xfrm>
          <a:prstGeom prst="roundRect">
            <a:avLst>
              <a:gd name="adj" fmla="val 26667"/>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home/claude/icon_weaknesses.png"/>
          <p:cNvPicPr>
            <a:picLocks noChangeAspect="1"/>
          </p:cNvPicPr>
          <p:nvPr/>
        </p:nvPicPr>
        <p:blipFill>
          <a:blip r:embed="rId4"/>
          <a:stretch>
            <a:fillRect/>
          </a:stretch>
        </p:blipFill>
        <p:spPr>
          <a:xfrm>
            <a:off x="6369306" y="1470096"/>
            <a:ext cx="246888" cy="246888"/>
          </a:xfrm>
          <a:prstGeom prst="rect">
            <a:avLst/>
          </a:prstGeom>
        </p:spPr>
      </p:pic>
      <p:sp>
        <p:nvSpPr>
          <p:cNvPr id="12" name="Text 8"/>
          <p:cNvSpPr/>
          <p:nvPr/>
        </p:nvSpPr>
        <p:spPr>
          <a:xfrm>
            <a:off x="6753354" y="1387800"/>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WEAKNESSES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6409944" y="1873470"/>
            <a:ext cx="5010912" cy="1883324"/>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Strict claim substantiation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scientific evidence requirements raise R&amp;D cost and development timelines.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Complex, fragmented regulation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ingredient, labeling, and claim rules vary widely by country.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High formulation complexity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balancing stability, bioavailability, taste, and shelf life is demanding.</a:t>
            </a:r>
          </a:p>
        </p:txBody>
      </p:sp>
      <p:sp>
        <p:nvSpPr>
          <p:cNvPr id="14" name="Shape 10"/>
          <p:cNvSpPr/>
          <p:nvPr/>
        </p:nvSpPr>
        <p:spPr>
          <a:xfrm>
            <a:off x="623684" y="3739378"/>
            <a:ext cx="5249812" cy="2142000"/>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3684" y="3739378"/>
            <a:ext cx="5249812" cy="41148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2" descr="/home/claude/icon_opportunities.png"/>
          <p:cNvPicPr>
            <a:picLocks noChangeAspect="1"/>
          </p:cNvPicPr>
          <p:nvPr/>
        </p:nvPicPr>
        <p:blipFill>
          <a:blip r:embed="rId5"/>
          <a:stretch>
            <a:fillRect/>
          </a:stretch>
        </p:blipFill>
        <p:spPr>
          <a:xfrm>
            <a:off x="700026" y="3821674"/>
            <a:ext cx="246888" cy="246888"/>
          </a:xfrm>
          <a:prstGeom prst="rect">
            <a:avLst/>
          </a:prstGeom>
        </p:spPr>
      </p:pic>
      <p:sp>
        <p:nvSpPr>
          <p:cNvPr id="17" name="Text 12"/>
          <p:cNvSpPr/>
          <p:nvPr/>
        </p:nvSpPr>
        <p:spPr>
          <a:xfrm>
            <a:off x="1084074" y="3739378"/>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OPPORTUNITIES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740664" y="4242298"/>
            <a:ext cx="5010912" cy="2103120"/>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Personalized nutrition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AI, wearables, and precision health enable tailored formulations.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Healthy-aging demand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rising life expectancy drives need for bone, immunity, and cognitive support.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Clean-label innovation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demand for recognizable ingredients, less sugar, and minimal processing.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p:cNvSpPr/>
          <p:nvPr/>
        </p:nvSpPr>
        <p:spPr>
          <a:xfrm>
            <a:off x="6292964" y="3739378"/>
            <a:ext cx="5249812" cy="2142000"/>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5"/>
          <p:cNvSpPr/>
          <p:nvPr/>
        </p:nvSpPr>
        <p:spPr>
          <a:xfrm>
            <a:off x="6292964" y="3739378"/>
            <a:ext cx="5249812" cy="411480"/>
          </a:xfrm>
          <a:prstGeom prst="roundRect">
            <a:avLst>
              <a:gd name="adj" fmla="val 26667"/>
            </a:avLst>
          </a:prstGeom>
          <a:solidFill>
            <a:srgbClr val="8A2C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3" descr="/home/claude/icon_threats.png"/>
          <p:cNvPicPr>
            <a:picLocks noChangeAspect="1"/>
          </p:cNvPicPr>
          <p:nvPr/>
        </p:nvPicPr>
        <p:blipFill>
          <a:blip r:embed="rId6"/>
          <a:stretch>
            <a:fillRect/>
          </a:stretch>
        </p:blipFill>
        <p:spPr>
          <a:xfrm>
            <a:off x="6369306" y="3821674"/>
            <a:ext cx="246888" cy="246888"/>
          </a:xfrm>
          <a:prstGeom prst="rect">
            <a:avLst/>
          </a:prstGeom>
        </p:spPr>
      </p:pic>
      <p:sp>
        <p:nvSpPr>
          <p:cNvPr id="22" name="Text 16"/>
          <p:cNvSpPr/>
          <p:nvPr/>
        </p:nvSpPr>
        <p:spPr>
          <a:xfrm>
            <a:off x="6753354" y="3739378"/>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THREATS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7"/>
          <p:cNvSpPr/>
          <p:nvPr/>
        </p:nvSpPr>
        <p:spPr>
          <a:xfrm>
            <a:off x="6409944" y="4242298"/>
            <a:ext cx="5010912" cy="2103120"/>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Rising claim scrutiny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regulators closely monitor disease-risk and structure/function claims.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Frequent regulatory change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new food-safety and novel-ingredient rules can delay product launches.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b="1" i="0" u="none" strike="noStrike" kern="1200" cap="none" spc="0" normalizeH="0" baseline="0" noProof="0" dirty="0">
                <a:ln>
                  <a:noFill/>
                </a:ln>
                <a:solidFill>
                  <a:srgbClr val="1E2624"/>
                </a:solidFill>
                <a:effectLst/>
                <a:uLnTx/>
                <a:uFillTx/>
                <a:latin typeface="Calibri" panose="020F0502020204030204"/>
                <a:ea typeface="Calibri" pitchFamily="34" charset="-122"/>
                <a:cs typeface="Calibri" pitchFamily="34" charset="-120"/>
              </a:rPr>
              <a:t>Supply chain disruption —  </a:t>
            </a: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climate, agricultural, and geopolitical risks affect input availability.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05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Recent Strategic Developments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605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Highlighting recent acquisitions, partnerships, product launches, and expansion initiatives reshaping competitive dynamics and accelerating innovation across the functional beverage market.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0" name="Table 0"/>
          <p:cNvGraphicFramePr>
            <a:graphicFrameLocks noGrp="1"/>
          </p:cNvGraphicFramePr>
          <p:nvPr/>
        </p:nvGraphicFramePr>
        <p:xfrm>
          <a:off x="655608" y="1371600"/>
          <a:ext cx="10869284" cy="4809274"/>
        </p:xfrm>
        <a:graphic>
          <a:graphicData uri="http://schemas.openxmlformats.org/drawingml/2006/table">
            <a:tbl>
              <a:tblPr/>
              <a:tblGrid>
                <a:gridCol w="5434642">
                  <a:extLst>
                    <a:ext uri="{9D8B030D-6E8A-4147-A177-3AD203B41FA5}">
                      <a16:colId xmlns:a16="http://schemas.microsoft.com/office/drawing/2014/main" val="20000"/>
                    </a:ext>
                  </a:extLst>
                </a:gridCol>
                <a:gridCol w="5434642">
                  <a:extLst>
                    <a:ext uri="{9D8B030D-6E8A-4147-A177-3AD203B41FA5}">
                      <a16:colId xmlns:a16="http://schemas.microsoft.com/office/drawing/2014/main" val="20001"/>
                    </a:ext>
                  </a:extLst>
                </a:gridCol>
              </a:tblGrid>
              <a:tr h="3960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Development</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789317">
                <a:tc>
                  <a:txBody>
                    <a:bodyPr/>
                    <a:lstStyle/>
                    <a:p>
                      <a:pPr marL="0" indent="0" algn="l">
                        <a:buNone/>
                      </a:pPr>
                      <a:r>
                        <a:rPr lang="en-US" sz="1200" dirty="0">
                          <a:solidFill>
                            <a:srgbClr val="1E2624"/>
                          </a:solidFill>
                          <a:latin typeface="+mn-lt"/>
                          <a:ea typeface="Calibri" pitchFamily="34" charset="-122"/>
                          <a:cs typeface="Calibri" pitchFamily="34" charset="-120"/>
                        </a:rPr>
                        <a:t>Acquisition</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624"/>
                          </a:solidFill>
                          <a:latin typeface="+mn-lt"/>
                          <a:ea typeface="Calibri" pitchFamily="34" charset="-122"/>
                          <a:cs typeface="Calibri" pitchFamily="34" charset="-120"/>
                        </a:rPr>
                        <a:t>Leading beverage manufacturers are actively pursuing strategic acquisitions of high-growth functional beverage brands to strengthen their portfolios, accelerate innovation, and expand their presence across health and wellness categories. Recent examples include PepsiCo (Siete Foods), Celsius Holdings (Alani Nutrition), and Keurig Dr Pepper (GHOST Lifestyle).</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9317">
                <a:tc>
                  <a:txBody>
                    <a:bodyPr/>
                    <a:lstStyle/>
                    <a:p>
                      <a:pPr marL="0" indent="0" algn="l">
                        <a:buNone/>
                      </a:pPr>
                      <a:r>
                        <a:rPr lang="en-US" sz="1200" dirty="0">
                          <a:solidFill>
                            <a:srgbClr val="1E2624"/>
                          </a:solidFill>
                          <a:latin typeface="+mn-lt"/>
                          <a:ea typeface="Calibri" pitchFamily="34" charset="-122"/>
                          <a:cs typeface="Calibri" pitchFamily="34" charset="-120"/>
                        </a:rPr>
                        <a:t>Product Launch</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indent="0" algn="l">
                        <a:buNone/>
                      </a:pPr>
                      <a:r>
                        <a:rPr lang="en-US" sz="1200" dirty="0">
                          <a:solidFill>
                            <a:srgbClr val="1E2624"/>
                          </a:solidFill>
                          <a:latin typeface="+mn-lt"/>
                          <a:ea typeface="Calibri" pitchFamily="34" charset="-122"/>
                          <a:cs typeface="Calibri" pitchFamily="34" charset="-120"/>
                        </a:rPr>
                        <a:t>Product innovation remains focused on low- and no-sugar formulations, functional hydration, and clean-label ingredients. Major beverage companies continue expanding zero-sugar sports drinks, functional waters, and nutrient-enriched beverage portfolios to align with evolving consumer preferences and regulatory trends.</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789317">
                <a:tc>
                  <a:txBody>
                    <a:bodyPr/>
                    <a:lstStyle/>
                    <a:p>
                      <a:pPr marL="0" indent="0" algn="l">
                        <a:buNone/>
                      </a:pPr>
                      <a:r>
                        <a:rPr lang="en-US" sz="1200" dirty="0">
                          <a:solidFill>
                            <a:srgbClr val="1E2624"/>
                          </a:solidFill>
                          <a:latin typeface="+mn-lt"/>
                          <a:ea typeface="Calibri" pitchFamily="34" charset="-122"/>
                          <a:cs typeface="Calibri" pitchFamily="34" charset="-120"/>
                        </a:rPr>
                        <a:t>Partnership</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624"/>
                          </a:solidFill>
                          <a:latin typeface="+mn-lt"/>
                          <a:ea typeface="Calibri" pitchFamily="34" charset="-122"/>
                          <a:cs typeface="Calibri" pitchFamily="34" charset="-120"/>
                        </a:rPr>
                        <a:t>Beverage manufacturers are increasingly collaborating with ingredient suppliers and biotechnology companies to develop next-generation formulations incorporating probiotics, postbiotics, adaptogens, botanicals, and clinically supported functional ingredients, accelerating product differentiation and commercialization.</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9317">
                <a:tc>
                  <a:txBody>
                    <a:bodyPr/>
                    <a:lstStyle/>
                    <a:p>
                      <a:pPr marL="0" indent="0" algn="l">
                        <a:buNone/>
                      </a:pPr>
                      <a:r>
                        <a:rPr lang="en-US" sz="1200" dirty="0">
                          <a:solidFill>
                            <a:srgbClr val="1E2624"/>
                          </a:solidFill>
                          <a:latin typeface="+mn-lt"/>
                          <a:ea typeface="Calibri" pitchFamily="34" charset="-122"/>
                          <a:cs typeface="Calibri" pitchFamily="34" charset="-120"/>
                        </a:rPr>
                        <a:t>Capacity Expansion</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indent="0" algn="l">
                        <a:buNone/>
                      </a:pPr>
                      <a:r>
                        <a:rPr lang="en-US" sz="1200" dirty="0">
                          <a:solidFill>
                            <a:srgbClr val="1E2624"/>
                          </a:solidFill>
                          <a:latin typeface="+mn-lt"/>
                          <a:ea typeface="Calibri" pitchFamily="34" charset="-122"/>
                          <a:cs typeface="Calibri" pitchFamily="34" charset="-120"/>
                        </a:rPr>
                        <a:t>Content</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r h="789317">
                <a:tc>
                  <a:txBody>
                    <a:bodyPr/>
                    <a:lstStyle/>
                    <a:p>
                      <a:pPr marL="0" indent="0" algn="l">
                        <a:buNone/>
                      </a:pPr>
                      <a:r>
                        <a:rPr lang="en-US" sz="1200" dirty="0">
                          <a:solidFill>
                            <a:srgbClr val="1E2624"/>
                          </a:solidFill>
                          <a:latin typeface="+mn-lt"/>
                          <a:ea typeface="Calibri" pitchFamily="34" charset="-122"/>
                          <a:cs typeface="Calibri" pitchFamily="34" charset="-120"/>
                        </a:rPr>
                        <a:t>Retail Expansion</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624"/>
                          </a:solidFill>
                          <a:latin typeface="+mn-lt"/>
                          <a:ea typeface="Calibri" pitchFamily="34" charset="-122"/>
                          <a:cs typeface="Calibri" pitchFamily="34" charset="-120"/>
                        </a:rPr>
                        <a:t>Content</a:t>
                      </a:r>
                      <a:endParaRPr lang="en-US" sz="1200" dirty="0">
                        <a:latin typeface="+mn-lt"/>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4207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0561" y="39421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Brand Positioning Analysis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7813" y="869700"/>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Evaluating brand positioning across price, functional benefits, and consumer perception to identify differentiation strategies and competitive market positioning.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960120" y="5897880"/>
            <a:ext cx="0" cy="0"/>
          </a:xfrm>
          <a:prstGeom prst="line">
            <a:avLst/>
          </a:prstGeom>
          <a:noFill/>
          <a:ln w="25400">
            <a:solidFill>
              <a:srgbClr val="0B4F4A"/>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03C82A00-B125-989C-45E9-C9F385604E67}"/>
              </a:ext>
            </a:extLst>
          </p:cNvPr>
          <p:cNvGrpSpPr/>
          <p:nvPr/>
        </p:nvGrpSpPr>
        <p:grpSpPr>
          <a:xfrm>
            <a:off x="596058" y="1408596"/>
            <a:ext cx="10999884" cy="4882476"/>
            <a:chOff x="712891" y="1188720"/>
            <a:chExt cx="10986423" cy="5074920"/>
          </a:xfrm>
        </p:grpSpPr>
        <p:sp>
          <p:nvSpPr>
            <p:cNvPr id="6" name="Shape 4"/>
            <p:cNvSpPr/>
            <p:nvPr/>
          </p:nvSpPr>
          <p:spPr>
            <a:xfrm>
              <a:off x="1005840" y="1188720"/>
              <a:ext cx="7863840" cy="4709160"/>
            </a:xfrm>
            <a:prstGeom prst="rect">
              <a:avLst/>
            </a:prstGeom>
            <a:solidFill>
              <a:srgbClr val="EAF5F1"/>
            </a:solidFill>
            <a:ln w="12700">
              <a:solidFill>
                <a:srgbClr val="E5E5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731520" y="5943600"/>
              <a:ext cx="8412480" cy="0"/>
            </a:xfrm>
            <a:prstGeom prst="line">
              <a:avLst/>
            </a:prstGeom>
            <a:noFill/>
            <a:ln w="25400">
              <a:solidFill>
                <a:srgbClr val="0B4F4A"/>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005840" y="6035040"/>
              <a:ext cx="78638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Price Positioning:  Value  →  Premium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rot="16200000">
              <a:off x="-1435949" y="3406140"/>
              <a:ext cx="45720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Focus:  Everyday Wellness  →  Clinical / Performance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143000" y="128016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PERFORMANCE-LED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074920" y="128016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CLINICAL PREMIUM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143000" y="363474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MASS EVERYDAY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074920" y="363474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NATURAL PREMIUM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580437" y="4894783"/>
              <a:ext cx="310896" cy="310896"/>
            </a:xfrm>
            <a:prstGeom prst="ellipse">
              <a:avLst/>
            </a:prstGeom>
            <a:solidFill>
              <a:srgbClr val="0B4F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175504" y="1880921"/>
              <a:ext cx="310896" cy="310896"/>
            </a:xfrm>
            <a:prstGeom prst="ellipse">
              <a:avLst/>
            </a:prstGeom>
            <a:solidFill>
              <a:srgbClr val="FF6B35"/>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7534656" y="2351837"/>
              <a:ext cx="310896" cy="310896"/>
            </a:xfrm>
            <a:prstGeom prst="ellipse">
              <a:avLst/>
            </a:prstGeom>
            <a:solidFill>
              <a:srgbClr val="8BC34A"/>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6512357" y="4423867"/>
              <a:ext cx="310896" cy="310896"/>
            </a:xfrm>
            <a:prstGeom prst="ellipse">
              <a:avLst/>
            </a:prstGeom>
            <a:solidFill>
              <a:srgbClr val="1C5D99"/>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9189720" y="1188720"/>
              <a:ext cx="2496312" cy="1074420"/>
            </a:xfrm>
            <a:prstGeom prst="roundRect">
              <a:avLst>
                <a:gd name="adj" fmla="val 4255"/>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9317736" y="1643634"/>
              <a:ext cx="164592" cy="164592"/>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9573768" y="1243584"/>
              <a:ext cx="19933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Everyday Wellness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573768" y="1499203"/>
              <a:ext cx="1993392" cy="745236"/>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Accessible pricing paired with simple, functional benefit messaging for daily routine use.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9189720" y="2400300"/>
              <a:ext cx="2496312" cy="1074420"/>
            </a:xfrm>
            <a:prstGeom prst="roundRect">
              <a:avLst>
                <a:gd name="adj" fmla="val 4255"/>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9317736" y="2855214"/>
              <a:ext cx="164592" cy="164592"/>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9573767" y="2500368"/>
              <a:ext cx="2125547"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Performance &amp; Sports Nutrition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9573767" y="2810543"/>
              <a:ext cx="2112265" cy="717803"/>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Electrolyte and protein science targeting active consumers, backed by performance research.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9189720" y="3611880"/>
              <a:ext cx="2496312" cy="1074420"/>
            </a:xfrm>
            <a:prstGeom prst="roundRect">
              <a:avLst>
                <a:gd name="adj" fmla="val 4255"/>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9317736" y="4066794"/>
              <a:ext cx="164592" cy="164592"/>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9573768" y="3711949"/>
              <a:ext cx="19933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Premium Clinical Functional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573768" y="4036022"/>
              <a:ext cx="1993392" cy="745236"/>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Clinically studied ingredients and precise dosing transparency at the highest price tier.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9189720" y="4823460"/>
              <a:ext cx="2496312" cy="1074420"/>
            </a:xfrm>
            <a:prstGeom prst="roundRect">
              <a:avLst>
                <a:gd name="adj" fmla="val 4255"/>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9317736" y="5278374"/>
              <a:ext cx="164592" cy="164592"/>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9573768" y="4878324"/>
              <a:ext cx="19933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Clean-Label Natural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9573768" y="5097780"/>
              <a:ext cx="1993392" cy="745236"/>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Premium-priced, minimally processed ingredients with transparency-led everyday positioning.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7" name="Shape 5"/>
          <p:cNvSpPr/>
          <p:nvPr/>
        </p:nvSpPr>
        <p:spPr>
          <a:xfrm>
            <a:off x="899001" y="3655067"/>
            <a:ext cx="7863840" cy="0"/>
          </a:xfrm>
          <a:prstGeom prst="line">
            <a:avLst/>
          </a:prstGeom>
          <a:no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710917" y="1246112"/>
            <a:ext cx="0" cy="4709160"/>
          </a:xfrm>
          <a:prstGeom prst="line">
            <a:avLst/>
          </a:prstGeom>
          <a:no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2310" y="413372"/>
            <a:ext cx="106070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AI Impact Analysis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2310" y="888860"/>
            <a:ext cx="108813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Examining artificial intelligence applications transforming product innovation, demand forecasting, personalized nutrition, operational efficiency, and consumer engagement across the value chain.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2E6A4727-6263-1644-0086-FCF34F163BA8}"/>
              </a:ext>
            </a:extLst>
          </p:cNvPr>
          <p:cNvGrpSpPr/>
          <p:nvPr/>
        </p:nvGrpSpPr>
        <p:grpSpPr>
          <a:xfrm>
            <a:off x="683556" y="1374528"/>
            <a:ext cx="10865315" cy="4758853"/>
            <a:chOff x="502920" y="1143000"/>
            <a:chExt cx="11183112" cy="5166360"/>
          </a:xfrm>
        </p:grpSpPr>
        <p:sp>
          <p:nvSpPr>
            <p:cNvPr id="6" name="Shape 4"/>
            <p:cNvSpPr/>
            <p:nvPr/>
          </p:nvSpPr>
          <p:spPr>
            <a:xfrm>
              <a:off x="502920"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143000"/>
              <a:ext cx="54864" cy="5166360"/>
            </a:xfrm>
            <a:prstGeom prst="rect">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04088" y="1289304"/>
              <a:ext cx="502920" cy="502920"/>
            </a:xfrm>
            <a:prstGeom prst="ellipse">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home/claude/tv_user.png"/>
            <p:cNvPicPr>
              <a:picLocks noChangeAspect="1"/>
            </p:cNvPicPr>
            <p:nvPr/>
          </p:nvPicPr>
          <p:blipFill>
            <a:blip r:embed="rId3"/>
            <a:stretch>
              <a:fillRect/>
            </a:stretch>
          </p:blipFill>
          <p:spPr>
            <a:xfrm>
              <a:off x="829818" y="1415034"/>
              <a:ext cx="251460" cy="251460"/>
            </a:xfrm>
            <a:prstGeom prst="rect">
              <a:avLst/>
            </a:prstGeom>
          </p:spPr>
        </p:pic>
        <p:sp>
          <p:nvSpPr>
            <p:cNvPr id="10" name="Text 7"/>
            <p:cNvSpPr/>
            <p:nvPr/>
          </p:nvSpPr>
          <p:spPr>
            <a:xfrm>
              <a:off x="1316736" y="1290627"/>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Personalized Nutrition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85800" y="2040399"/>
              <a:ext cx="2258568" cy="417752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AI-driven platforms analyze individual health data to recommend tailored beverage formulations.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Wearable integration enables real-time hydration and nutrient-intake recommendations.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55848"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355848" y="1143000"/>
              <a:ext cx="54864" cy="5166360"/>
            </a:xfrm>
            <a:prstGeom prst="rect">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557016" y="1289304"/>
              <a:ext cx="502920" cy="502920"/>
            </a:xfrm>
            <a:prstGeom prst="ellipse">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home/claude/tv_cpu.png"/>
            <p:cNvPicPr>
              <a:picLocks noChangeAspect="1"/>
            </p:cNvPicPr>
            <p:nvPr/>
          </p:nvPicPr>
          <p:blipFill>
            <a:blip r:embed="rId4"/>
            <a:stretch>
              <a:fillRect/>
            </a:stretch>
          </p:blipFill>
          <p:spPr>
            <a:xfrm>
              <a:off x="3682746" y="1415034"/>
              <a:ext cx="251460" cy="251460"/>
            </a:xfrm>
            <a:prstGeom prst="rect">
              <a:avLst/>
            </a:prstGeom>
          </p:spPr>
        </p:pic>
        <p:sp>
          <p:nvSpPr>
            <p:cNvPr id="16" name="Text 12"/>
            <p:cNvSpPr/>
            <p:nvPr/>
          </p:nvSpPr>
          <p:spPr>
            <a:xfrm>
              <a:off x="4169664" y="1290627"/>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libri" pitchFamily="34" charset="-122"/>
                  <a:cs typeface="Calibri" pitchFamily="34" charset="-120"/>
                </a:rPr>
                <a:t>AI-Driven Formulation &amp; R&amp;D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3538728" y="2040399"/>
              <a:ext cx="2258568" cy="417752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Machine-learning models accelerate ingredient screening and optimize taste, stability, and cost.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Simulation tools reduce the number of physical prototype iterations before launch.</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6208776"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5"/>
            <p:cNvSpPr/>
            <p:nvPr/>
          </p:nvSpPr>
          <p:spPr>
            <a:xfrm>
              <a:off x="6208776" y="1143000"/>
              <a:ext cx="54864" cy="5166360"/>
            </a:xfrm>
            <a:prstGeom prst="rect">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4" y="1289304"/>
              <a:ext cx="502920" cy="502920"/>
            </a:xfrm>
            <a:prstGeom prst="ellipse">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2" descr="/home/claude/tv_barchart2.png"/>
            <p:cNvPicPr>
              <a:picLocks noChangeAspect="1"/>
            </p:cNvPicPr>
            <p:nvPr/>
          </p:nvPicPr>
          <p:blipFill>
            <a:blip r:embed="rId5"/>
            <a:stretch>
              <a:fillRect/>
            </a:stretch>
          </p:blipFill>
          <p:spPr>
            <a:xfrm>
              <a:off x="6535674" y="1415034"/>
              <a:ext cx="251460" cy="251460"/>
            </a:xfrm>
            <a:prstGeom prst="rect">
              <a:avLst/>
            </a:prstGeom>
          </p:spPr>
        </p:pic>
        <p:sp>
          <p:nvSpPr>
            <p:cNvPr id="22" name="Text 17"/>
            <p:cNvSpPr/>
            <p:nvPr/>
          </p:nvSpPr>
          <p:spPr>
            <a:xfrm>
              <a:off x="7022592" y="1290627"/>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C6A16"/>
                  </a:solidFill>
                  <a:effectLst/>
                  <a:uLnTx/>
                  <a:uFillTx/>
                  <a:latin typeface="Calibri" pitchFamily="34" charset="0"/>
                  <a:ea typeface="Calibri" pitchFamily="34" charset="-122"/>
                  <a:cs typeface="Calibri" pitchFamily="34" charset="-120"/>
                </a:rPr>
                <a:t>Demand Forecasting &amp; Inventory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6391656" y="2040399"/>
              <a:ext cx="2258568" cy="417752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Predictive analytics improve production planning and reduce stockouts across seasonal shifts.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AI-supported inventory systems help minimize spoilage for perishable formats.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9"/>
            <p:cNvSpPr/>
            <p:nvPr/>
          </p:nvSpPr>
          <p:spPr>
            <a:xfrm>
              <a:off x="9061704" y="1143000"/>
              <a:ext cx="2624328" cy="5166360"/>
            </a:xfrm>
            <a:prstGeom prst="roundRect">
              <a:avLst>
                <a:gd name="adj" fmla="val 2091"/>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9061704" y="1143000"/>
              <a:ext cx="54864" cy="5166360"/>
            </a:xfrm>
            <a:prstGeom prst="rect">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9262872" y="1289304"/>
              <a:ext cx="502920" cy="502920"/>
            </a:xfrm>
            <a:prstGeom prst="ellipse">
              <a:avLst/>
            </a:prstGeom>
            <a:solidFill>
              <a:srgbClr val="1C5D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3" descr="/home/claude/tv_trendingup.png"/>
            <p:cNvPicPr>
              <a:picLocks noChangeAspect="1"/>
            </p:cNvPicPr>
            <p:nvPr/>
          </p:nvPicPr>
          <p:blipFill>
            <a:blip r:embed="rId6"/>
            <a:stretch>
              <a:fillRect/>
            </a:stretch>
          </p:blipFill>
          <p:spPr>
            <a:xfrm>
              <a:off x="9388602" y="1415034"/>
              <a:ext cx="251460" cy="251460"/>
            </a:xfrm>
            <a:prstGeom prst="rect">
              <a:avLst/>
            </a:prstGeom>
          </p:spPr>
        </p:pic>
        <p:sp>
          <p:nvSpPr>
            <p:cNvPr id="28" name="Text 22"/>
            <p:cNvSpPr/>
            <p:nvPr/>
          </p:nvSpPr>
          <p:spPr>
            <a:xfrm>
              <a:off x="9875520" y="1290627"/>
              <a:ext cx="167335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C5D99"/>
                  </a:solidFill>
                  <a:effectLst/>
                  <a:uLnTx/>
                  <a:uFillTx/>
                  <a:latin typeface="Calibri" pitchFamily="34" charset="0"/>
                  <a:ea typeface="Calibri" pitchFamily="34" charset="-122"/>
                  <a:cs typeface="Calibri" pitchFamily="34" charset="-120"/>
                </a:rPr>
                <a:t>AI-Powered Marketing &amp; Insights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9244584" y="2040399"/>
              <a:ext cx="2258568" cy="4177521"/>
            </a:xfrm>
            <a:prstGeom prst="rect">
              <a:avLst/>
            </a:prstGeom>
            <a:noFill/>
            <a:ln/>
          </p:spPr>
          <p:txBody>
            <a:bodyPr wrap="square" lIns="0" tIns="0" rIns="0" bIns="0" rtlCol="0" anchor="t"/>
            <a:lstStyle/>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Consumer-sentiment analysis helps brands identify emerging functional-benefit trends.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Generative content tools accelerate creative testing across digital marketing channels.</a:t>
              </a:r>
            </a:p>
            <a:p>
              <a:pPr marL="171450" marR="0" lvl="0" indent="-171450" algn="l" defTabSz="914400" rtl="0" eaLnBrk="1" fontAlgn="auto" latinLnBrk="0" hangingPunct="1">
                <a:lnSpc>
                  <a:spcPct val="105000"/>
                </a:lnSpc>
                <a:spcBef>
                  <a:spcPts val="0"/>
                </a:spcBef>
                <a:spcAft>
                  <a:spcPts val="5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Content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Sustainability &amp; Clean-Label Trends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605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Assessing sustainability initiatives, clean-label innovation, responsible sourcing, and environmental practices driving regulatory compliance, consumer trust, and long-term market growth.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03848" y="1554480"/>
            <a:ext cx="6665631" cy="5120640"/>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1400"/>
              </a:spcAft>
              <a:buClrTx/>
              <a:buSzPct val="100000"/>
              <a:buFontTx/>
              <a:buChar char="●"/>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Sustainable Packaging</a:t>
            </a:r>
          </a:p>
          <a:p>
            <a:pPr marL="800100" marR="0" lvl="1" indent="-342900" algn="l" defTabSz="914400" rtl="0" eaLnBrk="1" fontAlgn="auto" latinLnBrk="0" hangingPunct="1">
              <a:lnSpc>
                <a:spcPct val="100000"/>
              </a:lnSpc>
              <a:spcBef>
                <a:spcPts val="0"/>
              </a:spcBef>
              <a:spcAft>
                <a:spcPts val="1400"/>
              </a:spcAft>
              <a:buClrTx/>
              <a:buSzPct val="100000"/>
              <a:buFont typeface="+mj-lt"/>
              <a:buAutoNum type="arabicPeriod"/>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Beverage manufacturers are increasing the use of recyclable aluminum cans, recyclable PET (</a:t>
            </a:r>
            <a:r>
              <a:rPr kumimoji="0" lang="en-US" sz="1200" b="0" i="0" u="none" strike="noStrike" kern="1200" cap="none" spc="0" normalizeH="0" baseline="0" noProof="0" dirty="0" err="1">
                <a:ln>
                  <a:noFill/>
                </a:ln>
                <a:solidFill>
                  <a:srgbClr val="1E2624"/>
                </a:solidFill>
                <a:effectLst/>
                <a:uLnTx/>
                <a:uFillTx/>
                <a:latin typeface="Calibri" pitchFamily="34" charset="0"/>
                <a:ea typeface="Calibri" pitchFamily="34" charset="-122"/>
                <a:cs typeface="Calibri" pitchFamily="34" charset="-120"/>
              </a:rPr>
              <a:t>rPET</a:t>
            </a: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 and paper-based packaging to reduce packaging waste.</a:t>
            </a:r>
          </a:p>
          <a:p>
            <a:pPr marL="800100" marR="0" lvl="1" indent="-342900" algn="l" defTabSz="914400" rtl="0" eaLnBrk="1" fontAlgn="auto" latinLnBrk="0" hangingPunct="1">
              <a:lnSpc>
                <a:spcPct val="100000"/>
              </a:lnSpc>
              <a:spcBef>
                <a:spcPts val="0"/>
              </a:spcBef>
              <a:spcAft>
                <a:spcPts val="1400"/>
              </a:spcAft>
              <a:buClrTx/>
              <a:buSzPct val="100000"/>
              <a:buFont typeface="+mj-lt"/>
              <a:buAutoNum type="arabicPeriod"/>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Packaging designs increasingly support circular economy principles through improved recyclability and recycled content.</a:t>
            </a:r>
          </a:p>
          <a:p>
            <a:pPr marL="203200" marR="0" lvl="0" indent="-203200" algn="l" defTabSz="914400" rtl="0" eaLnBrk="1" fontAlgn="auto" latinLnBrk="0" hangingPunct="1">
              <a:lnSpc>
                <a:spcPct val="100000"/>
              </a:lnSpc>
              <a:spcBef>
                <a:spcPts val="0"/>
              </a:spcBef>
              <a:spcAft>
                <a:spcPts val="1400"/>
              </a:spcAft>
              <a:buClrTx/>
              <a:buSzPct val="100000"/>
              <a:buFontTx/>
              <a:buChar char="●"/>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Clean-Label Formulations</a:t>
            </a:r>
          </a:p>
          <a:p>
            <a:pPr marL="800100" marR="0" lvl="1" indent="-342900" algn="l" defTabSz="914400" rtl="0" eaLnBrk="1" fontAlgn="auto" latinLnBrk="0" hangingPunct="1">
              <a:lnSpc>
                <a:spcPct val="100000"/>
              </a:lnSpc>
              <a:spcBef>
                <a:spcPts val="0"/>
              </a:spcBef>
              <a:spcAft>
                <a:spcPts val="1400"/>
              </a:spcAft>
              <a:buClrTx/>
              <a:buSzPct val="100000"/>
              <a:buFont typeface="+mj-lt"/>
              <a:buAutoNum type="arabicPeriod"/>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Consumers increasingly prefer beverages with recognizable ingredients and shorter ingredient lists.</a:t>
            </a:r>
          </a:p>
          <a:p>
            <a:pPr marL="800100" marR="0" lvl="1" indent="-342900" algn="l" defTabSz="914400" rtl="0" eaLnBrk="1" fontAlgn="auto" latinLnBrk="0" hangingPunct="1">
              <a:lnSpc>
                <a:spcPct val="100000"/>
              </a:lnSpc>
              <a:spcBef>
                <a:spcPts val="0"/>
              </a:spcBef>
              <a:spcAft>
                <a:spcPts val="1400"/>
              </a:spcAft>
              <a:buClrTx/>
              <a:buSzPct val="100000"/>
              <a:buFont typeface="+mj-lt"/>
              <a:buAutoNum type="arabicPeriod"/>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Manufacturers are reducing artificial colors, flavors, preservatives, and added sugars while incorporating naturally derived ingredients.</a:t>
            </a:r>
          </a:p>
          <a:p>
            <a:pPr marL="203200" marR="0" lvl="0" indent="-203200" algn="l" defTabSz="914400" rtl="0" eaLnBrk="1" fontAlgn="auto" latinLnBrk="0" hangingPunct="1">
              <a:lnSpc>
                <a:spcPct val="100000"/>
              </a:lnSpc>
              <a:spcBef>
                <a:spcPts val="0"/>
              </a:spcBef>
              <a:spcAft>
                <a:spcPts val="1400"/>
              </a:spcAft>
              <a:buClrTx/>
              <a:buSzPct val="100000"/>
              <a:buFontTx/>
              <a:buChar char="●"/>
              <a:tabLst/>
              <a:defRPr/>
            </a:pPr>
            <a:r>
              <a:rPr kumimoji="0" lang="en-US" sz="14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Responsible Ingredient Sourcing</a:t>
            </a:r>
          </a:p>
          <a:p>
            <a:pPr marL="800100" marR="0" lvl="1" indent="-342900" algn="l" defTabSz="914400" rtl="0" eaLnBrk="1" fontAlgn="auto" latinLnBrk="0" hangingPunct="1">
              <a:lnSpc>
                <a:spcPct val="100000"/>
              </a:lnSpc>
              <a:spcBef>
                <a:spcPts val="0"/>
              </a:spcBef>
              <a:spcAft>
                <a:spcPts val="1400"/>
              </a:spcAft>
              <a:buClrTx/>
              <a:buSzPct val="100000"/>
              <a:buFont typeface="+mj-lt"/>
              <a:buAutoNum type="arabicPeriod"/>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Companies are strengthening supplier traceability to ensure ingredient authenticity, quality, and food safety.</a:t>
            </a:r>
          </a:p>
          <a:p>
            <a:pPr marL="800100" marR="0" lvl="1" indent="-342900" algn="l" defTabSz="914400" rtl="0" eaLnBrk="1" fontAlgn="auto" latinLnBrk="0" hangingPunct="1">
              <a:lnSpc>
                <a:spcPct val="100000"/>
              </a:lnSpc>
              <a:spcBef>
                <a:spcPts val="0"/>
              </a:spcBef>
              <a:spcAft>
                <a:spcPts val="1400"/>
              </a:spcAft>
              <a:buClrTx/>
              <a:buSzPct val="100000"/>
              <a:buFont typeface="+mj-lt"/>
              <a:buAutoNum type="arabicPeriod"/>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Sustainable agricultural practices are increasingly adopted for botanical ingredients, fruits, and plant-based raw materials.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543800" y="1417320"/>
            <a:ext cx="4044352" cy="2213969"/>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726680" y="1188558"/>
            <a:ext cx="3749040" cy="134531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mbria" pitchFamily="34" charset="-122"/>
                <a:cs typeface="Cambria" pitchFamily="34" charset="-120"/>
              </a:rPr>
              <a:t>Water Stewardship</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726680" y="2141549"/>
            <a:ext cx="3749040" cy="978408"/>
          </a:xfrm>
          <a:prstGeom prst="rect">
            <a:avLst/>
          </a:prstGeom>
          <a:noFill/>
          <a:ln/>
        </p:spPr>
        <p:txBody>
          <a:bodyPr wrap="square" rtlCol="0" anchor="t"/>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Beverage manufacturers are improving water-use efficiency throughout production processes.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Water risk assessments are becoming increasingly important in water-stressed regions.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7543800" y="3910794"/>
            <a:ext cx="4044352" cy="2213969"/>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726680" y="3595774"/>
            <a:ext cx="3749040" cy="134531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6B35"/>
                </a:solidFill>
                <a:effectLst/>
                <a:uLnTx/>
                <a:uFillTx/>
                <a:latin typeface="Calibri" pitchFamily="34" charset="0"/>
                <a:ea typeface="Cambria" pitchFamily="34" charset="-122"/>
                <a:cs typeface="Cambria" pitchFamily="34" charset="-120"/>
              </a:rPr>
              <a:t>Carbon &amp; Climate Initiatives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26680" y="4633289"/>
            <a:ext cx="3749040" cy="978408"/>
          </a:xfrm>
          <a:prstGeom prst="rect">
            <a:avLst/>
          </a:prstGeom>
          <a:noFill/>
          <a:ln/>
        </p:spPr>
        <p:txBody>
          <a:bodyPr wrap="square" rtlCol="0" anchor="t"/>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Manufacturers are setting greenhouse gas reduction targets aligned with corporate sustainability commitments.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Renewable energy adoption and energy-efficient manufacturing are expanding across production facilities.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1">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p:cNvSpPr/>
          <p:nvPr/>
        </p:nvSpPr>
        <p:spPr>
          <a:xfrm>
            <a:off x="-1645920" y="4846320"/>
            <a:ext cx="3840480" cy="3840480"/>
          </a:xfrm>
          <a:prstGeom prst="ellipse">
            <a:avLst/>
          </a:prstGeom>
          <a:solidFill>
            <a:srgbClr val="062E2A"/>
          </a:solidFill>
          <a:ln/>
        </p:spPr>
        <p:txBody>
          <a:bodyPr/>
          <a:lstStyle/>
          <a:p>
            <a:endParaRPr lang="en-IN"/>
          </a:p>
        </p:txBody>
      </p:sp>
      <p:sp>
        <p:nvSpPr>
          <p:cNvPr id="4" name="Text 2"/>
          <p:cNvSpPr/>
          <p:nvPr/>
        </p:nvSpPr>
        <p:spPr>
          <a:xfrm>
            <a:off x="822960" y="2331720"/>
            <a:ext cx="5486400" cy="457200"/>
          </a:xfrm>
          <a:prstGeom prst="rect">
            <a:avLst/>
          </a:prstGeom>
          <a:noFill/>
          <a:ln/>
        </p:spPr>
        <p:txBody>
          <a:bodyPr wrap="square" rtlCol="0" anchor="ctr"/>
          <a:lstStyle/>
          <a:p>
            <a:pPr marL="0" indent="0">
              <a:buNone/>
            </a:pPr>
            <a:r>
              <a:rPr lang="en-US" sz="1400" b="1" kern="0" spc="200" dirty="0">
                <a:solidFill>
                  <a:srgbClr val="FF6B35"/>
                </a:solidFill>
                <a:latin typeface="Calibri" pitchFamily="34" charset="0"/>
                <a:ea typeface="Calibri" pitchFamily="34" charset="-122"/>
                <a:cs typeface="Calibri" pitchFamily="34" charset="-120"/>
              </a:rPr>
              <a:t>PART 03</a:t>
            </a:r>
            <a:endParaRPr lang="en-US" sz="1500" dirty="0"/>
          </a:p>
        </p:txBody>
      </p:sp>
      <p:sp>
        <p:nvSpPr>
          <p:cNvPr id="5" name="Text 3"/>
          <p:cNvSpPr/>
          <p:nvPr/>
        </p:nvSpPr>
        <p:spPr>
          <a:xfrm>
            <a:off x="822960" y="2743200"/>
            <a:ext cx="9875520" cy="14630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Market Segmentation</a:t>
            </a:r>
            <a:endParaRPr lang="en-US" sz="3400" dirty="0"/>
          </a:p>
        </p:txBody>
      </p:sp>
      <p:sp>
        <p:nvSpPr>
          <p:cNvPr id="6" name="Text 4"/>
          <p:cNvSpPr/>
          <p:nvPr/>
        </p:nvSpPr>
        <p:spPr>
          <a:xfrm>
            <a:off x="822960" y="4114800"/>
            <a:ext cx="8686800" cy="731520"/>
          </a:xfrm>
          <a:prstGeom prst="rect">
            <a:avLst/>
          </a:prstGeom>
          <a:noFill/>
          <a:ln/>
        </p:spPr>
        <p:txBody>
          <a:bodyPr wrap="square" rtlCol="0" anchor="ctr"/>
          <a:lstStyle/>
          <a:p>
            <a:pPr marL="0" indent="0">
              <a:buNone/>
            </a:pPr>
            <a:r>
              <a:rPr lang="en-US" sz="1200" i="1" dirty="0">
                <a:solidFill>
                  <a:srgbClr val="EAF5F1"/>
                </a:solidFill>
                <a:latin typeface="Calibri" pitchFamily="34" charset="0"/>
                <a:ea typeface="Calibri" pitchFamily="34" charset="-122"/>
                <a:cs typeface="Calibri" pitchFamily="34" charset="-120"/>
              </a:rPr>
              <a:t>Breaking down the market by product type, ingredient, packaging, channel, and end user</a:t>
            </a:r>
            <a:endParaRPr lang="en-US" sz="135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Segmentation Overview</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functional beverage market is analyzed across five key dimensions</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2639385635"/>
              </p:ext>
            </p:extLst>
          </p:nvPr>
        </p:nvGraphicFramePr>
        <p:xfrm>
          <a:off x="646980" y="1371600"/>
          <a:ext cx="10938296" cy="4813255"/>
        </p:xfrm>
        <a:graphic>
          <a:graphicData uri="http://schemas.openxmlformats.org/drawingml/2006/table">
            <a:tbl>
              <a:tblPr/>
              <a:tblGrid>
                <a:gridCol w="5469148">
                  <a:extLst>
                    <a:ext uri="{9D8B030D-6E8A-4147-A177-3AD203B41FA5}">
                      <a16:colId xmlns:a16="http://schemas.microsoft.com/office/drawing/2014/main" val="20000"/>
                    </a:ext>
                  </a:extLst>
                </a:gridCol>
                <a:gridCol w="5469148">
                  <a:extLst>
                    <a:ext uri="{9D8B030D-6E8A-4147-A177-3AD203B41FA5}">
                      <a16:colId xmlns:a16="http://schemas.microsoft.com/office/drawing/2014/main" val="20001"/>
                    </a:ext>
                  </a:extLst>
                </a:gridCol>
              </a:tblGrid>
              <a:tr h="332695">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Segment</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Key Categories</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951681">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By Product Type</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Energy Drinks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Sports &amp; Performance Drinks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Fortified Juices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Functional Water</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Others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51681">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By Ingredient Type</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Vitamins &amp; Minerals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Probiotics &amp; Prebiotics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Amino Acids &amp; Protein</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Caffeine &amp; Botanicals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Adaptogens &amp; Nootropics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778648">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By Packaging</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PET Bottles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Cans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Cartons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Pouches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8648">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By Distribution Channel</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Supermarkets/Hypermarkets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Convenience Stores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Online/E-commerce</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Specialty &amp; Health Stores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r h="778648">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By End User</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Gen Z</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Millennials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Athletes &amp; Fitness Enthusiasts</a:t>
                      </a:r>
                    </a:p>
                    <a:p>
                      <a:pPr marL="171450" indent="-171450" algn="l">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Aging Population</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4F4A"/>
        </a:solidFill>
        <a:effectLst/>
      </p:bgPr>
    </p:bg>
    <p:spTree>
      <p:nvGrpSpPr>
        <p:cNvPr id="1" name="">
          <a:extLst>
            <a:ext uri="{FF2B5EF4-FFF2-40B4-BE49-F238E27FC236}">
              <a16:creationId xmlns:a16="http://schemas.microsoft.com/office/drawing/2014/main" id="{7A3183A7-DA41-0C99-6953-9DFDD08E64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572334-DB79-2229-812E-AD2F6913685A}"/>
              </a:ext>
            </a:extLst>
          </p:cNvPr>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a:extLst>
              <a:ext uri="{FF2B5EF4-FFF2-40B4-BE49-F238E27FC236}">
                <a16:creationId xmlns:a16="http://schemas.microsoft.com/office/drawing/2014/main" id="{829BF631-C279-DC90-9715-402584395213}"/>
              </a:ext>
            </a:extLst>
          </p:cNvPr>
          <p:cNvSpPr/>
          <p:nvPr/>
        </p:nvSpPr>
        <p:spPr>
          <a:xfrm>
            <a:off x="-1645920" y="4846320"/>
            <a:ext cx="3840480" cy="3840480"/>
          </a:xfrm>
          <a:prstGeom prst="ellipse">
            <a:avLst/>
          </a:prstGeom>
          <a:solidFill>
            <a:srgbClr val="062E2A"/>
          </a:solidFill>
          <a:ln/>
        </p:spPr>
        <p:txBody>
          <a:bodyPr/>
          <a:lstStyle/>
          <a:p>
            <a:endParaRPr lang="en-IN"/>
          </a:p>
        </p:txBody>
      </p:sp>
      <p:sp>
        <p:nvSpPr>
          <p:cNvPr id="5" name="Text 3">
            <a:extLst>
              <a:ext uri="{FF2B5EF4-FFF2-40B4-BE49-F238E27FC236}">
                <a16:creationId xmlns:a16="http://schemas.microsoft.com/office/drawing/2014/main" id="{B9A5F3F8-D152-F460-1548-6AE6E531C684}"/>
              </a:ext>
            </a:extLst>
          </p:cNvPr>
          <p:cNvSpPr/>
          <p:nvPr/>
        </p:nvSpPr>
        <p:spPr>
          <a:xfrm>
            <a:off x="822960" y="2175027"/>
            <a:ext cx="987552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Product Type Analysis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FA661E8B-057F-10C3-4679-30742EE7A829}"/>
              </a:ext>
            </a:extLst>
          </p:cNvPr>
          <p:cNvSpPr/>
          <p:nvPr/>
        </p:nvSpPr>
        <p:spPr>
          <a:xfrm>
            <a:off x="822960" y="3386834"/>
            <a:ext cx="8686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AF5F1"/>
                </a:solidFill>
                <a:effectLst/>
                <a:uLnTx/>
                <a:uFillTx/>
                <a:latin typeface="Calibri" pitchFamily="34" charset="0"/>
                <a:ea typeface="Calibri" pitchFamily="34" charset="-122"/>
                <a:cs typeface="Calibri" pitchFamily="34" charset="-120"/>
              </a:rPr>
              <a:t>Detailed explanation of major product categories, including Energy Drinks, Sports &amp; Performance Drinks, Fortified Juices, Functional Water, and Other Functional Beverages, emphasizing their composition, functional benefits, intended purpose, and consumer applications across different health and lifestyle needs.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9D56ABFB-5FCF-DBB1-C882-F001072C2BFB}"/>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4752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Value by Product Type, 2025 vs. 2036</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Energy drinks are expected to maintain market leadership through 2036, while functional water and sports beverages record strong long-term growth.</a:t>
            </a:r>
            <a:endParaRPr lang="en-US" sz="1250" dirty="0"/>
          </a:p>
        </p:txBody>
      </p:sp>
      <p:graphicFrame>
        <p:nvGraphicFramePr>
          <p:cNvPr id="4" name="Chart 0"/>
          <p:cNvGraphicFramePr/>
          <p:nvPr>
            <p:extLst>
              <p:ext uri="{D42A27DB-BD31-4B8C-83A1-F6EECF244321}">
                <p14:modId xmlns:p14="http://schemas.microsoft.com/office/powerpoint/2010/main" val="845415104"/>
              </p:ext>
            </p:extLst>
          </p:nvPr>
        </p:nvGraphicFramePr>
        <p:xfrm>
          <a:off x="577970" y="1417320"/>
          <a:ext cx="11007304"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Product Type Analysis (1/3)</a:t>
            </a:r>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Performance-focused beverages continue to evolve through cleaner formulations, functional ingredients, and regulatory-compliant innovation that supports energy, hydration, and active lifestyles.</a:t>
            </a:r>
            <a:endParaRPr lang="en-US" sz="1250" dirty="0"/>
          </a:p>
        </p:txBody>
      </p:sp>
      <p:sp>
        <p:nvSpPr>
          <p:cNvPr id="4" name="Text 2"/>
          <p:cNvSpPr/>
          <p:nvPr/>
        </p:nvSpPr>
        <p:spPr>
          <a:xfrm>
            <a:off x="623684" y="196681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Energy drinks are formulated with ingredients such as caffeine, vitamins, amino acids (e.g., taurine), and other approved functional ingredients to help improve alertness and reduce fatigue. Their composition and labeling must comply with applicable food safety and ingredient regulations.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are increasingly reformulating products with reduced sugar, natural caffeine sources, and transparent ingredient labeling to align with evolving nutrition guidelines and consumer preferences.</a:t>
            </a:r>
            <a:endParaRPr lang="en-US" sz="1200" dirty="0"/>
          </a:p>
        </p:txBody>
      </p:sp>
      <p:sp>
        <p:nvSpPr>
          <p:cNvPr id="11" name="Text 9"/>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C07A21E5-B58F-2DCE-92FE-6527FBEDEE1B}"/>
              </a:ext>
            </a:extLst>
          </p:cNvPr>
          <p:cNvGrpSpPr/>
          <p:nvPr/>
        </p:nvGrpSpPr>
        <p:grpSpPr>
          <a:xfrm>
            <a:off x="632602" y="1383133"/>
            <a:ext cx="4413600" cy="504000"/>
            <a:chOff x="6172200" y="896112"/>
            <a:chExt cx="5486400" cy="411480"/>
          </a:xfrm>
        </p:grpSpPr>
        <p:sp>
          <p:nvSpPr>
            <p:cNvPr id="16" name="Shape 7">
              <a:extLst>
                <a:ext uri="{FF2B5EF4-FFF2-40B4-BE49-F238E27FC236}">
                  <a16:creationId xmlns:a16="http://schemas.microsoft.com/office/drawing/2014/main" id="{31D10589-8E96-1C4F-188D-E631351EC622}"/>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17" name="Text 8">
              <a:extLst>
                <a:ext uri="{FF2B5EF4-FFF2-40B4-BE49-F238E27FC236}">
                  <a16:creationId xmlns:a16="http://schemas.microsoft.com/office/drawing/2014/main" id="{723B7FA2-24D8-2B50-1DBB-822E9A4F470C}"/>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Energy Drinks</a:t>
              </a:r>
              <a:endParaRPr lang="en-US" sz="1400" dirty="0"/>
            </a:p>
          </p:txBody>
        </p:sp>
      </p:grpSp>
      <p:sp>
        <p:nvSpPr>
          <p:cNvPr id="21" name="Text 2">
            <a:extLst>
              <a:ext uri="{FF2B5EF4-FFF2-40B4-BE49-F238E27FC236}">
                <a16:creationId xmlns:a16="http://schemas.microsoft.com/office/drawing/2014/main" id="{82CB5E46-F60F-D7DA-15FD-506D6BBF8BA1}"/>
              </a:ext>
            </a:extLst>
          </p:cNvPr>
          <p:cNvSpPr/>
          <p:nvPr/>
        </p:nvSpPr>
        <p:spPr>
          <a:xfrm>
            <a:off x="623684" y="4329180"/>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Sports and performance drinks are designed to replace fluids, electrolytes, and carbohydrates lost during prolonged physical activity, supporting hydration and exercise performance.</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Product development increasingly emphasizes balanced electrolyte formulations, reduced added sugars, and functional ingredients that support active lifestyles while meeting regulatory nutrition standards.</a:t>
            </a:r>
            <a:endParaRPr lang="en-US" sz="1200" dirty="0"/>
          </a:p>
        </p:txBody>
      </p:sp>
      <p:grpSp>
        <p:nvGrpSpPr>
          <p:cNvPr id="22" name="Group 21">
            <a:extLst>
              <a:ext uri="{FF2B5EF4-FFF2-40B4-BE49-F238E27FC236}">
                <a16:creationId xmlns:a16="http://schemas.microsoft.com/office/drawing/2014/main" id="{91E6D393-C1A2-16CA-1961-0F1D012DD869}"/>
              </a:ext>
            </a:extLst>
          </p:cNvPr>
          <p:cNvGrpSpPr/>
          <p:nvPr/>
        </p:nvGrpSpPr>
        <p:grpSpPr>
          <a:xfrm>
            <a:off x="632602" y="3745495"/>
            <a:ext cx="4413600" cy="504000"/>
            <a:chOff x="6172200" y="896112"/>
            <a:chExt cx="5486400" cy="411480"/>
          </a:xfrm>
        </p:grpSpPr>
        <p:sp>
          <p:nvSpPr>
            <p:cNvPr id="23" name="Shape 7">
              <a:extLst>
                <a:ext uri="{FF2B5EF4-FFF2-40B4-BE49-F238E27FC236}">
                  <a16:creationId xmlns:a16="http://schemas.microsoft.com/office/drawing/2014/main" id="{B84757AC-B9A1-C985-515C-731AF3C5C38B}"/>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24" name="Text 8">
              <a:extLst>
                <a:ext uri="{FF2B5EF4-FFF2-40B4-BE49-F238E27FC236}">
                  <a16:creationId xmlns:a16="http://schemas.microsoft.com/office/drawing/2014/main" id="{F3068B45-08D9-028D-49B3-A14C47320FC8}"/>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Sports &amp; Performance Drinks</a:t>
              </a:r>
            </a:p>
          </p:txBody>
        </p:sp>
      </p:grpSp>
      <p:pic>
        <p:nvPicPr>
          <p:cNvPr id="38" name="Picture 37">
            <a:extLst>
              <a:ext uri="{FF2B5EF4-FFF2-40B4-BE49-F238E27FC236}">
                <a16:creationId xmlns:a16="http://schemas.microsoft.com/office/drawing/2014/main" id="{F79B55C2-B902-0139-916F-6E9AD72D9CBA}"/>
              </a:ext>
            </a:extLst>
          </p:cNvPr>
          <p:cNvPicPr>
            <a:picLocks noChangeAspect="1"/>
          </p:cNvPicPr>
          <p:nvPr/>
        </p:nvPicPr>
        <p:blipFill>
          <a:blip r:embed="rId3"/>
          <a:stretch>
            <a:fillRect/>
          </a:stretch>
        </p:blipFill>
        <p:spPr>
          <a:xfrm>
            <a:off x="8179138" y="4187879"/>
            <a:ext cx="3290988" cy="2196000"/>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117800E0-467F-452D-F46F-F5674BAEFE73}"/>
              </a:ext>
            </a:extLst>
          </p:cNvPr>
          <p:cNvPicPr>
            <a:picLocks noChangeAspect="1"/>
          </p:cNvPicPr>
          <p:nvPr/>
        </p:nvPicPr>
        <p:blipFill>
          <a:blip r:embed="rId4"/>
          <a:stretch>
            <a:fillRect/>
          </a:stretch>
        </p:blipFill>
        <p:spPr>
          <a:xfrm>
            <a:off x="8179146" y="1294822"/>
            <a:ext cx="3287972" cy="2196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4C9CD-D64E-B006-981A-F67B26143B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DE9B63-96BA-AEBF-A0C3-2484BF4AF28F}"/>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Product Type Analysis (2/3)</a:t>
            </a:r>
          </a:p>
        </p:txBody>
      </p:sp>
      <p:sp>
        <p:nvSpPr>
          <p:cNvPr id="3" name="Text 1">
            <a:extLst>
              <a:ext uri="{FF2B5EF4-FFF2-40B4-BE49-F238E27FC236}">
                <a16:creationId xmlns:a16="http://schemas.microsoft.com/office/drawing/2014/main" id="{9F725F8B-0EC3-878B-994A-E7861F0B33AA}"/>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Health-oriented beverage categories are expanding with nutrient fortification, enhanced hydration, and clean-label formulations that address evolving consumer wellness preferences.</a:t>
            </a:r>
            <a:endParaRPr lang="en-US" sz="1250" dirty="0"/>
          </a:p>
        </p:txBody>
      </p:sp>
      <p:sp>
        <p:nvSpPr>
          <p:cNvPr id="4" name="Text 2">
            <a:extLst>
              <a:ext uri="{FF2B5EF4-FFF2-40B4-BE49-F238E27FC236}">
                <a16:creationId xmlns:a16="http://schemas.microsoft.com/office/drawing/2014/main" id="{763A28C4-14DE-BE56-E925-8276D438777B}"/>
              </a:ext>
            </a:extLst>
          </p:cNvPr>
          <p:cNvSpPr/>
          <p:nvPr/>
        </p:nvSpPr>
        <p:spPr>
          <a:xfrm>
            <a:off x="623684" y="1897810"/>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Fortified juices contain added vitamins, minerals, or other permitted nutrients to enhance nutritional value while complying with food fortification and labeling regulations.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are expanding offerings with vitamin C, vitamin D, calcium, and other essential micronutrients to support balanced dietary intake.</a:t>
            </a:r>
          </a:p>
        </p:txBody>
      </p:sp>
      <p:sp>
        <p:nvSpPr>
          <p:cNvPr id="11" name="Text 9">
            <a:extLst>
              <a:ext uri="{FF2B5EF4-FFF2-40B4-BE49-F238E27FC236}">
                <a16:creationId xmlns:a16="http://schemas.microsoft.com/office/drawing/2014/main" id="{32EC2519-2BED-CF83-C126-0C7BCEBE076C}"/>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292E6425-90AC-BBBE-6547-F0CEE0F7058C}"/>
              </a:ext>
            </a:extLst>
          </p:cNvPr>
          <p:cNvGrpSpPr/>
          <p:nvPr/>
        </p:nvGrpSpPr>
        <p:grpSpPr>
          <a:xfrm>
            <a:off x="623976" y="1383133"/>
            <a:ext cx="4413600" cy="504000"/>
            <a:chOff x="6172200" y="896112"/>
            <a:chExt cx="5486400" cy="411480"/>
          </a:xfrm>
        </p:grpSpPr>
        <p:sp>
          <p:nvSpPr>
            <p:cNvPr id="16" name="Shape 7">
              <a:extLst>
                <a:ext uri="{FF2B5EF4-FFF2-40B4-BE49-F238E27FC236}">
                  <a16:creationId xmlns:a16="http://schemas.microsoft.com/office/drawing/2014/main" id="{A5A186EA-EAA0-EFBA-8396-36B9082C9F15}"/>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0FBE3E32-2372-42A5-21BC-652E9A160334}"/>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Fortified Juices</a:t>
              </a:r>
            </a:p>
          </p:txBody>
        </p:sp>
      </p:grpSp>
      <p:sp>
        <p:nvSpPr>
          <p:cNvPr id="21" name="Text 2">
            <a:extLst>
              <a:ext uri="{FF2B5EF4-FFF2-40B4-BE49-F238E27FC236}">
                <a16:creationId xmlns:a16="http://schemas.microsoft.com/office/drawing/2014/main" id="{99B2C358-0B78-EBE9-0139-7393C5E7B25D}"/>
              </a:ext>
            </a:extLst>
          </p:cNvPr>
          <p:cNvSpPr/>
          <p:nvPr/>
        </p:nvSpPr>
        <p:spPr>
          <a:xfrm>
            <a:off x="623684" y="4329180"/>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Functional water combines hydration with added electrolytes, vitamins, minerals, or other approved functional ingredients to provide nutritional benefits beyond basic hydration.</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emphasize low-calorie, sugar-free, and clean-label formulations that align with healthy dietary recommendations.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Innovation is focused on enhanced hydration, ingredient transparency, and environmentally sustainable packaging to address evolving consumer expectations.</a:t>
            </a:r>
          </a:p>
        </p:txBody>
      </p:sp>
      <p:grpSp>
        <p:nvGrpSpPr>
          <p:cNvPr id="22" name="Group 21">
            <a:extLst>
              <a:ext uri="{FF2B5EF4-FFF2-40B4-BE49-F238E27FC236}">
                <a16:creationId xmlns:a16="http://schemas.microsoft.com/office/drawing/2014/main" id="{73F07B25-A8F8-F589-C62E-0C12DF7B23CA}"/>
              </a:ext>
            </a:extLst>
          </p:cNvPr>
          <p:cNvGrpSpPr/>
          <p:nvPr/>
        </p:nvGrpSpPr>
        <p:grpSpPr>
          <a:xfrm>
            <a:off x="623976" y="3745495"/>
            <a:ext cx="4413600" cy="504000"/>
            <a:chOff x="6172200" y="896112"/>
            <a:chExt cx="5486400" cy="411480"/>
          </a:xfrm>
        </p:grpSpPr>
        <p:sp>
          <p:nvSpPr>
            <p:cNvPr id="23" name="Shape 7">
              <a:extLst>
                <a:ext uri="{FF2B5EF4-FFF2-40B4-BE49-F238E27FC236}">
                  <a16:creationId xmlns:a16="http://schemas.microsoft.com/office/drawing/2014/main" id="{B4019FA7-BB54-C778-388E-C940813E738B}"/>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46146787-9064-3F3D-BEE4-99E9F9D19184}"/>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Functional Water</a:t>
              </a:r>
            </a:p>
          </p:txBody>
        </p:sp>
      </p:grpSp>
      <p:pic>
        <p:nvPicPr>
          <p:cNvPr id="19" name="Picture 18">
            <a:extLst>
              <a:ext uri="{FF2B5EF4-FFF2-40B4-BE49-F238E27FC236}">
                <a16:creationId xmlns:a16="http://schemas.microsoft.com/office/drawing/2014/main" id="{652F0FA5-FA1C-83C4-F808-26E8036D05C5}"/>
              </a:ext>
            </a:extLst>
          </p:cNvPr>
          <p:cNvPicPr>
            <a:picLocks noChangeAspect="1"/>
          </p:cNvPicPr>
          <p:nvPr/>
        </p:nvPicPr>
        <p:blipFill>
          <a:blip r:embed="rId3"/>
          <a:stretch>
            <a:fillRect/>
          </a:stretch>
        </p:blipFill>
        <p:spPr>
          <a:xfrm>
            <a:off x="8171086" y="4098709"/>
            <a:ext cx="3241661" cy="2289390"/>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109DFEC0-6067-F614-61C6-4AEECDCB700E}"/>
              </a:ext>
            </a:extLst>
          </p:cNvPr>
          <p:cNvPicPr>
            <a:picLocks noChangeAspect="1"/>
          </p:cNvPicPr>
          <p:nvPr/>
        </p:nvPicPr>
        <p:blipFill>
          <a:blip r:embed="rId4"/>
          <a:srcRect b="10495"/>
          <a:stretch>
            <a:fillRect/>
          </a:stretch>
        </p:blipFill>
        <p:spPr>
          <a:xfrm>
            <a:off x="8159513" y="1340002"/>
            <a:ext cx="3241095"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80719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02EB4-297A-150F-F9A4-A0604D27BF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58928E-5BCC-EE5E-4401-E576E410EC73}"/>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Product Type Analysis (3/3)</a:t>
            </a:r>
          </a:p>
        </p:txBody>
      </p:sp>
      <p:sp>
        <p:nvSpPr>
          <p:cNvPr id="3" name="Text 1">
            <a:extLst>
              <a:ext uri="{FF2B5EF4-FFF2-40B4-BE49-F238E27FC236}">
                <a16:creationId xmlns:a16="http://schemas.microsoft.com/office/drawing/2014/main" id="{0D55EE09-FFF3-2C21-D689-165DE5A4AD8C}"/>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Emerging functional beverages are driving category diversification through scientifically supported ingredients, personalized nutrition, and continuous product innovation.</a:t>
            </a:r>
            <a:endParaRPr lang="en-US" sz="1250" dirty="0"/>
          </a:p>
        </p:txBody>
      </p:sp>
      <p:sp>
        <p:nvSpPr>
          <p:cNvPr id="4" name="Text 2">
            <a:extLst>
              <a:ext uri="{FF2B5EF4-FFF2-40B4-BE49-F238E27FC236}">
                <a16:creationId xmlns:a16="http://schemas.microsoft.com/office/drawing/2014/main" id="{D24FB7B6-C3CC-79D0-8620-4426C6B08077}"/>
              </a:ext>
            </a:extLst>
          </p:cNvPr>
          <p:cNvSpPr/>
          <p:nvPr/>
        </p:nvSpPr>
        <p:spPr>
          <a:xfrm>
            <a:off x="571928" y="1975444"/>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This segment includes beverages formulated with probiotics, botanical extracts, plant proteins, fermented ingredients, and other scientifically supported functional components.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continue investing in research-driven product innovation, clean-label ingredients, and personalized nutrition solutions across emerging beverage categories.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Regulatory compliance for novel ingredients, food safety, nutrition labeling, and health claims remains essential for successful commercialization.</a:t>
            </a:r>
            <a:endParaRPr lang="en-US" sz="1200" dirty="0"/>
          </a:p>
        </p:txBody>
      </p:sp>
      <p:sp>
        <p:nvSpPr>
          <p:cNvPr id="11" name="Text 9">
            <a:extLst>
              <a:ext uri="{FF2B5EF4-FFF2-40B4-BE49-F238E27FC236}">
                <a16:creationId xmlns:a16="http://schemas.microsoft.com/office/drawing/2014/main" id="{87ED57AF-3A08-1E65-3C1D-5D5A3114DC9C}"/>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84A8DB30-41E2-1E7D-1DAE-2C4A82BD402D}"/>
              </a:ext>
            </a:extLst>
          </p:cNvPr>
          <p:cNvGrpSpPr/>
          <p:nvPr/>
        </p:nvGrpSpPr>
        <p:grpSpPr>
          <a:xfrm>
            <a:off x="623976" y="1391759"/>
            <a:ext cx="4413600" cy="504000"/>
            <a:chOff x="6172200" y="896112"/>
            <a:chExt cx="5486400" cy="411480"/>
          </a:xfrm>
        </p:grpSpPr>
        <p:sp>
          <p:nvSpPr>
            <p:cNvPr id="16" name="Shape 7">
              <a:extLst>
                <a:ext uri="{FF2B5EF4-FFF2-40B4-BE49-F238E27FC236}">
                  <a16:creationId xmlns:a16="http://schemas.microsoft.com/office/drawing/2014/main" id="{6DBA7F83-5117-ADCD-DED2-D1201CA1DCFC}"/>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17" name="Text 8">
              <a:extLst>
                <a:ext uri="{FF2B5EF4-FFF2-40B4-BE49-F238E27FC236}">
                  <a16:creationId xmlns:a16="http://schemas.microsoft.com/office/drawing/2014/main" id="{20F5D8CC-8504-C620-E199-C52E1862B037}"/>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Others</a:t>
              </a:r>
            </a:p>
          </p:txBody>
        </p:sp>
      </p:grpSp>
      <p:pic>
        <p:nvPicPr>
          <p:cNvPr id="10" name="Picture 9">
            <a:extLst>
              <a:ext uri="{FF2B5EF4-FFF2-40B4-BE49-F238E27FC236}">
                <a16:creationId xmlns:a16="http://schemas.microsoft.com/office/drawing/2014/main" id="{F17EC8B3-A295-BDE3-C095-93BE9FDDE048}"/>
              </a:ext>
            </a:extLst>
          </p:cNvPr>
          <p:cNvPicPr>
            <a:picLocks noChangeAspect="1"/>
          </p:cNvPicPr>
          <p:nvPr/>
        </p:nvPicPr>
        <p:blipFill>
          <a:blip r:embed="rId3"/>
          <a:stretch>
            <a:fillRect/>
          </a:stretch>
        </p:blipFill>
        <p:spPr>
          <a:xfrm>
            <a:off x="8155838" y="1667339"/>
            <a:ext cx="3294000"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386232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4F4A"/>
        </a:solidFill>
        <a:effectLst/>
      </p:bgPr>
    </p:bg>
    <p:spTree>
      <p:nvGrpSpPr>
        <p:cNvPr id="1" name="">
          <a:extLst>
            <a:ext uri="{FF2B5EF4-FFF2-40B4-BE49-F238E27FC236}">
              <a16:creationId xmlns:a16="http://schemas.microsoft.com/office/drawing/2014/main" id="{06BF1256-6A02-69C8-3DCA-6B27FA34F3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F5FBD3-DFE4-EDF9-9CC2-CC1C321DA4CD}"/>
              </a:ext>
            </a:extLst>
          </p:cNvPr>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a:extLst>
              <a:ext uri="{FF2B5EF4-FFF2-40B4-BE49-F238E27FC236}">
                <a16:creationId xmlns:a16="http://schemas.microsoft.com/office/drawing/2014/main" id="{1FD1D6CD-AB3B-43E7-48D5-845BCA4830F3}"/>
              </a:ext>
            </a:extLst>
          </p:cNvPr>
          <p:cNvSpPr/>
          <p:nvPr/>
        </p:nvSpPr>
        <p:spPr>
          <a:xfrm>
            <a:off x="-1645920" y="4846320"/>
            <a:ext cx="3840480" cy="3840480"/>
          </a:xfrm>
          <a:prstGeom prst="ellipse">
            <a:avLst/>
          </a:prstGeom>
          <a:solidFill>
            <a:srgbClr val="062E2A"/>
          </a:solidFill>
          <a:ln/>
        </p:spPr>
        <p:txBody>
          <a:bodyPr/>
          <a:lstStyle/>
          <a:p>
            <a:endParaRPr lang="en-IN"/>
          </a:p>
        </p:txBody>
      </p:sp>
      <p:sp>
        <p:nvSpPr>
          <p:cNvPr id="5" name="Text 3">
            <a:extLst>
              <a:ext uri="{FF2B5EF4-FFF2-40B4-BE49-F238E27FC236}">
                <a16:creationId xmlns:a16="http://schemas.microsoft.com/office/drawing/2014/main" id="{F5743466-834F-1A37-1A36-3577C52F6FD4}"/>
              </a:ext>
            </a:extLst>
          </p:cNvPr>
          <p:cNvSpPr/>
          <p:nvPr/>
        </p:nvSpPr>
        <p:spPr>
          <a:xfrm>
            <a:off x="822960" y="2175027"/>
            <a:ext cx="987552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Ingredient Type Analysis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0D94737E-E4E9-6848-724A-ACA502D431AE}"/>
              </a:ext>
            </a:extLst>
          </p:cNvPr>
          <p:cNvSpPr/>
          <p:nvPr/>
        </p:nvSpPr>
        <p:spPr>
          <a:xfrm>
            <a:off x="822960" y="3386834"/>
            <a:ext cx="8686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AF5F1"/>
                </a:solidFill>
                <a:effectLst/>
                <a:uLnTx/>
                <a:uFillTx/>
                <a:latin typeface="Calibri" pitchFamily="34" charset="0"/>
                <a:ea typeface="Calibri" pitchFamily="34" charset="-122"/>
                <a:cs typeface="Calibri" pitchFamily="34" charset="-120"/>
              </a:rPr>
              <a:t>Comprehensive analysis of key ingredient categories, including Vitamins &amp; Minerals, Probiotics &amp; Prebiotics, Amino Acids &amp; Protein, Caffeine &amp; Botanicals, and Adaptogens &amp; Nootropics, highlighting their nutritional properties, health functions, formulation role, and contribution to product differentiation.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675AF4DA-4C57-C22E-EC52-ADA801491FB1}"/>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7922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Share by Ingredient Type, 2025</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Consumer demand for preventive health and wellness continues to fuel the adoption of nutrient-rich ingredients, with vitamins, probiotics, and botanicals leading market growth.</a:t>
            </a:r>
            <a:endParaRPr lang="en-US" sz="1250" dirty="0"/>
          </a:p>
        </p:txBody>
      </p:sp>
      <p:graphicFrame>
        <p:nvGraphicFramePr>
          <p:cNvPr id="4" name="Chart 0"/>
          <p:cNvGraphicFramePr/>
          <p:nvPr>
            <p:extLst>
              <p:ext uri="{D42A27DB-BD31-4B8C-83A1-F6EECF244321}">
                <p14:modId xmlns:p14="http://schemas.microsoft.com/office/powerpoint/2010/main" val="2027307106"/>
              </p:ext>
            </p:extLst>
          </p:nvPr>
        </p:nvGraphicFramePr>
        <p:xfrm>
          <a:off x="502920" y="1371600"/>
          <a:ext cx="57607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583680" y="1371600"/>
            <a:ext cx="4923958" cy="4754880"/>
          </a:xfrm>
          <a:prstGeom prst="roundRect">
            <a:avLst>
              <a:gd name="adj" fmla="val 1538"/>
            </a:avLst>
          </a:prstGeom>
          <a:solidFill>
            <a:srgbClr val="EAF5F1"/>
          </a:solidFill>
          <a:ln/>
        </p:spPr>
        <p:txBody>
          <a:bodyPr/>
          <a:lstStyle/>
          <a:p>
            <a:endParaRPr lang="en-IN"/>
          </a:p>
        </p:txBody>
      </p:sp>
      <p:sp>
        <p:nvSpPr>
          <p:cNvPr id="6" name="Text 3"/>
          <p:cNvSpPr/>
          <p:nvPr/>
        </p:nvSpPr>
        <p:spPr>
          <a:xfrm>
            <a:off x="6903720" y="1600200"/>
            <a:ext cx="4480560" cy="4297680"/>
          </a:xfrm>
          <a:prstGeom prst="rect">
            <a:avLst/>
          </a:prstGeom>
          <a:noFill/>
          <a:ln/>
        </p:spPr>
        <p:txBody>
          <a:bodyPr wrap="square" rtlCol="0" anchor="t"/>
          <a:lstStyle/>
          <a:p>
            <a:pPr marL="171450" indent="-171450">
              <a:spcAft>
                <a:spcPts val="1200"/>
              </a:spcAft>
              <a:buSzPct val="100000"/>
              <a:buFont typeface="Arial" panose="020B0604020202020204" pitchFamily="34" charset="0"/>
              <a:buChar char="•"/>
            </a:pPr>
            <a:r>
              <a:rPr lang="en-US" sz="1200" b="1" dirty="0">
                <a:solidFill>
                  <a:srgbClr val="1E2624"/>
                </a:solidFill>
                <a:latin typeface="Calibri"/>
                <a:ea typeface="Calibri" pitchFamily="34" charset="-122"/>
                <a:cs typeface="Calibri" pitchFamily="34" charset="-120"/>
              </a:rPr>
              <a:t>Vitamins &amp; Minerals dominate the ingredient landscape</a:t>
            </a:r>
            <a:r>
              <a:rPr lang="en-US" sz="1200" dirty="0">
                <a:solidFill>
                  <a:srgbClr val="1E2624"/>
                </a:solidFill>
                <a:latin typeface="Calibri"/>
                <a:ea typeface="Calibri" pitchFamily="34" charset="-122"/>
                <a:cs typeface="Calibri" pitchFamily="34" charset="-120"/>
              </a:rPr>
              <a:t>, accounting for </a:t>
            </a:r>
            <a:r>
              <a:rPr lang="en-US" sz="1200" b="1" dirty="0">
                <a:solidFill>
                  <a:srgbClr val="1E2624"/>
                </a:solidFill>
                <a:latin typeface="Calibri"/>
                <a:ea typeface="Calibri" pitchFamily="34" charset="-122"/>
                <a:cs typeface="Calibri" pitchFamily="34" charset="-120"/>
              </a:rPr>
              <a:t>40% </a:t>
            </a:r>
            <a:r>
              <a:rPr lang="en-US" sz="1200" dirty="0">
                <a:solidFill>
                  <a:srgbClr val="1E2624"/>
                </a:solidFill>
                <a:latin typeface="Calibri"/>
                <a:ea typeface="Calibri" pitchFamily="34" charset="-122"/>
                <a:cs typeface="Calibri" pitchFamily="34" charset="-120"/>
              </a:rPr>
              <a:t>of the market, driven by increasing consumer demand for immunity, energy, and overall wellness products.</a:t>
            </a:r>
          </a:p>
          <a:p>
            <a:pPr marL="171450" indent="-171450">
              <a:spcAft>
                <a:spcPts val="1200"/>
              </a:spcAft>
              <a:buSzPct val="100000"/>
              <a:buFont typeface="Arial" panose="020B0604020202020204" pitchFamily="34" charset="0"/>
              <a:buChar char="•"/>
            </a:pPr>
            <a:r>
              <a:rPr lang="en-US" sz="1200" b="1" dirty="0">
                <a:solidFill>
                  <a:srgbClr val="1E2624"/>
                </a:solidFill>
                <a:latin typeface="Calibri"/>
                <a:ea typeface="Calibri" pitchFamily="34" charset="-122"/>
                <a:cs typeface="Calibri" pitchFamily="34" charset="-120"/>
              </a:rPr>
              <a:t>Probiotics &amp; Prebiotics hold a significant 20% share</a:t>
            </a:r>
            <a:r>
              <a:rPr lang="en-US" sz="1200" dirty="0">
                <a:solidFill>
                  <a:srgbClr val="1E2624"/>
                </a:solidFill>
                <a:latin typeface="Calibri"/>
                <a:ea typeface="Calibri" pitchFamily="34" charset="-122"/>
                <a:cs typeface="Calibri" pitchFamily="34" charset="-120"/>
              </a:rPr>
              <a:t>, reflecting the growing focus on gut health, digestive wellness, and microbiome-based nutrition.</a:t>
            </a:r>
          </a:p>
          <a:p>
            <a:pPr marL="171450" indent="-171450">
              <a:spcAft>
                <a:spcPts val="1200"/>
              </a:spcAft>
              <a:buSzPct val="100000"/>
              <a:buFont typeface="Arial" panose="020B0604020202020204" pitchFamily="34" charset="0"/>
              <a:buChar char="•"/>
            </a:pPr>
            <a:r>
              <a:rPr lang="en-US" sz="1200" b="1" dirty="0">
                <a:solidFill>
                  <a:srgbClr val="1E2624"/>
                </a:solidFill>
                <a:latin typeface="Calibri"/>
                <a:ea typeface="Calibri" pitchFamily="34" charset="-122"/>
                <a:cs typeface="Calibri" pitchFamily="34" charset="-120"/>
              </a:rPr>
              <a:t>Caffeine &amp; Botanicals (18%) and Amino Acids &amp; Protein (15%) </a:t>
            </a:r>
            <a:r>
              <a:rPr lang="en-US" sz="1200" dirty="0">
                <a:solidFill>
                  <a:srgbClr val="1E2624"/>
                </a:solidFill>
                <a:latin typeface="Calibri"/>
                <a:ea typeface="Calibri" pitchFamily="34" charset="-122"/>
                <a:cs typeface="Calibri" pitchFamily="34" charset="-120"/>
              </a:rPr>
              <a:t>continue to gain traction, supported by rising consumption of energy drinks, sports nutrition, and performance-enhancing beverages.</a:t>
            </a:r>
          </a:p>
          <a:p>
            <a:pPr marL="171450" indent="-171450">
              <a:spcAft>
                <a:spcPts val="1200"/>
              </a:spcAft>
              <a:buSzPct val="100000"/>
              <a:buFont typeface="Arial" panose="020B0604020202020204" pitchFamily="34" charset="0"/>
              <a:buChar char="•"/>
            </a:pPr>
            <a:r>
              <a:rPr lang="en-US" sz="1200" b="1" dirty="0">
                <a:solidFill>
                  <a:srgbClr val="1E2624"/>
                </a:solidFill>
                <a:latin typeface="Calibri"/>
                <a:ea typeface="Calibri" pitchFamily="34" charset="-122"/>
                <a:cs typeface="Calibri" pitchFamily="34" charset="-120"/>
              </a:rPr>
              <a:t>Adaptogens &amp; Nootropics represent 7% of the market</a:t>
            </a:r>
            <a:r>
              <a:rPr lang="en-US" sz="1200" dirty="0">
                <a:solidFill>
                  <a:srgbClr val="1E2624"/>
                </a:solidFill>
                <a:latin typeface="Calibri"/>
                <a:ea typeface="Calibri" pitchFamily="34" charset="-122"/>
                <a:cs typeface="Calibri" pitchFamily="34" charset="-120"/>
              </a:rPr>
              <a:t>, but the segment is witnessing strong growth as consumers increasingly seek beverages that support stress management, cognitive health, and mental well-being.</a:t>
            </a:r>
          </a:p>
          <a:p>
            <a:pPr marL="171450" indent="-171450">
              <a:spcAft>
                <a:spcPts val="12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Content</a:t>
            </a:r>
          </a:p>
        </p:txBody>
      </p:sp>
      <p:sp>
        <p:nvSpPr>
          <p:cNvPr id="7"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5BF18-B9C6-FB99-E639-74ADF0F839F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6870EB-B16A-ABC1-E98E-E32FB929F29D}"/>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Ingredient Type Analysis (1/3)</a:t>
            </a:r>
          </a:p>
        </p:txBody>
      </p:sp>
      <p:sp>
        <p:nvSpPr>
          <p:cNvPr id="3" name="Text 1">
            <a:extLst>
              <a:ext uri="{FF2B5EF4-FFF2-40B4-BE49-F238E27FC236}">
                <a16:creationId xmlns:a16="http://schemas.microsoft.com/office/drawing/2014/main" id="{C2AF5A8F-5486-9FB7-54BB-81EAB489289F}"/>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Performance-focused beverages continue to evolve through cleaner formulations, functional ingredients, and regulatory-compliant innovation that supports energy, hydration, and active lifestyles.</a:t>
            </a:r>
            <a:endParaRPr lang="en-US" sz="1250" dirty="0"/>
          </a:p>
        </p:txBody>
      </p:sp>
      <p:sp>
        <p:nvSpPr>
          <p:cNvPr id="4" name="Text 2">
            <a:extLst>
              <a:ext uri="{FF2B5EF4-FFF2-40B4-BE49-F238E27FC236}">
                <a16:creationId xmlns:a16="http://schemas.microsoft.com/office/drawing/2014/main" id="{6E8FB796-7077-F571-DD8C-A41169A124B8}"/>
              </a:ext>
            </a:extLst>
          </p:cNvPr>
          <p:cNvSpPr/>
          <p:nvPr/>
        </p:nvSpPr>
        <p:spPr>
          <a:xfrm>
            <a:off x="623684" y="196681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Vitamins and minerals are added to functional beverages to help address nutritional needs and support normal physiological functions, such as immune function, bone health, and energy metabolism, in accordance with established dietary recommendations.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Commonly used nutrients include vitamins C, D, B-complex, calcium, magnesium, iron, and zinc, with permitted fortification levels determined by national food regulations.</a:t>
            </a:r>
            <a:endParaRPr lang="en-US" sz="1200" dirty="0"/>
          </a:p>
        </p:txBody>
      </p:sp>
      <p:sp>
        <p:nvSpPr>
          <p:cNvPr id="11" name="Text 9">
            <a:extLst>
              <a:ext uri="{FF2B5EF4-FFF2-40B4-BE49-F238E27FC236}">
                <a16:creationId xmlns:a16="http://schemas.microsoft.com/office/drawing/2014/main" id="{DAB69394-4CE5-2065-4BCE-5FF4F843135D}"/>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B44AED08-84EB-4697-77F3-DC3CB7967AB4}"/>
              </a:ext>
            </a:extLst>
          </p:cNvPr>
          <p:cNvGrpSpPr/>
          <p:nvPr/>
        </p:nvGrpSpPr>
        <p:grpSpPr>
          <a:xfrm>
            <a:off x="623976" y="1383133"/>
            <a:ext cx="4413600" cy="504000"/>
            <a:chOff x="6172200" y="896112"/>
            <a:chExt cx="5486400" cy="411480"/>
          </a:xfrm>
        </p:grpSpPr>
        <p:sp>
          <p:nvSpPr>
            <p:cNvPr id="16" name="Shape 7">
              <a:extLst>
                <a:ext uri="{FF2B5EF4-FFF2-40B4-BE49-F238E27FC236}">
                  <a16:creationId xmlns:a16="http://schemas.microsoft.com/office/drawing/2014/main" id="{87E6DCD6-E78D-2A72-1DF9-625D103768BF}"/>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17" name="Text 8">
              <a:extLst>
                <a:ext uri="{FF2B5EF4-FFF2-40B4-BE49-F238E27FC236}">
                  <a16:creationId xmlns:a16="http://schemas.microsoft.com/office/drawing/2014/main" id="{CDD1440E-A758-5F61-B3F9-B466DC714CE6}"/>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Vitamins &amp; Minerals</a:t>
              </a:r>
            </a:p>
          </p:txBody>
        </p:sp>
      </p:grpSp>
      <p:sp>
        <p:nvSpPr>
          <p:cNvPr id="21" name="Text 2">
            <a:extLst>
              <a:ext uri="{FF2B5EF4-FFF2-40B4-BE49-F238E27FC236}">
                <a16:creationId xmlns:a16="http://schemas.microsoft.com/office/drawing/2014/main" id="{B4E03366-3043-67AF-AA9B-8E152B149C65}"/>
              </a:ext>
            </a:extLst>
          </p:cNvPr>
          <p:cNvSpPr/>
          <p:nvPr/>
        </p:nvSpPr>
        <p:spPr>
          <a:xfrm>
            <a:off x="623684" y="4329180"/>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Probiotics are live microorganisms that, when administered in adequate amounts, may provide health benefits, while prebiotics are non-digestible food components that support the growth of beneficial intestinal microorganisms.</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Functional beverages containing probiotics and prebiotics require careful formulation to maintain microbial viability, product stability, and food safety throughout shelf life.</a:t>
            </a:r>
          </a:p>
          <a:p>
            <a:pPr marL="285750" indent="-285750">
              <a:spcAft>
                <a:spcPts val="1400"/>
              </a:spcAft>
              <a:buSzPct val="100000"/>
              <a:buFont typeface="Arial" panose="020B0604020202020204" pitchFamily="34" charset="0"/>
              <a:buChar char="•"/>
            </a:pPr>
            <a:r>
              <a:rPr lang="en-US" sz="1200" dirty="0">
                <a:latin typeface="Calibri"/>
              </a:rPr>
              <a:t>Manufacturers continue investing in scientifically supported strains and fermentation technologies while complying with regulations governing health claims and labeling.</a:t>
            </a:r>
          </a:p>
        </p:txBody>
      </p:sp>
      <p:grpSp>
        <p:nvGrpSpPr>
          <p:cNvPr id="22" name="Group 21">
            <a:extLst>
              <a:ext uri="{FF2B5EF4-FFF2-40B4-BE49-F238E27FC236}">
                <a16:creationId xmlns:a16="http://schemas.microsoft.com/office/drawing/2014/main" id="{9F5A8487-A16E-181F-06DB-6237B89FE6C7}"/>
              </a:ext>
            </a:extLst>
          </p:cNvPr>
          <p:cNvGrpSpPr/>
          <p:nvPr/>
        </p:nvGrpSpPr>
        <p:grpSpPr>
          <a:xfrm>
            <a:off x="623976" y="3745495"/>
            <a:ext cx="4413600" cy="504000"/>
            <a:chOff x="6172200" y="896112"/>
            <a:chExt cx="5486400" cy="411480"/>
          </a:xfrm>
        </p:grpSpPr>
        <p:sp>
          <p:nvSpPr>
            <p:cNvPr id="23" name="Shape 7">
              <a:extLst>
                <a:ext uri="{FF2B5EF4-FFF2-40B4-BE49-F238E27FC236}">
                  <a16:creationId xmlns:a16="http://schemas.microsoft.com/office/drawing/2014/main" id="{38D28814-EBB7-BFCC-2084-84FD0317246C}"/>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24" name="Text 8">
              <a:extLst>
                <a:ext uri="{FF2B5EF4-FFF2-40B4-BE49-F238E27FC236}">
                  <a16:creationId xmlns:a16="http://schemas.microsoft.com/office/drawing/2014/main" id="{EF1FA905-AF44-C958-2ED0-95466491CA20}"/>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Probiotics &amp; Prebiotics</a:t>
              </a:r>
            </a:p>
          </p:txBody>
        </p:sp>
      </p:grpSp>
      <p:pic>
        <p:nvPicPr>
          <p:cNvPr id="38" name="Picture 37">
            <a:extLst>
              <a:ext uri="{FF2B5EF4-FFF2-40B4-BE49-F238E27FC236}">
                <a16:creationId xmlns:a16="http://schemas.microsoft.com/office/drawing/2014/main" id="{A2338562-4251-1F60-3C9C-649F72CD1939}"/>
              </a:ext>
            </a:extLst>
          </p:cNvPr>
          <p:cNvPicPr>
            <a:picLocks noChangeAspect="1"/>
          </p:cNvPicPr>
          <p:nvPr/>
        </p:nvPicPr>
        <p:blipFill>
          <a:blip r:embed="rId3"/>
          <a:srcRect l="13077" r="11645"/>
          <a:stretch>
            <a:fillRect/>
          </a:stretch>
        </p:blipFill>
        <p:spPr>
          <a:xfrm>
            <a:off x="8179145" y="4098709"/>
            <a:ext cx="3290981" cy="2196000"/>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702E3BDD-8B52-6D92-4083-A39E9B4C970A}"/>
              </a:ext>
            </a:extLst>
          </p:cNvPr>
          <p:cNvPicPr>
            <a:picLocks noChangeAspect="1"/>
          </p:cNvPicPr>
          <p:nvPr/>
        </p:nvPicPr>
        <p:blipFill>
          <a:blip r:embed="rId4"/>
          <a:srcRect/>
          <a:stretch/>
        </p:blipFill>
        <p:spPr>
          <a:xfrm>
            <a:off x="8179145" y="1244072"/>
            <a:ext cx="3290981" cy="21939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74860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8335F-1646-6967-872C-80EE1E7974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414621-E029-6C5F-A5A5-D5025C73E976}"/>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Ingredient Type Analysis (2/3)</a:t>
            </a:r>
          </a:p>
        </p:txBody>
      </p:sp>
      <p:sp>
        <p:nvSpPr>
          <p:cNvPr id="3" name="Text 1">
            <a:extLst>
              <a:ext uri="{FF2B5EF4-FFF2-40B4-BE49-F238E27FC236}">
                <a16:creationId xmlns:a16="http://schemas.microsoft.com/office/drawing/2014/main" id="{CA3858C6-88E7-963B-6239-DE890F6FA623}"/>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Health-oriented beverage categories are expanding with nutrient fortification, enhanced hydration, and clean-label formulations that address evolving consumer wellness preferences.</a:t>
            </a:r>
            <a:endParaRPr lang="en-US" sz="1250" dirty="0"/>
          </a:p>
        </p:txBody>
      </p:sp>
      <p:sp>
        <p:nvSpPr>
          <p:cNvPr id="4" name="Text 2">
            <a:extLst>
              <a:ext uri="{FF2B5EF4-FFF2-40B4-BE49-F238E27FC236}">
                <a16:creationId xmlns:a16="http://schemas.microsoft.com/office/drawing/2014/main" id="{2D4482E5-B3BA-96A1-3A03-1F67C456C796}"/>
              </a:ext>
            </a:extLst>
          </p:cNvPr>
          <p:cNvSpPr/>
          <p:nvPr/>
        </p:nvSpPr>
        <p:spPr>
          <a:xfrm>
            <a:off x="546050" y="196681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Amino acids and proteins are incorporated into functional beverages to support muscle maintenance, recovery, and normal protein nutrition, particularly for physically active consumers.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Common ingredients include whey protein, plant-based proteins, branched-chain amino acids (BCAAs), and essential amino acids, formulated to meet nutritional and quality standards.</a:t>
            </a:r>
          </a:p>
        </p:txBody>
      </p:sp>
      <p:sp>
        <p:nvSpPr>
          <p:cNvPr id="11" name="Text 9">
            <a:extLst>
              <a:ext uri="{FF2B5EF4-FFF2-40B4-BE49-F238E27FC236}">
                <a16:creationId xmlns:a16="http://schemas.microsoft.com/office/drawing/2014/main" id="{1DF96DEB-A4FC-31F6-38F1-D39196918E0B}"/>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27793030-619B-44BF-5143-A6A5A7C29764}"/>
              </a:ext>
            </a:extLst>
          </p:cNvPr>
          <p:cNvGrpSpPr/>
          <p:nvPr/>
        </p:nvGrpSpPr>
        <p:grpSpPr>
          <a:xfrm>
            <a:off x="623976" y="1383133"/>
            <a:ext cx="4413600" cy="504000"/>
            <a:chOff x="6172200" y="896112"/>
            <a:chExt cx="5486400" cy="411480"/>
          </a:xfrm>
        </p:grpSpPr>
        <p:sp>
          <p:nvSpPr>
            <p:cNvPr id="16" name="Shape 7">
              <a:extLst>
                <a:ext uri="{FF2B5EF4-FFF2-40B4-BE49-F238E27FC236}">
                  <a16:creationId xmlns:a16="http://schemas.microsoft.com/office/drawing/2014/main" id="{41E26C12-19B7-7FA0-F0AD-57D034835828}"/>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156504DA-6B6F-3211-533A-FCCF2F806B0E}"/>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Amino Acids &amp; Protein</a:t>
              </a:r>
            </a:p>
          </p:txBody>
        </p:sp>
      </p:grpSp>
      <p:sp>
        <p:nvSpPr>
          <p:cNvPr id="21" name="Text 2">
            <a:extLst>
              <a:ext uri="{FF2B5EF4-FFF2-40B4-BE49-F238E27FC236}">
                <a16:creationId xmlns:a16="http://schemas.microsoft.com/office/drawing/2014/main" id="{6DA92757-804F-7BB2-2D50-21867A853A53}"/>
              </a:ext>
            </a:extLst>
          </p:cNvPr>
          <p:cNvSpPr/>
          <p:nvPr/>
        </p:nvSpPr>
        <p:spPr>
          <a:xfrm>
            <a:off x="546050" y="4329180"/>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Caffeine is widely used in functional beverages to help improve alertness and reduce fatigue, while botanical ingredients are incorporated for their traditional or nutritional properties were permitted by regulation.</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Common botanical ingredients include green tea extract, guarana, ginseng, ginger, turmeric, and herbal extracts, subject to food safety and ingredient approval requirements.</a:t>
            </a:r>
          </a:p>
        </p:txBody>
      </p:sp>
      <p:grpSp>
        <p:nvGrpSpPr>
          <p:cNvPr id="22" name="Group 21">
            <a:extLst>
              <a:ext uri="{FF2B5EF4-FFF2-40B4-BE49-F238E27FC236}">
                <a16:creationId xmlns:a16="http://schemas.microsoft.com/office/drawing/2014/main" id="{24280173-938E-0123-6A7F-229E38A81CA2}"/>
              </a:ext>
            </a:extLst>
          </p:cNvPr>
          <p:cNvGrpSpPr/>
          <p:nvPr/>
        </p:nvGrpSpPr>
        <p:grpSpPr>
          <a:xfrm>
            <a:off x="623976" y="3745495"/>
            <a:ext cx="4413600" cy="504000"/>
            <a:chOff x="6172200" y="896112"/>
            <a:chExt cx="5486400" cy="411480"/>
          </a:xfrm>
        </p:grpSpPr>
        <p:sp>
          <p:nvSpPr>
            <p:cNvPr id="23" name="Shape 7">
              <a:extLst>
                <a:ext uri="{FF2B5EF4-FFF2-40B4-BE49-F238E27FC236}">
                  <a16:creationId xmlns:a16="http://schemas.microsoft.com/office/drawing/2014/main" id="{E588A879-FDFC-6C6F-22F9-5FDCDCC57D00}"/>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36058BF2-F2BE-9A5A-C072-235AA044AAA9}"/>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Caffeine &amp; Botanicals</a:t>
              </a:r>
            </a:p>
          </p:txBody>
        </p:sp>
      </p:grpSp>
      <p:pic>
        <p:nvPicPr>
          <p:cNvPr id="19" name="Picture 18">
            <a:extLst>
              <a:ext uri="{FF2B5EF4-FFF2-40B4-BE49-F238E27FC236}">
                <a16:creationId xmlns:a16="http://schemas.microsoft.com/office/drawing/2014/main" id="{5E037AC2-33C6-3CD3-3E27-27361E2A9311}"/>
              </a:ext>
            </a:extLst>
          </p:cNvPr>
          <p:cNvPicPr>
            <a:picLocks noChangeAspect="1"/>
          </p:cNvPicPr>
          <p:nvPr/>
        </p:nvPicPr>
        <p:blipFill>
          <a:blip r:embed="rId3"/>
          <a:srcRect/>
          <a:stretch/>
        </p:blipFill>
        <p:spPr>
          <a:xfrm>
            <a:off x="8159513" y="4098709"/>
            <a:ext cx="3304993" cy="2196000"/>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1F2552DE-EF1F-737A-FB31-84C1B2338C3C}"/>
              </a:ext>
            </a:extLst>
          </p:cNvPr>
          <p:cNvPicPr>
            <a:picLocks noChangeAspect="1"/>
          </p:cNvPicPr>
          <p:nvPr/>
        </p:nvPicPr>
        <p:blipFill>
          <a:blip r:embed="rId4"/>
          <a:srcRect t="17787" b="17787"/>
          <a:stretch/>
        </p:blipFill>
        <p:spPr>
          <a:xfrm>
            <a:off x="8159513" y="1279620"/>
            <a:ext cx="3304993"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100429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79701-59A4-D8C5-A1DE-FB59CCBB48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0526578-091D-7AB1-8231-9C9C380F5663}"/>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Ingredient Type Analysis (3/3)</a:t>
            </a:r>
          </a:p>
        </p:txBody>
      </p:sp>
      <p:sp>
        <p:nvSpPr>
          <p:cNvPr id="3" name="Text 1">
            <a:extLst>
              <a:ext uri="{FF2B5EF4-FFF2-40B4-BE49-F238E27FC236}">
                <a16:creationId xmlns:a16="http://schemas.microsoft.com/office/drawing/2014/main" id="{FB6FC95F-CDFF-53DD-ADD6-9727D94F9C40}"/>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Health-oriented beverage categories are expanding with nutrient fortification, enhanced hydration, and clean-label formulations that address evolving consumer wellness preferences.</a:t>
            </a:r>
            <a:endParaRPr lang="en-US" sz="1250" dirty="0"/>
          </a:p>
        </p:txBody>
      </p:sp>
      <p:sp>
        <p:nvSpPr>
          <p:cNvPr id="4" name="Text 2">
            <a:extLst>
              <a:ext uri="{FF2B5EF4-FFF2-40B4-BE49-F238E27FC236}">
                <a16:creationId xmlns:a16="http://schemas.microsoft.com/office/drawing/2014/main" id="{F61053DA-F9EE-73C6-B295-8B46C32C25BE}"/>
              </a:ext>
            </a:extLst>
          </p:cNvPr>
          <p:cNvSpPr/>
          <p:nvPr/>
        </p:nvSpPr>
        <p:spPr>
          <a:xfrm>
            <a:off x="580554" y="196681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Adaptogens and nootropic ingredients are increasingly incorporated into functional beverages designed for cognitive wellness, stress management, and mental performance, subject to local regulatory approval.</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Ingredients such as ashwagandha, rhodiola, L-theanine, and selected botanical extracts are formulated in accordance with applicable food safety and labeling regulations.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invest in scientific research, ingredient standardization, and evidence-based product development to support innovation and regulatory compliance.</a:t>
            </a:r>
          </a:p>
        </p:txBody>
      </p:sp>
      <p:sp>
        <p:nvSpPr>
          <p:cNvPr id="11" name="Text 9">
            <a:extLst>
              <a:ext uri="{FF2B5EF4-FFF2-40B4-BE49-F238E27FC236}">
                <a16:creationId xmlns:a16="http://schemas.microsoft.com/office/drawing/2014/main" id="{224465E1-EEF1-192E-E40A-E2585C5456B9}"/>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C6EB22BF-7BD8-631E-0930-995C8C9D9126}"/>
              </a:ext>
            </a:extLst>
          </p:cNvPr>
          <p:cNvGrpSpPr/>
          <p:nvPr/>
        </p:nvGrpSpPr>
        <p:grpSpPr>
          <a:xfrm>
            <a:off x="623976" y="1383133"/>
            <a:ext cx="4413600" cy="504000"/>
            <a:chOff x="6172200" y="896112"/>
            <a:chExt cx="5486400" cy="411480"/>
          </a:xfrm>
        </p:grpSpPr>
        <p:sp>
          <p:nvSpPr>
            <p:cNvPr id="16" name="Shape 7">
              <a:extLst>
                <a:ext uri="{FF2B5EF4-FFF2-40B4-BE49-F238E27FC236}">
                  <a16:creationId xmlns:a16="http://schemas.microsoft.com/office/drawing/2014/main" id="{EB1B0C92-B114-3138-FC30-148FFF1B850E}"/>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17" name="Text 8">
              <a:extLst>
                <a:ext uri="{FF2B5EF4-FFF2-40B4-BE49-F238E27FC236}">
                  <a16:creationId xmlns:a16="http://schemas.microsoft.com/office/drawing/2014/main" id="{FEAB3F12-C348-AE2C-D4FA-6D708251B824}"/>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Adaptogens &amp; Nootropics</a:t>
              </a:r>
            </a:p>
          </p:txBody>
        </p:sp>
      </p:grpSp>
      <p:pic>
        <p:nvPicPr>
          <p:cNvPr id="25" name="Picture 24">
            <a:extLst>
              <a:ext uri="{FF2B5EF4-FFF2-40B4-BE49-F238E27FC236}">
                <a16:creationId xmlns:a16="http://schemas.microsoft.com/office/drawing/2014/main" id="{F13FBF2E-C011-B6DD-E08D-C33C9B3CB2AC}"/>
              </a:ext>
            </a:extLst>
          </p:cNvPr>
          <p:cNvPicPr>
            <a:picLocks noChangeAspect="1"/>
          </p:cNvPicPr>
          <p:nvPr/>
        </p:nvPicPr>
        <p:blipFill>
          <a:blip r:embed="rId3"/>
          <a:srcRect l="6450" r="6450"/>
          <a:stretch/>
        </p:blipFill>
        <p:spPr>
          <a:xfrm>
            <a:off x="8159514" y="1553040"/>
            <a:ext cx="3279112"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3544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B4F4A"/>
        </a:solidFill>
        <a:effectLst/>
      </p:bgPr>
    </p:bg>
    <p:spTree>
      <p:nvGrpSpPr>
        <p:cNvPr id="1" name="">
          <a:extLst>
            <a:ext uri="{FF2B5EF4-FFF2-40B4-BE49-F238E27FC236}">
              <a16:creationId xmlns:a16="http://schemas.microsoft.com/office/drawing/2014/main" id="{723C1A65-5FBB-B997-E737-3B248014FD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18F330-94E9-7322-3595-C8AC3525EB7D}"/>
              </a:ext>
            </a:extLst>
          </p:cNvPr>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a:extLst>
              <a:ext uri="{FF2B5EF4-FFF2-40B4-BE49-F238E27FC236}">
                <a16:creationId xmlns:a16="http://schemas.microsoft.com/office/drawing/2014/main" id="{D8EB8020-D4AF-6F88-52EA-C52C45C73EF0}"/>
              </a:ext>
            </a:extLst>
          </p:cNvPr>
          <p:cNvSpPr/>
          <p:nvPr/>
        </p:nvSpPr>
        <p:spPr>
          <a:xfrm>
            <a:off x="-1645920" y="4846320"/>
            <a:ext cx="3840480" cy="3840480"/>
          </a:xfrm>
          <a:prstGeom prst="ellipse">
            <a:avLst/>
          </a:prstGeom>
          <a:solidFill>
            <a:srgbClr val="062E2A"/>
          </a:solidFill>
          <a:ln/>
        </p:spPr>
        <p:txBody>
          <a:bodyPr/>
          <a:lstStyle/>
          <a:p>
            <a:endParaRPr lang="en-IN"/>
          </a:p>
        </p:txBody>
      </p:sp>
      <p:sp>
        <p:nvSpPr>
          <p:cNvPr id="5" name="Text 3">
            <a:extLst>
              <a:ext uri="{FF2B5EF4-FFF2-40B4-BE49-F238E27FC236}">
                <a16:creationId xmlns:a16="http://schemas.microsoft.com/office/drawing/2014/main" id="{669E42A2-6FF0-764B-D768-788EB5DA6A0D}"/>
              </a:ext>
            </a:extLst>
          </p:cNvPr>
          <p:cNvSpPr/>
          <p:nvPr/>
        </p:nvSpPr>
        <p:spPr>
          <a:xfrm>
            <a:off x="822960" y="2175027"/>
            <a:ext cx="987552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Packaging Type Analysis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3247306E-C875-E9D1-F5FA-FA42A3938536}"/>
              </a:ext>
            </a:extLst>
          </p:cNvPr>
          <p:cNvSpPr/>
          <p:nvPr/>
        </p:nvSpPr>
        <p:spPr>
          <a:xfrm>
            <a:off x="822960" y="3386834"/>
            <a:ext cx="8686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AF5F1"/>
                </a:solidFill>
                <a:effectLst/>
                <a:uLnTx/>
                <a:uFillTx/>
                <a:latin typeface="Calibri" pitchFamily="34" charset="0"/>
                <a:ea typeface="Calibri" pitchFamily="34" charset="-122"/>
                <a:cs typeface="Calibri" pitchFamily="34" charset="-120"/>
              </a:rPr>
              <a:t>Detailed assessment of major packaging formats, including PET Bottles, Cans, Cartons, and Pouches, focusing on material characteristics, product protection, portability, sustainability considerations, consumer convenience, and suitability for different beverage applications.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CDA2DCF6-5531-66C5-6D6A-3E66BF20187A}"/>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50969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7424"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Value by Packaging Type, 2025–2036</a:t>
            </a:r>
            <a:endParaRPr lang="en-US" sz="2800" dirty="0"/>
          </a:p>
        </p:txBody>
      </p:sp>
      <p:sp>
        <p:nvSpPr>
          <p:cNvPr id="3" name="Text 1"/>
          <p:cNvSpPr/>
          <p:nvPr/>
        </p:nvSpPr>
        <p:spPr>
          <a:xfrm>
            <a:off x="563302"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PET bottles and cans are projected to remain the preferred packaging formats through 2036, driven by convenience, portability, and expanding retail distribution.</a:t>
            </a:r>
            <a:endParaRPr lang="en-US" sz="1250" dirty="0"/>
          </a:p>
        </p:txBody>
      </p:sp>
      <p:graphicFrame>
        <p:nvGraphicFramePr>
          <p:cNvPr id="4" name="Chart 0"/>
          <p:cNvGraphicFramePr/>
          <p:nvPr>
            <p:extLst>
              <p:ext uri="{D42A27DB-BD31-4B8C-83A1-F6EECF244321}">
                <p14:modId xmlns:p14="http://schemas.microsoft.com/office/powerpoint/2010/main" val="2103774004"/>
              </p:ext>
            </p:extLst>
          </p:nvPr>
        </p:nvGraphicFramePr>
        <p:xfrm>
          <a:off x="502919" y="1417320"/>
          <a:ext cx="11082355"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11944-E1E3-1547-D524-3FD632EFB9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A4C7C5-3A5C-DAFA-EFFB-EDC6FD9E46FC}"/>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Packaging Type Analysis (1/2)</a:t>
            </a:r>
          </a:p>
        </p:txBody>
      </p:sp>
      <p:sp>
        <p:nvSpPr>
          <p:cNvPr id="3" name="Text 1">
            <a:extLst>
              <a:ext uri="{FF2B5EF4-FFF2-40B4-BE49-F238E27FC236}">
                <a16:creationId xmlns:a16="http://schemas.microsoft.com/office/drawing/2014/main" id="{B9DE2A61-D8F4-FCB2-12AE-99D2B4E3ECA0}"/>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Performance-focused beverages continue to evolve through cleaner formulations, functional ingredients, and regulatory-compliant innovation that supports energy, hydration, and active lifestyles.</a:t>
            </a:r>
            <a:endParaRPr lang="en-US" sz="1250" dirty="0"/>
          </a:p>
        </p:txBody>
      </p:sp>
      <p:sp>
        <p:nvSpPr>
          <p:cNvPr id="4" name="Text 2">
            <a:extLst>
              <a:ext uri="{FF2B5EF4-FFF2-40B4-BE49-F238E27FC236}">
                <a16:creationId xmlns:a16="http://schemas.microsoft.com/office/drawing/2014/main" id="{6DF8A91C-98A2-B44E-03D0-D5C5ECA803FB}"/>
              </a:ext>
            </a:extLst>
          </p:cNvPr>
          <p:cNvSpPr/>
          <p:nvPr/>
        </p:nvSpPr>
        <p:spPr>
          <a:xfrm>
            <a:off x="571928" y="1975444"/>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PET bottles are widely used for functional beverages due to their lightweight design, durability, and product protection, making them suitable for both still and ready-to-drink beverages.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are increasingly incorporating recycled PET (</a:t>
            </a:r>
            <a:r>
              <a:rPr lang="en-US" sz="1200" dirty="0" err="1">
                <a:solidFill>
                  <a:srgbClr val="1E2624"/>
                </a:solidFill>
                <a:latin typeface="Calibri" pitchFamily="34" charset="0"/>
                <a:ea typeface="Calibri" pitchFamily="34" charset="-122"/>
                <a:cs typeface="Calibri" pitchFamily="34" charset="-120"/>
              </a:rPr>
              <a:t>rPET</a:t>
            </a:r>
            <a:r>
              <a:rPr lang="en-US" sz="1200" dirty="0">
                <a:solidFill>
                  <a:srgbClr val="1E2624"/>
                </a:solidFill>
                <a:latin typeface="Calibri" pitchFamily="34" charset="0"/>
                <a:ea typeface="Calibri" pitchFamily="34" charset="-122"/>
                <a:cs typeface="Calibri" pitchFamily="34" charset="-120"/>
              </a:rPr>
              <a:t>) and designing bottles for improved recyclability to support circular economy and sustainability objectives.</a:t>
            </a:r>
          </a:p>
        </p:txBody>
      </p:sp>
      <p:sp>
        <p:nvSpPr>
          <p:cNvPr id="11" name="Text 9">
            <a:extLst>
              <a:ext uri="{FF2B5EF4-FFF2-40B4-BE49-F238E27FC236}">
                <a16:creationId xmlns:a16="http://schemas.microsoft.com/office/drawing/2014/main" id="{FC3C8C3A-9BF1-3D76-055E-4F1781FEFE89}"/>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BE0032BF-69B4-2129-2141-E1C0A2235E91}"/>
              </a:ext>
            </a:extLst>
          </p:cNvPr>
          <p:cNvGrpSpPr/>
          <p:nvPr/>
        </p:nvGrpSpPr>
        <p:grpSpPr>
          <a:xfrm>
            <a:off x="615350" y="1391759"/>
            <a:ext cx="4413600" cy="504000"/>
            <a:chOff x="6172200" y="896112"/>
            <a:chExt cx="5486400" cy="411480"/>
          </a:xfrm>
        </p:grpSpPr>
        <p:sp>
          <p:nvSpPr>
            <p:cNvPr id="16" name="Shape 7">
              <a:extLst>
                <a:ext uri="{FF2B5EF4-FFF2-40B4-BE49-F238E27FC236}">
                  <a16:creationId xmlns:a16="http://schemas.microsoft.com/office/drawing/2014/main" id="{0C8AAD78-CA62-8CD8-7D34-A508E2FAA41A}"/>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DE766EE9-AF52-A0A7-B5A5-C8A3A8C11D37}"/>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PET Bottles</a:t>
              </a:r>
            </a:p>
          </p:txBody>
        </p:sp>
      </p:grpSp>
      <p:sp>
        <p:nvSpPr>
          <p:cNvPr id="21" name="Text 2">
            <a:extLst>
              <a:ext uri="{FF2B5EF4-FFF2-40B4-BE49-F238E27FC236}">
                <a16:creationId xmlns:a16="http://schemas.microsoft.com/office/drawing/2014/main" id="{63280101-BDCD-730E-2BB6-FEA6C783F9FD}"/>
              </a:ext>
            </a:extLst>
          </p:cNvPr>
          <p:cNvSpPr/>
          <p:nvPr/>
        </p:nvSpPr>
        <p:spPr>
          <a:xfrm>
            <a:off x="623684" y="4329180"/>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Aluminum cans provide an effective barrier against light, oxygen, and moisture, helping preserve beverage quality and extend shelf life.</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Cans are widely used for energy drinks, functional sparkling beverages, and ready-to-drink products due to their portability and rapid cooling properties.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Aluminum is highly recyclable, supporting resource efficiency and sustainable packaging initiatives across the beverage industry.</a:t>
            </a:r>
            <a:endParaRPr lang="en-US" sz="1200" dirty="0"/>
          </a:p>
        </p:txBody>
      </p:sp>
      <p:grpSp>
        <p:nvGrpSpPr>
          <p:cNvPr id="22" name="Group 21">
            <a:extLst>
              <a:ext uri="{FF2B5EF4-FFF2-40B4-BE49-F238E27FC236}">
                <a16:creationId xmlns:a16="http://schemas.microsoft.com/office/drawing/2014/main" id="{87668E6D-F81C-0948-19B7-D82DBFDBB728}"/>
              </a:ext>
            </a:extLst>
          </p:cNvPr>
          <p:cNvGrpSpPr/>
          <p:nvPr/>
        </p:nvGrpSpPr>
        <p:grpSpPr>
          <a:xfrm>
            <a:off x="606724" y="3745495"/>
            <a:ext cx="4413600" cy="504000"/>
            <a:chOff x="6172200" y="896112"/>
            <a:chExt cx="5486400" cy="411480"/>
          </a:xfrm>
        </p:grpSpPr>
        <p:sp>
          <p:nvSpPr>
            <p:cNvPr id="23" name="Shape 7">
              <a:extLst>
                <a:ext uri="{FF2B5EF4-FFF2-40B4-BE49-F238E27FC236}">
                  <a16:creationId xmlns:a16="http://schemas.microsoft.com/office/drawing/2014/main" id="{AE5707DE-29D1-168E-3B9B-050EA5F72C73}"/>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BF486832-1B2D-1CD9-8B4F-7D31B9131A74}"/>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Cans</a:t>
              </a:r>
            </a:p>
          </p:txBody>
        </p:sp>
      </p:grpSp>
      <p:pic>
        <p:nvPicPr>
          <p:cNvPr id="38" name="Picture 37">
            <a:extLst>
              <a:ext uri="{FF2B5EF4-FFF2-40B4-BE49-F238E27FC236}">
                <a16:creationId xmlns:a16="http://schemas.microsoft.com/office/drawing/2014/main" id="{0B6FC8FC-4858-A7F6-503C-D6B7004ACCC2}"/>
              </a:ext>
            </a:extLst>
          </p:cNvPr>
          <p:cNvPicPr>
            <a:picLocks noChangeAspect="1"/>
          </p:cNvPicPr>
          <p:nvPr/>
        </p:nvPicPr>
        <p:blipFill>
          <a:blip r:embed="rId3"/>
          <a:srcRect/>
          <a:stretch/>
        </p:blipFill>
        <p:spPr>
          <a:xfrm>
            <a:off x="8179138" y="4137221"/>
            <a:ext cx="3297297" cy="2196000"/>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CF47F600-7A88-AC2C-93F6-1A20E9F3826E}"/>
              </a:ext>
            </a:extLst>
          </p:cNvPr>
          <p:cNvPicPr>
            <a:picLocks noChangeAspect="1"/>
          </p:cNvPicPr>
          <p:nvPr/>
        </p:nvPicPr>
        <p:blipFill>
          <a:blip r:embed="rId4"/>
          <a:srcRect/>
          <a:stretch/>
        </p:blipFill>
        <p:spPr>
          <a:xfrm>
            <a:off x="8179138" y="1366271"/>
            <a:ext cx="3294000"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615766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9BA29-69A6-1820-F4C4-3C27B83062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873C8D-50FB-1EAF-8EA6-4187D7E901EF}"/>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Packaging Type Analysis (2/2)</a:t>
            </a:r>
          </a:p>
        </p:txBody>
      </p:sp>
      <p:sp>
        <p:nvSpPr>
          <p:cNvPr id="3" name="Text 1">
            <a:extLst>
              <a:ext uri="{FF2B5EF4-FFF2-40B4-BE49-F238E27FC236}">
                <a16:creationId xmlns:a16="http://schemas.microsoft.com/office/drawing/2014/main" id="{6EFCC990-0A17-061B-4174-21549F50F0F5}"/>
              </a:ext>
            </a:extLst>
          </p:cNvPr>
          <p:cNvSpPr/>
          <p:nvPr/>
        </p:nvSpPr>
        <p:spPr>
          <a:xfrm>
            <a:off x="528798"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Health-oriented beverage categories are expanding with nutrient fortification, enhanced hydration, and clean-label formulations that address evolving consumer wellness preferences.</a:t>
            </a:r>
            <a:endParaRPr lang="en-US" sz="1250" dirty="0"/>
          </a:p>
        </p:txBody>
      </p:sp>
      <p:sp>
        <p:nvSpPr>
          <p:cNvPr id="4" name="Text 2">
            <a:extLst>
              <a:ext uri="{FF2B5EF4-FFF2-40B4-BE49-F238E27FC236}">
                <a16:creationId xmlns:a16="http://schemas.microsoft.com/office/drawing/2014/main" id="{D17777FC-56AF-EA8F-9DAA-ED30F537E920}"/>
              </a:ext>
            </a:extLst>
          </p:cNvPr>
          <p:cNvSpPr/>
          <p:nvPr/>
        </p:nvSpPr>
        <p:spPr>
          <a:xfrm>
            <a:off x="589180" y="1975444"/>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Cartons are commonly used for fortified juices, plant-based beverages, and dairy-based functional drinks, offering protection against light and environmental exposure.</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Multi-layer carton packaging helps maintain product quality, nutritional stability, and extended shelf life for shelf-stable beverages.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increasingly source carton materials from responsibly managed forests and improve recyclability to support environmental sustainability.</a:t>
            </a:r>
          </a:p>
        </p:txBody>
      </p:sp>
      <p:sp>
        <p:nvSpPr>
          <p:cNvPr id="11" name="Text 9">
            <a:extLst>
              <a:ext uri="{FF2B5EF4-FFF2-40B4-BE49-F238E27FC236}">
                <a16:creationId xmlns:a16="http://schemas.microsoft.com/office/drawing/2014/main" id="{3EABC9E8-DA09-966B-3AB2-59E2D2571436}"/>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AC762E13-2F2B-3147-1102-2F74E4334BB9}"/>
              </a:ext>
            </a:extLst>
          </p:cNvPr>
          <p:cNvGrpSpPr/>
          <p:nvPr/>
        </p:nvGrpSpPr>
        <p:grpSpPr>
          <a:xfrm>
            <a:off x="632602" y="1391759"/>
            <a:ext cx="4413600" cy="504000"/>
            <a:chOff x="6172200" y="896112"/>
            <a:chExt cx="5486400" cy="411480"/>
          </a:xfrm>
        </p:grpSpPr>
        <p:sp>
          <p:nvSpPr>
            <p:cNvPr id="16" name="Shape 7">
              <a:extLst>
                <a:ext uri="{FF2B5EF4-FFF2-40B4-BE49-F238E27FC236}">
                  <a16:creationId xmlns:a16="http://schemas.microsoft.com/office/drawing/2014/main" id="{B8140502-204E-02AC-3F22-566D9A3D295C}"/>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0D192C51-DFEC-CBE2-6076-A261A8EF8BB2}"/>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Cartons</a:t>
              </a:r>
            </a:p>
          </p:txBody>
        </p:sp>
      </p:grpSp>
      <p:sp>
        <p:nvSpPr>
          <p:cNvPr id="21" name="Text 2">
            <a:extLst>
              <a:ext uri="{FF2B5EF4-FFF2-40B4-BE49-F238E27FC236}">
                <a16:creationId xmlns:a16="http://schemas.microsoft.com/office/drawing/2014/main" id="{74E1D2B3-FAF1-8A39-8EF9-204DFF2D0194}"/>
              </a:ext>
            </a:extLst>
          </p:cNvPr>
          <p:cNvSpPr/>
          <p:nvPr/>
        </p:nvSpPr>
        <p:spPr>
          <a:xfrm>
            <a:off x="589180" y="4406814"/>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Flexible pouches offer lightweight packaging, efficient transportation, and reduced material usage, contributing to lower packaging waste.</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Pouches are increasingly adopted for functional beverage concentrates, wellness shots, powdered drink mixes, and single-serve products.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continue improving pouch materials to enhance product protection, food safety, and recyclability while meeting regulatory requirements.</a:t>
            </a:r>
          </a:p>
        </p:txBody>
      </p:sp>
      <p:grpSp>
        <p:nvGrpSpPr>
          <p:cNvPr id="22" name="Group 21">
            <a:extLst>
              <a:ext uri="{FF2B5EF4-FFF2-40B4-BE49-F238E27FC236}">
                <a16:creationId xmlns:a16="http://schemas.microsoft.com/office/drawing/2014/main" id="{72EE0919-8AE6-F845-C117-319979B46B1C}"/>
              </a:ext>
            </a:extLst>
          </p:cNvPr>
          <p:cNvGrpSpPr/>
          <p:nvPr/>
        </p:nvGrpSpPr>
        <p:grpSpPr>
          <a:xfrm>
            <a:off x="632602" y="3823129"/>
            <a:ext cx="4413600" cy="504000"/>
            <a:chOff x="6172200" y="896112"/>
            <a:chExt cx="5486400" cy="411480"/>
          </a:xfrm>
        </p:grpSpPr>
        <p:sp>
          <p:nvSpPr>
            <p:cNvPr id="23" name="Shape 7">
              <a:extLst>
                <a:ext uri="{FF2B5EF4-FFF2-40B4-BE49-F238E27FC236}">
                  <a16:creationId xmlns:a16="http://schemas.microsoft.com/office/drawing/2014/main" id="{DA7769F8-75EE-6501-C679-BC1A90BDC70B}"/>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15F92ADB-25C9-544F-C2A2-D4D8A466FF91}"/>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Pouches</a:t>
              </a:r>
            </a:p>
          </p:txBody>
        </p:sp>
      </p:grpSp>
      <p:pic>
        <p:nvPicPr>
          <p:cNvPr id="19" name="Picture 18">
            <a:extLst>
              <a:ext uri="{FF2B5EF4-FFF2-40B4-BE49-F238E27FC236}">
                <a16:creationId xmlns:a16="http://schemas.microsoft.com/office/drawing/2014/main" id="{E052B1B6-4FE2-D7F5-BB2A-2B813256AC63}"/>
              </a:ext>
            </a:extLst>
          </p:cNvPr>
          <p:cNvPicPr>
            <a:picLocks noChangeAspect="1"/>
          </p:cNvPicPr>
          <p:nvPr/>
        </p:nvPicPr>
        <p:blipFill>
          <a:blip r:embed="rId3"/>
          <a:srcRect/>
          <a:stretch/>
        </p:blipFill>
        <p:spPr>
          <a:xfrm>
            <a:off x="8159513" y="4098709"/>
            <a:ext cx="3304993" cy="2196000"/>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D244BC80-B455-3620-22E7-DBC4F30E939F}"/>
              </a:ext>
            </a:extLst>
          </p:cNvPr>
          <p:cNvPicPr>
            <a:picLocks noChangeAspect="1"/>
          </p:cNvPicPr>
          <p:nvPr/>
        </p:nvPicPr>
        <p:blipFill>
          <a:blip r:embed="rId4"/>
          <a:srcRect t="17206" b="17206"/>
          <a:stretch/>
        </p:blipFill>
        <p:spPr>
          <a:xfrm>
            <a:off x="8159513" y="1340002"/>
            <a:ext cx="3304993"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41880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B4F4A"/>
        </a:solidFill>
        <a:effectLst/>
      </p:bgPr>
    </p:bg>
    <p:spTree>
      <p:nvGrpSpPr>
        <p:cNvPr id="1" name="">
          <a:extLst>
            <a:ext uri="{FF2B5EF4-FFF2-40B4-BE49-F238E27FC236}">
              <a16:creationId xmlns:a16="http://schemas.microsoft.com/office/drawing/2014/main" id="{1A5A63BC-0843-C503-E907-CD4D8679D37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FAE51E-6971-CEE1-A51A-E649BB4CD6E3}"/>
              </a:ext>
            </a:extLst>
          </p:cNvPr>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a:extLst>
              <a:ext uri="{FF2B5EF4-FFF2-40B4-BE49-F238E27FC236}">
                <a16:creationId xmlns:a16="http://schemas.microsoft.com/office/drawing/2014/main" id="{1B3E9D20-3455-8C51-4453-6258FA0A4D36}"/>
              </a:ext>
            </a:extLst>
          </p:cNvPr>
          <p:cNvSpPr/>
          <p:nvPr/>
        </p:nvSpPr>
        <p:spPr>
          <a:xfrm>
            <a:off x="-1645920" y="4846320"/>
            <a:ext cx="3840480" cy="3840480"/>
          </a:xfrm>
          <a:prstGeom prst="ellipse">
            <a:avLst/>
          </a:prstGeom>
          <a:solidFill>
            <a:srgbClr val="062E2A"/>
          </a:solidFill>
          <a:ln/>
        </p:spPr>
        <p:txBody>
          <a:bodyPr/>
          <a:lstStyle/>
          <a:p>
            <a:endParaRPr lang="en-IN"/>
          </a:p>
        </p:txBody>
      </p:sp>
      <p:sp>
        <p:nvSpPr>
          <p:cNvPr id="5" name="Text 3">
            <a:extLst>
              <a:ext uri="{FF2B5EF4-FFF2-40B4-BE49-F238E27FC236}">
                <a16:creationId xmlns:a16="http://schemas.microsoft.com/office/drawing/2014/main" id="{5AD288D3-6E62-365F-B0FE-6F016847E7E6}"/>
              </a:ext>
            </a:extLst>
          </p:cNvPr>
          <p:cNvSpPr/>
          <p:nvPr/>
        </p:nvSpPr>
        <p:spPr>
          <a:xfrm>
            <a:off x="822960" y="2175027"/>
            <a:ext cx="987552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Distribution Channel Analysis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9EC3A635-C03A-D851-ACB5-97E4CCBC8B3C}"/>
              </a:ext>
            </a:extLst>
          </p:cNvPr>
          <p:cNvSpPr/>
          <p:nvPr/>
        </p:nvSpPr>
        <p:spPr>
          <a:xfrm>
            <a:off x="822960" y="3386834"/>
            <a:ext cx="8686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AF5F1"/>
                </a:solidFill>
                <a:effectLst/>
                <a:uLnTx/>
                <a:uFillTx/>
                <a:latin typeface="Calibri" pitchFamily="34" charset="0"/>
                <a:ea typeface="Calibri" pitchFamily="34" charset="-122"/>
                <a:cs typeface="Calibri" pitchFamily="34" charset="-120"/>
              </a:rPr>
              <a:t>Comprehensive evaluation of primary distribution channels, including Supermarkets/Hypermarkets, Convenience Stores, Online/E-commerce, and Specialty &amp; Health Stores, emphasizing purchasing behavior, retail accessibility, channel-specific advantages, and their role in expanding market reach.</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24BD29A5-A7FB-E657-32BC-0DC11EC7E415}"/>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44175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7424"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Share by Distribution Channel, 2025</a:t>
            </a:r>
            <a:endParaRPr lang="en-US" sz="2800" dirty="0"/>
          </a:p>
        </p:txBody>
      </p:sp>
      <p:sp>
        <p:nvSpPr>
          <p:cNvPr id="3" name="Text 1"/>
          <p:cNvSpPr/>
          <p:nvPr/>
        </p:nvSpPr>
        <p:spPr>
          <a:xfrm>
            <a:off x="563302"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Supermarkets and hypermarkets continue to dominate functional beverage sales, while online channels gain traction through expanding digital retail adoption.</a:t>
            </a:r>
            <a:endParaRPr lang="en-US" sz="1250" dirty="0"/>
          </a:p>
        </p:txBody>
      </p:sp>
      <p:graphicFrame>
        <p:nvGraphicFramePr>
          <p:cNvPr id="4" name="Chart 0"/>
          <p:cNvGraphicFramePr/>
          <p:nvPr>
            <p:extLst>
              <p:ext uri="{D42A27DB-BD31-4B8C-83A1-F6EECF244321}">
                <p14:modId xmlns:p14="http://schemas.microsoft.com/office/powerpoint/2010/main" val="3425813329"/>
              </p:ext>
            </p:extLst>
          </p:nvPr>
        </p:nvGraphicFramePr>
        <p:xfrm>
          <a:off x="502920" y="1371600"/>
          <a:ext cx="57607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583680" y="1371600"/>
            <a:ext cx="4941211" cy="4754880"/>
          </a:xfrm>
          <a:prstGeom prst="roundRect">
            <a:avLst>
              <a:gd name="adj" fmla="val 1538"/>
            </a:avLst>
          </a:prstGeom>
          <a:solidFill>
            <a:srgbClr val="EAF5F1"/>
          </a:solidFill>
          <a:ln/>
        </p:spPr>
        <p:txBody>
          <a:bodyPr/>
          <a:lstStyle/>
          <a:p>
            <a:endParaRPr lang="en-IN"/>
          </a:p>
        </p:txBody>
      </p:sp>
      <p:sp>
        <p:nvSpPr>
          <p:cNvPr id="6" name="Text 3"/>
          <p:cNvSpPr/>
          <p:nvPr/>
        </p:nvSpPr>
        <p:spPr>
          <a:xfrm>
            <a:off x="6903720" y="1600200"/>
            <a:ext cx="4480560" cy="4297680"/>
          </a:xfrm>
          <a:prstGeom prst="rect">
            <a:avLst/>
          </a:prstGeom>
          <a:noFill/>
          <a:ln/>
        </p:spPr>
        <p:txBody>
          <a:bodyPr wrap="square" rtlCol="0" anchor="t"/>
          <a:lstStyle/>
          <a:p>
            <a:pPr marL="171450" indent="-171450">
              <a:spcAft>
                <a:spcPts val="1200"/>
              </a:spcAft>
              <a:buSzPct val="100000"/>
              <a:buFont typeface="Arial" panose="020B0604020202020204" pitchFamily="34" charset="0"/>
              <a:buChar char="•"/>
            </a:pPr>
            <a:r>
              <a:rPr lang="en-US" sz="1200" b="1" dirty="0"/>
              <a:t>Supermarkets &amp; Hypermarkets account for the largest share (42%)</a:t>
            </a:r>
            <a:r>
              <a:rPr lang="en-US" sz="1200" dirty="0"/>
              <a:t>, driven by extensive product availability, strong brand visibility, and high consumer footfall.</a:t>
            </a:r>
          </a:p>
          <a:p>
            <a:pPr marL="171450" indent="-171450">
              <a:spcAft>
                <a:spcPts val="1200"/>
              </a:spcAft>
              <a:buSzPct val="100000"/>
              <a:buFont typeface="Arial" panose="020B0604020202020204" pitchFamily="34" charset="0"/>
              <a:buChar char="•"/>
            </a:pPr>
            <a:r>
              <a:rPr lang="en-US" sz="1200" b="1" dirty="0"/>
              <a:t>Convenience Stores represent 28% of the market</a:t>
            </a:r>
            <a:r>
              <a:rPr lang="en-US" sz="1200" dirty="0"/>
              <a:t>, benefiting from increasing demand for on-the-go functional beverages and impulse purchases.</a:t>
            </a:r>
          </a:p>
          <a:p>
            <a:pPr marL="171450" indent="-171450">
              <a:spcAft>
                <a:spcPts val="1200"/>
              </a:spcAft>
              <a:buSzPct val="100000"/>
              <a:buFont typeface="Arial" panose="020B0604020202020204" pitchFamily="34" charset="0"/>
              <a:buChar char="•"/>
            </a:pPr>
            <a:r>
              <a:rPr lang="en-US" sz="1200" b="1" dirty="0"/>
              <a:t>Online/E-commerce (18%) and Specialty &amp; Health Stores (12%) </a:t>
            </a:r>
            <a:r>
              <a:rPr lang="en-US" sz="1200" dirty="0"/>
              <a:t>continue to expand as consumers increasingly seek convenient shopping experiences, wider product selections, and health-focused beverage offerings.</a:t>
            </a:r>
          </a:p>
          <a:p>
            <a:pPr marL="171450" indent="-171450">
              <a:spcAft>
                <a:spcPts val="1200"/>
              </a:spcAft>
              <a:buSzPct val="100000"/>
              <a:buFont typeface="Arial" panose="020B0604020202020204" pitchFamily="34" charset="0"/>
              <a:buChar char="•"/>
            </a:pPr>
            <a:r>
              <a:rPr lang="en-US" sz="1200" dirty="0"/>
              <a:t>Content</a:t>
            </a:r>
          </a:p>
        </p:txBody>
      </p:sp>
      <p:sp>
        <p:nvSpPr>
          <p:cNvPr id="7"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8744-42D3-C695-F569-4177B5595B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1537B9-6406-FB84-6C85-A74809C409A8}"/>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Distribution Channel Analysis (1/2)</a:t>
            </a:r>
          </a:p>
        </p:txBody>
      </p:sp>
      <p:sp>
        <p:nvSpPr>
          <p:cNvPr id="3" name="Text 1">
            <a:extLst>
              <a:ext uri="{FF2B5EF4-FFF2-40B4-BE49-F238E27FC236}">
                <a16:creationId xmlns:a16="http://schemas.microsoft.com/office/drawing/2014/main" id="{CEE9F796-B9EA-E2A2-ABFA-213B6907DABE}"/>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Performance-focused beverages continue to evolve through cleaner formulations, functional ingredients, and regulatory-compliant innovation that supports energy, hydration, and active lifestyles.</a:t>
            </a:r>
            <a:endParaRPr lang="en-US" sz="1250" dirty="0"/>
          </a:p>
        </p:txBody>
      </p:sp>
      <p:sp>
        <p:nvSpPr>
          <p:cNvPr id="4" name="Text 2">
            <a:extLst>
              <a:ext uri="{FF2B5EF4-FFF2-40B4-BE49-F238E27FC236}">
                <a16:creationId xmlns:a16="http://schemas.microsoft.com/office/drawing/2014/main" id="{787A30C8-187D-F3E8-5D2D-250CFFAFB4B3}"/>
              </a:ext>
            </a:extLst>
          </p:cNvPr>
          <p:cNvSpPr/>
          <p:nvPr/>
        </p:nvSpPr>
        <p:spPr>
          <a:xfrm>
            <a:off x="563302" y="1958192"/>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Supermarkets and hypermarkets provide broad product availability, enabling consumers to compare multiple functional beverage brands, formulations, and package sizes in one location.</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These retail formats support the sale of ready-to-drink beverages, fortified juices, functional water, and sports drinks through dedicated beverage and health food sections.</a:t>
            </a:r>
          </a:p>
        </p:txBody>
      </p:sp>
      <p:sp>
        <p:nvSpPr>
          <p:cNvPr id="11" name="Text 9">
            <a:extLst>
              <a:ext uri="{FF2B5EF4-FFF2-40B4-BE49-F238E27FC236}">
                <a16:creationId xmlns:a16="http://schemas.microsoft.com/office/drawing/2014/main" id="{90074A53-BE15-97DC-8D0E-613026C5779E}"/>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C82CEBEA-49B4-509F-D3B6-D1B9A74855D1}"/>
              </a:ext>
            </a:extLst>
          </p:cNvPr>
          <p:cNvGrpSpPr/>
          <p:nvPr/>
        </p:nvGrpSpPr>
        <p:grpSpPr>
          <a:xfrm>
            <a:off x="606724" y="1374507"/>
            <a:ext cx="4413600" cy="504000"/>
            <a:chOff x="6172200" y="896112"/>
            <a:chExt cx="5486400" cy="411480"/>
          </a:xfrm>
        </p:grpSpPr>
        <p:sp>
          <p:nvSpPr>
            <p:cNvPr id="16" name="Shape 7">
              <a:extLst>
                <a:ext uri="{FF2B5EF4-FFF2-40B4-BE49-F238E27FC236}">
                  <a16:creationId xmlns:a16="http://schemas.microsoft.com/office/drawing/2014/main" id="{63B5E471-251E-3432-22DC-3B4D832C0945}"/>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8041E3F4-2CD3-653B-FC56-82E78042FFD2}"/>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Supermarkets/Hypermarkets</a:t>
              </a:r>
            </a:p>
          </p:txBody>
        </p:sp>
      </p:grpSp>
      <p:sp>
        <p:nvSpPr>
          <p:cNvPr id="21" name="Text 2">
            <a:extLst>
              <a:ext uri="{FF2B5EF4-FFF2-40B4-BE49-F238E27FC236}">
                <a16:creationId xmlns:a16="http://schemas.microsoft.com/office/drawing/2014/main" id="{C6CEB727-7DE9-F35E-EAD2-F00652E57E58}"/>
              </a:ext>
            </a:extLst>
          </p:cNvPr>
          <p:cNvSpPr/>
          <p:nvPr/>
        </p:nvSpPr>
        <p:spPr>
          <a:xfrm>
            <a:off x="563302" y="4389562"/>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Convenience stores offer quick and easy access to single-serve functional beverages, particularly energy drinks, sports drinks, and functional water.</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Strategic placement near checkout counters and refrigerated displays encourages impulse purchases and on-the-go consumption.</a:t>
            </a:r>
          </a:p>
          <a:p>
            <a:pPr marL="285750" indent="-285750">
              <a:spcAft>
                <a:spcPts val="1400"/>
              </a:spcAft>
              <a:buSzPct val="100000"/>
              <a:buFont typeface="Arial" panose="020B0604020202020204" pitchFamily="34" charset="0"/>
              <a:buChar char="•"/>
            </a:pPr>
            <a:r>
              <a:rPr lang="en-US" sz="1200" dirty="0">
                <a:latin typeface="Calibri"/>
              </a:rPr>
              <a:t>Extended operating hours and urban accessibility make convenience stores an important retail channel for ready-to-drink beverages.</a:t>
            </a:r>
          </a:p>
        </p:txBody>
      </p:sp>
      <p:grpSp>
        <p:nvGrpSpPr>
          <p:cNvPr id="22" name="Group 21">
            <a:extLst>
              <a:ext uri="{FF2B5EF4-FFF2-40B4-BE49-F238E27FC236}">
                <a16:creationId xmlns:a16="http://schemas.microsoft.com/office/drawing/2014/main" id="{4F5B953A-CEAA-0744-8D58-55ABC19260AE}"/>
              </a:ext>
            </a:extLst>
          </p:cNvPr>
          <p:cNvGrpSpPr/>
          <p:nvPr/>
        </p:nvGrpSpPr>
        <p:grpSpPr>
          <a:xfrm>
            <a:off x="606724" y="3805877"/>
            <a:ext cx="4413600" cy="504000"/>
            <a:chOff x="6172200" y="896112"/>
            <a:chExt cx="5486400" cy="411480"/>
          </a:xfrm>
        </p:grpSpPr>
        <p:sp>
          <p:nvSpPr>
            <p:cNvPr id="23" name="Shape 7">
              <a:extLst>
                <a:ext uri="{FF2B5EF4-FFF2-40B4-BE49-F238E27FC236}">
                  <a16:creationId xmlns:a16="http://schemas.microsoft.com/office/drawing/2014/main" id="{449EFDF1-B419-883B-0A30-CD795067FDE9}"/>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2BEF9F01-D400-EB27-F641-EB2580E488EA}"/>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Convenience Stores</a:t>
              </a:r>
            </a:p>
          </p:txBody>
        </p:sp>
      </p:grpSp>
      <p:pic>
        <p:nvPicPr>
          <p:cNvPr id="38" name="Picture 37">
            <a:extLst>
              <a:ext uri="{FF2B5EF4-FFF2-40B4-BE49-F238E27FC236}">
                <a16:creationId xmlns:a16="http://schemas.microsoft.com/office/drawing/2014/main" id="{D58E3465-605E-CBB9-CDDA-219894F118C8}"/>
              </a:ext>
            </a:extLst>
          </p:cNvPr>
          <p:cNvPicPr>
            <a:picLocks noChangeAspect="1"/>
          </p:cNvPicPr>
          <p:nvPr/>
        </p:nvPicPr>
        <p:blipFill>
          <a:blip r:embed="rId3"/>
          <a:srcRect/>
          <a:stretch/>
        </p:blipFill>
        <p:spPr>
          <a:xfrm>
            <a:off x="8179138" y="4139913"/>
            <a:ext cx="3294000" cy="2196000"/>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E0C81706-6833-49F0-BD44-EBF37753E8F2}"/>
              </a:ext>
            </a:extLst>
          </p:cNvPr>
          <p:cNvPicPr>
            <a:picLocks noChangeAspect="1"/>
          </p:cNvPicPr>
          <p:nvPr/>
        </p:nvPicPr>
        <p:blipFill>
          <a:blip r:embed="rId4"/>
          <a:srcRect/>
          <a:stretch/>
        </p:blipFill>
        <p:spPr>
          <a:xfrm>
            <a:off x="8179145" y="1504023"/>
            <a:ext cx="3293993"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094935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8EFEB-CD88-4171-7A41-9E1A390E18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385ECA-5B6A-FBD5-462E-D904000125DB}"/>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Distribution Channel Analysis (2/2)</a:t>
            </a:r>
          </a:p>
        </p:txBody>
      </p:sp>
      <p:sp>
        <p:nvSpPr>
          <p:cNvPr id="3" name="Text 1">
            <a:extLst>
              <a:ext uri="{FF2B5EF4-FFF2-40B4-BE49-F238E27FC236}">
                <a16:creationId xmlns:a16="http://schemas.microsoft.com/office/drawing/2014/main" id="{0642790F-5E47-344D-A254-0BADDBB1D7B5}"/>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Health-oriented beverage categories are expanding with nutrient fortification, enhanced hydration, and clean-label formulations that address evolving consumer wellness preferences.</a:t>
            </a:r>
            <a:endParaRPr lang="en-US" sz="1250" dirty="0"/>
          </a:p>
        </p:txBody>
      </p:sp>
      <p:sp>
        <p:nvSpPr>
          <p:cNvPr id="4" name="Text 2">
            <a:extLst>
              <a:ext uri="{FF2B5EF4-FFF2-40B4-BE49-F238E27FC236}">
                <a16:creationId xmlns:a16="http://schemas.microsoft.com/office/drawing/2014/main" id="{ED13F9FE-AD30-0215-A88B-C98164776AB2}"/>
              </a:ext>
            </a:extLst>
          </p:cNvPr>
          <p:cNvSpPr/>
          <p:nvPr/>
        </p:nvSpPr>
        <p:spPr>
          <a:xfrm>
            <a:off x="580554" y="196681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Online platforms provide consumers with easy access to a wide range of functional beverages, including niche and specialty products that may have limited retail availability.</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E-commerce enables manufacturers to offer direct-to-consumer purchasing, subscription services, and detailed product information, including ingredient lists and nutrition labeling.</a:t>
            </a:r>
          </a:p>
        </p:txBody>
      </p:sp>
      <p:sp>
        <p:nvSpPr>
          <p:cNvPr id="11" name="Text 9">
            <a:extLst>
              <a:ext uri="{FF2B5EF4-FFF2-40B4-BE49-F238E27FC236}">
                <a16:creationId xmlns:a16="http://schemas.microsoft.com/office/drawing/2014/main" id="{29A250E0-57C4-C26C-767B-15247ADC084A}"/>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E0F3582F-3868-1078-5AAB-6EED52C6212A}"/>
              </a:ext>
            </a:extLst>
          </p:cNvPr>
          <p:cNvGrpSpPr/>
          <p:nvPr/>
        </p:nvGrpSpPr>
        <p:grpSpPr>
          <a:xfrm>
            <a:off x="623976" y="1383133"/>
            <a:ext cx="4413600" cy="504000"/>
            <a:chOff x="6172200" y="896112"/>
            <a:chExt cx="5486400" cy="411480"/>
          </a:xfrm>
        </p:grpSpPr>
        <p:sp>
          <p:nvSpPr>
            <p:cNvPr id="16" name="Shape 7">
              <a:extLst>
                <a:ext uri="{FF2B5EF4-FFF2-40B4-BE49-F238E27FC236}">
                  <a16:creationId xmlns:a16="http://schemas.microsoft.com/office/drawing/2014/main" id="{C29624E2-EF29-C2DF-3595-C99DEAED33F1}"/>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17" name="Text 8">
              <a:extLst>
                <a:ext uri="{FF2B5EF4-FFF2-40B4-BE49-F238E27FC236}">
                  <a16:creationId xmlns:a16="http://schemas.microsoft.com/office/drawing/2014/main" id="{5B53107A-0901-4B73-8716-93E4183DC163}"/>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Online/E-commerce</a:t>
              </a:r>
            </a:p>
          </p:txBody>
        </p:sp>
      </p:grpSp>
      <p:sp>
        <p:nvSpPr>
          <p:cNvPr id="21" name="Text 2">
            <a:extLst>
              <a:ext uri="{FF2B5EF4-FFF2-40B4-BE49-F238E27FC236}">
                <a16:creationId xmlns:a16="http://schemas.microsoft.com/office/drawing/2014/main" id="{75EFE6AD-17B4-DFBB-89E8-327F4AEC9345}"/>
              </a:ext>
            </a:extLst>
          </p:cNvPr>
          <p:cNvSpPr/>
          <p:nvPr/>
        </p:nvSpPr>
        <p:spPr>
          <a:xfrm>
            <a:off x="580554" y="439818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Specialty and health stores focus on premium functional beverages, including probiotic drinks, plant-based beverages, botanical formulations, and clean-label products.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These retailers often provide product guidance and health-focused assortments, helping consumers make informed purchasing decisions.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Manufacturers use this channel to introduce innovative formulations and scientifically supported wellness products targeting health-conscious consumers.</a:t>
            </a:r>
          </a:p>
        </p:txBody>
      </p:sp>
      <p:grpSp>
        <p:nvGrpSpPr>
          <p:cNvPr id="22" name="Group 21">
            <a:extLst>
              <a:ext uri="{FF2B5EF4-FFF2-40B4-BE49-F238E27FC236}">
                <a16:creationId xmlns:a16="http://schemas.microsoft.com/office/drawing/2014/main" id="{D7CC31B7-18BC-B911-42A0-7499DE2F9B64}"/>
              </a:ext>
            </a:extLst>
          </p:cNvPr>
          <p:cNvGrpSpPr/>
          <p:nvPr/>
        </p:nvGrpSpPr>
        <p:grpSpPr>
          <a:xfrm>
            <a:off x="623976" y="3814503"/>
            <a:ext cx="4413600" cy="504000"/>
            <a:chOff x="6172200" y="896112"/>
            <a:chExt cx="5486400" cy="411480"/>
          </a:xfrm>
        </p:grpSpPr>
        <p:sp>
          <p:nvSpPr>
            <p:cNvPr id="23" name="Shape 7">
              <a:extLst>
                <a:ext uri="{FF2B5EF4-FFF2-40B4-BE49-F238E27FC236}">
                  <a16:creationId xmlns:a16="http://schemas.microsoft.com/office/drawing/2014/main" id="{DD3E7235-9E93-B5E4-93E0-A560F70277F8}"/>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a:p>
          </p:txBody>
        </p:sp>
        <p:sp>
          <p:nvSpPr>
            <p:cNvPr id="24" name="Text 8">
              <a:extLst>
                <a:ext uri="{FF2B5EF4-FFF2-40B4-BE49-F238E27FC236}">
                  <a16:creationId xmlns:a16="http://schemas.microsoft.com/office/drawing/2014/main" id="{18D2BD8A-0897-3068-08D1-03860774002F}"/>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Specialty &amp; Health Stores</a:t>
              </a:r>
            </a:p>
          </p:txBody>
        </p:sp>
      </p:grpSp>
      <p:pic>
        <p:nvPicPr>
          <p:cNvPr id="19" name="Picture 18">
            <a:extLst>
              <a:ext uri="{FF2B5EF4-FFF2-40B4-BE49-F238E27FC236}">
                <a16:creationId xmlns:a16="http://schemas.microsoft.com/office/drawing/2014/main" id="{2D6A9D67-07E9-7FE9-67C8-CF5B8DCEFD11}"/>
              </a:ext>
            </a:extLst>
          </p:cNvPr>
          <p:cNvPicPr>
            <a:picLocks noChangeAspect="1"/>
          </p:cNvPicPr>
          <p:nvPr/>
        </p:nvPicPr>
        <p:blipFill>
          <a:blip r:embed="rId3"/>
          <a:srcRect/>
          <a:stretch/>
        </p:blipFill>
        <p:spPr>
          <a:xfrm>
            <a:off x="8168536" y="4098709"/>
            <a:ext cx="3278718" cy="2196000"/>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481092CA-DD34-B4DB-3C60-04FEB2C0C6CB}"/>
              </a:ext>
            </a:extLst>
          </p:cNvPr>
          <p:cNvPicPr>
            <a:picLocks noChangeAspect="1"/>
          </p:cNvPicPr>
          <p:nvPr/>
        </p:nvPicPr>
        <p:blipFill>
          <a:blip r:embed="rId4"/>
          <a:srcRect l="2497" r="2497"/>
          <a:stretch/>
        </p:blipFill>
        <p:spPr>
          <a:xfrm>
            <a:off x="8159514" y="1365880"/>
            <a:ext cx="3287740"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924700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B4F4A"/>
        </a:solidFill>
        <a:effectLst/>
      </p:bgPr>
    </p:bg>
    <p:spTree>
      <p:nvGrpSpPr>
        <p:cNvPr id="1" name="">
          <a:extLst>
            <a:ext uri="{FF2B5EF4-FFF2-40B4-BE49-F238E27FC236}">
              <a16:creationId xmlns:a16="http://schemas.microsoft.com/office/drawing/2014/main" id="{152241CD-0E21-2C68-C152-69A9314058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C57C431-BFDE-BCA7-9820-D51D877B139B}"/>
              </a:ext>
            </a:extLst>
          </p:cNvPr>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a:extLst>
              <a:ext uri="{FF2B5EF4-FFF2-40B4-BE49-F238E27FC236}">
                <a16:creationId xmlns:a16="http://schemas.microsoft.com/office/drawing/2014/main" id="{23657B5E-319F-D009-D7E7-F78F1875555B}"/>
              </a:ext>
            </a:extLst>
          </p:cNvPr>
          <p:cNvSpPr/>
          <p:nvPr/>
        </p:nvSpPr>
        <p:spPr>
          <a:xfrm>
            <a:off x="-1645920" y="4846320"/>
            <a:ext cx="3840480" cy="3840480"/>
          </a:xfrm>
          <a:prstGeom prst="ellipse">
            <a:avLst/>
          </a:prstGeom>
          <a:solidFill>
            <a:srgbClr val="062E2A"/>
          </a:solidFill>
          <a:ln/>
        </p:spPr>
        <p:txBody>
          <a:bodyPr/>
          <a:lstStyle/>
          <a:p>
            <a:endParaRPr lang="en-IN"/>
          </a:p>
        </p:txBody>
      </p:sp>
      <p:sp>
        <p:nvSpPr>
          <p:cNvPr id="5" name="Text 3">
            <a:extLst>
              <a:ext uri="{FF2B5EF4-FFF2-40B4-BE49-F238E27FC236}">
                <a16:creationId xmlns:a16="http://schemas.microsoft.com/office/drawing/2014/main" id="{7D6E9D39-2F27-1D0F-91A1-231ACFF27C23}"/>
              </a:ext>
            </a:extLst>
          </p:cNvPr>
          <p:cNvSpPr/>
          <p:nvPr/>
        </p:nvSpPr>
        <p:spPr>
          <a:xfrm>
            <a:off x="822960" y="2175027"/>
            <a:ext cx="987552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End User Analysis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9A6299ED-6708-EBD9-D5DD-9C09CEDCE4C9}"/>
              </a:ext>
            </a:extLst>
          </p:cNvPr>
          <p:cNvSpPr/>
          <p:nvPr/>
        </p:nvSpPr>
        <p:spPr>
          <a:xfrm>
            <a:off x="822960" y="3386834"/>
            <a:ext cx="8686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AF5F1"/>
                </a:solidFill>
                <a:effectLst/>
                <a:uLnTx/>
                <a:uFillTx/>
                <a:latin typeface="Calibri" pitchFamily="34" charset="0"/>
                <a:ea typeface="Calibri" pitchFamily="34" charset="-122"/>
                <a:cs typeface="Calibri" pitchFamily="34" charset="-120"/>
              </a:rPr>
              <a:t>Detailed analysis of key consumer groups, including Gen Z, Millennials, Athletes &amp; Fitness Enthusiasts, and the Aging Population, highlighting consumption patterns, health priorities, lifestyle preferences, purchasing motivations, and demand drivers influencing functional beverage adoption.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1439DD5A-0A70-8ECF-ACCE-BF4255C08137}"/>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0163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3010E-AD50-FC21-AB99-BDF618C28E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85210B-D1CA-0854-956D-95AECD4EB834}"/>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Market Value by End User, 2025–2036</a:t>
            </a:r>
            <a:endParaRPr lang="en-US" sz="2800" dirty="0"/>
          </a:p>
        </p:txBody>
      </p:sp>
      <p:sp>
        <p:nvSpPr>
          <p:cNvPr id="3" name="Text 1">
            <a:extLst>
              <a:ext uri="{FF2B5EF4-FFF2-40B4-BE49-F238E27FC236}">
                <a16:creationId xmlns:a16="http://schemas.microsoft.com/office/drawing/2014/main" id="{DECF3541-CE78-C16A-E240-0EBC7B94C3C3}"/>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Millennials and Gen Z are expected to remain the primary consumers of functional beverages, driven by increasing health consciousness and active lifestyles.</a:t>
            </a:r>
            <a:endParaRPr lang="en-US" sz="1250" dirty="0"/>
          </a:p>
        </p:txBody>
      </p:sp>
      <p:graphicFrame>
        <p:nvGraphicFramePr>
          <p:cNvPr id="4" name="Chart 0">
            <a:extLst>
              <a:ext uri="{FF2B5EF4-FFF2-40B4-BE49-F238E27FC236}">
                <a16:creationId xmlns:a16="http://schemas.microsoft.com/office/drawing/2014/main" id="{7B90CAAC-2B37-5C9E-AE05-49C294EEF321}"/>
              </a:ext>
            </a:extLst>
          </p:cNvPr>
          <p:cNvGraphicFramePr/>
          <p:nvPr>
            <p:extLst>
              <p:ext uri="{D42A27DB-BD31-4B8C-83A1-F6EECF244321}">
                <p14:modId xmlns:p14="http://schemas.microsoft.com/office/powerpoint/2010/main" val="1020516984"/>
              </p:ext>
            </p:extLst>
          </p:nvPr>
        </p:nvGraphicFramePr>
        <p:xfrm>
          <a:off x="502919" y="1417320"/>
          <a:ext cx="11082355"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a:extLst>
              <a:ext uri="{FF2B5EF4-FFF2-40B4-BE49-F238E27FC236}">
                <a16:creationId xmlns:a16="http://schemas.microsoft.com/office/drawing/2014/main" id="{76460D85-6D1A-4226-DBF6-1EDD5E41BB09}"/>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extLst>
      <p:ext uri="{BB962C8B-B14F-4D97-AF65-F5344CB8AC3E}">
        <p14:creationId xmlns:p14="http://schemas.microsoft.com/office/powerpoint/2010/main" val="3726803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7763-1FF8-4884-BABE-38A3D59CE2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871D72-725F-4B8A-041D-58FFEBD6453E}"/>
              </a:ext>
            </a:extLst>
          </p:cNvPr>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End User Analysis (1/2)</a:t>
            </a:r>
          </a:p>
        </p:txBody>
      </p:sp>
      <p:sp>
        <p:nvSpPr>
          <p:cNvPr id="3" name="Text 1">
            <a:extLst>
              <a:ext uri="{FF2B5EF4-FFF2-40B4-BE49-F238E27FC236}">
                <a16:creationId xmlns:a16="http://schemas.microsoft.com/office/drawing/2014/main" id="{EEE3F232-256F-DDC1-F994-55A59D9F7EA0}"/>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Performance-focused beverages continue to evolve through cleaner formulations, functional ingredients, and regulatory-compliant innovation that supports energy, hydration, and active lifestyles.</a:t>
            </a:r>
            <a:endParaRPr lang="en-US" sz="1250" dirty="0"/>
          </a:p>
        </p:txBody>
      </p:sp>
      <p:sp>
        <p:nvSpPr>
          <p:cNvPr id="4" name="Text 2">
            <a:extLst>
              <a:ext uri="{FF2B5EF4-FFF2-40B4-BE49-F238E27FC236}">
                <a16:creationId xmlns:a16="http://schemas.microsoft.com/office/drawing/2014/main" id="{8913C243-ECCC-4227-F578-0468E5C879BC}"/>
              </a:ext>
            </a:extLst>
          </p:cNvPr>
          <p:cNvSpPr/>
          <p:nvPr/>
        </p:nvSpPr>
        <p:spPr>
          <a:xfrm>
            <a:off x="571928" y="196681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Gen Z represents a digitally connected consumer group that rapidly adopts new beverage formats through social media, influencer marketing, and online product discovery.</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Preference for plant-based ingredients, low-sugar beverages, and environmentally responsible packaging is encouraging brands to accelerate clean-label innovation.</a:t>
            </a:r>
            <a:endParaRPr lang="en-US" sz="1200" dirty="0"/>
          </a:p>
        </p:txBody>
      </p:sp>
      <p:sp>
        <p:nvSpPr>
          <p:cNvPr id="11" name="Text 9">
            <a:extLst>
              <a:ext uri="{FF2B5EF4-FFF2-40B4-BE49-F238E27FC236}">
                <a16:creationId xmlns:a16="http://schemas.microsoft.com/office/drawing/2014/main" id="{9E6963B0-AC54-7B7E-858E-BF6F2445C347}"/>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E62CA802-6A8F-472B-97D7-895C260F4240}"/>
              </a:ext>
            </a:extLst>
          </p:cNvPr>
          <p:cNvGrpSpPr/>
          <p:nvPr/>
        </p:nvGrpSpPr>
        <p:grpSpPr>
          <a:xfrm>
            <a:off x="615350" y="1383133"/>
            <a:ext cx="4413600" cy="504000"/>
            <a:chOff x="6172200" y="896112"/>
            <a:chExt cx="5486400" cy="411480"/>
          </a:xfrm>
        </p:grpSpPr>
        <p:sp>
          <p:nvSpPr>
            <p:cNvPr id="16" name="Shape 7">
              <a:extLst>
                <a:ext uri="{FF2B5EF4-FFF2-40B4-BE49-F238E27FC236}">
                  <a16:creationId xmlns:a16="http://schemas.microsoft.com/office/drawing/2014/main" id="{A32AB66E-D187-76B1-D98F-D1E2A7E560A5}"/>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55C9D51F-DF14-8098-7A0A-D7ECC58CD755}"/>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Gen Z</a:t>
              </a:r>
            </a:p>
          </p:txBody>
        </p:sp>
      </p:grpSp>
      <p:sp>
        <p:nvSpPr>
          <p:cNvPr id="21" name="Text 2">
            <a:extLst>
              <a:ext uri="{FF2B5EF4-FFF2-40B4-BE49-F238E27FC236}">
                <a16:creationId xmlns:a16="http://schemas.microsoft.com/office/drawing/2014/main" id="{0A4B8134-7A41-64B2-261E-029EC496F13D}"/>
              </a:ext>
            </a:extLst>
          </p:cNvPr>
          <p:cNvSpPr/>
          <p:nvPr/>
        </p:nvSpPr>
        <p:spPr>
          <a:xfrm>
            <a:off x="571928" y="4398188"/>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Millennials view functional beverages as part of a broader preventive wellness and balanced lifestyle, integrating them into daily routines such as work, travel, and fitness.</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This segment places greater emphasis on ingredient quality, product transparency, and scientifically supported nutrition information before making purchasing decisions.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Subscription services, online purchasing, and premium beverage offerings continue to improve accessibility and consumer engagement.</a:t>
            </a:r>
            <a:endParaRPr lang="en-US" sz="1200" dirty="0"/>
          </a:p>
        </p:txBody>
      </p:sp>
      <p:grpSp>
        <p:nvGrpSpPr>
          <p:cNvPr id="22" name="Group 21">
            <a:extLst>
              <a:ext uri="{FF2B5EF4-FFF2-40B4-BE49-F238E27FC236}">
                <a16:creationId xmlns:a16="http://schemas.microsoft.com/office/drawing/2014/main" id="{0F7CEA4C-E3B9-1760-FFDC-8080A59A1FBC}"/>
              </a:ext>
            </a:extLst>
          </p:cNvPr>
          <p:cNvGrpSpPr/>
          <p:nvPr/>
        </p:nvGrpSpPr>
        <p:grpSpPr>
          <a:xfrm>
            <a:off x="615350" y="3814503"/>
            <a:ext cx="4413600" cy="504000"/>
            <a:chOff x="6172200" y="896112"/>
            <a:chExt cx="5486400" cy="411480"/>
          </a:xfrm>
        </p:grpSpPr>
        <p:sp>
          <p:nvSpPr>
            <p:cNvPr id="23" name="Shape 7">
              <a:extLst>
                <a:ext uri="{FF2B5EF4-FFF2-40B4-BE49-F238E27FC236}">
                  <a16:creationId xmlns:a16="http://schemas.microsoft.com/office/drawing/2014/main" id="{A8A4F591-B7F5-90C0-5CC8-5A46ACDCCEE5}"/>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46A0E53D-D30A-0652-6DD1-C4337CA5A25B}"/>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Millennials</a:t>
              </a:r>
            </a:p>
          </p:txBody>
        </p:sp>
      </p:grpSp>
      <p:pic>
        <p:nvPicPr>
          <p:cNvPr id="38" name="Picture 37">
            <a:extLst>
              <a:ext uri="{FF2B5EF4-FFF2-40B4-BE49-F238E27FC236}">
                <a16:creationId xmlns:a16="http://schemas.microsoft.com/office/drawing/2014/main" id="{75AC4ACB-099D-4FC6-ED3B-F1F10B6BDCF4}"/>
              </a:ext>
            </a:extLst>
          </p:cNvPr>
          <p:cNvPicPr>
            <a:picLocks noChangeAspect="1"/>
          </p:cNvPicPr>
          <p:nvPr/>
        </p:nvPicPr>
        <p:blipFill>
          <a:blip r:embed="rId3"/>
          <a:srcRect b="10495"/>
          <a:stretch>
            <a:fillRect/>
          </a:stretch>
        </p:blipFill>
        <p:spPr>
          <a:xfrm>
            <a:off x="8300699" y="4187878"/>
            <a:ext cx="3169427" cy="2196000"/>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0774B5B8-1CB7-F887-D4EC-74108C759CCD}"/>
              </a:ext>
            </a:extLst>
          </p:cNvPr>
          <p:cNvPicPr>
            <a:picLocks noChangeAspect="1"/>
          </p:cNvPicPr>
          <p:nvPr/>
        </p:nvPicPr>
        <p:blipFill>
          <a:blip r:embed="rId4"/>
          <a:srcRect/>
          <a:stretch/>
        </p:blipFill>
        <p:spPr>
          <a:xfrm>
            <a:off x="8179145" y="1234444"/>
            <a:ext cx="3290981" cy="21959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485630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0A74C-B0D7-DBA2-B96F-1F3FC44093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2444AE-3B04-5DFD-DB87-13C5B67ADD4C}"/>
              </a:ext>
            </a:extLst>
          </p:cNvPr>
          <p:cNvSpPr/>
          <p:nvPr/>
        </p:nvSpPr>
        <p:spPr>
          <a:xfrm>
            <a:off x="502920" y="347472"/>
            <a:ext cx="11155680" cy="640080"/>
          </a:xfrm>
          <a:prstGeom prst="rect">
            <a:avLst/>
          </a:prstGeom>
          <a:noFill/>
          <a:ln/>
        </p:spPr>
        <p:txBody>
          <a:bodyPr wrap="square" rtlCol="0" anchor="ctr"/>
          <a:lstStyle/>
          <a:p>
            <a:r>
              <a:rPr lang="en-US" sz="2800" b="1" dirty="0">
                <a:solidFill>
                  <a:srgbClr val="0B4F4A"/>
                </a:solidFill>
                <a:latin typeface="Cambria" pitchFamily="34" charset="0"/>
                <a:ea typeface="Cambria" pitchFamily="34" charset="-122"/>
                <a:cs typeface="Cambria" pitchFamily="34" charset="-120"/>
              </a:rPr>
              <a:t>End User Analysis (2/2)</a:t>
            </a:r>
          </a:p>
        </p:txBody>
      </p:sp>
      <p:sp>
        <p:nvSpPr>
          <p:cNvPr id="3" name="Text 1">
            <a:extLst>
              <a:ext uri="{FF2B5EF4-FFF2-40B4-BE49-F238E27FC236}">
                <a16:creationId xmlns:a16="http://schemas.microsoft.com/office/drawing/2014/main" id="{CCD2DE34-DA5F-D482-D937-F5AB94783C93}"/>
              </a:ext>
            </a:extLst>
          </p:cNvPr>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Health-oriented beverage categories are expanding with nutrient fortification, enhanced hydration, and clean-label formulations that address evolving consumer wellness preferences.</a:t>
            </a:r>
            <a:endParaRPr lang="en-US" sz="1250" dirty="0"/>
          </a:p>
        </p:txBody>
      </p:sp>
      <p:sp>
        <p:nvSpPr>
          <p:cNvPr id="4" name="Text 2">
            <a:extLst>
              <a:ext uri="{FF2B5EF4-FFF2-40B4-BE49-F238E27FC236}">
                <a16:creationId xmlns:a16="http://schemas.microsoft.com/office/drawing/2014/main" id="{91CC668B-0C7D-4A6F-842B-7DFDECB7AEF4}"/>
              </a:ext>
            </a:extLst>
          </p:cNvPr>
          <p:cNvSpPr/>
          <p:nvPr/>
        </p:nvSpPr>
        <p:spPr>
          <a:xfrm>
            <a:off x="563302" y="1958192"/>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Functional beverages are consumed before, during, and after physical activity to support hydration, electrolyte replenishment, and nutritional recovery.</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Product selection is increasingly influenced by protein quality, electrolyte composition, carbohydrate content, and scientifically supported sports nutrition recommendations.</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Innovation continues toward sugar reduction, improved hydration technologies, and plant-based performance nutrition.</a:t>
            </a:r>
          </a:p>
        </p:txBody>
      </p:sp>
      <p:sp>
        <p:nvSpPr>
          <p:cNvPr id="11" name="Text 9">
            <a:extLst>
              <a:ext uri="{FF2B5EF4-FFF2-40B4-BE49-F238E27FC236}">
                <a16:creationId xmlns:a16="http://schemas.microsoft.com/office/drawing/2014/main" id="{C88B4431-E123-223A-5073-2F3343D63DF5}"/>
              </a:ext>
            </a:extLst>
          </p:cNvPr>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grpSp>
        <p:nvGrpSpPr>
          <p:cNvPr id="15" name="Group 14">
            <a:extLst>
              <a:ext uri="{FF2B5EF4-FFF2-40B4-BE49-F238E27FC236}">
                <a16:creationId xmlns:a16="http://schemas.microsoft.com/office/drawing/2014/main" id="{9816DE56-28EF-21AB-D56D-05E8A38642E5}"/>
              </a:ext>
            </a:extLst>
          </p:cNvPr>
          <p:cNvGrpSpPr/>
          <p:nvPr/>
        </p:nvGrpSpPr>
        <p:grpSpPr>
          <a:xfrm>
            <a:off x="606724" y="1374507"/>
            <a:ext cx="4413600" cy="504000"/>
            <a:chOff x="6172200" y="896112"/>
            <a:chExt cx="5486400" cy="411480"/>
          </a:xfrm>
        </p:grpSpPr>
        <p:sp>
          <p:nvSpPr>
            <p:cNvPr id="16" name="Shape 7">
              <a:extLst>
                <a:ext uri="{FF2B5EF4-FFF2-40B4-BE49-F238E27FC236}">
                  <a16:creationId xmlns:a16="http://schemas.microsoft.com/office/drawing/2014/main" id="{DCF23D21-2052-92D8-55D6-46EC19405A02}"/>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17" name="Text 8">
              <a:extLst>
                <a:ext uri="{FF2B5EF4-FFF2-40B4-BE49-F238E27FC236}">
                  <a16:creationId xmlns:a16="http://schemas.microsoft.com/office/drawing/2014/main" id="{BD428CB4-565C-4AA0-EBFB-A146DFDD41E6}"/>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Athletes &amp; Fitness Enthusiasts</a:t>
              </a:r>
            </a:p>
          </p:txBody>
        </p:sp>
      </p:grpSp>
      <p:sp>
        <p:nvSpPr>
          <p:cNvPr id="21" name="Text 2">
            <a:extLst>
              <a:ext uri="{FF2B5EF4-FFF2-40B4-BE49-F238E27FC236}">
                <a16:creationId xmlns:a16="http://schemas.microsoft.com/office/drawing/2014/main" id="{2796B658-8BB5-C9D3-C199-05EA46715235}"/>
              </a:ext>
            </a:extLst>
          </p:cNvPr>
          <p:cNvSpPr/>
          <p:nvPr/>
        </p:nvSpPr>
        <p:spPr>
          <a:xfrm>
            <a:off x="563302" y="4389562"/>
            <a:ext cx="6766560" cy="1965529"/>
          </a:xfrm>
          <a:prstGeom prst="rect">
            <a:avLst/>
          </a:prstGeom>
          <a:noFill/>
          <a:ln/>
        </p:spPr>
        <p:txBody>
          <a:bodyPr wrap="square" rtlCol="0" anchor="t"/>
          <a:lstStyle/>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Healthy aging initiatives encourage greater attention to adequate nutrient intake, hydration, and maintaining muscle and bone health throughout later life.</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Older consumers increasingly prefer beverages that are easy to consume, fortified with essential nutrients, and suitable for daily nutritional support.</a:t>
            </a:r>
          </a:p>
          <a:p>
            <a:pPr marL="285750" indent="-285750">
              <a:spcAft>
                <a:spcPts val="1400"/>
              </a:spcAft>
              <a:buSzPct val="100000"/>
              <a:buFont typeface="Arial" panose="020B0604020202020204" pitchFamily="34" charset="0"/>
              <a:buChar char="•"/>
            </a:pPr>
            <a:r>
              <a:rPr lang="en-US" sz="1200" dirty="0">
                <a:solidFill>
                  <a:srgbClr val="1E2624"/>
                </a:solidFill>
                <a:latin typeface="Calibri"/>
                <a:ea typeface="Calibri" pitchFamily="34" charset="-122"/>
                <a:cs typeface="Calibri" pitchFamily="34" charset="-120"/>
              </a:rPr>
              <a:t>Product development emphasizes digestibility, nutrient bioavailability, and convenient ready-to-drink formulations to address changing dietary requirements.</a:t>
            </a:r>
          </a:p>
        </p:txBody>
      </p:sp>
      <p:grpSp>
        <p:nvGrpSpPr>
          <p:cNvPr id="22" name="Group 21">
            <a:extLst>
              <a:ext uri="{FF2B5EF4-FFF2-40B4-BE49-F238E27FC236}">
                <a16:creationId xmlns:a16="http://schemas.microsoft.com/office/drawing/2014/main" id="{D50BEF79-6771-4283-1D0B-DF352E150AB6}"/>
              </a:ext>
            </a:extLst>
          </p:cNvPr>
          <p:cNvGrpSpPr/>
          <p:nvPr/>
        </p:nvGrpSpPr>
        <p:grpSpPr>
          <a:xfrm>
            <a:off x="606724" y="3805877"/>
            <a:ext cx="4413600" cy="504000"/>
            <a:chOff x="6172200" y="896112"/>
            <a:chExt cx="5486400" cy="411480"/>
          </a:xfrm>
        </p:grpSpPr>
        <p:sp>
          <p:nvSpPr>
            <p:cNvPr id="23" name="Shape 7">
              <a:extLst>
                <a:ext uri="{FF2B5EF4-FFF2-40B4-BE49-F238E27FC236}">
                  <a16:creationId xmlns:a16="http://schemas.microsoft.com/office/drawing/2014/main" id="{A15894F0-C63A-1247-7374-7900B79F42B9}"/>
                </a:ext>
              </a:extLst>
            </p:cNvPr>
            <p:cNvSpPr/>
            <p:nvPr/>
          </p:nvSpPr>
          <p:spPr>
            <a:xfrm>
              <a:off x="6172200" y="896112"/>
              <a:ext cx="5486400" cy="411480"/>
            </a:xfrm>
            <a:prstGeom prst="roundRect">
              <a:avLst>
                <a:gd name="adj" fmla="val 26667"/>
              </a:avLst>
            </a:prstGeom>
            <a:solidFill>
              <a:srgbClr val="FF6B35"/>
            </a:solidFill>
            <a:ln/>
          </p:spPr>
          <p:txBody>
            <a:bodyPr/>
            <a:lstStyle/>
            <a:p>
              <a:endParaRPr lang="en-IN" sz="1400"/>
            </a:p>
          </p:txBody>
        </p:sp>
        <p:sp>
          <p:nvSpPr>
            <p:cNvPr id="24" name="Text 8">
              <a:extLst>
                <a:ext uri="{FF2B5EF4-FFF2-40B4-BE49-F238E27FC236}">
                  <a16:creationId xmlns:a16="http://schemas.microsoft.com/office/drawing/2014/main" id="{A06775BF-940C-D4A3-7287-9E0BFE4CFD83}"/>
                </a:ext>
              </a:extLst>
            </p:cNvPr>
            <p:cNvSpPr/>
            <p:nvPr/>
          </p:nvSpPr>
          <p:spPr>
            <a:xfrm>
              <a:off x="6702552" y="896112"/>
              <a:ext cx="48006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Aging Population</a:t>
              </a:r>
            </a:p>
          </p:txBody>
        </p:sp>
      </p:grpSp>
      <p:pic>
        <p:nvPicPr>
          <p:cNvPr id="19" name="Picture 18">
            <a:extLst>
              <a:ext uri="{FF2B5EF4-FFF2-40B4-BE49-F238E27FC236}">
                <a16:creationId xmlns:a16="http://schemas.microsoft.com/office/drawing/2014/main" id="{5101C3FE-D34B-F15A-708F-45A4FDEC6B56}"/>
              </a:ext>
            </a:extLst>
          </p:cNvPr>
          <p:cNvPicPr>
            <a:picLocks noChangeAspect="1"/>
          </p:cNvPicPr>
          <p:nvPr/>
        </p:nvPicPr>
        <p:blipFill>
          <a:blip r:embed="rId3"/>
          <a:srcRect/>
          <a:stretch/>
        </p:blipFill>
        <p:spPr>
          <a:xfrm>
            <a:off x="8159513" y="4148863"/>
            <a:ext cx="3304993" cy="2196000"/>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702AFCE3-BE6B-7949-117C-358543346A4A}"/>
              </a:ext>
            </a:extLst>
          </p:cNvPr>
          <p:cNvPicPr>
            <a:picLocks noChangeAspect="1"/>
          </p:cNvPicPr>
          <p:nvPr/>
        </p:nvPicPr>
        <p:blipFill>
          <a:blip r:embed="rId4"/>
          <a:srcRect t="6006" b="6006"/>
          <a:stretch/>
        </p:blipFill>
        <p:spPr>
          <a:xfrm>
            <a:off x="8159513" y="1322750"/>
            <a:ext cx="3304993" cy="2196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859303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34">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p:cNvSpPr/>
          <p:nvPr/>
        </p:nvSpPr>
        <p:spPr>
          <a:xfrm>
            <a:off x="-1645920" y="4846320"/>
            <a:ext cx="3840480" cy="3840480"/>
          </a:xfrm>
          <a:prstGeom prst="ellipse">
            <a:avLst/>
          </a:prstGeom>
          <a:solidFill>
            <a:srgbClr val="062E2A"/>
          </a:solidFill>
          <a:ln/>
        </p:spPr>
        <p:txBody>
          <a:bodyPr/>
          <a:lstStyle/>
          <a:p>
            <a:endParaRPr lang="en-IN"/>
          </a:p>
        </p:txBody>
      </p:sp>
      <p:sp>
        <p:nvSpPr>
          <p:cNvPr id="4" name="Text 2"/>
          <p:cNvSpPr/>
          <p:nvPr/>
        </p:nvSpPr>
        <p:spPr>
          <a:xfrm>
            <a:off x="822960" y="2331720"/>
            <a:ext cx="5486400" cy="457200"/>
          </a:xfrm>
          <a:prstGeom prst="rect">
            <a:avLst/>
          </a:prstGeom>
          <a:noFill/>
          <a:ln/>
        </p:spPr>
        <p:txBody>
          <a:bodyPr wrap="square" rtlCol="0" anchor="ctr"/>
          <a:lstStyle/>
          <a:p>
            <a:pPr marL="0" indent="0">
              <a:buNone/>
            </a:pPr>
            <a:r>
              <a:rPr lang="en-US" sz="1400" b="1" kern="0" spc="200" dirty="0">
                <a:solidFill>
                  <a:srgbClr val="FF6B35"/>
                </a:solidFill>
                <a:latin typeface="Calibri" pitchFamily="34" charset="0"/>
                <a:ea typeface="Calibri" pitchFamily="34" charset="-122"/>
                <a:cs typeface="Calibri" pitchFamily="34" charset="-120"/>
              </a:rPr>
              <a:t>PART 04</a:t>
            </a:r>
            <a:endParaRPr lang="en-US" sz="1500" dirty="0"/>
          </a:p>
        </p:txBody>
      </p:sp>
      <p:sp>
        <p:nvSpPr>
          <p:cNvPr id="5" name="Text 3"/>
          <p:cNvSpPr/>
          <p:nvPr/>
        </p:nvSpPr>
        <p:spPr>
          <a:xfrm>
            <a:off x="822960" y="2743200"/>
            <a:ext cx="9875520" cy="14630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Regional &amp; Country Analysis</a:t>
            </a:r>
            <a:endParaRPr lang="en-US" sz="3400" dirty="0"/>
          </a:p>
        </p:txBody>
      </p:sp>
      <p:sp>
        <p:nvSpPr>
          <p:cNvPr id="6" name="Text 4"/>
          <p:cNvSpPr/>
          <p:nvPr/>
        </p:nvSpPr>
        <p:spPr>
          <a:xfrm>
            <a:off x="822960" y="4114800"/>
            <a:ext cx="8686800" cy="731520"/>
          </a:xfrm>
          <a:prstGeom prst="rect">
            <a:avLst/>
          </a:prstGeom>
          <a:noFill/>
          <a:ln/>
        </p:spPr>
        <p:txBody>
          <a:bodyPr wrap="square" rtlCol="0" anchor="ctr"/>
          <a:lstStyle/>
          <a:p>
            <a:pPr marL="0" indent="0">
              <a:buNone/>
            </a:pPr>
            <a:r>
              <a:rPr lang="en-US" sz="1200" i="1" dirty="0">
                <a:solidFill>
                  <a:srgbClr val="EAF5F1"/>
                </a:solidFill>
                <a:latin typeface="Calibri" pitchFamily="34" charset="0"/>
                <a:ea typeface="Calibri" pitchFamily="34" charset="-122"/>
                <a:cs typeface="Calibri" pitchFamily="34" charset="-120"/>
              </a:rPr>
              <a:t>Regional demand patterns, growth rates, and country-level breakdowns</a:t>
            </a:r>
            <a:endParaRPr lang="en-US" sz="135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37B619-BDDF-EBB0-8653-FF61E95A1A6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71D4D8-B597-97DF-CCDB-3420BB431B68}"/>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Global Functional Beverage Market Overview</a:t>
            </a:r>
          </a:p>
        </p:txBody>
      </p:sp>
      <p:sp>
        <p:nvSpPr>
          <p:cNvPr id="3" name="Text 1">
            <a:extLst>
              <a:ext uri="{FF2B5EF4-FFF2-40B4-BE49-F238E27FC236}">
                <a16:creationId xmlns:a16="http://schemas.microsoft.com/office/drawing/2014/main" id="{ABEBA11C-808A-AB8B-15FC-31714DB886C1}"/>
              </a:ext>
            </a:extLst>
          </p:cNvPr>
          <p:cNvSpPr/>
          <p:nvPr/>
        </p:nvSpPr>
        <p:spPr>
          <a:xfrm>
            <a:off x="537424"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The global functional beverage market is expanding rapidly as consumers prioritize health, immunity, and wellness. Innovation in clean-label, plant-based, and science-backed formulations, supported by evolving regulations and strategic investments from leading beverage companies, continues to accelerate long-term market growth.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56AD0979-0A26-FF9C-96F0-4465E05D9CF9}"/>
              </a:ext>
            </a:extLst>
          </p:cNvPr>
          <p:cNvSpPr/>
          <p:nvPr/>
        </p:nvSpPr>
        <p:spPr>
          <a:xfrm>
            <a:off x="585156" y="1743947"/>
            <a:ext cx="678942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The global functional beverage market is growing steadily, driven by rising health awareness and increasing demand for beverages enriched with vitamins, probiotics, plant proteins, and botanical extracts. </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Government initiatives promoting healthier diets and FDA regulations supporting evidence-based claims are further encouraging innovation and long-term market growth.</a:t>
            </a:r>
          </a:p>
        </p:txBody>
      </p:sp>
      <p:sp>
        <p:nvSpPr>
          <p:cNvPr id="5" name="Shape 3">
            <a:extLst>
              <a:ext uri="{FF2B5EF4-FFF2-40B4-BE49-F238E27FC236}">
                <a16:creationId xmlns:a16="http://schemas.microsoft.com/office/drawing/2014/main" id="{D6256944-5716-DB5D-A1D0-342762FF19C1}"/>
              </a:ext>
            </a:extLst>
          </p:cNvPr>
          <p:cNvSpPr/>
          <p:nvPr/>
        </p:nvSpPr>
        <p:spPr>
          <a:xfrm>
            <a:off x="7484718" y="1369631"/>
            <a:ext cx="4070370" cy="2291254"/>
          </a:xfrm>
          <a:prstGeom prst="roundRect">
            <a:avLst>
              <a:gd name="adj" fmla="val 2991"/>
            </a:avLst>
          </a:prstGeom>
          <a:solidFill>
            <a:srgbClr val="0B4F4A"/>
          </a:solidFill>
          <a:ln/>
        </p:spPr>
        <p:txBody>
          <a:bodyPr/>
          <a:lstStyle/>
          <a:p>
            <a:endParaRPr lang="en-IN"/>
          </a:p>
        </p:txBody>
      </p:sp>
      <p:sp>
        <p:nvSpPr>
          <p:cNvPr id="8" name="Shape 6">
            <a:extLst>
              <a:ext uri="{FF2B5EF4-FFF2-40B4-BE49-F238E27FC236}">
                <a16:creationId xmlns:a16="http://schemas.microsoft.com/office/drawing/2014/main" id="{C0624F07-424A-E83D-E641-D54E349051D3}"/>
              </a:ext>
            </a:extLst>
          </p:cNvPr>
          <p:cNvSpPr/>
          <p:nvPr/>
        </p:nvSpPr>
        <p:spPr>
          <a:xfrm>
            <a:off x="7484718" y="3907773"/>
            <a:ext cx="4070370" cy="2239526"/>
          </a:xfrm>
          <a:prstGeom prst="roundRect">
            <a:avLst>
              <a:gd name="adj" fmla="val 2991"/>
            </a:avLst>
          </a:prstGeom>
          <a:solidFill>
            <a:srgbClr val="0B4F4A"/>
          </a:solidFill>
          <a:ln/>
        </p:spPr>
        <p:txBody>
          <a:bodyPr/>
          <a:lstStyle/>
          <a:p>
            <a:endParaRPr lang="en-IN"/>
          </a:p>
        </p:txBody>
      </p:sp>
      <p:sp>
        <p:nvSpPr>
          <p:cNvPr id="11" name="Text 9">
            <a:extLst>
              <a:ext uri="{FF2B5EF4-FFF2-40B4-BE49-F238E27FC236}">
                <a16:creationId xmlns:a16="http://schemas.microsoft.com/office/drawing/2014/main" id="{05D94679-D72A-E5DC-ECBA-13F1F2F79051}"/>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D9D6BD90-EAE2-4614-10E3-CA04BBD84A73}"/>
              </a:ext>
            </a:extLst>
          </p:cNvPr>
          <p:cNvGrpSpPr/>
          <p:nvPr/>
        </p:nvGrpSpPr>
        <p:grpSpPr>
          <a:xfrm>
            <a:off x="602408" y="1383835"/>
            <a:ext cx="3055189" cy="396000"/>
            <a:chOff x="502920" y="5215355"/>
            <a:chExt cx="4413600" cy="835200"/>
          </a:xfrm>
        </p:grpSpPr>
        <p:sp>
          <p:nvSpPr>
            <p:cNvPr id="14" name="Shape 11">
              <a:extLst>
                <a:ext uri="{FF2B5EF4-FFF2-40B4-BE49-F238E27FC236}">
                  <a16:creationId xmlns:a16="http://schemas.microsoft.com/office/drawing/2014/main" id="{B11EAAD9-077E-0394-A79C-DEB4A3C00AE3}"/>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a:p>
          </p:txBody>
        </p:sp>
        <p:sp>
          <p:nvSpPr>
            <p:cNvPr id="16" name="Text 12">
              <a:extLst>
                <a:ext uri="{FF2B5EF4-FFF2-40B4-BE49-F238E27FC236}">
                  <a16:creationId xmlns:a16="http://schemas.microsoft.com/office/drawing/2014/main" id="{6C8C394D-9E33-136A-E724-2586AECC6426}"/>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Growth Statistics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22" name="Text 2">
            <a:extLst>
              <a:ext uri="{FF2B5EF4-FFF2-40B4-BE49-F238E27FC236}">
                <a16:creationId xmlns:a16="http://schemas.microsoft.com/office/drawing/2014/main" id="{0EE228B4-74B3-CE1A-6814-68075DFFC83D}"/>
              </a:ext>
            </a:extLst>
          </p:cNvPr>
          <p:cNvSpPr/>
          <p:nvPr/>
        </p:nvSpPr>
        <p:spPr>
          <a:xfrm>
            <a:off x="608016" y="3496795"/>
            <a:ext cx="6761716"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Rising demand for functional beverages supporting immunity, digestion, cognition, and sports nutrition, along with innovation in clean-label and reduced-sugar products, is driving market growth.</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PepsiCo (FY2025): Expanded its portfolio with Pepsi Prebiotic Cola and acquired </a:t>
            </a:r>
            <a:r>
              <a:rPr kumimoji="0" lang="en-US" sz="1200" b="0" i="0" u="none" strike="noStrike" kern="1200" cap="none" spc="0" normalizeH="0" baseline="0" noProof="0" dirty="0" err="1">
                <a:ln>
                  <a:noFill/>
                </a:ln>
                <a:solidFill>
                  <a:prstClr val="black"/>
                </a:solidFill>
                <a:effectLst/>
                <a:uLnTx/>
                <a:uFillTx/>
                <a:ea typeface="+mn-ea"/>
                <a:cs typeface="+mn-cs"/>
              </a:rPr>
              <a:t>poppi</a:t>
            </a:r>
            <a:r>
              <a:rPr kumimoji="0" lang="en-US" sz="1200" b="0" i="0" u="none" strike="noStrike" kern="1200" cap="none" spc="0" normalizeH="0" baseline="0" noProof="0" dirty="0">
                <a:ln>
                  <a:noFill/>
                </a:ln>
                <a:solidFill>
                  <a:prstClr val="black"/>
                </a:solidFill>
                <a:effectLst/>
                <a:uLnTx/>
                <a:uFillTx/>
                <a:latin typeface="Calibri"/>
                <a:ea typeface="+mn-ea"/>
                <a:cs typeface="+mn-cs"/>
              </a:rPr>
              <a:t> to strengthen its presence in the prebiotic beverage market.</a:t>
            </a:r>
          </a:p>
        </p:txBody>
      </p:sp>
      <p:grpSp>
        <p:nvGrpSpPr>
          <p:cNvPr id="23" name="Group 22">
            <a:extLst>
              <a:ext uri="{FF2B5EF4-FFF2-40B4-BE49-F238E27FC236}">
                <a16:creationId xmlns:a16="http://schemas.microsoft.com/office/drawing/2014/main" id="{78C2190F-5492-0FDA-5F40-4CED51FD09EA}"/>
              </a:ext>
            </a:extLst>
          </p:cNvPr>
          <p:cNvGrpSpPr/>
          <p:nvPr/>
        </p:nvGrpSpPr>
        <p:grpSpPr>
          <a:xfrm>
            <a:off x="625268" y="3093553"/>
            <a:ext cx="3055189" cy="396000"/>
            <a:chOff x="502920" y="5215355"/>
            <a:chExt cx="4413600" cy="835200"/>
          </a:xfrm>
        </p:grpSpPr>
        <p:sp>
          <p:nvSpPr>
            <p:cNvPr id="24" name="Shape 11">
              <a:extLst>
                <a:ext uri="{FF2B5EF4-FFF2-40B4-BE49-F238E27FC236}">
                  <a16:creationId xmlns:a16="http://schemas.microsoft.com/office/drawing/2014/main" id="{6B7BA42B-9F15-A4CE-3059-585827DC2FB5}"/>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a:p>
          </p:txBody>
        </p:sp>
        <p:sp>
          <p:nvSpPr>
            <p:cNvPr id="25" name="Text 12">
              <a:extLst>
                <a:ext uri="{FF2B5EF4-FFF2-40B4-BE49-F238E27FC236}">
                  <a16:creationId xmlns:a16="http://schemas.microsoft.com/office/drawing/2014/main" id="{3449EF4F-8317-C338-FBFE-20F3B82CBF90}"/>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Growth Drivers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26" name="Text 2">
            <a:extLst>
              <a:ext uri="{FF2B5EF4-FFF2-40B4-BE49-F238E27FC236}">
                <a16:creationId xmlns:a16="http://schemas.microsoft.com/office/drawing/2014/main" id="{19FB5015-0286-FEB6-F10F-F9ED071187B5}"/>
              </a:ext>
            </a:extLst>
          </p:cNvPr>
          <p:cNvSpPr/>
          <p:nvPr/>
        </p:nvSpPr>
        <p:spPr>
          <a:xfrm>
            <a:off x="585156" y="5098899"/>
            <a:ext cx="676656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Stringent regulations on ingredient safety, health claims, and nutrition labeling, along with growing pressure to reduce sugar content, increase compliance costs and product reformulation efforts.</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WHO (2025) reported that 64 countries had implemented sugar-sweetened beverage taxes by 2024, increasing reformulation efforts and compliance costs for beverage manufacturers while encouraging the development of healthier, lower-sugar products.</a:t>
            </a:r>
          </a:p>
        </p:txBody>
      </p:sp>
      <p:grpSp>
        <p:nvGrpSpPr>
          <p:cNvPr id="27" name="Group 26">
            <a:extLst>
              <a:ext uri="{FF2B5EF4-FFF2-40B4-BE49-F238E27FC236}">
                <a16:creationId xmlns:a16="http://schemas.microsoft.com/office/drawing/2014/main" id="{F4389539-B3D2-0459-4904-61EE76ADCF30}"/>
              </a:ext>
            </a:extLst>
          </p:cNvPr>
          <p:cNvGrpSpPr/>
          <p:nvPr/>
        </p:nvGrpSpPr>
        <p:grpSpPr>
          <a:xfrm>
            <a:off x="602408" y="4695657"/>
            <a:ext cx="3055189" cy="396000"/>
            <a:chOff x="502920" y="5215355"/>
            <a:chExt cx="4413600" cy="835200"/>
          </a:xfrm>
        </p:grpSpPr>
        <p:sp>
          <p:nvSpPr>
            <p:cNvPr id="28" name="Shape 11">
              <a:extLst>
                <a:ext uri="{FF2B5EF4-FFF2-40B4-BE49-F238E27FC236}">
                  <a16:creationId xmlns:a16="http://schemas.microsoft.com/office/drawing/2014/main" id="{38D52035-DA83-4E11-2D06-0A270C6E9E8F}"/>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a:p>
          </p:txBody>
        </p:sp>
        <p:sp>
          <p:nvSpPr>
            <p:cNvPr id="29" name="Text 12">
              <a:extLst>
                <a:ext uri="{FF2B5EF4-FFF2-40B4-BE49-F238E27FC236}">
                  <a16:creationId xmlns:a16="http://schemas.microsoft.com/office/drawing/2014/main" id="{FED60BE5-B71D-57B7-3E8B-59B12E440291}"/>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Challenges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31" name="Text 2">
            <a:extLst>
              <a:ext uri="{FF2B5EF4-FFF2-40B4-BE49-F238E27FC236}">
                <a16:creationId xmlns:a16="http://schemas.microsoft.com/office/drawing/2014/main" id="{E02FE3F8-22D4-D5BA-2471-BE971BCA39B6}"/>
              </a:ext>
            </a:extLst>
          </p:cNvPr>
          <p:cNvSpPr/>
          <p:nvPr/>
        </p:nvSpPr>
        <p:spPr>
          <a:xfrm>
            <a:off x="7487736" y="1956206"/>
            <a:ext cx="4070370"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The functional beverage industry is shifting toward clean-label, plant-based, and science-backed products, with growing investments in probiotics, adaptogens, protein fortification, and personalized nutrition solutions.</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Danone (2025) expanded its high-protein nutrition portfolio through new Oikos Protein product launches, reflecting growing global demand for protein-enriched functional beverages and dairy nutrition.</a:t>
            </a:r>
          </a:p>
        </p:txBody>
      </p:sp>
      <p:sp>
        <p:nvSpPr>
          <p:cNvPr id="33" name="Text 2">
            <a:extLst>
              <a:ext uri="{FF2B5EF4-FFF2-40B4-BE49-F238E27FC236}">
                <a16:creationId xmlns:a16="http://schemas.microsoft.com/office/drawing/2014/main" id="{0D35B9A1-EB05-3F23-28E1-DADC7F02054D}"/>
              </a:ext>
            </a:extLst>
          </p:cNvPr>
          <p:cNvSpPr/>
          <p:nvPr/>
        </p:nvSpPr>
        <p:spPr>
          <a:xfrm>
            <a:off x="7591247" y="4553990"/>
            <a:ext cx="3958231"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PepsiCo</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The Coca-Cola Company</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Danone</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Nestlé</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Yakult Honsha Co., Ltd.</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Red Bull GmbH</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Monster Beverage Corporation</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Others</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4" name="Group 33">
            <a:extLst>
              <a:ext uri="{FF2B5EF4-FFF2-40B4-BE49-F238E27FC236}">
                <a16:creationId xmlns:a16="http://schemas.microsoft.com/office/drawing/2014/main" id="{7D19CDE4-475B-B5C1-ADFB-A90EFA7C451C}"/>
              </a:ext>
            </a:extLst>
          </p:cNvPr>
          <p:cNvGrpSpPr/>
          <p:nvPr/>
        </p:nvGrpSpPr>
        <p:grpSpPr>
          <a:xfrm>
            <a:off x="7660256" y="1463465"/>
            <a:ext cx="3055189" cy="396000"/>
            <a:chOff x="502920" y="5215355"/>
            <a:chExt cx="4413600" cy="835200"/>
          </a:xfrm>
          <a:solidFill>
            <a:schemeClr val="accent2"/>
          </a:solidFill>
        </p:grpSpPr>
        <p:sp>
          <p:nvSpPr>
            <p:cNvPr id="35" name="Shape 11">
              <a:extLst>
                <a:ext uri="{FF2B5EF4-FFF2-40B4-BE49-F238E27FC236}">
                  <a16:creationId xmlns:a16="http://schemas.microsoft.com/office/drawing/2014/main" id="{DB04A2BC-102A-E49C-56A7-3FCF0A4B9C7F}"/>
                </a:ext>
              </a:extLst>
            </p:cNvPr>
            <p:cNvSpPr/>
            <p:nvPr/>
          </p:nvSpPr>
          <p:spPr>
            <a:xfrm>
              <a:off x="502920" y="5215355"/>
              <a:ext cx="4413600" cy="835200"/>
            </a:xfrm>
            <a:prstGeom prst="roundRect">
              <a:avLst>
                <a:gd name="adj" fmla="val 26667"/>
              </a:avLst>
            </a:prstGeom>
            <a:grpFill/>
            <a:ln/>
          </p:spPr>
          <p:txBody>
            <a:bodyPr/>
            <a:lstStyle/>
            <a:p>
              <a:endParaRPr lang="en-IN"/>
            </a:p>
          </p:txBody>
        </p:sp>
        <p:sp>
          <p:nvSpPr>
            <p:cNvPr id="36" name="Text 12">
              <a:extLst>
                <a:ext uri="{FF2B5EF4-FFF2-40B4-BE49-F238E27FC236}">
                  <a16:creationId xmlns:a16="http://schemas.microsoft.com/office/drawing/2014/main" id="{465BFBEF-5C4D-4546-351F-CFD0F9679CEC}"/>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Trend Analysis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0A7DF59B-4F3A-1831-8EF8-3FD40C24ED3A}"/>
              </a:ext>
            </a:extLst>
          </p:cNvPr>
          <p:cNvGrpSpPr/>
          <p:nvPr/>
        </p:nvGrpSpPr>
        <p:grpSpPr>
          <a:xfrm>
            <a:off x="7660256" y="4042964"/>
            <a:ext cx="3055189" cy="396000"/>
            <a:chOff x="502920" y="5215355"/>
            <a:chExt cx="4413600" cy="835200"/>
          </a:xfrm>
          <a:solidFill>
            <a:schemeClr val="accent2"/>
          </a:solidFill>
        </p:grpSpPr>
        <p:sp>
          <p:nvSpPr>
            <p:cNvPr id="38" name="Shape 11">
              <a:extLst>
                <a:ext uri="{FF2B5EF4-FFF2-40B4-BE49-F238E27FC236}">
                  <a16:creationId xmlns:a16="http://schemas.microsoft.com/office/drawing/2014/main" id="{5D0F42B4-1516-F439-3FF0-687DFA6CFBFC}"/>
                </a:ext>
              </a:extLst>
            </p:cNvPr>
            <p:cNvSpPr/>
            <p:nvPr/>
          </p:nvSpPr>
          <p:spPr>
            <a:xfrm>
              <a:off x="502920" y="5215355"/>
              <a:ext cx="4413600" cy="835200"/>
            </a:xfrm>
            <a:prstGeom prst="roundRect">
              <a:avLst>
                <a:gd name="adj" fmla="val 26667"/>
              </a:avLst>
            </a:prstGeom>
            <a:grpFill/>
            <a:ln/>
          </p:spPr>
          <p:txBody>
            <a:bodyPr/>
            <a:lstStyle/>
            <a:p>
              <a:endParaRPr lang="en-IN"/>
            </a:p>
          </p:txBody>
        </p:sp>
        <p:sp>
          <p:nvSpPr>
            <p:cNvPr id="39" name="Text 12">
              <a:extLst>
                <a:ext uri="{FF2B5EF4-FFF2-40B4-BE49-F238E27FC236}">
                  <a16:creationId xmlns:a16="http://schemas.microsoft.com/office/drawing/2014/main" id="{377D9806-B05F-DAD2-98E9-4C2EBA757D0D}"/>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Players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904069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7424"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Regional Market Value, 2025 vs. 2036</a:t>
            </a:r>
            <a:endParaRPr lang="en-US" sz="2800" dirty="0"/>
          </a:p>
        </p:txBody>
      </p:sp>
      <p:sp>
        <p:nvSpPr>
          <p:cNvPr id="3" name="Text 1"/>
          <p:cNvSpPr/>
          <p:nvPr/>
        </p:nvSpPr>
        <p:spPr>
          <a:xfrm>
            <a:off x="537424"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Asia Pacific is projected to remain the largest and fastest-growing regional market, supported by rapid urbanization, rising disposable incomes, and increasing health awareness.</a:t>
            </a:r>
            <a:endParaRPr lang="en-US" sz="1250" dirty="0"/>
          </a:p>
        </p:txBody>
      </p:sp>
      <p:graphicFrame>
        <p:nvGraphicFramePr>
          <p:cNvPr id="4" name="Chart 0"/>
          <p:cNvGraphicFramePr/>
          <p:nvPr>
            <p:extLst>
              <p:ext uri="{D42A27DB-BD31-4B8C-83A1-F6EECF244321}">
                <p14:modId xmlns:p14="http://schemas.microsoft.com/office/powerpoint/2010/main" val="3915535665"/>
              </p:ext>
            </p:extLst>
          </p:nvPr>
        </p:nvGraphicFramePr>
        <p:xfrm>
          <a:off x="502920" y="1417320"/>
          <a:ext cx="1115568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8798" y="347472"/>
            <a:ext cx="11155680" cy="640080"/>
          </a:xfrm>
          <a:prstGeom prst="rect">
            <a:avLst/>
          </a:prstGeom>
          <a:noFill/>
          <a:ln/>
        </p:spPr>
        <p:txBody>
          <a:bodyPr wrap="square" rtlCol="0" anchor="ctr"/>
          <a:lstStyle/>
          <a:p>
            <a:pPr lvl="0">
              <a:defRPr/>
            </a:pPr>
            <a:r>
              <a:rPr lang="en-US" sz="2800" b="1" dirty="0">
                <a:solidFill>
                  <a:srgbClr val="0B4F4A"/>
                </a:solidFill>
                <a:latin typeface="Cambria" pitchFamily="34" charset="0"/>
                <a:ea typeface="Cambria" pitchFamily="34" charset="-122"/>
                <a:cs typeface="Cambria" pitchFamily="34" charset="-120"/>
              </a:rPr>
              <a:t>North America Functional Beverage Market Overview </a:t>
            </a:r>
          </a:p>
        </p:txBody>
      </p:sp>
      <p:sp>
        <p:nvSpPr>
          <p:cNvPr id="3" name="Text 1"/>
          <p:cNvSpPr/>
          <p:nvPr/>
        </p:nvSpPr>
        <p:spPr>
          <a:xfrm>
            <a:off x="537424"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The global functional beverage market is expanding rapidly as consumers prioritize health, immunity, and wellness. Innovation in clean-label, plant-based, and science-backed formulations, supported by evolving regulations and strategic investments from leading beverage companies, continues to accelerate long-term market growth.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02408" y="1752573"/>
            <a:ext cx="6789420" cy="1281303"/>
          </a:xfrm>
          <a:prstGeom prst="rect">
            <a:avLst/>
          </a:prstGeom>
          <a:noFill/>
          <a:ln/>
        </p:spPr>
        <p:txBody>
          <a:bodyPr wrap="square" rtlCol="0" anchor="t"/>
          <a:lstStyle/>
          <a:p>
            <a:pPr marL="203200" indent="-203200">
              <a:buSzPct val="100000"/>
              <a:buFontTx/>
              <a:buChar char="●"/>
            </a:pPr>
            <a:r>
              <a:rPr lang="en-US" sz="1200" dirty="0">
                <a:solidFill>
                  <a:srgbClr val="1E2624"/>
                </a:solidFill>
                <a:latin typeface="Calibri"/>
                <a:ea typeface="Calibri" pitchFamily="34" charset="-122"/>
                <a:cs typeface="Calibri" pitchFamily="34" charset="-120"/>
              </a:rPr>
              <a:t>North America is one of the most mature functional beverage markets, driven by strong consumer demand for protein drinks, electrolyte beverages, functional waters, kombucha, and prebiotic products.</a:t>
            </a:r>
          </a:p>
          <a:p>
            <a:pPr marL="203200" indent="-203200">
              <a:buSzPct val="100000"/>
              <a:buFontTx/>
              <a:buChar char="●"/>
            </a:pPr>
            <a:r>
              <a:rPr lang="en-US" sz="1200" dirty="0">
                <a:solidFill>
                  <a:srgbClr val="1E2624"/>
                </a:solidFill>
                <a:latin typeface="Calibri"/>
                <a:ea typeface="Calibri" pitchFamily="34" charset="-122"/>
                <a:cs typeface="Calibri" pitchFamily="34" charset="-120"/>
              </a:rPr>
              <a:t>The U.S. FDA, USDA, and Health Canada continue strengthening nutrition labeling and evidence-based health claim regulations, supporting innovation and increasing consumer confidence.</a:t>
            </a:r>
          </a:p>
        </p:txBody>
      </p:sp>
      <p:sp>
        <p:nvSpPr>
          <p:cNvPr id="5" name="Shape 3"/>
          <p:cNvSpPr/>
          <p:nvPr/>
        </p:nvSpPr>
        <p:spPr>
          <a:xfrm>
            <a:off x="7510596" y="1392462"/>
            <a:ext cx="4070370" cy="2360028"/>
          </a:xfrm>
          <a:prstGeom prst="roundRect">
            <a:avLst>
              <a:gd name="adj" fmla="val 2991"/>
            </a:avLst>
          </a:prstGeom>
          <a:solidFill>
            <a:srgbClr val="0B4F4A"/>
          </a:solidFill>
          <a:ln/>
        </p:spPr>
        <p:txBody>
          <a:bodyPr/>
          <a:lstStyle/>
          <a:p>
            <a:endParaRPr lang="en-IN"/>
          </a:p>
        </p:txBody>
      </p:sp>
      <p:sp>
        <p:nvSpPr>
          <p:cNvPr id="8" name="Shape 6"/>
          <p:cNvSpPr/>
          <p:nvPr/>
        </p:nvSpPr>
        <p:spPr>
          <a:xfrm>
            <a:off x="7519222" y="4149302"/>
            <a:ext cx="4070370" cy="2044464"/>
          </a:xfrm>
          <a:prstGeom prst="roundRect">
            <a:avLst>
              <a:gd name="adj" fmla="val 2991"/>
            </a:avLst>
          </a:prstGeom>
          <a:solidFill>
            <a:srgbClr val="0B4F4A"/>
          </a:solidFill>
          <a:ln/>
        </p:spPr>
        <p:txBody>
          <a:bodyPr/>
          <a:lstStyle/>
          <a:p>
            <a:endParaRPr lang="en-IN"/>
          </a:p>
        </p:txBody>
      </p:sp>
      <p:sp>
        <p:nvSpPr>
          <p:cNvPr id="11" name="Text 9"/>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75539764-795D-1D95-F864-7642BDDEB401}"/>
              </a:ext>
            </a:extLst>
          </p:cNvPr>
          <p:cNvGrpSpPr/>
          <p:nvPr/>
        </p:nvGrpSpPr>
        <p:grpSpPr>
          <a:xfrm>
            <a:off x="619660" y="1392461"/>
            <a:ext cx="3055189" cy="396000"/>
            <a:chOff x="502920" y="5215355"/>
            <a:chExt cx="4413600" cy="835200"/>
          </a:xfrm>
        </p:grpSpPr>
        <p:sp>
          <p:nvSpPr>
            <p:cNvPr id="14" name="Shape 11">
              <a:extLst>
                <a:ext uri="{FF2B5EF4-FFF2-40B4-BE49-F238E27FC236}">
                  <a16:creationId xmlns:a16="http://schemas.microsoft.com/office/drawing/2014/main" id="{975CF859-0842-E807-5B57-2D4936EA374C}"/>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a:p>
          </p:txBody>
        </p:sp>
        <p:sp>
          <p:nvSpPr>
            <p:cNvPr id="16" name="Text 12">
              <a:extLst>
                <a:ext uri="{FF2B5EF4-FFF2-40B4-BE49-F238E27FC236}">
                  <a16:creationId xmlns:a16="http://schemas.microsoft.com/office/drawing/2014/main" id="{34FADE4E-2346-387E-7C9B-69F364540DBD}"/>
                </a:ext>
              </a:extLst>
            </p:cNvPr>
            <p:cNvSpPr/>
            <p:nvPr/>
          </p:nvSpPr>
          <p:spPr>
            <a:xfrm>
              <a:off x="728390" y="5215355"/>
              <a:ext cx="3861900" cy="83520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Growth Statistics</a:t>
              </a:r>
              <a:endParaRPr lang="en-US" sz="1500" dirty="0"/>
            </a:p>
          </p:txBody>
        </p:sp>
      </p:grpSp>
      <p:sp>
        <p:nvSpPr>
          <p:cNvPr id="22" name="Text 2">
            <a:extLst>
              <a:ext uri="{FF2B5EF4-FFF2-40B4-BE49-F238E27FC236}">
                <a16:creationId xmlns:a16="http://schemas.microsoft.com/office/drawing/2014/main" id="{E71F9BCB-A0E8-B92D-A167-9CD154F53189}"/>
              </a:ext>
            </a:extLst>
          </p:cNvPr>
          <p:cNvSpPr/>
          <p:nvPr/>
        </p:nvSpPr>
        <p:spPr>
          <a:xfrm>
            <a:off x="625268" y="3410535"/>
            <a:ext cx="6761716"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Rising consumer demand for beverages supporting hydration, immunity, gut health, sports nutrition, and healthy aging continues to accelerate the North American functional beverage market.</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The Coca-Cola Company (2025) strengthened its North American functional beverage portfolio through continued growth of fairlife, Powerade, and BODYARMOR.</a:t>
            </a:r>
            <a:endParaRPr kumimoji="0" lang="en-US" sz="1200" b="0" i="0" u="none" strike="noStrike" kern="1200" cap="none" spc="0" normalizeH="0" baseline="0" noProof="0" dirty="0">
              <a:ln>
                <a:noFill/>
              </a:ln>
              <a:solidFill>
                <a:prstClr val="black"/>
              </a:solidFill>
              <a:effectLst/>
              <a:uLnTx/>
              <a:uFillTx/>
              <a:ea typeface="+mn-ea"/>
              <a:cs typeface="+mn-cs"/>
            </a:endParaRPr>
          </a:p>
        </p:txBody>
      </p:sp>
      <p:grpSp>
        <p:nvGrpSpPr>
          <p:cNvPr id="23" name="Group 22">
            <a:extLst>
              <a:ext uri="{FF2B5EF4-FFF2-40B4-BE49-F238E27FC236}">
                <a16:creationId xmlns:a16="http://schemas.microsoft.com/office/drawing/2014/main" id="{1FCDE8B6-6091-123A-3E14-2A21E9CA3770}"/>
              </a:ext>
            </a:extLst>
          </p:cNvPr>
          <p:cNvGrpSpPr/>
          <p:nvPr/>
        </p:nvGrpSpPr>
        <p:grpSpPr>
          <a:xfrm>
            <a:off x="642520" y="3007293"/>
            <a:ext cx="3055189" cy="396000"/>
            <a:chOff x="502920" y="5215355"/>
            <a:chExt cx="4413600" cy="835200"/>
          </a:xfrm>
        </p:grpSpPr>
        <p:sp>
          <p:nvSpPr>
            <p:cNvPr id="24" name="Shape 11">
              <a:extLst>
                <a:ext uri="{FF2B5EF4-FFF2-40B4-BE49-F238E27FC236}">
                  <a16:creationId xmlns:a16="http://schemas.microsoft.com/office/drawing/2014/main" id="{04DC8F29-A829-17E4-B2CD-DBAB9232A179}"/>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a:p>
          </p:txBody>
        </p:sp>
        <p:sp>
          <p:nvSpPr>
            <p:cNvPr id="25" name="Text 12">
              <a:extLst>
                <a:ext uri="{FF2B5EF4-FFF2-40B4-BE49-F238E27FC236}">
                  <a16:creationId xmlns:a16="http://schemas.microsoft.com/office/drawing/2014/main" id="{4C787004-7E81-9EB8-FEB3-6583F7EEB5E1}"/>
                </a:ext>
              </a:extLst>
            </p:cNvPr>
            <p:cNvSpPr/>
            <p:nvPr/>
          </p:nvSpPr>
          <p:spPr>
            <a:xfrm>
              <a:off x="728390" y="5215355"/>
              <a:ext cx="3861900" cy="83520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Growth Drivers</a:t>
              </a:r>
              <a:endParaRPr lang="en-US" sz="1500" dirty="0"/>
            </a:p>
          </p:txBody>
        </p:sp>
      </p:grpSp>
      <p:sp>
        <p:nvSpPr>
          <p:cNvPr id="26" name="Text 2">
            <a:extLst>
              <a:ext uri="{FF2B5EF4-FFF2-40B4-BE49-F238E27FC236}">
                <a16:creationId xmlns:a16="http://schemas.microsoft.com/office/drawing/2014/main" id="{0E5817C3-35F2-35E8-4E95-D7FAF2BB1392}"/>
              </a:ext>
            </a:extLst>
          </p:cNvPr>
          <p:cNvSpPr/>
          <p:nvPr/>
        </p:nvSpPr>
        <p:spPr>
          <a:xfrm>
            <a:off x="602408" y="4995387"/>
            <a:ext cx="676656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Manufacturers face increasingly stringent regulatory requirements regarding nutrition labeling, ingredient safety, sugar reduction, and substantiation of functional health claims under U.S. FDA and Health Canada regulations, increasing reformulation costs and product development timelines.</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rgbClr val="1E2624"/>
                </a:solidFill>
                <a:effectLst/>
                <a:uLnTx/>
                <a:uFillTx/>
                <a:latin typeface="Calibri"/>
                <a:ea typeface="Calibri" pitchFamily="34" charset="-122"/>
                <a:cs typeface="Calibri" pitchFamily="34" charset="-120"/>
              </a:rPr>
              <a:t>The FDA, together with USDA and HHS, has intensified initiatives addressing ultra-processed foods and nutrition transparency, encouraging manufacturers to reformulate products with cleaner ingredients while meeting evolving consumer expectations.</a:t>
            </a:r>
            <a:endParaRPr kumimoji="0" lang="en-US" sz="1200" b="0" i="0" u="none" strike="noStrike" kern="1200" cap="none" spc="0" normalizeH="0" baseline="0" noProof="0" dirty="0">
              <a:ln>
                <a:noFill/>
              </a:ln>
              <a:solidFill>
                <a:prstClr val="black"/>
              </a:solidFill>
              <a:effectLst/>
              <a:uLnTx/>
              <a:uFillTx/>
              <a:ea typeface="+mn-ea"/>
              <a:cs typeface="+mn-cs"/>
            </a:endParaRPr>
          </a:p>
        </p:txBody>
      </p:sp>
      <p:grpSp>
        <p:nvGrpSpPr>
          <p:cNvPr id="27" name="Group 26">
            <a:extLst>
              <a:ext uri="{FF2B5EF4-FFF2-40B4-BE49-F238E27FC236}">
                <a16:creationId xmlns:a16="http://schemas.microsoft.com/office/drawing/2014/main" id="{AA37F705-56C8-F624-0610-6CEA0797E445}"/>
              </a:ext>
            </a:extLst>
          </p:cNvPr>
          <p:cNvGrpSpPr/>
          <p:nvPr/>
        </p:nvGrpSpPr>
        <p:grpSpPr>
          <a:xfrm>
            <a:off x="619660" y="4592145"/>
            <a:ext cx="3055189" cy="396000"/>
            <a:chOff x="502920" y="5215355"/>
            <a:chExt cx="4413600" cy="835200"/>
          </a:xfrm>
        </p:grpSpPr>
        <p:sp>
          <p:nvSpPr>
            <p:cNvPr id="28" name="Shape 11">
              <a:extLst>
                <a:ext uri="{FF2B5EF4-FFF2-40B4-BE49-F238E27FC236}">
                  <a16:creationId xmlns:a16="http://schemas.microsoft.com/office/drawing/2014/main" id="{8EA466CA-2C28-9962-5CBE-C4C3580C1C62}"/>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a:p>
          </p:txBody>
        </p:sp>
        <p:sp>
          <p:nvSpPr>
            <p:cNvPr id="29" name="Text 12">
              <a:extLst>
                <a:ext uri="{FF2B5EF4-FFF2-40B4-BE49-F238E27FC236}">
                  <a16:creationId xmlns:a16="http://schemas.microsoft.com/office/drawing/2014/main" id="{29CF81A9-D42A-B6BB-C601-3E4CE9C73A0C}"/>
                </a:ext>
              </a:extLst>
            </p:cNvPr>
            <p:cNvSpPr/>
            <p:nvPr/>
          </p:nvSpPr>
          <p:spPr>
            <a:xfrm>
              <a:off x="728390" y="5215355"/>
              <a:ext cx="3861900" cy="835200"/>
            </a:xfrm>
            <a:prstGeom prst="rect">
              <a:avLst/>
            </a:prstGeom>
            <a:no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Challenges</a:t>
              </a:r>
              <a:endParaRPr lang="en-US" sz="1500" dirty="0"/>
            </a:p>
          </p:txBody>
        </p:sp>
      </p:grpSp>
      <p:sp>
        <p:nvSpPr>
          <p:cNvPr id="31" name="Text 2">
            <a:extLst>
              <a:ext uri="{FF2B5EF4-FFF2-40B4-BE49-F238E27FC236}">
                <a16:creationId xmlns:a16="http://schemas.microsoft.com/office/drawing/2014/main" id="{92A87C75-260D-C812-EE57-23659184392C}"/>
              </a:ext>
            </a:extLst>
          </p:cNvPr>
          <p:cNvSpPr/>
          <p:nvPr/>
        </p:nvSpPr>
        <p:spPr>
          <a:xfrm>
            <a:off x="7634378" y="1895824"/>
            <a:ext cx="4070370"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Calibri"/>
                <a:ea typeface="Calibri" pitchFamily="34" charset="-122"/>
                <a:cs typeface="Calibri" pitchFamily="34" charset="-120"/>
              </a:rPr>
              <a:t>The North American functional beverage market is witnessing growing demand for high-protein beverages, clean-label products, functional hydration, probiotics, and reduced-sugar formulations.</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Calibri"/>
                <a:ea typeface="Calibri" pitchFamily="34" charset="-122"/>
                <a:cs typeface="Calibri" pitchFamily="34" charset="-120"/>
              </a:rPr>
              <a:t>Celsius Holdings (2025) introduced CELSIUS HYDRATION Zero-Sugar Powder Sticks, highlighting continued innovation in sugar-free electrolyte hydration solutions.</a:t>
            </a:r>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33" name="Text 2">
            <a:extLst>
              <a:ext uri="{FF2B5EF4-FFF2-40B4-BE49-F238E27FC236}">
                <a16:creationId xmlns:a16="http://schemas.microsoft.com/office/drawing/2014/main" id="{BA481AD3-3BCC-5AE5-DD94-D8037C321439}"/>
              </a:ext>
            </a:extLst>
          </p:cNvPr>
          <p:cNvSpPr/>
          <p:nvPr/>
        </p:nvSpPr>
        <p:spPr>
          <a:xfrm>
            <a:off x="7729263" y="4786893"/>
            <a:ext cx="3958231"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ea typeface="Calibri" pitchFamily="34" charset="-122"/>
                <a:cs typeface="Calibri" pitchFamily="34" charset="-120"/>
              </a:rPr>
              <a:t>PepsiCo, Inc. </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Calibri"/>
                <a:ea typeface="Calibri" pitchFamily="34" charset="-122"/>
                <a:cs typeface="Calibri" pitchFamily="34" charset="-120"/>
              </a:rPr>
              <a:t>The Coca-Cola Company</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Calibri"/>
                <a:ea typeface="Calibri" pitchFamily="34" charset="-122"/>
                <a:cs typeface="Calibri" pitchFamily="34" charset="-120"/>
              </a:rPr>
              <a:t>Monster Beverage Corporation</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Calibri"/>
                <a:ea typeface="Calibri" pitchFamily="34" charset="-122"/>
                <a:cs typeface="Calibri" pitchFamily="34" charset="-120"/>
              </a:rPr>
              <a:t>Keurig Dr Pepper Inc. </a:t>
            </a:r>
          </a:p>
          <a:p>
            <a:pPr marL="203200" marR="0" lvl="0" indent="-203200" algn="l" defTabSz="914400" rtl="0" eaLnBrk="1" fontAlgn="auto" latinLnBrk="0" hangingPunct="1">
              <a:lnSpc>
                <a:spcPct val="100000"/>
              </a:lnSpc>
              <a:spcBef>
                <a:spcPts val="0"/>
              </a:spcBef>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Calibri"/>
                <a:ea typeface="Calibri" pitchFamily="34" charset="-122"/>
                <a:cs typeface="Calibri" pitchFamily="34" charset="-120"/>
              </a:rPr>
              <a:t>Celsius Holdings, Inc. </a:t>
            </a:r>
          </a:p>
          <a:p>
            <a:pPr marL="203200" marR="0" lvl="0" indent="-203200" algn="l" defTabSz="914400" rtl="0" eaLnBrk="1" fontAlgn="auto" latinLnBrk="0" hangingPunct="1">
              <a:lnSpc>
                <a:spcPct val="100000"/>
              </a:lnSpc>
              <a:spcBef>
                <a:spcPts val="0"/>
              </a:spcBef>
              <a:buClrTx/>
              <a:buSzPct val="100000"/>
              <a:buFontTx/>
              <a:buChar char="●"/>
              <a:tabLst/>
              <a:defRPr/>
            </a:pPr>
            <a:r>
              <a:rPr lang="en-US" sz="1200" dirty="0">
                <a:solidFill>
                  <a:schemeClr val="bg1"/>
                </a:solidFill>
                <a:ea typeface="Calibri" pitchFamily="34" charset="-122"/>
                <a:cs typeface="Calibri" pitchFamily="34" charset="-120"/>
              </a:rPr>
              <a:t>Others</a:t>
            </a:r>
            <a:endParaRPr kumimoji="0" lang="en-US" sz="1200" b="0" i="0" u="none" strike="noStrike" kern="1200" cap="none" spc="0" normalizeH="0" baseline="0" noProof="0" dirty="0">
              <a:ln>
                <a:noFill/>
              </a:ln>
              <a:solidFill>
                <a:schemeClr val="bg1"/>
              </a:solidFill>
              <a:effectLst/>
              <a:uLnTx/>
              <a:uFillTx/>
              <a:ea typeface="+mn-ea"/>
              <a:cs typeface="+mn-cs"/>
            </a:endParaRPr>
          </a:p>
        </p:txBody>
      </p:sp>
      <p:grpSp>
        <p:nvGrpSpPr>
          <p:cNvPr id="34" name="Group 33">
            <a:extLst>
              <a:ext uri="{FF2B5EF4-FFF2-40B4-BE49-F238E27FC236}">
                <a16:creationId xmlns:a16="http://schemas.microsoft.com/office/drawing/2014/main" id="{A579E88C-F0A4-AB4C-44F5-94236A86D737}"/>
              </a:ext>
            </a:extLst>
          </p:cNvPr>
          <p:cNvGrpSpPr/>
          <p:nvPr/>
        </p:nvGrpSpPr>
        <p:grpSpPr>
          <a:xfrm>
            <a:off x="7729264" y="1489343"/>
            <a:ext cx="3055189" cy="396000"/>
            <a:chOff x="502920" y="5215355"/>
            <a:chExt cx="4413600" cy="835200"/>
          </a:xfrm>
          <a:solidFill>
            <a:schemeClr val="accent2"/>
          </a:solidFill>
        </p:grpSpPr>
        <p:sp>
          <p:nvSpPr>
            <p:cNvPr id="35" name="Shape 11">
              <a:extLst>
                <a:ext uri="{FF2B5EF4-FFF2-40B4-BE49-F238E27FC236}">
                  <a16:creationId xmlns:a16="http://schemas.microsoft.com/office/drawing/2014/main" id="{6B43F2FE-368C-EFA2-8A59-F1CE1BB15805}"/>
                </a:ext>
              </a:extLst>
            </p:cNvPr>
            <p:cNvSpPr/>
            <p:nvPr/>
          </p:nvSpPr>
          <p:spPr>
            <a:xfrm>
              <a:off x="502920" y="5215355"/>
              <a:ext cx="4413600" cy="835200"/>
            </a:xfrm>
            <a:prstGeom prst="roundRect">
              <a:avLst>
                <a:gd name="adj" fmla="val 26667"/>
              </a:avLst>
            </a:prstGeom>
            <a:grpFill/>
            <a:ln/>
          </p:spPr>
          <p:txBody>
            <a:bodyPr/>
            <a:lstStyle/>
            <a:p>
              <a:endParaRPr lang="en-IN"/>
            </a:p>
          </p:txBody>
        </p:sp>
        <p:sp>
          <p:nvSpPr>
            <p:cNvPr id="36" name="Text 12">
              <a:extLst>
                <a:ext uri="{FF2B5EF4-FFF2-40B4-BE49-F238E27FC236}">
                  <a16:creationId xmlns:a16="http://schemas.microsoft.com/office/drawing/2014/main" id="{5FEBD8F4-AFDD-B3EB-E810-E73375671E2F}"/>
                </a:ext>
              </a:extLst>
            </p:cNvPr>
            <p:cNvSpPr/>
            <p:nvPr/>
          </p:nvSpPr>
          <p:spPr>
            <a:xfrm>
              <a:off x="728390" y="5215355"/>
              <a:ext cx="3861900" cy="835200"/>
            </a:xfrm>
            <a:prstGeom prst="rect">
              <a:avLst/>
            </a:prstGeom>
            <a:grp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Trend Analysis</a:t>
              </a:r>
              <a:endParaRPr lang="en-US" sz="1500" dirty="0"/>
            </a:p>
          </p:txBody>
        </p:sp>
      </p:grpSp>
      <p:grpSp>
        <p:nvGrpSpPr>
          <p:cNvPr id="37" name="Group 36">
            <a:extLst>
              <a:ext uri="{FF2B5EF4-FFF2-40B4-BE49-F238E27FC236}">
                <a16:creationId xmlns:a16="http://schemas.microsoft.com/office/drawing/2014/main" id="{F667B184-24FF-8924-1BBD-B8A442594031}"/>
              </a:ext>
            </a:extLst>
          </p:cNvPr>
          <p:cNvGrpSpPr/>
          <p:nvPr/>
        </p:nvGrpSpPr>
        <p:grpSpPr>
          <a:xfrm>
            <a:off x="7729264" y="4310371"/>
            <a:ext cx="3055189" cy="396000"/>
            <a:chOff x="502920" y="5215355"/>
            <a:chExt cx="4413600" cy="835200"/>
          </a:xfrm>
          <a:solidFill>
            <a:schemeClr val="accent2"/>
          </a:solidFill>
        </p:grpSpPr>
        <p:sp>
          <p:nvSpPr>
            <p:cNvPr id="38" name="Shape 11">
              <a:extLst>
                <a:ext uri="{FF2B5EF4-FFF2-40B4-BE49-F238E27FC236}">
                  <a16:creationId xmlns:a16="http://schemas.microsoft.com/office/drawing/2014/main" id="{92AF9C18-A13C-6439-8ECA-7B0324B0D5E5}"/>
                </a:ext>
              </a:extLst>
            </p:cNvPr>
            <p:cNvSpPr/>
            <p:nvPr/>
          </p:nvSpPr>
          <p:spPr>
            <a:xfrm>
              <a:off x="502920" y="5215355"/>
              <a:ext cx="4413600" cy="835200"/>
            </a:xfrm>
            <a:prstGeom prst="roundRect">
              <a:avLst>
                <a:gd name="adj" fmla="val 26667"/>
              </a:avLst>
            </a:prstGeom>
            <a:grpFill/>
            <a:ln/>
          </p:spPr>
          <p:txBody>
            <a:bodyPr/>
            <a:lstStyle/>
            <a:p>
              <a:endParaRPr lang="en-IN"/>
            </a:p>
          </p:txBody>
        </p:sp>
        <p:sp>
          <p:nvSpPr>
            <p:cNvPr id="39" name="Text 12">
              <a:extLst>
                <a:ext uri="{FF2B5EF4-FFF2-40B4-BE49-F238E27FC236}">
                  <a16:creationId xmlns:a16="http://schemas.microsoft.com/office/drawing/2014/main" id="{62A92664-98D8-EB5B-7207-B4550D2A9A9F}"/>
                </a:ext>
              </a:extLst>
            </p:cNvPr>
            <p:cNvSpPr/>
            <p:nvPr/>
          </p:nvSpPr>
          <p:spPr>
            <a:xfrm>
              <a:off x="728390" y="5215355"/>
              <a:ext cx="3861900" cy="835200"/>
            </a:xfrm>
            <a:prstGeom prst="rect">
              <a:avLst/>
            </a:prstGeom>
            <a:grpFill/>
            <a:ln/>
          </p:spPr>
          <p:txBody>
            <a:bodyPr wrap="square" lIns="0" tIns="0" rIns="0" bIns="0" rtlCol="0" anchor="ctr"/>
            <a:lstStyle/>
            <a:p>
              <a:pPr marL="0" indent="0">
                <a:buNone/>
              </a:pPr>
              <a:r>
                <a:rPr lang="en-US" sz="1400" b="1" dirty="0">
                  <a:solidFill>
                    <a:srgbClr val="FFFFFF"/>
                  </a:solidFill>
                  <a:latin typeface="Calibri"/>
                  <a:ea typeface="Calibri" pitchFamily="34" charset="-122"/>
                  <a:cs typeface="Calibri" pitchFamily="34" charset="-120"/>
                </a:rPr>
                <a:t>Key Players</a:t>
              </a:r>
              <a:endParaRPr lang="en-US" sz="1500" dirty="0"/>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North America Market Size &amp; Forecast, 2025–2036</a:t>
            </a:r>
            <a:endParaRPr lang="en-US" sz="2800" dirty="0"/>
          </a:p>
        </p:txBody>
      </p:sp>
      <p:sp>
        <p:nvSpPr>
          <p:cNvPr id="3" name="Text 1"/>
          <p:cNvSpPr/>
          <p:nvPr/>
        </p:nvSpPr>
        <p:spPr>
          <a:xfrm>
            <a:off x="54605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North America is projected to witness steady market growth through 2036, supported by strong consumer demand for health, wellness, and premium functional beverages.</a:t>
            </a:r>
            <a:endParaRPr lang="en-US" sz="1250" dirty="0"/>
          </a:p>
        </p:txBody>
      </p:sp>
      <p:graphicFrame>
        <p:nvGraphicFramePr>
          <p:cNvPr id="4" name="Chart 0"/>
          <p:cNvGraphicFramePr/>
          <p:nvPr>
            <p:extLst>
              <p:ext uri="{D42A27DB-BD31-4B8C-83A1-F6EECF244321}">
                <p14:modId xmlns:p14="http://schemas.microsoft.com/office/powerpoint/2010/main" val="1715751303"/>
              </p:ext>
            </p:extLst>
          </p:nvPr>
        </p:nvGraphicFramePr>
        <p:xfrm>
          <a:off x="502919" y="1417320"/>
          <a:ext cx="8572069"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9264770" y="1417320"/>
            <a:ext cx="2294626" cy="2240280"/>
          </a:xfrm>
          <a:prstGeom prst="roundRect">
            <a:avLst>
              <a:gd name="adj" fmla="val 3265"/>
            </a:avLst>
          </a:prstGeom>
          <a:solidFill>
            <a:srgbClr val="0B4F4A"/>
          </a:solidFill>
          <a:ln/>
        </p:spPr>
        <p:txBody>
          <a:bodyPr/>
          <a:lstStyle/>
          <a:p>
            <a:endParaRPr lang="en-IN"/>
          </a:p>
        </p:txBody>
      </p:sp>
      <p:sp>
        <p:nvSpPr>
          <p:cNvPr id="6" name="Text 3"/>
          <p:cNvSpPr/>
          <p:nvPr/>
        </p:nvSpPr>
        <p:spPr>
          <a:xfrm>
            <a:off x="9367340" y="1463040"/>
            <a:ext cx="2108380" cy="1120140"/>
          </a:xfrm>
          <a:prstGeom prst="rect">
            <a:avLst/>
          </a:prstGeom>
          <a:noFill/>
          <a:ln/>
        </p:spPr>
        <p:txBody>
          <a:bodyPr wrap="square" rtlCol="0" anchor="ctr"/>
          <a:lstStyle/>
          <a:p>
            <a:pPr marL="0" indent="0">
              <a:buNone/>
            </a:pPr>
            <a:r>
              <a:rPr lang="en-US" sz="2200" b="1" dirty="0">
                <a:solidFill>
                  <a:srgbClr val="FF6B35"/>
                </a:solidFill>
                <a:latin typeface="Cambria" pitchFamily="34" charset="0"/>
                <a:ea typeface="Cambria" pitchFamily="34" charset="-122"/>
                <a:cs typeface="Cambria" pitchFamily="34" charset="-120"/>
              </a:rPr>
              <a:t>10.67%</a:t>
            </a:r>
            <a:endParaRPr lang="en-US" sz="2200" dirty="0"/>
          </a:p>
        </p:txBody>
      </p:sp>
      <p:sp>
        <p:nvSpPr>
          <p:cNvPr id="7" name="Text 4"/>
          <p:cNvSpPr/>
          <p:nvPr/>
        </p:nvSpPr>
        <p:spPr>
          <a:xfrm>
            <a:off x="9367340" y="2582266"/>
            <a:ext cx="2108380" cy="1008126"/>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Regional CAGR, 2026–2036</a:t>
            </a:r>
            <a:endParaRPr lang="en-US" sz="1050" dirty="0"/>
          </a:p>
        </p:txBody>
      </p:sp>
      <p:sp>
        <p:nvSpPr>
          <p:cNvPr id="8" name="Shape 5"/>
          <p:cNvSpPr/>
          <p:nvPr/>
        </p:nvSpPr>
        <p:spPr>
          <a:xfrm>
            <a:off x="9264770" y="3886200"/>
            <a:ext cx="2294626" cy="2240280"/>
          </a:xfrm>
          <a:prstGeom prst="roundRect">
            <a:avLst>
              <a:gd name="adj" fmla="val 3265"/>
            </a:avLst>
          </a:prstGeom>
          <a:solidFill>
            <a:srgbClr val="D8ECE4"/>
          </a:solidFill>
          <a:ln/>
        </p:spPr>
        <p:txBody>
          <a:bodyPr/>
          <a:lstStyle/>
          <a:p>
            <a:endParaRPr lang="en-IN"/>
          </a:p>
        </p:txBody>
      </p:sp>
      <p:sp>
        <p:nvSpPr>
          <p:cNvPr id="9" name="Text 6"/>
          <p:cNvSpPr/>
          <p:nvPr/>
        </p:nvSpPr>
        <p:spPr>
          <a:xfrm>
            <a:off x="9367340" y="3931920"/>
            <a:ext cx="2108380" cy="1120140"/>
          </a:xfrm>
          <a:prstGeom prst="rect">
            <a:avLst/>
          </a:prstGeom>
          <a:noFill/>
          <a:ln/>
        </p:spPr>
        <p:txBody>
          <a:bodyPr wrap="square" rtlCol="0" anchor="ctr"/>
          <a:lstStyle/>
          <a:p>
            <a:pPr marL="0" indent="0">
              <a:buNone/>
            </a:pPr>
            <a:r>
              <a:rPr lang="en-US" sz="2200" b="1" dirty="0">
                <a:solidFill>
                  <a:srgbClr val="0B4F4A"/>
                </a:solidFill>
                <a:latin typeface="Cambria" pitchFamily="34" charset="0"/>
                <a:ea typeface="Cambria" pitchFamily="34" charset="-122"/>
                <a:cs typeface="Cambria" pitchFamily="34" charset="-120"/>
              </a:rPr>
              <a:t>US</a:t>
            </a:r>
            <a:endParaRPr lang="en-US" sz="2200" dirty="0"/>
          </a:p>
        </p:txBody>
      </p:sp>
      <p:sp>
        <p:nvSpPr>
          <p:cNvPr id="10" name="Text 7"/>
          <p:cNvSpPr/>
          <p:nvPr/>
        </p:nvSpPr>
        <p:spPr>
          <a:xfrm>
            <a:off x="9367340" y="5051146"/>
            <a:ext cx="2108380" cy="1008126"/>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Largest country market in the region</a:t>
            </a:r>
            <a:endParaRPr lang="en-US" sz="1050" dirty="0"/>
          </a:p>
        </p:txBody>
      </p:sp>
      <p:sp>
        <p:nvSpPr>
          <p:cNvPr id="11" name="Text 8"/>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North America Country-Level Breakdown</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United States remains the dominant market in North America, while Canada and Mexico are expected to record stronger growth through 2036.</a:t>
            </a:r>
            <a:endParaRPr lang="en-US" sz="1250" dirty="0"/>
          </a:p>
        </p:txBody>
      </p:sp>
      <p:graphicFrame>
        <p:nvGraphicFramePr>
          <p:cNvPr id="38" name="Table 0"/>
          <p:cNvGraphicFramePr>
            <a:graphicFrameLocks noGrp="1"/>
          </p:cNvGraphicFramePr>
          <p:nvPr>
            <p:extLst>
              <p:ext uri="{D42A27DB-BD31-4B8C-83A1-F6EECF244321}">
                <p14:modId xmlns:p14="http://schemas.microsoft.com/office/powerpoint/2010/main" val="3161393779"/>
              </p:ext>
            </p:extLst>
          </p:nvPr>
        </p:nvGraphicFramePr>
        <p:xfrm>
          <a:off x="638356" y="1371600"/>
          <a:ext cx="10929668" cy="4318740"/>
        </p:xfrm>
        <a:graphic>
          <a:graphicData uri="http://schemas.openxmlformats.org/drawingml/2006/table">
            <a:tbl>
              <a:tblPr/>
              <a:tblGrid>
                <a:gridCol w="2732417">
                  <a:extLst>
                    <a:ext uri="{9D8B030D-6E8A-4147-A177-3AD203B41FA5}">
                      <a16:colId xmlns:a16="http://schemas.microsoft.com/office/drawing/2014/main" val="20000"/>
                    </a:ext>
                  </a:extLst>
                </a:gridCol>
                <a:gridCol w="2732417">
                  <a:extLst>
                    <a:ext uri="{9D8B030D-6E8A-4147-A177-3AD203B41FA5}">
                      <a16:colId xmlns:a16="http://schemas.microsoft.com/office/drawing/2014/main" val="20001"/>
                    </a:ext>
                  </a:extLst>
                </a:gridCol>
                <a:gridCol w="2732417">
                  <a:extLst>
                    <a:ext uri="{9D8B030D-6E8A-4147-A177-3AD203B41FA5}">
                      <a16:colId xmlns:a16="http://schemas.microsoft.com/office/drawing/2014/main" val="20002"/>
                    </a:ext>
                  </a:extLst>
                </a:gridCol>
                <a:gridCol w="2732417">
                  <a:extLst>
                    <a:ext uri="{9D8B030D-6E8A-4147-A177-3AD203B41FA5}">
                      <a16:colId xmlns:a16="http://schemas.microsoft.com/office/drawing/2014/main" val="20003"/>
                    </a:ext>
                  </a:extLst>
                </a:gridCol>
              </a:tblGrid>
              <a:tr h="6840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2025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2036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CAGR (2025-2036)</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1211580">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United States</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624"/>
                          </a:solidFill>
                          <a:latin typeface="Calibri" pitchFamily="34" charset="0"/>
                          <a:ea typeface="Calibri" pitchFamily="34" charset="-122"/>
                          <a:cs typeface="Calibri" pitchFamily="34" charset="-120"/>
                        </a:rPr>
                        <a:t>46.30</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624"/>
                          </a:solidFill>
                          <a:latin typeface="Calibri" pitchFamily="34" charset="0"/>
                          <a:ea typeface="Calibri" pitchFamily="34" charset="-122"/>
                          <a:cs typeface="Calibri" pitchFamily="34" charset="-120"/>
                        </a:rPr>
                        <a:t>72.95</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624"/>
                          </a:solidFill>
                          <a:latin typeface="Calibri" pitchFamily="34" charset="0"/>
                          <a:ea typeface="Calibri" pitchFamily="34" charset="-122"/>
                          <a:cs typeface="Calibri" pitchFamily="34" charset="-120"/>
                        </a:rPr>
                        <a:t>4.22%</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11580">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Canada</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indent="0" algn="ctr">
                        <a:buNone/>
                      </a:pPr>
                      <a:r>
                        <a:rPr lang="en-US" sz="1200" dirty="0">
                          <a:solidFill>
                            <a:srgbClr val="1E2624"/>
                          </a:solidFill>
                          <a:latin typeface="Calibri" pitchFamily="34" charset="0"/>
                          <a:ea typeface="Calibri" pitchFamily="34" charset="-122"/>
                          <a:cs typeface="Calibri" pitchFamily="34" charset="-120"/>
                        </a:rPr>
                        <a:t>9.02</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indent="0" algn="ctr">
                        <a:buNone/>
                      </a:pPr>
                      <a:r>
                        <a:rPr lang="en-US" sz="1200" dirty="0">
                          <a:solidFill>
                            <a:srgbClr val="1E2624"/>
                          </a:solidFill>
                          <a:latin typeface="Calibri" pitchFamily="34" charset="0"/>
                          <a:ea typeface="Calibri" pitchFamily="34" charset="-122"/>
                          <a:cs typeface="Calibri" pitchFamily="34" charset="-120"/>
                        </a:rPr>
                        <a:t>15.93</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indent="0" algn="ctr">
                        <a:buNone/>
                      </a:pPr>
                      <a:r>
                        <a:rPr lang="en-US" sz="1200" dirty="0">
                          <a:solidFill>
                            <a:srgbClr val="1E2624"/>
                          </a:solidFill>
                          <a:latin typeface="Calibri" pitchFamily="34" charset="0"/>
                          <a:ea typeface="Calibri" pitchFamily="34" charset="-122"/>
                          <a:cs typeface="Calibri" pitchFamily="34" charset="-120"/>
                        </a:rPr>
                        <a:t>5.30%</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1211580">
                <a:tc>
                  <a:txBody>
                    <a:bodyPr/>
                    <a:lstStyle/>
                    <a:p>
                      <a:pPr marL="0" indent="0" algn="l">
                        <a:buNone/>
                      </a:pPr>
                      <a:r>
                        <a:rPr lang="en-US" sz="1200" dirty="0">
                          <a:latin typeface="Calibri" charset="0"/>
                          <a:ea typeface="Calibri" charset="0"/>
                          <a:cs typeface="Calibri" charset="0"/>
                        </a:rPr>
                        <a:t>Mexico</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indent="0" algn="ctr">
                        <a:buNone/>
                      </a:pPr>
                      <a:r>
                        <a:rPr lang="en-US" sz="1200" dirty="0">
                          <a:latin typeface="Calibri" charset="0"/>
                          <a:ea typeface="Calibri" charset="0"/>
                          <a:cs typeface="Calibri" charset="0"/>
                        </a:rPr>
                        <a:t>4.81</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indent="0" algn="ctr">
                        <a:buNone/>
                      </a:pPr>
                      <a:r>
                        <a:rPr lang="en-US" sz="1200" dirty="0">
                          <a:latin typeface="Calibri" charset="0"/>
                          <a:ea typeface="Calibri" charset="0"/>
                          <a:cs typeface="Calibri" charset="0"/>
                        </a:rPr>
                        <a:t>13.87</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indent="0" algn="ctr">
                        <a:buNone/>
                      </a:pPr>
                      <a:r>
                        <a:rPr lang="en-US" sz="1200" dirty="0">
                          <a:latin typeface="Calibri" charset="0"/>
                          <a:ea typeface="Calibri" charset="0"/>
                          <a:cs typeface="Calibri" charset="0"/>
                        </a:rPr>
                        <a:t>10.11%</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extLst>
                  <a:ext uri="{0D108BD9-81ED-4DB2-BD59-A6C34878D82A}">
                    <a16:rowId xmlns:a16="http://schemas.microsoft.com/office/drawing/2014/main" val="3953677558"/>
                  </a:ext>
                </a:extLst>
              </a:tr>
            </a:tbl>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7475D53-408A-7816-3047-4622DE2D16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93410B-FB60-98EF-DA46-D8487649E3AC}"/>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Europe Functional Beverage Market Overview</a:t>
            </a:r>
          </a:p>
        </p:txBody>
      </p:sp>
      <p:sp>
        <p:nvSpPr>
          <p:cNvPr id="3" name="Text 1">
            <a:extLst>
              <a:ext uri="{FF2B5EF4-FFF2-40B4-BE49-F238E27FC236}">
                <a16:creationId xmlns:a16="http://schemas.microsoft.com/office/drawing/2014/main" id="{5038D4D3-05A5-9359-7850-A76E2B74C49C}"/>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Content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BD9A90A8-3859-2A8D-C2BB-CB812B5982A3}"/>
              </a:ext>
            </a:extLst>
          </p:cNvPr>
          <p:cNvSpPr/>
          <p:nvPr/>
        </p:nvSpPr>
        <p:spPr>
          <a:xfrm>
            <a:off x="688668" y="1787077"/>
            <a:ext cx="6789420" cy="1281303"/>
          </a:xfrm>
          <a:prstGeom prst="rect">
            <a:avLst/>
          </a:prstGeom>
          <a:noFill/>
          <a:ln/>
        </p:spPr>
        <p:txBody>
          <a:bodyPr wrap="square" rtlCol="0" anchor="t"/>
          <a:lstStyle/>
          <a:p>
            <a:pPr marL="203200" lvl="0" indent="-203200">
              <a:buSzPct val="100000"/>
              <a:buFontTx/>
              <a:buChar char="●"/>
              <a:defRPr/>
            </a:pPr>
            <a:r>
              <a:rPr lang="en-US" sz="1200" dirty="0">
                <a:solidFill>
                  <a:srgbClr val="1E2624"/>
                </a:solidFill>
                <a:latin typeface="Calibri" pitchFamily="34" charset="0"/>
                <a:ea typeface="Calibri" pitchFamily="34" charset="-122"/>
                <a:cs typeface="Calibri" pitchFamily="34" charset="-120"/>
              </a:rPr>
              <a:t>CONTENT</a:t>
            </a:r>
          </a:p>
          <a:p>
            <a:pPr marL="203200" lvl="0" indent="-203200">
              <a:buSzPct val="100000"/>
              <a:buFontTx/>
              <a:buChar char="●"/>
              <a:defRPr/>
            </a:pPr>
            <a:r>
              <a:rPr lang="en-US" sz="1200" dirty="0">
                <a:solidFill>
                  <a:srgbClr val="1E2624"/>
                </a:solidFill>
                <a:latin typeface="Calibri" pitchFamily="34" charset="0"/>
                <a:ea typeface="Calibri" pitchFamily="34" charset="-122"/>
                <a:cs typeface="Calibri" pitchFamily="34" charset="-120"/>
              </a:rPr>
              <a:t>CONTENT</a:t>
            </a:r>
          </a:p>
        </p:txBody>
      </p:sp>
      <p:sp>
        <p:nvSpPr>
          <p:cNvPr id="5" name="Shape 3">
            <a:extLst>
              <a:ext uri="{FF2B5EF4-FFF2-40B4-BE49-F238E27FC236}">
                <a16:creationId xmlns:a16="http://schemas.microsoft.com/office/drawing/2014/main" id="{05A83B58-EB5B-7518-E509-7511C5639346}"/>
              </a:ext>
            </a:extLst>
          </p:cNvPr>
          <p:cNvSpPr/>
          <p:nvPr/>
        </p:nvSpPr>
        <p:spPr>
          <a:xfrm>
            <a:off x="7543800" y="1426965"/>
            <a:ext cx="3958231" cy="2287763"/>
          </a:xfrm>
          <a:prstGeom prst="roundRect">
            <a:avLst>
              <a:gd name="adj" fmla="val 2991"/>
            </a:avLst>
          </a:prstGeom>
          <a:solidFill>
            <a:srgbClr val="0B4F4A"/>
          </a:solidFill>
          <a:ln/>
        </p:spPr>
        <p:txBody>
          <a:bodyPr/>
          <a:lstStyle/>
          <a:p>
            <a:endParaRPr lang="en-IN"/>
          </a:p>
        </p:txBody>
      </p:sp>
      <p:sp>
        <p:nvSpPr>
          <p:cNvPr id="8" name="Shape 6">
            <a:extLst>
              <a:ext uri="{FF2B5EF4-FFF2-40B4-BE49-F238E27FC236}">
                <a16:creationId xmlns:a16="http://schemas.microsoft.com/office/drawing/2014/main" id="{A94AB64D-B332-4E04-5849-315D11F3765D}"/>
              </a:ext>
            </a:extLst>
          </p:cNvPr>
          <p:cNvSpPr/>
          <p:nvPr/>
        </p:nvSpPr>
        <p:spPr>
          <a:xfrm>
            <a:off x="7543800" y="4071668"/>
            <a:ext cx="3962428" cy="2061713"/>
          </a:xfrm>
          <a:prstGeom prst="roundRect">
            <a:avLst>
              <a:gd name="adj" fmla="val 2991"/>
            </a:avLst>
          </a:prstGeom>
          <a:solidFill>
            <a:srgbClr val="0B4F4A"/>
          </a:solidFill>
          <a:ln/>
        </p:spPr>
        <p:txBody>
          <a:bodyPr/>
          <a:lstStyle/>
          <a:p>
            <a:endParaRPr lang="en-IN"/>
          </a:p>
        </p:txBody>
      </p:sp>
      <p:sp>
        <p:nvSpPr>
          <p:cNvPr id="11" name="Text 9">
            <a:extLst>
              <a:ext uri="{FF2B5EF4-FFF2-40B4-BE49-F238E27FC236}">
                <a16:creationId xmlns:a16="http://schemas.microsoft.com/office/drawing/2014/main" id="{D57AAB16-37B3-9A64-4AB6-676BE0732BC9}"/>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4C36820E-576D-EC23-AD57-0CE5B4C20C94}"/>
              </a:ext>
            </a:extLst>
          </p:cNvPr>
          <p:cNvGrpSpPr/>
          <p:nvPr/>
        </p:nvGrpSpPr>
        <p:grpSpPr>
          <a:xfrm>
            <a:off x="705920" y="1426965"/>
            <a:ext cx="3055189" cy="396000"/>
            <a:chOff x="502920" y="5215355"/>
            <a:chExt cx="4413600" cy="835200"/>
          </a:xfrm>
        </p:grpSpPr>
        <p:sp>
          <p:nvSpPr>
            <p:cNvPr id="14" name="Shape 11">
              <a:extLst>
                <a:ext uri="{FF2B5EF4-FFF2-40B4-BE49-F238E27FC236}">
                  <a16:creationId xmlns:a16="http://schemas.microsoft.com/office/drawing/2014/main" id="{A9A1ADE2-8202-DE70-2541-F8363C9326DB}"/>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sz="1400"/>
            </a:p>
          </p:txBody>
        </p:sp>
        <p:sp>
          <p:nvSpPr>
            <p:cNvPr id="16" name="Text 12">
              <a:extLst>
                <a:ext uri="{FF2B5EF4-FFF2-40B4-BE49-F238E27FC236}">
                  <a16:creationId xmlns:a16="http://schemas.microsoft.com/office/drawing/2014/main" id="{29240F5A-C5A4-4794-7CE1-484E6945F014}"/>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Growth Statistics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22" name="Text 2">
            <a:extLst>
              <a:ext uri="{FF2B5EF4-FFF2-40B4-BE49-F238E27FC236}">
                <a16:creationId xmlns:a16="http://schemas.microsoft.com/office/drawing/2014/main" id="{326403F1-6FBC-9CBD-ACCA-FA56B5866C1F}"/>
              </a:ext>
            </a:extLst>
          </p:cNvPr>
          <p:cNvSpPr/>
          <p:nvPr/>
        </p:nvSpPr>
        <p:spPr>
          <a:xfrm>
            <a:off x="711528" y="3401909"/>
            <a:ext cx="6761716" cy="1281303"/>
          </a:xfrm>
          <a:prstGeom prst="rect">
            <a:avLst/>
          </a:prstGeom>
          <a:noFill/>
          <a:ln/>
        </p:spPr>
        <p:txBody>
          <a:bodyPr wrap="square" rtlCol="0" anchor="t"/>
          <a:lstStyle/>
          <a:p>
            <a:pPr marL="203200" lvl="0" indent="-203200">
              <a:buSzPct val="100000"/>
              <a:buFontTx/>
              <a:buChar char="●"/>
              <a:defRPr/>
            </a:pPr>
            <a:r>
              <a:rPr lang="en-US" sz="1200" dirty="0">
                <a:solidFill>
                  <a:srgbClr val="1E2624"/>
                </a:solidFill>
                <a:latin typeface="Calibri" pitchFamily="34" charset="0"/>
                <a:ea typeface="Calibri" pitchFamily="34" charset="-122"/>
                <a:cs typeface="Calibri" pitchFamily="34" charset="-120"/>
              </a:rPr>
              <a:t>CONTENT</a:t>
            </a:r>
          </a:p>
          <a:p>
            <a:pPr marL="203200" lvl="0" indent="-203200">
              <a:buSzPct val="100000"/>
              <a:buFontTx/>
              <a:buChar char="●"/>
              <a:defRPr/>
            </a:pPr>
            <a:r>
              <a:rPr lang="en-US" sz="1200" dirty="0">
                <a:solidFill>
                  <a:srgbClr val="1E2624"/>
                </a:solidFill>
                <a:latin typeface="Calibri" pitchFamily="34" charset="0"/>
                <a:ea typeface="Calibri" pitchFamily="34" charset="-122"/>
                <a:cs typeface="Calibri" pitchFamily="34" charset="-120"/>
              </a:rPr>
              <a:t>CONTENT</a:t>
            </a:r>
          </a:p>
          <a:p>
            <a:pPr marL="203200" lvl="0" indent="-203200">
              <a:buSzPct val="100000"/>
              <a:buFontTx/>
              <a:buChar char="●"/>
              <a:defRPr/>
            </a:pPr>
            <a:endParaRPr lang="en-US" sz="1200" dirty="0">
              <a:solidFill>
                <a:srgbClr val="1E2624"/>
              </a:solidFill>
              <a:latin typeface="Calibri" pitchFamily="34" charset="0"/>
              <a:ea typeface="Calibri" pitchFamily="34" charset="-122"/>
              <a:cs typeface="Calibri" pitchFamily="34" charset="-120"/>
            </a:endParaRPr>
          </a:p>
        </p:txBody>
      </p:sp>
      <p:grpSp>
        <p:nvGrpSpPr>
          <p:cNvPr id="23" name="Group 22">
            <a:extLst>
              <a:ext uri="{FF2B5EF4-FFF2-40B4-BE49-F238E27FC236}">
                <a16:creationId xmlns:a16="http://schemas.microsoft.com/office/drawing/2014/main" id="{3D667455-A180-65F3-61AB-14E8A2C3272C}"/>
              </a:ext>
            </a:extLst>
          </p:cNvPr>
          <p:cNvGrpSpPr/>
          <p:nvPr/>
        </p:nvGrpSpPr>
        <p:grpSpPr>
          <a:xfrm>
            <a:off x="728780" y="2998667"/>
            <a:ext cx="3055189" cy="396000"/>
            <a:chOff x="502920" y="5215355"/>
            <a:chExt cx="4413600" cy="835200"/>
          </a:xfrm>
        </p:grpSpPr>
        <p:sp>
          <p:nvSpPr>
            <p:cNvPr id="24" name="Shape 11">
              <a:extLst>
                <a:ext uri="{FF2B5EF4-FFF2-40B4-BE49-F238E27FC236}">
                  <a16:creationId xmlns:a16="http://schemas.microsoft.com/office/drawing/2014/main" id="{CF79BBBB-7F5C-16F3-7FDE-47FB0949C629}"/>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sz="1400"/>
            </a:p>
          </p:txBody>
        </p:sp>
        <p:sp>
          <p:nvSpPr>
            <p:cNvPr id="25" name="Text 12">
              <a:extLst>
                <a:ext uri="{FF2B5EF4-FFF2-40B4-BE49-F238E27FC236}">
                  <a16:creationId xmlns:a16="http://schemas.microsoft.com/office/drawing/2014/main" id="{168213A1-2B8B-5AE0-D409-D5BC9B663063}"/>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Growth Drivers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26" name="Text 2">
            <a:extLst>
              <a:ext uri="{FF2B5EF4-FFF2-40B4-BE49-F238E27FC236}">
                <a16:creationId xmlns:a16="http://schemas.microsoft.com/office/drawing/2014/main" id="{A89C34FB-6E70-2469-C16C-057513F2652C}"/>
              </a:ext>
            </a:extLst>
          </p:cNvPr>
          <p:cNvSpPr/>
          <p:nvPr/>
        </p:nvSpPr>
        <p:spPr>
          <a:xfrm>
            <a:off x="688668" y="5004013"/>
            <a:ext cx="6766560" cy="1281303"/>
          </a:xfrm>
          <a:prstGeom prst="rect">
            <a:avLst/>
          </a:prstGeom>
          <a:noFill/>
          <a:ln/>
        </p:spPr>
        <p:txBody>
          <a:bodyPr wrap="square" rtlCol="0" anchor="t"/>
          <a:lstStyle/>
          <a:p>
            <a:pPr marL="203200" lvl="0" indent="-203200">
              <a:buSzPct val="100000"/>
              <a:buFontTx/>
              <a:buChar char="●"/>
              <a:defRPr/>
            </a:pPr>
            <a:r>
              <a:rPr lang="en-US" sz="1200" dirty="0">
                <a:solidFill>
                  <a:srgbClr val="1E2624"/>
                </a:solidFill>
                <a:latin typeface="Calibri" pitchFamily="34" charset="0"/>
                <a:ea typeface="Calibri" pitchFamily="34" charset="-122"/>
                <a:cs typeface="Calibri" pitchFamily="34" charset="-120"/>
              </a:rPr>
              <a:t>CONTENT</a:t>
            </a:r>
          </a:p>
          <a:p>
            <a:pPr marL="203200" lvl="0" indent="-203200">
              <a:buSzPct val="100000"/>
              <a:buFontTx/>
              <a:buChar char="●"/>
              <a:defRPr/>
            </a:pPr>
            <a:r>
              <a:rPr lang="en-US" sz="1200" dirty="0">
                <a:solidFill>
                  <a:srgbClr val="1E2624"/>
                </a:solidFill>
                <a:latin typeface="Calibri" pitchFamily="34" charset="0"/>
                <a:ea typeface="Calibri" pitchFamily="34" charset="-122"/>
                <a:cs typeface="Calibri" pitchFamily="34" charset="-120"/>
              </a:rPr>
              <a:t>CONTENT</a:t>
            </a:r>
          </a:p>
          <a:p>
            <a:pPr marL="203200" lvl="0" indent="-203200">
              <a:buSzPct val="100000"/>
              <a:buFontTx/>
              <a:buChar char="●"/>
              <a:defRPr/>
            </a:pPr>
            <a:endParaRPr lang="en-US" sz="1200" dirty="0">
              <a:solidFill>
                <a:srgbClr val="1E2624"/>
              </a:solidFill>
              <a:latin typeface="Calibri" pitchFamily="34" charset="0"/>
              <a:ea typeface="Calibri" pitchFamily="34" charset="-122"/>
              <a:cs typeface="Calibri" pitchFamily="34" charset="-120"/>
            </a:endParaRPr>
          </a:p>
        </p:txBody>
      </p:sp>
      <p:grpSp>
        <p:nvGrpSpPr>
          <p:cNvPr id="27" name="Group 26">
            <a:extLst>
              <a:ext uri="{FF2B5EF4-FFF2-40B4-BE49-F238E27FC236}">
                <a16:creationId xmlns:a16="http://schemas.microsoft.com/office/drawing/2014/main" id="{F7301A22-3D82-88BC-978A-86B70DE74B69}"/>
              </a:ext>
            </a:extLst>
          </p:cNvPr>
          <p:cNvGrpSpPr/>
          <p:nvPr/>
        </p:nvGrpSpPr>
        <p:grpSpPr>
          <a:xfrm>
            <a:off x="705920" y="4600771"/>
            <a:ext cx="3055189" cy="396000"/>
            <a:chOff x="502920" y="5215355"/>
            <a:chExt cx="4413600" cy="835200"/>
          </a:xfrm>
        </p:grpSpPr>
        <p:sp>
          <p:nvSpPr>
            <p:cNvPr id="28" name="Shape 11">
              <a:extLst>
                <a:ext uri="{FF2B5EF4-FFF2-40B4-BE49-F238E27FC236}">
                  <a16:creationId xmlns:a16="http://schemas.microsoft.com/office/drawing/2014/main" id="{62D0BA36-C228-A4FC-9671-FE7F8D7B9016}"/>
                </a:ext>
              </a:extLst>
            </p:cNvPr>
            <p:cNvSpPr/>
            <p:nvPr/>
          </p:nvSpPr>
          <p:spPr>
            <a:xfrm>
              <a:off x="502920" y="5215355"/>
              <a:ext cx="4413600" cy="835200"/>
            </a:xfrm>
            <a:prstGeom prst="roundRect">
              <a:avLst>
                <a:gd name="adj" fmla="val 26667"/>
              </a:avLst>
            </a:prstGeom>
            <a:solidFill>
              <a:srgbClr val="8BC34A"/>
            </a:solidFill>
            <a:ln/>
          </p:spPr>
          <p:txBody>
            <a:bodyPr/>
            <a:lstStyle/>
            <a:p>
              <a:endParaRPr lang="en-IN" sz="1400"/>
            </a:p>
          </p:txBody>
        </p:sp>
        <p:sp>
          <p:nvSpPr>
            <p:cNvPr id="29" name="Text 12">
              <a:extLst>
                <a:ext uri="{FF2B5EF4-FFF2-40B4-BE49-F238E27FC236}">
                  <a16:creationId xmlns:a16="http://schemas.microsoft.com/office/drawing/2014/main" id="{5C949692-FF62-F961-C01A-F75F3E1E8611}"/>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Challenges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31" name="Text 2">
            <a:extLst>
              <a:ext uri="{FF2B5EF4-FFF2-40B4-BE49-F238E27FC236}">
                <a16:creationId xmlns:a16="http://schemas.microsoft.com/office/drawing/2014/main" id="{17E9CF0F-C3F5-FB99-8780-38E844876080}"/>
              </a:ext>
            </a:extLst>
          </p:cNvPr>
          <p:cNvSpPr/>
          <p:nvPr/>
        </p:nvSpPr>
        <p:spPr>
          <a:xfrm>
            <a:off x="7565370" y="1921702"/>
            <a:ext cx="4070370"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sp>
        <p:nvSpPr>
          <p:cNvPr id="33" name="Text 2">
            <a:extLst>
              <a:ext uri="{FF2B5EF4-FFF2-40B4-BE49-F238E27FC236}">
                <a16:creationId xmlns:a16="http://schemas.microsoft.com/office/drawing/2014/main" id="{242BAE26-92DD-5C45-71D2-08D77AC48068}"/>
              </a:ext>
            </a:extLst>
          </p:cNvPr>
          <p:cNvSpPr/>
          <p:nvPr/>
        </p:nvSpPr>
        <p:spPr>
          <a:xfrm>
            <a:off x="7660255" y="4683381"/>
            <a:ext cx="3958231"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2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grpSp>
        <p:nvGrpSpPr>
          <p:cNvPr id="34" name="Group 33">
            <a:extLst>
              <a:ext uri="{FF2B5EF4-FFF2-40B4-BE49-F238E27FC236}">
                <a16:creationId xmlns:a16="http://schemas.microsoft.com/office/drawing/2014/main" id="{59E72756-CAD1-33FA-E813-9D2279F3F518}"/>
              </a:ext>
            </a:extLst>
          </p:cNvPr>
          <p:cNvGrpSpPr/>
          <p:nvPr/>
        </p:nvGrpSpPr>
        <p:grpSpPr>
          <a:xfrm>
            <a:off x="7660256" y="1506595"/>
            <a:ext cx="3055189" cy="396000"/>
            <a:chOff x="502920" y="5215355"/>
            <a:chExt cx="4413600" cy="835200"/>
          </a:xfrm>
          <a:solidFill>
            <a:schemeClr val="accent2"/>
          </a:solidFill>
        </p:grpSpPr>
        <p:sp>
          <p:nvSpPr>
            <p:cNvPr id="35" name="Shape 11">
              <a:extLst>
                <a:ext uri="{FF2B5EF4-FFF2-40B4-BE49-F238E27FC236}">
                  <a16:creationId xmlns:a16="http://schemas.microsoft.com/office/drawing/2014/main" id="{03B14080-E4B8-F2DF-9D1C-4532B5118C17}"/>
                </a:ext>
              </a:extLst>
            </p:cNvPr>
            <p:cNvSpPr/>
            <p:nvPr/>
          </p:nvSpPr>
          <p:spPr>
            <a:xfrm>
              <a:off x="502920" y="5215355"/>
              <a:ext cx="4413600" cy="835200"/>
            </a:xfrm>
            <a:prstGeom prst="roundRect">
              <a:avLst>
                <a:gd name="adj" fmla="val 26667"/>
              </a:avLst>
            </a:prstGeom>
            <a:grpFill/>
            <a:ln/>
          </p:spPr>
          <p:txBody>
            <a:bodyPr/>
            <a:lstStyle/>
            <a:p>
              <a:endParaRPr lang="en-IN" sz="1400"/>
            </a:p>
          </p:txBody>
        </p:sp>
        <p:sp>
          <p:nvSpPr>
            <p:cNvPr id="36" name="Text 12">
              <a:extLst>
                <a:ext uri="{FF2B5EF4-FFF2-40B4-BE49-F238E27FC236}">
                  <a16:creationId xmlns:a16="http://schemas.microsoft.com/office/drawing/2014/main" id="{D39EEB56-D72B-F5FD-EB7A-844163BD198C}"/>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Trend Analysis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grpSp>
        <p:nvGrpSpPr>
          <p:cNvPr id="37" name="Group 36">
            <a:extLst>
              <a:ext uri="{FF2B5EF4-FFF2-40B4-BE49-F238E27FC236}">
                <a16:creationId xmlns:a16="http://schemas.microsoft.com/office/drawing/2014/main" id="{B622A100-92C3-F0C5-F24D-577956335657}"/>
              </a:ext>
            </a:extLst>
          </p:cNvPr>
          <p:cNvGrpSpPr/>
          <p:nvPr/>
        </p:nvGrpSpPr>
        <p:grpSpPr>
          <a:xfrm>
            <a:off x="7660256" y="4206859"/>
            <a:ext cx="3055189" cy="396000"/>
            <a:chOff x="502920" y="5215355"/>
            <a:chExt cx="4413600" cy="835200"/>
          </a:xfrm>
          <a:solidFill>
            <a:schemeClr val="accent2"/>
          </a:solidFill>
        </p:grpSpPr>
        <p:sp>
          <p:nvSpPr>
            <p:cNvPr id="38" name="Shape 11">
              <a:extLst>
                <a:ext uri="{FF2B5EF4-FFF2-40B4-BE49-F238E27FC236}">
                  <a16:creationId xmlns:a16="http://schemas.microsoft.com/office/drawing/2014/main" id="{AF2BB910-538F-75DB-76D7-28BD16CC9868}"/>
                </a:ext>
              </a:extLst>
            </p:cNvPr>
            <p:cNvSpPr/>
            <p:nvPr/>
          </p:nvSpPr>
          <p:spPr>
            <a:xfrm>
              <a:off x="502920" y="5215355"/>
              <a:ext cx="4413600" cy="835200"/>
            </a:xfrm>
            <a:prstGeom prst="roundRect">
              <a:avLst>
                <a:gd name="adj" fmla="val 26667"/>
              </a:avLst>
            </a:prstGeom>
            <a:grpFill/>
            <a:ln/>
          </p:spPr>
          <p:txBody>
            <a:bodyPr/>
            <a:lstStyle/>
            <a:p>
              <a:endParaRPr lang="en-IN" sz="1400"/>
            </a:p>
          </p:txBody>
        </p:sp>
        <p:sp>
          <p:nvSpPr>
            <p:cNvPr id="39" name="Text 12">
              <a:extLst>
                <a:ext uri="{FF2B5EF4-FFF2-40B4-BE49-F238E27FC236}">
                  <a16:creationId xmlns:a16="http://schemas.microsoft.com/office/drawing/2014/main" id="{04FDC571-BFD6-F9F1-E171-FE928D2FBC42}"/>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Calibri" pitchFamily="34" charset="-122"/>
                  <a:cs typeface="Calibri" pitchFamily="34" charset="-120"/>
                </a:rPr>
                <a:t>Key Players</a:t>
              </a:r>
              <a:endParaRPr kumimoji="0" lang="en-US" sz="1400" b="0" i="0" u="none" strike="noStrike" kern="1200" cap="none" spc="0" normalizeH="0" baseline="0" noProof="0" dirty="0">
                <a:ln>
                  <a:noFill/>
                </a:ln>
                <a:solidFill>
                  <a:prstClr val="black"/>
                </a:solidFill>
                <a:effectLst/>
                <a:uLnTx/>
                <a:uFillTx/>
                <a:ea typeface="+mn-ea"/>
                <a:cs typeface="+mn-cs"/>
              </a:endParaRPr>
            </a:p>
          </p:txBody>
        </p:sp>
      </p:grpSp>
      <p:sp>
        <p:nvSpPr>
          <p:cNvPr id="6" name="TextBox 5">
            <a:extLst>
              <a:ext uri="{FF2B5EF4-FFF2-40B4-BE49-F238E27FC236}">
                <a16:creationId xmlns:a16="http://schemas.microsoft.com/office/drawing/2014/main" id="{0CE256AE-3225-35D6-4A54-FF41E5C8813C}"/>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extLst>
      <p:ext uri="{BB962C8B-B14F-4D97-AF65-F5344CB8AC3E}">
        <p14:creationId xmlns:p14="http://schemas.microsoft.com/office/powerpoint/2010/main" val="3978104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Europe Market Size &amp; Forecast, 2025 - 2036</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USD Billion</a:t>
            </a:r>
            <a:endParaRPr lang="en-US" sz="1250" dirty="0"/>
          </a:p>
        </p:txBody>
      </p:sp>
      <p:graphicFrame>
        <p:nvGraphicFramePr>
          <p:cNvPr id="4" name="Chart 0"/>
          <p:cNvGraphicFramePr/>
          <p:nvPr/>
        </p:nvGraphicFramePr>
        <p:xfrm>
          <a:off x="502920" y="1417320"/>
          <a:ext cx="749808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75320" y="1417320"/>
            <a:ext cx="3284076" cy="2240280"/>
          </a:xfrm>
          <a:prstGeom prst="roundRect">
            <a:avLst>
              <a:gd name="adj" fmla="val 3265"/>
            </a:avLst>
          </a:prstGeom>
          <a:solidFill>
            <a:srgbClr val="0B4F4A"/>
          </a:solidFill>
          <a:ln/>
        </p:spPr>
        <p:txBody>
          <a:bodyPr/>
          <a:lstStyle/>
          <a:p>
            <a:endParaRPr lang="en-IN"/>
          </a:p>
        </p:txBody>
      </p:sp>
      <p:sp>
        <p:nvSpPr>
          <p:cNvPr id="6" name="Text 3"/>
          <p:cNvSpPr/>
          <p:nvPr/>
        </p:nvSpPr>
        <p:spPr>
          <a:xfrm>
            <a:off x="8458200" y="1463040"/>
            <a:ext cx="3017520" cy="1120140"/>
          </a:xfrm>
          <a:prstGeom prst="rect">
            <a:avLst/>
          </a:prstGeom>
          <a:noFill/>
          <a:ln/>
        </p:spPr>
        <p:txBody>
          <a:bodyPr wrap="square" rtlCol="0" anchor="ctr"/>
          <a:lstStyle/>
          <a:p>
            <a:pPr marL="0" indent="0">
              <a:buNone/>
            </a:pPr>
            <a:r>
              <a:rPr lang="en-US" sz="2200" b="1" dirty="0">
                <a:solidFill>
                  <a:srgbClr val="FF6B35"/>
                </a:solidFill>
                <a:latin typeface="Cambria" pitchFamily="34" charset="0"/>
                <a:ea typeface="Cambria" pitchFamily="34" charset="-122"/>
                <a:cs typeface="Cambria" pitchFamily="34" charset="-120"/>
              </a:rPr>
              <a:t>XX%</a:t>
            </a:r>
            <a:endParaRPr lang="en-US" sz="2200" dirty="0"/>
          </a:p>
        </p:txBody>
      </p:sp>
      <p:sp>
        <p:nvSpPr>
          <p:cNvPr id="7" name="Text 4"/>
          <p:cNvSpPr/>
          <p:nvPr/>
        </p:nvSpPr>
        <p:spPr>
          <a:xfrm>
            <a:off x="8458200" y="2582266"/>
            <a:ext cx="3017520" cy="1008126"/>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Regional CAGR, 2026–2036</a:t>
            </a:r>
            <a:endParaRPr lang="en-US" sz="1200" dirty="0"/>
          </a:p>
        </p:txBody>
      </p:sp>
      <p:sp>
        <p:nvSpPr>
          <p:cNvPr id="8" name="Shape 5"/>
          <p:cNvSpPr/>
          <p:nvPr/>
        </p:nvSpPr>
        <p:spPr>
          <a:xfrm>
            <a:off x="8275320" y="3886200"/>
            <a:ext cx="3284076" cy="2240280"/>
          </a:xfrm>
          <a:prstGeom prst="roundRect">
            <a:avLst>
              <a:gd name="adj" fmla="val 3265"/>
            </a:avLst>
          </a:prstGeom>
          <a:solidFill>
            <a:srgbClr val="D8ECE4"/>
          </a:solidFill>
          <a:ln/>
        </p:spPr>
        <p:txBody>
          <a:bodyPr/>
          <a:lstStyle/>
          <a:p>
            <a:endParaRPr lang="en-IN"/>
          </a:p>
        </p:txBody>
      </p:sp>
      <p:sp>
        <p:nvSpPr>
          <p:cNvPr id="9" name="Text 6"/>
          <p:cNvSpPr/>
          <p:nvPr/>
        </p:nvSpPr>
        <p:spPr>
          <a:xfrm>
            <a:off x="8458200" y="3931920"/>
            <a:ext cx="3017520" cy="1120140"/>
          </a:xfrm>
          <a:prstGeom prst="rect">
            <a:avLst/>
          </a:prstGeom>
          <a:noFill/>
          <a:ln/>
        </p:spPr>
        <p:txBody>
          <a:bodyPr wrap="square" rtlCol="0" anchor="ctr"/>
          <a:lstStyle/>
          <a:p>
            <a:pPr marL="0" indent="0">
              <a:buNone/>
            </a:pPr>
            <a:r>
              <a:rPr lang="en-US" sz="2200" b="1" dirty="0">
                <a:solidFill>
                  <a:srgbClr val="0B4F4A"/>
                </a:solidFill>
                <a:latin typeface="Cambria" pitchFamily="34" charset="0"/>
                <a:ea typeface="Cambria" pitchFamily="34" charset="-122"/>
                <a:cs typeface="Cambria" pitchFamily="34" charset="-120"/>
              </a:rPr>
              <a:t>Germany</a:t>
            </a:r>
            <a:endParaRPr lang="en-US" sz="2200" dirty="0"/>
          </a:p>
        </p:txBody>
      </p:sp>
      <p:sp>
        <p:nvSpPr>
          <p:cNvPr id="10" name="Text 7"/>
          <p:cNvSpPr/>
          <p:nvPr/>
        </p:nvSpPr>
        <p:spPr>
          <a:xfrm>
            <a:off x="8458200" y="5051146"/>
            <a:ext cx="3017520" cy="1008126"/>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Largest country market in the region</a:t>
            </a:r>
            <a:endParaRPr lang="en-US" sz="1200" dirty="0"/>
          </a:p>
        </p:txBody>
      </p:sp>
      <p:sp>
        <p:nvSpPr>
          <p:cNvPr id="11" name="Text 8"/>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14" name="TextBox 13">
            <a:extLst>
              <a:ext uri="{FF2B5EF4-FFF2-40B4-BE49-F238E27FC236}">
                <a16:creationId xmlns:a16="http://schemas.microsoft.com/office/drawing/2014/main" id="{29448675-2511-5A00-CBE9-12A5F868A9F6}"/>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7424"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Europe Country-Level Breakdown</a:t>
            </a:r>
            <a:endParaRPr lang="en-US" sz="2800" dirty="0"/>
          </a:p>
        </p:txBody>
      </p:sp>
      <p:sp>
        <p:nvSpPr>
          <p:cNvPr id="3" name="Text 1"/>
          <p:cNvSpPr/>
          <p:nvPr/>
        </p:nvSpPr>
        <p:spPr>
          <a:xfrm>
            <a:off x="537424"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Market value (USD Billion), 2025 and 2036</a:t>
            </a:r>
            <a:endParaRPr lang="en-US" sz="1250" dirty="0"/>
          </a:p>
        </p:txBody>
      </p:sp>
      <p:graphicFrame>
        <p:nvGraphicFramePr>
          <p:cNvPr id="40" name="Table 0"/>
          <p:cNvGraphicFramePr>
            <a:graphicFrameLocks noGrp="1"/>
          </p:cNvGraphicFramePr>
          <p:nvPr>
            <p:extLst>
              <p:ext uri="{D42A27DB-BD31-4B8C-83A1-F6EECF244321}">
                <p14:modId xmlns:p14="http://schemas.microsoft.com/office/powerpoint/2010/main" val="3938642925"/>
              </p:ext>
            </p:extLst>
          </p:nvPr>
        </p:nvGraphicFramePr>
        <p:xfrm>
          <a:off x="646980" y="1371600"/>
          <a:ext cx="10895164" cy="4653817"/>
        </p:xfrm>
        <a:graphic>
          <a:graphicData uri="http://schemas.openxmlformats.org/drawingml/2006/table">
            <a:tbl>
              <a:tblPr/>
              <a:tblGrid>
                <a:gridCol w="2723791">
                  <a:extLst>
                    <a:ext uri="{9D8B030D-6E8A-4147-A177-3AD203B41FA5}">
                      <a16:colId xmlns:a16="http://schemas.microsoft.com/office/drawing/2014/main" val="20000"/>
                    </a:ext>
                  </a:extLst>
                </a:gridCol>
                <a:gridCol w="2723791">
                  <a:extLst>
                    <a:ext uri="{9D8B030D-6E8A-4147-A177-3AD203B41FA5}">
                      <a16:colId xmlns:a16="http://schemas.microsoft.com/office/drawing/2014/main" val="20001"/>
                    </a:ext>
                  </a:extLst>
                </a:gridCol>
                <a:gridCol w="2723791">
                  <a:extLst>
                    <a:ext uri="{9D8B030D-6E8A-4147-A177-3AD203B41FA5}">
                      <a16:colId xmlns:a16="http://schemas.microsoft.com/office/drawing/2014/main" val="20002"/>
                    </a:ext>
                  </a:extLst>
                </a:gridCol>
                <a:gridCol w="2723791">
                  <a:extLst>
                    <a:ext uri="{9D8B030D-6E8A-4147-A177-3AD203B41FA5}">
                      <a16:colId xmlns:a16="http://schemas.microsoft.com/office/drawing/2014/main" val="20003"/>
                    </a:ext>
                  </a:extLst>
                </a:gridCol>
              </a:tblGrid>
              <a:tr h="502194">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2025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2036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CAGR</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593089">
                <a:tc>
                  <a:txBody>
                    <a:bodyPr/>
                    <a:lstStyle/>
                    <a:p>
                      <a:pPr marL="0" indent="0" algn="l">
                        <a:buNone/>
                      </a:pPr>
                      <a:r>
                        <a:rPr lang="en-US" sz="1200" dirty="0">
                          <a:latin typeface="Calibri" charset="0"/>
                          <a:ea typeface="Calibri" charset="0"/>
                          <a:cs typeface="Calibri" charset="0"/>
                        </a:rPr>
                        <a:t>UK</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3089">
                <a:tc>
                  <a:txBody>
                    <a:bodyPr/>
                    <a:lstStyle/>
                    <a:p>
                      <a:pPr marL="0" indent="0" algn="l">
                        <a:buNone/>
                      </a:pPr>
                      <a:endParaRPr lang="en-US" sz="1200" dirty="0">
                        <a:latin typeface="Calibri" charset="0"/>
                        <a:ea typeface="Calibri" charset="0"/>
                        <a:cs typeface="Calibri" charset="0"/>
                      </a:endParaRPr>
                    </a:p>
                    <a:p>
                      <a:pPr marL="0" indent="0" algn="l">
                        <a:buNone/>
                      </a:pPr>
                      <a:r>
                        <a:rPr lang="en-US" sz="1200" dirty="0">
                          <a:latin typeface="Calibri" charset="0"/>
                          <a:ea typeface="Calibri" charset="0"/>
                          <a:cs typeface="Calibri" charset="0"/>
                        </a:rPr>
                        <a:t>Germany</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593089">
                <a:tc>
                  <a:txBody>
                    <a:bodyPr/>
                    <a:lstStyle/>
                    <a:p>
                      <a:pPr marL="0" indent="0" algn="l">
                        <a:buNone/>
                      </a:pPr>
                      <a:r>
                        <a:rPr lang="en-US" sz="1200" dirty="0">
                          <a:latin typeface="Calibri" charset="0"/>
                          <a:ea typeface="Calibri" charset="0"/>
                          <a:cs typeface="Calibri" charset="0"/>
                        </a:rPr>
                        <a:t>France</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3089">
                <a:tc>
                  <a:txBody>
                    <a:bodyPr/>
                    <a:lstStyle/>
                    <a:p>
                      <a:pPr marL="0" indent="0" algn="l">
                        <a:buNone/>
                      </a:pPr>
                      <a:r>
                        <a:rPr lang="en-US" sz="1200" dirty="0">
                          <a:latin typeface="Calibri" charset="0"/>
                          <a:ea typeface="Calibri" charset="0"/>
                          <a:cs typeface="Calibri" charset="0"/>
                        </a:rPr>
                        <a:t>Italy</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r h="593089">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Spain</a:t>
                      </a:r>
                      <a:endParaRPr lang="en-US" sz="12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3089">
                <a:tc>
                  <a:txBody>
                    <a:bodyPr/>
                    <a:lstStyle/>
                    <a:p>
                      <a:pPr marL="0" indent="0" algn="l">
                        <a:buNone/>
                      </a:pPr>
                      <a:r>
                        <a:rPr lang="en-US" sz="1200" dirty="0">
                          <a:latin typeface="Calibri" charset="0"/>
                          <a:ea typeface="Calibri" charset="0"/>
                          <a:cs typeface="Calibri" charset="0"/>
                        </a:rPr>
                        <a:t>NORDIC</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6"/>
                  </a:ext>
                </a:extLst>
              </a:tr>
              <a:tr h="593089">
                <a:tc>
                  <a:txBody>
                    <a:bodyPr/>
                    <a:lstStyle/>
                    <a:p>
                      <a:pPr marL="0" indent="0" algn="l">
                        <a:buNone/>
                      </a:pPr>
                      <a:r>
                        <a:rPr lang="en-US" sz="1200" dirty="0">
                          <a:latin typeface="Calibri" charset="0"/>
                          <a:ea typeface="Calibri" charset="0"/>
                          <a:cs typeface="Calibri" charset="0"/>
                        </a:rPr>
                        <a:t>Rest of Europe</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extLst>
                  <a:ext uri="{0D108BD9-81ED-4DB2-BD59-A6C34878D82A}">
                    <a16:rowId xmlns:a16="http://schemas.microsoft.com/office/drawing/2014/main" val="3367294589"/>
                  </a:ext>
                </a:extLst>
              </a:tr>
            </a:tbl>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7" name="TextBox 6">
            <a:extLst>
              <a:ext uri="{FF2B5EF4-FFF2-40B4-BE49-F238E27FC236}">
                <a16:creationId xmlns:a16="http://schemas.microsoft.com/office/drawing/2014/main" id="{A05C1B63-3CA8-635D-CD98-EF15D354C4AF}"/>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A72126-690C-44B5-3B6B-24C85551D8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3E064A-2F0B-5736-303A-EE0091B77E4C}"/>
              </a:ext>
            </a:extLst>
          </p:cNvPr>
          <p:cNvSpPr/>
          <p:nvPr/>
        </p:nvSpPr>
        <p:spPr>
          <a:xfrm>
            <a:off x="571928"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Asia Pacific Functional Beverage Market Overview</a:t>
            </a:r>
          </a:p>
        </p:txBody>
      </p:sp>
      <p:sp>
        <p:nvSpPr>
          <p:cNvPr id="3" name="Text 1">
            <a:extLst>
              <a:ext uri="{FF2B5EF4-FFF2-40B4-BE49-F238E27FC236}">
                <a16:creationId xmlns:a16="http://schemas.microsoft.com/office/drawing/2014/main" id="{D909D1A1-5DD3-1E48-61E6-194A42E636D2}"/>
              </a:ext>
            </a:extLst>
          </p:cNvPr>
          <p:cNvSpPr/>
          <p:nvPr/>
        </p:nvSpPr>
        <p:spPr>
          <a:xfrm>
            <a:off x="571928"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Content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F4EE8159-9756-289A-0367-AC0E6110B4F7}"/>
              </a:ext>
            </a:extLst>
          </p:cNvPr>
          <p:cNvSpPr/>
          <p:nvPr/>
        </p:nvSpPr>
        <p:spPr>
          <a:xfrm>
            <a:off x="688668" y="1761204"/>
            <a:ext cx="678942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sp>
        <p:nvSpPr>
          <p:cNvPr id="5" name="Shape 3">
            <a:extLst>
              <a:ext uri="{FF2B5EF4-FFF2-40B4-BE49-F238E27FC236}">
                <a16:creationId xmlns:a16="http://schemas.microsoft.com/office/drawing/2014/main" id="{A87D5C37-A21E-832F-6CF1-E7E1F752F559}"/>
              </a:ext>
            </a:extLst>
          </p:cNvPr>
          <p:cNvSpPr/>
          <p:nvPr/>
        </p:nvSpPr>
        <p:spPr>
          <a:xfrm>
            <a:off x="7543800" y="1392462"/>
            <a:ext cx="4036398" cy="2144629"/>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A28F9F28-FEAE-4EFC-CC20-0CE0EB92E09C}"/>
              </a:ext>
            </a:extLst>
          </p:cNvPr>
          <p:cNvSpPr/>
          <p:nvPr/>
        </p:nvSpPr>
        <p:spPr>
          <a:xfrm>
            <a:off x="7543800" y="4002660"/>
            <a:ext cx="4036398" cy="2144629"/>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8F7E0096-A5FC-3F24-53C3-E3E6DEFF2D15}"/>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1B161C99-5FA2-F7F9-FA90-ECD62AC31A80}"/>
              </a:ext>
            </a:extLst>
          </p:cNvPr>
          <p:cNvGrpSpPr/>
          <p:nvPr/>
        </p:nvGrpSpPr>
        <p:grpSpPr>
          <a:xfrm>
            <a:off x="705920" y="1401092"/>
            <a:ext cx="3055189" cy="396000"/>
            <a:chOff x="502920" y="5215355"/>
            <a:chExt cx="4413600" cy="835200"/>
          </a:xfrm>
        </p:grpSpPr>
        <p:sp>
          <p:nvSpPr>
            <p:cNvPr id="14" name="Shape 11">
              <a:extLst>
                <a:ext uri="{FF2B5EF4-FFF2-40B4-BE49-F238E27FC236}">
                  <a16:creationId xmlns:a16="http://schemas.microsoft.com/office/drawing/2014/main" id="{461D859C-9CF1-5D97-AD12-B326C4A42911}"/>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2">
              <a:extLst>
                <a:ext uri="{FF2B5EF4-FFF2-40B4-BE49-F238E27FC236}">
                  <a16:creationId xmlns:a16="http://schemas.microsoft.com/office/drawing/2014/main" id="{42FA9B77-C7EB-6616-EE3F-EC2F8272CF37}"/>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Growth Statistics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Text 2">
            <a:extLst>
              <a:ext uri="{FF2B5EF4-FFF2-40B4-BE49-F238E27FC236}">
                <a16:creationId xmlns:a16="http://schemas.microsoft.com/office/drawing/2014/main" id="{B3AB973A-C3D8-0187-4A92-27EFE79DA5AC}"/>
              </a:ext>
            </a:extLst>
          </p:cNvPr>
          <p:cNvSpPr/>
          <p:nvPr/>
        </p:nvSpPr>
        <p:spPr>
          <a:xfrm>
            <a:off x="711528" y="3514052"/>
            <a:ext cx="6761716"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grpSp>
        <p:nvGrpSpPr>
          <p:cNvPr id="23" name="Group 22">
            <a:extLst>
              <a:ext uri="{FF2B5EF4-FFF2-40B4-BE49-F238E27FC236}">
                <a16:creationId xmlns:a16="http://schemas.microsoft.com/office/drawing/2014/main" id="{E37ED7BA-A81D-CE85-59F9-59828C51A2C3}"/>
              </a:ext>
            </a:extLst>
          </p:cNvPr>
          <p:cNvGrpSpPr/>
          <p:nvPr/>
        </p:nvGrpSpPr>
        <p:grpSpPr>
          <a:xfrm>
            <a:off x="728780" y="3110810"/>
            <a:ext cx="3055189" cy="396000"/>
            <a:chOff x="502920" y="5215355"/>
            <a:chExt cx="4413600" cy="835200"/>
          </a:xfrm>
        </p:grpSpPr>
        <p:sp>
          <p:nvSpPr>
            <p:cNvPr id="24" name="Shape 11">
              <a:extLst>
                <a:ext uri="{FF2B5EF4-FFF2-40B4-BE49-F238E27FC236}">
                  <a16:creationId xmlns:a16="http://schemas.microsoft.com/office/drawing/2014/main" id="{85466319-C033-AF85-12F7-25B86AB8553C}"/>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12">
              <a:extLst>
                <a:ext uri="{FF2B5EF4-FFF2-40B4-BE49-F238E27FC236}">
                  <a16:creationId xmlns:a16="http://schemas.microsoft.com/office/drawing/2014/main" id="{B12FE55C-D44C-48E4-B01C-BDA0DB1FFAAB}"/>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Growth Drivers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 name="Text 2">
            <a:extLst>
              <a:ext uri="{FF2B5EF4-FFF2-40B4-BE49-F238E27FC236}">
                <a16:creationId xmlns:a16="http://schemas.microsoft.com/office/drawing/2014/main" id="{B8496732-1622-0FF9-52D8-AF89E98B7D22}"/>
              </a:ext>
            </a:extLst>
          </p:cNvPr>
          <p:cNvSpPr/>
          <p:nvPr/>
        </p:nvSpPr>
        <p:spPr>
          <a:xfrm>
            <a:off x="688668" y="5116156"/>
            <a:ext cx="676656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grpSp>
        <p:nvGrpSpPr>
          <p:cNvPr id="27" name="Group 26">
            <a:extLst>
              <a:ext uri="{FF2B5EF4-FFF2-40B4-BE49-F238E27FC236}">
                <a16:creationId xmlns:a16="http://schemas.microsoft.com/office/drawing/2014/main" id="{1A63AD30-510E-19E8-B7E9-C299DB16D486}"/>
              </a:ext>
            </a:extLst>
          </p:cNvPr>
          <p:cNvGrpSpPr/>
          <p:nvPr/>
        </p:nvGrpSpPr>
        <p:grpSpPr>
          <a:xfrm>
            <a:off x="705920" y="4712914"/>
            <a:ext cx="3055189" cy="396000"/>
            <a:chOff x="502920" y="5215355"/>
            <a:chExt cx="4413600" cy="835200"/>
          </a:xfrm>
        </p:grpSpPr>
        <p:sp>
          <p:nvSpPr>
            <p:cNvPr id="28" name="Shape 11">
              <a:extLst>
                <a:ext uri="{FF2B5EF4-FFF2-40B4-BE49-F238E27FC236}">
                  <a16:creationId xmlns:a16="http://schemas.microsoft.com/office/drawing/2014/main" id="{C2419065-5E33-C5C6-3CC8-2345EE21A3D6}"/>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12">
              <a:extLst>
                <a:ext uri="{FF2B5EF4-FFF2-40B4-BE49-F238E27FC236}">
                  <a16:creationId xmlns:a16="http://schemas.microsoft.com/office/drawing/2014/main" id="{ED99F4AA-953D-FCF0-3E92-59E620AD0ABD}"/>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Challenges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Text 2">
            <a:extLst>
              <a:ext uri="{FF2B5EF4-FFF2-40B4-BE49-F238E27FC236}">
                <a16:creationId xmlns:a16="http://schemas.microsoft.com/office/drawing/2014/main" id="{CB0656D3-9354-7CDA-A46D-8D43F3135381}"/>
              </a:ext>
            </a:extLst>
          </p:cNvPr>
          <p:cNvSpPr/>
          <p:nvPr/>
        </p:nvSpPr>
        <p:spPr>
          <a:xfrm>
            <a:off x="7565370" y="1783686"/>
            <a:ext cx="4070370"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sp>
        <p:nvSpPr>
          <p:cNvPr id="33" name="Text 2">
            <a:extLst>
              <a:ext uri="{FF2B5EF4-FFF2-40B4-BE49-F238E27FC236}">
                <a16:creationId xmlns:a16="http://schemas.microsoft.com/office/drawing/2014/main" id="{47D9156B-7A18-4318-006D-CF377D9D4FCD}"/>
              </a:ext>
            </a:extLst>
          </p:cNvPr>
          <p:cNvSpPr/>
          <p:nvPr/>
        </p:nvSpPr>
        <p:spPr>
          <a:xfrm>
            <a:off x="7660255" y="4510861"/>
            <a:ext cx="3958231"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grpSp>
        <p:nvGrpSpPr>
          <p:cNvPr id="34" name="Group 33">
            <a:extLst>
              <a:ext uri="{FF2B5EF4-FFF2-40B4-BE49-F238E27FC236}">
                <a16:creationId xmlns:a16="http://schemas.microsoft.com/office/drawing/2014/main" id="{25C8FF42-122A-2E2E-23EF-F943025B345A}"/>
              </a:ext>
            </a:extLst>
          </p:cNvPr>
          <p:cNvGrpSpPr/>
          <p:nvPr/>
        </p:nvGrpSpPr>
        <p:grpSpPr>
          <a:xfrm>
            <a:off x="7660256" y="1472091"/>
            <a:ext cx="3055189" cy="396000"/>
            <a:chOff x="502920" y="5215355"/>
            <a:chExt cx="4413600" cy="835200"/>
          </a:xfrm>
          <a:solidFill>
            <a:schemeClr val="accent2"/>
          </a:solidFill>
        </p:grpSpPr>
        <p:sp>
          <p:nvSpPr>
            <p:cNvPr id="35" name="Shape 11">
              <a:extLst>
                <a:ext uri="{FF2B5EF4-FFF2-40B4-BE49-F238E27FC236}">
                  <a16:creationId xmlns:a16="http://schemas.microsoft.com/office/drawing/2014/main" id="{EAEBE79A-D5A9-18BB-EE8F-B6738336F7A0}"/>
                </a:ext>
              </a:extLst>
            </p:cNvPr>
            <p:cNvSpPr/>
            <p:nvPr/>
          </p:nvSpPr>
          <p:spPr>
            <a:xfrm>
              <a:off x="502920" y="5215355"/>
              <a:ext cx="4413600" cy="835200"/>
            </a:xfrm>
            <a:prstGeom prst="roundRect">
              <a:avLst>
                <a:gd name="adj" fmla="val 26667"/>
              </a:avLst>
            </a:pr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12">
              <a:extLst>
                <a:ext uri="{FF2B5EF4-FFF2-40B4-BE49-F238E27FC236}">
                  <a16:creationId xmlns:a16="http://schemas.microsoft.com/office/drawing/2014/main" id="{4B7FA3EB-CC21-BDAD-443B-290C536FF174}"/>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Trend Analysis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2113B6E8-E817-98CC-44A8-4E0AFCA6704B}"/>
              </a:ext>
            </a:extLst>
          </p:cNvPr>
          <p:cNvGrpSpPr/>
          <p:nvPr/>
        </p:nvGrpSpPr>
        <p:grpSpPr>
          <a:xfrm>
            <a:off x="7660256" y="4137851"/>
            <a:ext cx="3055189" cy="396000"/>
            <a:chOff x="502920" y="5215355"/>
            <a:chExt cx="4413600" cy="835200"/>
          </a:xfrm>
          <a:solidFill>
            <a:schemeClr val="accent2"/>
          </a:solidFill>
        </p:grpSpPr>
        <p:sp>
          <p:nvSpPr>
            <p:cNvPr id="38" name="Shape 11">
              <a:extLst>
                <a:ext uri="{FF2B5EF4-FFF2-40B4-BE49-F238E27FC236}">
                  <a16:creationId xmlns:a16="http://schemas.microsoft.com/office/drawing/2014/main" id="{F018BCBC-EF6B-6069-BD5D-E4B819C8F9E4}"/>
                </a:ext>
              </a:extLst>
            </p:cNvPr>
            <p:cNvSpPr/>
            <p:nvPr/>
          </p:nvSpPr>
          <p:spPr>
            <a:xfrm>
              <a:off x="502920" y="5215355"/>
              <a:ext cx="4413600" cy="835200"/>
            </a:xfrm>
            <a:prstGeom prst="roundRect">
              <a:avLst>
                <a:gd name="adj" fmla="val 26667"/>
              </a:avLst>
            </a:pr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12">
              <a:extLst>
                <a:ext uri="{FF2B5EF4-FFF2-40B4-BE49-F238E27FC236}">
                  <a16:creationId xmlns:a16="http://schemas.microsoft.com/office/drawing/2014/main" id="{DEFF8B38-490E-B498-F9C4-FF6EB741F783}"/>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Players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a16="http://schemas.microsoft.com/office/drawing/2014/main" id="{6C2DBD0C-5C23-3E60-F906-AD01C25EAAB1}"/>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white">
                    <a:alpha val="83000"/>
                  </a:prstClr>
                </a:solidFill>
                <a:effectLst/>
                <a:uLnTx/>
                <a:uFillTx/>
                <a:latin typeface="Calibri" panose="020F0502020204030204"/>
                <a:ea typeface="+mn-ea"/>
                <a:cs typeface="+mn-cs"/>
              </a:rPr>
              <a:t>SAMPLE</a:t>
            </a:r>
          </a:p>
        </p:txBody>
      </p:sp>
    </p:spTree>
    <p:extLst>
      <p:ext uri="{BB962C8B-B14F-4D97-AF65-F5344CB8AC3E}">
        <p14:creationId xmlns:p14="http://schemas.microsoft.com/office/powerpoint/2010/main" val="31669118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0554"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Asia Pacific Market Size &amp; Forecast, 2025 – 2036</a:t>
            </a:r>
            <a:endParaRPr lang="en-US" sz="2800" dirty="0"/>
          </a:p>
        </p:txBody>
      </p:sp>
      <p:sp>
        <p:nvSpPr>
          <p:cNvPr id="3" name="Text 1"/>
          <p:cNvSpPr/>
          <p:nvPr/>
        </p:nvSpPr>
        <p:spPr>
          <a:xfrm>
            <a:off x="580554"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USD Billion</a:t>
            </a:r>
            <a:endParaRPr lang="en-US" sz="1250" dirty="0"/>
          </a:p>
        </p:txBody>
      </p:sp>
      <p:graphicFrame>
        <p:nvGraphicFramePr>
          <p:cNvPr id="4" name="Chart 0"/>
          <p:cNvGraphicFramePr/>
          <p:nvPr/>
        </p:nvGraphicFramePr>
        <p:xfrm>
          <a:off x="502920" y="1417320"/>
          <a:ext cx="749808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75320" y="1417320"/>
            <a:ext cx="3266823" cy="2240280"/>
          </a:xfrm>
          <a:prstGeom prst="roundRect">
            <a:avLst>
              <a:gd name="adj" fmla="val 3265"/>
            </a:avLst>
          </a:prstGeom>
          <a:solidFill>
            <a:srgbClr val="0B4F4A"/>
          </a:solidFill>
          <a:ln/>
        </p:spPr>
        <p:txBody>
          <a:bodyPr/>
          <a:lstStyle/>
          <a:p>
            <a:endParaRPr lang="en-IN"/>
          </a:p>
        </p:txBody>
      </p:sp>
      <p:sp>
        <p:nvSpPr>
          <p:cNvPr id="6" name="Text 3"/>
          <p:cNvSpPr/>
          <p:nvPr/>
        </p:nvSpPr>
        <p:spPr>
          <a:xfrm>
            <a:off x="8458200" y="1463040"/>
            <a:ext cx="3017520" cy="1120140"/>
          </a:xfrm>
          <a:prstGeom prst="rect">
            <a:avLst/>
          </a:prstGeom>
          <a:noFill/>
          <a:ln/>
        </p:spPr>
        <p:txBody>
          <a:bodyPr wrap="square" rtlCol="0" anchor="ctr"/>
          <a:lstStyle/>
          <a:p>
            <a:pPr marL="0" indent="0">
              <a:buNone/>
            </a:pPr>
            <a:r>
              <a:rPr lang="en-US" sz="2200" b="1" dirty="0">
                <a:solidFill>
                  <a:srgbClr val="FF6B35"/>
                </a:solidFill>
                <a:latin typeface="Cambria" pitchFamily="34" charset="0"/>
                <a:ea typeface="Cambria" pitchFamily="34" charset="-122"/>
                <a:cs typeface="Cambria" pitchFamily="34" charset="-120"/>
              </a:rPr>
              <a:t>XX%</a:t>
            </a:r>
            <a:endParaRPr lang="en-US" sz="2200" dirty="0"/>
          </a:p>
        </p:txBody>
      </p:sp>
      <p:sp>
        <p:nvSpPr>
          <p:cNvPr id="7" name="Text 4"/>
          <p:cNvSpPr/>
          <p:nvPr/>
        </p:nvSpPr>
        <p:spPr>
          <a:xfrm>
            <a:off x="8458200" y="2582266"/>
            <a:ext cx="3017520" cy="1008126"/>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Regional CAGR — fastest-growing region</a:t>
            </a:r>
            <a:endParaRPr lang="en-US" sz="1050" dirty="0"/>
          </a:p>
        </p:txBody>
      </p:sp>
      <p:sp>
        <p:nvSpPr>
          <p:cNvPr id="8" name="Shape 5"/>
          <p:cNvSpPr/>
          <p:nvPr/>
        </p:nvSpPr>
        <p:spPr>
          <a:xfrm>
            <a:off x="8275320" y="3886200"/>
            <a:ext cx="3266823" cy="2240280"/>
          </a:xfrm>
          <a:prstGeom prst="roundRect">
            <a:avLst>
              <a:gd name="adj" fmla="val 3265"/>
            </a:avLst>
          </a:prstGeom>
          <a:solidFill>
            <a:srgbClr val="D8ECE4"/>
          </a:solidFill>
          <a:ln/>
        </p:spPr>
        <p:txBody>
          <a:bodyPr/>
          <a:lstStyle/>
          <a:p>
            <a:endParaRPr lang="en-IN"/>
          </a:p>
        </p:txBody>
      </p:sp>
      <p:sp>
        <p:nvSpPr>
          <p:cNvPr id="9" name="Text 6"/>
          <p:cNvSpPr/>
          <p:nvPr/>
        </p:nvSpPr>
        <p:spPr>
          <a:xfrm>
            <a:off x="8458200" y="3931920"/>
            <a:ext cx="3017520" cy="1120140"/>
          </a:xfrm>
          <a:prstGeom prst="rect">
            <a:avLst/>
          </a:prstGeom>
          <a:noFill/>
          <a:ln/>
        </p:spPr>
        <p:txBody>
          <a:bodyPr wrap="square" rtlCol="0" anchor="ctr"/>
          <a:lstStyle/>
          <a:p>
            <a:pPr marL="0" indent="0">
              <a:buNone/>
            </a:pPr>
            <a:r>
              <a:rPr lang="en-US" sz="2200" b="1" dirty="0">
                <a:solidFill>
                  <a:srgbClr val="0B4F4A"/>
                </a:solidFill>
                <a:latin typeface="Cambria" pitchFamily="34" charset="0"/>
                <a:ea typeface="Cambria" pitchFamily="34" charset="-122"/>
                <a:cs typeface="Cambria" pitchFamily="34" charset="-120"/>
              </a:rPr>
              <a:t>China</a:t>
            </a:r>
            <a:endParaRPr lang="en-US" sz="2200" dirty="0"/>
          </a:p>
        </p:txBody>
      </p:sp>
      <p:sp>
        <p:nvSpPr>
          <p:cNvPr id="10" name="Text 7"/>
          <p:cNvSpPr/>
          <p:nvPr/>
        </p:nvSpPr>
        <p:spPr>
          <a:xfrm>
            <a:off x="8458200" y="5051146"/>
            <a:ext cx="3017520" cy="1008126"/>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Largest country market in the region</a:t>
            </a:r>
            <a:endParaRPr lang="en-US" sz="1050" dirty="0"/>
          </a:p>
        </p:txBody>
      </p:sp>
      <p:sp>
        <p:nvSpPr>
          <p:cNvPr id="11" name="Text 8"/>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14" name="TextBox 13">
            <a:extLst>
              <a:ext uri="{FF2B5EF4-FFF2-40B4-BE49-F238E27FC236}">
                <a16:creationId xmlns:a16="http://schemas.microsoft.com/office/drawing/2014/main" id="{7E1646EB-EB3F-65E1-E81B-524B53DF7ECA}"/>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4676"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Asia Pacific Country-Level Breakdown</a:t>
            </a:r>
            <a:endParaRPr lang="en-US" sz="2800" dirty="0"/>
          </a:p>
        </p:txBody>
      </p:sp>
      <p:sp>
        <p:nvSpPr>
          <p:cNvPr id="3" name="Text 1"/>
          <p:cNvSpPr/>
          <p:nvPr/>
        </p:nvSpPr>
        <p:spPr>
          <a:xfrm>
            <a:off x="554676"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Market value (USD Billion), 2025 and 2036</a:t>
            </a:r>
            <a:endParaRPr lang="en-US" sz="1250" dirty="0"/>
          </a:p>
        </p:txBody>
      </p:sp>
      <p:graphicFrame>
        <p:nvGraphicFramePr>
          <p:cNvPr id="42" name="Table 0"/>
          <p:cNvGraphicFramePr>
            <a:graphicFrameLocks noGrp="1"/>
          </p:cNvGraphicFramePr>
          <p:nvPr>
            <p:extLst>
              <p:ext uri="{D42A27DB-BD31-4B8C-83A1-F6EECF244321}">
                <p14:modId xmlns:p14="http://schemas.microsoft.com/office/powerpoint/2010/main" val="4260844588"/>
              </p:ext>
            </p:extLst>
          </p:nvPr>
        </p:nvGraphicFramePr>
        <p:xfrm>
          <a:off x="612474" y="1371601"/>
          <a:ext cx="10946920" cy="4742553"/>
        </p:xfrm>
        <a:graphic>
          <a:graphicData uri="http://schemas.openxmlformats.org/drawingml/2006/table">
            <a:tbl>
              <a:tblPr/>
              <a:tblGrid>
                <a:gridCol w="2736730">
                  <a:extLst>
                    <a:ext uri="{9D8B030D-6E8A-4147-A177-3AD203B41FA5}">
                      <a16:colId xmlns:a16="http://schemas.microsoft.com/office/drawing/2014/main" val="20000"/>
                    </a:ext>
                  </a:extLst>
                </a:gridCol>
                <a:gridCol w="2736730">
                  <a:extLst>
                    <a:ext uri="{9D8B030D-6E8A-4147-A177-3AD203B41FA5}">
                      <a16:colId xmlns:a16="http://schemas.microsoft.com/office/drawing/2014/main" val="20001"/>
                    </a:ext>
                  </a:extLst>
                </a:gridCol>
                <a:gridCol w="2736730">
                  <a:extLst>
                    <a:ext uri="{9D8B030D-6E8A-4147-A177-3AD203B41FA5}">
                      <a16:colId xmlns:a16="http://schemas.microsoft.com/office/drawing/2014/main" val="20002"/>
                    </a:ext>
                  </a:extLst>
                </a:gridCol>
                <a:gridCol w="2736730">
                  <a:extLst>
                    <a:ext uri="{9D8B030D-6E8A-4147-A177-3AD203B41FA5}">
                      <a16:colId xmlns:a16="http://schemas.microsoft.com/office/drawing/2014/main" val="20003"/>
                    </a:ext>
                  </a:extLst>
                </a:gridCol>
              </a:tblGrid>
              <a:tr h="5040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2025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2036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CAGR</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China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India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Japan</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Indonesia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Australia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5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E2624"/>
                          </a:solidFill>
                          <a:latin typeface="Calibri" pitchFamily="34" charset="0"/>
                          <a:ea typeface="Calibri" pitchFamily="34" charset="-122"/>
                          <a:cs typeface="Calibri" pitchFamily="34" charset="-120"/>
                        </a:rPr>
                        <a:t>Malaysia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3022841562"/>
                  </a:ext>
                </a:extLst>
              </a:tr>
              <a:tr h="385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E2624"/>
                          </a:solidFill>
                          <a:latin typeface="Calibri" pitchFamily="34" charset="0"/>
                          <a:ea typeface="Calibri" pitchFamily="34" charset="-122"/>
                          <a:cs typeface="Calibri" pitchFamily="34" charset="-120"/>
                        </a:rPr>
                        <a:t>Singapore </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extLst>
                  <a:ext uri="{0D108BD9-81ED-4DB2-BD59-A6C34878D82A}">
                    <a16:rowId xmlns:a16="http://schemas.microsoft.com/office/drawing/2014/main" val="2095434409"/>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South Korea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703822046"/>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Philippines</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extLst>
                  <a:ext uri="{0D108BD9-81ED-4DB2-BD59-A6C34878D82A}">
                    <a16:rowId xmlns:a16="http://schemas.microsoft.com/office/drawing/2014/main" val="292812968"/>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Thailand</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2641991488"/>
                  </a:ext>
                </a:extLst>
              </a:tr>
              <a:tr h="38532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Rest of Asia Pacific</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5" name="Text 2"/>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7" name="TextBox 6">
            <a:extLst>
              <a:ext uri="{FF2B5EF4-FFF2-40B4-BE49-F238E27FC236}">
                <a16:creationId xmlns:a16="http://schemas.microsoft.com/office/drawing/2014/main" id="{4648DE9C-C0CD-A9C4-9C80-DD9E1C7C0679}"/>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BEA7764-54AC-F2FE-30F1-F11469F66B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66C95A-A7EA-9A81-3F62-B16E164179A7}"/>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Latin America Functional Beverage Market Overview</a:t>
            </a:r>
          </a:p>
        </p:txBody>
      </p:sp>
      <p:sp>
        <p:nvSpPr>
          <p:cNvPr id="3" name="Text 1">
            <a:extLst>
              <a:ext uri="{FF2B5EF4-FFF2-40B4-BE49-F238E27FC236}">
                <a16:creationId xmlns:a16="http://schemas.microsoft.com/office/drawing/2014/main" id="{C9516937-1848-E5B1-BFDF-D8B262DC2B69}"/>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Content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602B56AD-852F-8E95-FA89-7B5A1A52D895}"/>
              </a:ext>
            </a:extLst>
          </p:cNvPr>
          <p:cNvSpPr/>
          <p:nvPr/>
        </p:nvSpPr>
        <p:spPr>
          <a:xfrm>
            <a:off x="714546" y="1804329"/>
            <a:ext cx="678942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sp>
        <p:nvSpPr>
          <p:cNvPr id="5" name="Shape 3">
            <a:extLst>
              <a:ext uri="{FF2B5EF4-FFF2-40B4-BE49-F238E27FC236}">
                <a16:creationId xmlns:a16="http://schemas.microsoft.com/office/drawing/2014/main" id="{BBEEA95E-BAC0-BBAF-DE7F-4971D0714166}"/>
              </a:ext>
            </a:extLst>
          </p:cNvPr>
          <p:cNvSpPr/>
          <p:nvPr/>
        </p:nvSpPr>
        <p:spPr>
          <a:xfrm>
            <a:off x="7543800" y="1418339"/>
            <a:ext cx="4036398" cy="2259047"/>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86C42A1F-6281-DC18-7F97-2DC295451BEA}"/>
              </a:ext>
            </a:extLst>
          </p:cNvPr>
          <p:cNvSpPr/>
          <p:nvPr/>
        </p:nvSpPr>
        <p:spPr>
          <a:xfrm>
            <a:off x="7543800" y="4071668"/>
            <a:ext cx="4036398" cy="2035834"/>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3D086E47-99ED-B2A4-2F8B-C9E91D1A0515}"/>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A28F20D5-DA42-4178-199D-57F584DA97A9}"/>
              </a:ext>
            </a:extLst>
          </p:cNvPr>
          <p:cNvGrpSpPr/>
          <p:nvPr/>
        </p:nvGrpSpPr>
        <p:grpSpPr>
          <a:xfrm>
            <a:off x="731798" y="1444217"/>
            <a:ext cx="3055189" cy="396000"/>
            <a:chOff x="502920" y="5215355"/>
            <a:chExt cx="4413600" cy="835200"/>
          </a:xfrm>
        </p:grpSpPr>
        <p:sp>
          <p:nvSpPr>
            <p:cNvPr id="14" name="Shape 11">
              <a:extLst>
                <a:ext uri="{FF2B5EF4-FFF2-40B4-BE49-F238E27FC236}">
                  <a16:creationId xmlns:a16="http://schemas.microsoft.com/office/drawing/2014/main" id="{7C38CF10-7F22-7F01-EC92-CC708EDBDDFA}"/>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2">
              <a:extLst>
                <a:ext uri="{FF2B5EF4-FFF2-40B4-BE49-F238E27FC236}">
                  <a16:creationId xmlns:a16="http://schemas.microsoft.com/office/drawing/2014/main" id="{A6AF559A-439F-D820-2CC6-AC1CE9217C4D}"/>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Growth Statistics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Text 2">
            <a:extLst>
              <a:ext uri="{FF2B5EF4-FFF2-40B4-BE49-F238E27FC236}">
                <a16:creationId xmlns:a16="http://schemas.microsoft.com/office/drawing/2014/main" id="{5EB8416A-6600-3134-9637-533FFF66F914}"/>
              </a:ext>
            </a:extLst>
          </p:cNvPr>
          <p:cNvSpPr/>
          <p:nvPr/>
        </p:nvSpPr>
        <p:spPr>
          <a:xfrm>
            <a:off x="737406" y="3557177"/>
            <a:ext cx="6761716"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grpSp>
        <p:nvGrpSpPr>
          <p:cNvPr id="23" name="Group 22">
            <a:extLst>
              <a:ext uri="{FF2B5EF4-FFF2-40B4-BE49-F238E27FC236}">
                <a16:creationId xmlns:a16="http://schemas.microsoft.com/office/drawing/2014/main" id="{FC573A3C-4245-45B6-128A-B42F88E54CE0}"/>
              </a:ext>
            </a:extLst>
          </p:cNvPr>
          <p:cNvGrpSpPr/>
          <p:nvPr/>
        </p:nvGrpSpPr>
        <p:grpSpPr>
          <a:xfrm>
            <a:off x="754658" y="3153935"/>
            <a:ext cx="3055189" cy="396000"/>
            <a:chOff x="502920" y="5215355"/>
            <a:chExt cx="4413600" cy="835200"/>
          </a:xfrm>
        </p:grpSpPr>
        <p:sp>
          <p:nvSpPr>
            <p:cNvPr id="24" name="Shape 11">
              <a:extLst>
                <a:ext uri="{FF2B5EF4-FFF2-40B4-BE49-F238E27FC236}">
                  <a16:creationId xmlns:a16="http://schemas.microsoft.com/office/drawing/2014/main" id="{1130F9E9-6B4D-AEB1-CC47-ECF884E54551}"/>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12">
              <a:extLst>
                <a:ext uri="{FF2B5EF4-FFF2-40B4-BE49-F238E27FC236}">
                  <a16:creationId xmlns:a16="http://schemas.microsoft.com/office/drawing/2014/main" id="{BD5A0752-C791-3634-8CFC-3ABA49FE4C40}"/>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Growth Drivers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 name="Text 2">
            <a:extLst>
              <a:ext uri="{FF2B5EF4-FFF2-40B4-BE49-F238E27FC236}">
                <a16:creationId xmlns:a16="http://schemas.microsoft.com/office/drawing/2014/main" id="{62C81DAF-A59E-92E5-B884-EF656F80D99A}"/>
              </a:ext>
            </a:extLst>
          </p:cNvPr>
          <p:cNvSpPr/>
          <p:nvPr/>
        </p:nvSpPr>
        <p:spPr>
          <a:xfrm>
            <a:off x="714546" y="5159281"/>
            <a:ext cx="676656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grpSp>
        <p:nvGrpSpPr>
          <p:cNvPr id="27" name="Group 26">
            <a:extLst>
              <a:ext uri="{FF2B5EF4-FFF2-40B4-BE49-F238E27FC236}">
                <a16:creationId xmlns:a16="http://schemas.microsoft.com/office/drawing/2014/main" id="{C09261A1-0AB8-6D6F-F3A4-3F1084E03240}"/>
              </a:ext>
            </a:extLst>
          </p:cNvPr>
          <p:cNvGrpSpPr/>
          <p:nvPr/>
        </p:nvGrpSpPr>
        <p:grpSpPr>
          <a:xfrm>
            <a:off x="731798" y="4756039"/>
            <a:ext cx="3055189" cy="396000"/>
            <a:chOff x="502920" y="5215355"/>
            <a:chExt cx="4413600" cy="835200"/>
          </a:xfrm>
        </p:grpSpPr>
        <p:sp>
          <p:nvSpPr>
            <p:cNvPr id="28" name="Shape 11">
              <a:extLst>
                <a:ext uri="{FF2B5EF4-FFF2-40B4-BE49-F238E27FC236}">
                  <a16:creationId xmlns:a16="http://schemas.microsoft.com/office/drawing/2014/main" id="{85B64558-CAA1-5D9B-0E1D-0017EE2FC4C0}"/>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12">
              <a:extLst>
                <a:ext uri="{FF2B5EF4-FFF2-40B4-BE49-F238E27FC236}">
                  <a16:creationId xmlns:a16="http://schemas.microsoft.com/office/drawing/2014/main" id="{34218717-F084-7733-1E4D-B76B5DB63CB8}"/>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Challenges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Text 2">
            <a:extLst>
              <a:ext uri="{FF2B5EF4-FFF2-40B4-BE49-F238E27FC236}">
                <a16:creationId xmlns:a16="http://schemas.microsoft.com/office/drawing/2014/main" id="{E1723384-50C9-7A22-5D02-2616A2F3D044}"/>
              </a:ext>
            </a:extLst>
          </p:cNvPr>
          <p:cNvSpPr/>
          <p:nvPr/>
        </p:nvSpPr>
        <p:spPr>
          <a:xfrm>
            <a:off x="7565370" y="1913076"/>
            <a:ext cx="4070370"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sp>
        <p:nvSpPr>
          <p:cNvPr id="33" name="Text 2">
            <a:extLst>
              <a:ext uri="{FF2B5EF4-FFF2-40B4-BE49-F238E27FC236}">
                <a16:creationId xmlns:a16="http://schemas.microsoft.com/office/drawing/2014/main" id="{E0E41E97-DD50-41E4-BA8E-DB55B2A3309A}"/>
              </a:ext>
            </a:extLst>
          </p:cNvPr>
          <p:cNvSpPr/>
          <p:nvPr/>
        </p:nvSpPr>
        <p:spPr>
          <a:xfrm>
            <a:off x="7660255" y="4683381"/>
            <a:ext cx="3958231"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grpSp>
        <p:nvGrpSpPr>
          <p:cNvPr id="34" name="Group 33">
            <a:extLst>
              <a:ext uri="{FF2B5EF4-FFF2-40B4-BE49-F238E27FC236}">
                <a16:creationId xmlns:a16="http://schemas.microsoft.com/office/drawing/2014/main" id="{D777ACA0-A27D-954A-43DF-1E66702FF367}"/>
              </a:ext>
            </a:extLst>
          </p:cNvPr>
          <p:cNvGrpSpPr/>
          <p:nvPr/>
        </p:nvGrpSpPr>
        <p:grpSpPr>
          <a:xfrm>
            <a:off x="7660256" y="1497969"/>
            <a:ext cx="3055189" cy="396000"/>
            <a:chOff x="502920" y="5215355"/>
            <a:chExt cx="4413600" cy="835200"/>
          </a:xfrm>
          <a:solidFill>
            <a:schemeClr val="accent2"/>
          </a:solidFill>
        </p:grpSpPr>
        <p:sp>
          <p:nvSpPr>
            <p:cNvPr id="35" name="Shape 11">
              <a:extLst>
                <a:ext uri="{FF2B5EF4-FFF2-40B4-BE49-F238E27FC236}">
                  <a16:creationId xmlns:a16="http://schemas.microsoft.com/office/drawing/2014/main" id="{5ED4C4A6-B98C-B42B-EAA9-1A4C98DE6D95}"/>
                </a:ext>
              </a:extLst>
            </p:cNvPr>
            <p:cNvSpPr/>
            <p:nvPr/>
          </p:nvSpPr>
          <p:spPr>
            <a:xfrm>
              <a:off x="502920" y="5215355"/>
              <a:ext cx="4413600" cy="835200"/>
            </a:xfrm>
            <a:prstGeom prst="roundRect">
              <a:avLst>
                <a:gd name="adj" fmla="val 26667"/>
              </a:avLst>
            </a:pr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12">
              <a:extLst>
                <a:ext uri="{FF2B5EF4-FFF2-40B4-BE49-F238E27FC236}">
                  <a16:creationId xmlns:a16="http://schemas.microsoft.com/office/drawing/2014/main" id="{9AAC185E-035F-5248-7C8F-E455E79E6DF0}"/>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Trend Analysis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9436A34A-5EC6-8719-D278-AA580C9ED5BF}"/>
              </a:ext>
            </a:extLst>
          </p:cNvPr>
          <p:cNvGrpSpPr/>
          <p:nvPr/>
        </p:nvGrpSpPr>
        <p:grpSpPr>
          <a:xfrm>
            <a:off x="7660256" y="4206859"/>
            <a:ext cx="3055189" cy="396000"/>
            <a:chOff x="502920" y="5215355"/>
            <a:chExt cx="4413600" cy="835200"/>
          </a:xfrm>
          <a:solidFill>
            <a:schemeClr val="accent2"/>
          </a:solidFill>
        </p:grpSpPr>
        <p:sp>
          <p:nvSpPr>
            <p:cNvPr id="38" name="Shape 11">
              <a:extLst>
                <a:ext uri="{FF2B5EF4-FFF2-40B4-BE49-F238E27FC236}">
                  <a16:creationId xmlns:a16="http://schemas.microsoft.com/office/drawing/2014/main" id="{239AE32F-3E13-1B4F-1779-DD44E45DF509}"/>
                </a:ext>
              </a:extLst>
            </p:cNvPr>
            <p:cNvSpPr/>
            <p:nvPr/>
          </p:nvSpPr>
          <p:spPr>
            <a:xfrm>
              <a:off x="502920" y="5215355"/>
              <a:ext cx="4413600" cy="835200"/>
            </a:xfrm>
            <a:prstGeom prst="roundRect">
              <a:avLst>
                <a:gd name="adj" fmla="val 26667"/>
              </a:avLst>
            </a:pr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12">
              <a:extLst>
                <a:ext uri="{FF2B5EF4-FFF2-40B4-BE49-F238E27FC236}">
                  <a16:creationId xmlns:a16="http://schemas.microsoft.com/office/drawing/2014/main" id="{A82ED64C-1EDA-E2B4-4F0B-3701BB504B7D}"/>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Players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a16="http://schemas.microsoft.com/office/drawing/2014/main" id="{6F8238F1-6619-0116-E44B-F692034C0CBD}"/>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white">
                    <a:alpha val="83000"/>
                  </a:prstClr>
                </a:solidFill>
                <a:effectLst/>
                <a:uLnTx/>
                <a:uFillTx/>
                <a:latin typeface="Calibri" panose="020F0502020204030204"/>
                <a:ea typeface="+mn-ea"/>
                <a:cs typeface="+mn-cs"/>
              </a:rPr>
              <a:t>SAMPLE</a:t>
            </a:r>
          </a:p>
        </p:txBody>
      </p:sp>
    </p:spTree>
    <p:extLst>
      <p:ext uri="{BB962C8B-B14F-4D97-AF65-F5344CB8AC3E}">
        <p14:creationId xmlns:p14="http://schemas.microsoft.com/office/powerpoint/2010/main" val="755889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Latin America Market Size &amp; Forecast, 2025 – 2036</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USD Billion</a:t>
            </a:r>
            <a:endParaRPr lang="en-US" sz="1250" dirty="0"/>
          </a:p>
        </p:txBody>
      </p:sp>
      <p:graphicFrame>
        <p:nvGraphicFramePr>
          <p:cNvPr id="4" name="Chart 0"/>
          <p:cNvGraphicFramePr/>
          <p:nvPr/>
        </p:nvGraphicFramePr>
        <p:xfrm>
          <a:off x="502920" y="1417320"/>
          <a:ext cx="749808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75320" y="1417320"/>
            <a:ext cx="3318582" cy="2240280"/>
          </a:xfrm>
          <a:prstGeom prst="roundRect">
            <a:avLst>
              <a:gd name="adj" fmla="val 3265"/>
            </a:avLst>
          </a:prstGeom>
          <a:solidFill>
            <a:srgbClr val="0B4F4A"/>
          </a:solidFill>
          <a:ln/>
        </p:spPr>
        <p:txBody>
          <a:bodyPr/>
          <a:lstStyle/>
          <a:p>
            <a:endParaRPr lang="en-IN"/>
          </a:p>
        </p:txBody>
      </p:sp>
      <p:sp>
        <p:nvSpPr>
          <p:cNvPr id="6" name="Text 3"/>
          <p:cNvSpPr/>
          <p:nvPr/>
        </p:nvSpPr>
        <p:spPr>
          <a:xfrm>
            <a:off x="8458200" y="1463040"/>
            <a:ext cx="3017520" cy="1120140"/>
          </a:xfrm>
          <a:prstGeom prst="rect">
            <a:avLst/>
          </a:prstGeom>
          <a:noFill/>
          <a:ln/>
        </p:spPr>
        <p:txBody>
          <a:bodyPr wrap="square" rtlCol="0" anchor="ctr"/>
          <a:lstStyle/>
          <a:p>
            <a:pPr marL="0" indent="0">
              <a:buNone/>
            </a:pPr>
            <a:r>
              <a:rPr lang="en-US" sz="2200" b="1" dirty="0">
                <a:solidFill>
                  <a:srgbClr val="FF6B35"/>
                </a:solidFill>
                <a:latin typeface="Cambria" pitchFamily="34" charset="0"/>
                <a:ea typeface="Cambria" pitchFamily="34" charset="-122"/>
                <a:cs typeface="Cambria" pitchFamily="34" charset="-120"/>
              </a:rPr>
              <a:t>XX%</a:t>
            </a:r>
            <a:endParaRPr lang="en-US" sz="2200" dirty="0"/>
          </a:p>
        </p:txBody>
      </p:sp>
      <p:sp>
        <p:nvSpPr>
          <p:cNvPr id="7" name="Text 4"/>
          <p:cNvSpPr/>
          <p:nvPr/>
        </p:nvSpPr>
        <p:spPr>
          <a:xfrm>
            <a:off x="8458200" y="2582266"/>
            <a:ext cx="3017520" cy="1008126"/>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Regional CAGR, 2026–2036</a:t>
            </a:r>
            <a:endParaRPr lang="en-US" sz="1050" dirty="0"/>
          </a:p>
        </p:txBody>
      </p:sp>
      <p:sp>
        <p:nvSpPr>
          <p:cNvPr id="8" name="Shape 5"/>
          <p:cNvSpPr/>
          <p:nvPr/>
        </p:nvSpPr>
        <p:spPr>
          <a:xfrm>
            <a:off x="8275320" y="3886200"/>
            <a:ext cx="3318582" cy="2240280"/>
          </a:xfrm>
          <a:prstGeom prst="roundRect">
            <a:avLst>
              <a:gd name="adj" fmla="val 3265"/>
            </a:avLst>
          </a:prstGeom>
          <a:solidFill>
            <a:srgbClr val="D8ECE4"/>
          </a:solidFill>
          <a:ln/>
        </p:spPr>
        <p:txBody>
          <a:bodyPr/>
          <a:lstStyle/>
          <a:p>
            <a:endParaRPr lang="en-IN"/>
          </a:p>
        </p:txBody>
      </p:sp>
      <p:sp>
        <p:nvSpPr>
          <p:cNvPr id="9" name="Text 6"/>
          <p:cNvSpPr/>
          <p:nvPr/>
        </p:nvSpPr>
        <p:spPr>
          <a:xfrm>
            <a:off x="8458200" y="3931920"/>
            <a:ext cx="3017520" cy="1120140"/>
          </a:xfrm>
          <a:prstGeom prst="rect">
            <a:avLst/>
          </a:prstGeom>
          <a:noFill/>
          <a:ln/>
        </p:spPr>
        <p:txBody>
          <a:bodyPr wrap="square" rtlCol="0" anchor="ctr"/>
          <a:lstStyle/>
          <a:p>
            <a:pPr marL="0" indent="0">
              <a:buNone/>
            </a:pPr>
            <a:r>
              <a:rPr lang="en-US" sz="2200" b="1" dirty="0">
                <a:solidFill>
                  <a:srgbClr val="0B4F4A"/>
                </a:solidFill>
                <a:latin typeface="Cambria" pitchFamily="34" charset="0"/>
                <a:ea typeface="Cambria" pitchFamily="34" charset="-122"/>
                <a:cs typeface="Cambria" pitchFamily="34" charset="-120"/>
              </a:rPr>
              <a:t>Brazil</a:t>
            </a:r>
            <a:endParaRPr lang="en-US" sz="2200" dirty="0"/>
          </a:p>
        </p:txBody>
      </p:sp>
      <p:sp>
        <p:nvSpPr>
          <p:cNvPr id="10" name="Text 7"/>
          <p:cNvSpPr/>
          <p:nvPr/>
        </p:nvSpPr>
        <p:spPr>
          <a:xfrm>
            <a:off x="8458200" y="5051146"/>
            <a:ext cx="3017520" cy="1008126"/>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Largest country market in the region</a:t>
            </a:r>
            <a:endParaRPr lang="en-US" sz="1050" dirty="0"/>
          </a:p>
        </p:txBody>
      </p:sp>
      <p:sp>
        <p:nvSpPr>
          <p:cNvPr id="11" name="Text 8"/>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14" name="TextBox 13">
            <a:extLst>
              <a:ext uri="{FF2B5EF4-FFF2-40B4-BE49-F238E27FC236}">
                <a16:creationId xmlns:a16="http://schemas.microsoft.com/office/drawing/2014/main" id="{85B6FA6A-B545-1489-D303-42F759044C59}"/>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C99193-0160-C0B4-AF1C-9914AB80F4E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059EA8-1AFE-A6B4-9E23-FAEC0D547EFA}"/>
              </a:ext>
            </a:extLst>
          </p:cNvPr>
          <p:cNvSpPr/>
          <p:nvPr/>
        </p:nvSpPr>
        <p:spPr>
          <a:xfrm>
            <a:off x="512545"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Latin America Country-Level Breakdown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C02CD68-3EE1-270E-7A62-B68CA0D8153D}"/>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Market value (USD Billion), 2025 and 2036</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2" name="Table 0">
            <a:extLst>
              <a:ext uri="{FF2B5EF4-FFF2-40B4-BE49-F238E27FC236}">
                <a16:creationId xmlns:a16="http://schemas.microsoft.com/office/drawing/2014/main" id="{A0DA2723-EEE8-A9AB-A42C-FB7563B38F21}"/>
              </a:ext>
            </a:extLst>
          </p:cNvPr>
          <p:cNvGraphicFramePr>
            <a:graphicFrameLocks noGrp="1"/>
          </p:cNvGraphicFramePr>
          <p:nvPr>
            <p:extLst>
              <p:ext uri="{D42A27DB-BD31-4B8C-83A1-F6EECF244321}">
                <p14:modId xmlns:p14="http://schemas.microsoft.com/office/powerpoint/2010/main" val="3393755500"/>
              </p:ext>
            </p:extLst>
          </p:nvPr>
        </p:nvGraphicFramePr>
        <p:xfrm>
          <a:off x="646980" y="1371601"/>
          <a:ext cx="10895164" cy="4455531"/>
        </p:xfrm>
        <a:graphic>
          <a:graphicData uri="http://schemas.openxmlformats.org/drawingml/2006/table">
            <a:tbl>
              <a:tblPr/>
              <a:tblGrid>
                <a:gridCol w="2723791">
                  <a:extLst>
                    <a:ext uri="{9D8B030D-6E8A-4147-A177-3AD203B41FA5}">
                      <a16:colId xmlns:a16="http://schemas.microsoft.com/office/drawing/2014/main" val="20000"/>
                    </a:ext>
                  </a:extLst>
                </a:gridCol>
                <a:gridCol w="2723791">
                  <a:extLst>
                    <a:ext uri="{9D8B030D-6E8A-4147-A177-3AD203B41FA5}">
                      <a16:colId xmlns:a16="http://schemas.microsoft.com/office/drawing/2014/main" val="20001"/>
                    </a:ext>
                  </a:extLst>
                </a:gridCol>
                <a:gridCol w="2723791">
                  <a:extLst>
                    <a:ext uri="{9D8B030D-6E8A-4147-A177-3AD203B41FA5}">
                      <a16:colId xmlns:a16="http://schemas.microsoft.com/office/drawing/2014/main" val="20002"/>
                    </a:ext>
                  </a:extLst>
                </a:gridCol>
                <a:gridCol w="2723791">
                  <a:extLst>
                    <a:ext uri="{9D8B030D-6E8A-4147-A177-3AD203B41FA5}">
                      <a16:colId xmlns:a16="http://schemas.microsoft.com/office/drawing/2014/main" val="20003"/>
                    </a:ext>
                  </a:extLst>
                </a:gridCol>
              </a:tblGrid>
              <a:tr h="640079">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2025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2036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CAGR</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95386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Brazil</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5386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Mexico</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95386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Argentina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53863">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Rest of Latin America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bl>
          </a:graphicData>
        </a:graphic>
      </p:graphicFrame>
      <p:sp>
        <p:nvSpPr>
          <p:cNvPr id="5" name="Text 2">
            <a:extLst>
              <a:ext uri="{FF2B5EF4-FFF2-40B4-BE49-F238E27FC236}">
                <a16:creationId xmlns:a16="http://schemas.microsoft.com/office/drawing/2014/main" id="{39A7922A-6060-6032-4D10-01785EB512EB}"/>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4758FD06-0E1F-A5A2-93B0-9CDE5CAD0555}"/>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extLst>
      <p:ext uri="{BB962C8B-B14F-4D97-AF65-F5344CB8AC3E}">
        <p14:creationId xmlns:p14="http://schemas.microsoft.com/office/powerpoint/2010/main" val="23395583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C813AF9-9838-7C41-B85C-62F25CC1CE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9909B26-1C42-74E9-7845-9349C0611EB4}"/>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Middle East &amp; Africa Functional Beverage Market Overview</a:t>
            </a:r>
          </a:p>
        </p:txBody>
      </p:sp>
      <p:sp>
        <p:nvSpPr>
          <p:cNvPr id="3" name="Text 1">
            <a:extLst>
              <a:ext uri="{FF2B5EF4-FFF2-40B4-BE49-F238E27FC236}">
                <a16:creationId xmlns:a16="http://schemas.microsoft.com/office/drawing/2014/main" id="{FB403E1B-33E9-C277-BE87-25CF6DD94F37}"/>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Content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A9336B7C-5C9F-5536-14BA-E98A74BF10D2}"/>
              </a:ext>
            </a:extLst>
          </p:cNvPr>
          <p:cNvSpPr/>
          <p:nvPr/>
        </p:nvSpPr>
        <p:spPr>
          <a:xfrm>
            <a:off x="619662" y="1752573"/>
            <a:ext cx="678942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sp>
        <p:nvSpPr>
          <p:cNvPr id="5" name="Shape 3">
            <a:extLst>
              <a:ext uri="{FF2B5EF4-FFF2-40B4-BE49-F238E27FC236}">
                <a16:creationId xmlns:a16="http://schemas.microsoft.com/office/drawing/2014/main" id="{5A8EC655-9BE1-DA4A-AE93-9329D4A72511}"/>
              </a:ext>
            </a:extLst>
          </p:cNvPr>
          <p:cNvSpPr/>
          <p:nvPr/>
        </p:nvSpPr>
        <p:spPr>
          <a:xfrm>
            <a:off x="7440288" y="1401087"/>
            <a:ext cx="4114800" cy="2192047"/>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2943DE36-035E-52DB-3ACB-BFA3344A7480}"/>
              </a:ext>
            </a:extLst>
          </p:cNvPr>
          <p:cNvSpPr/>
          <p:nvPr/>
        </p:nvSpPr>
        <p:spPr>
          <a:xfrm>
            <a:off x="7440288" y="4183806"/>
            <a:ext cx="4114800" cy="1975454"/>
          </a:xfrm>
          <a:prstGeom prst="roundRect">
            <a:avLst>
              <a:gd name="adj" fmla="val 2991"/>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DD78C07F-9159-453F-8936-EFBA36ACF52E}"/>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79DE3A0D-D731-39A9-2904-71B1E3C78F57}"/>
              </a:ext>
            </a:extLst>
          </p:cNvPr>
          <p:cNvGrpSpPr/>
          <p:nvPr/>
        </p:nvGrpSpPr>
        <p:grpSpPr>
          <a:xfrm>
            <a:off x="636914" y="1392461"/>
            <a:ext cx="3055189" cy="396000"/>
            <a:chOff x="502920" y="5215355"/>
            <a:chExt cx="4413600" cy="835200"/>
          </a:xfrm>
        </p:grpSpPr>
        <p:sp>
          <p:nvSpPr>
            <p:cNvPr id="14" name="Shape 11">
              <a:extLst>
                <a:ext uri="{FF2B5EF4-FFF2-40B4-BE49-F238E27FC236}">
                  <a16:creationId xmlns:a16="http://schemas.microsoft.com/office/drawing/2014/main" id="{2422517F-9F38-3711-82ED-32772A1D0D4F}"/>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2">
              <a:extLst>
                <a:ext uri="{FF2B5EF4-FFF2-40B4-BE49-F238E27FC236}">
                  <a16:creationId xmlns:a16="http://schemas.microsoft.com/office/drawing/2014/main" id="{9483FA06-69F7-9FE5-58A5-D52E6FE43F09}"/>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Growth Statistics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Text 2">
            <a:extLst>
              <a:ext uri="{FF2B5EF4-FFF2-40B4-BE49-F238E27FC236}">
                <a16:creationId xmlns:a16="http://schemas.microsoft.com/office/drawing/2014/main" id="{67F99CCD-99F5-A945-5191-63C4829BC9CF}"/>
              </a:ext>
            </a:extLst>
          </p:cNvPr>
          <p:cNvSpPr/>
          <p:nvPr/>
        </p:nvSpPr>
        <p:spPr>
          <a:xfrm>
            <a:off x="642522" y="3505421"/>
            <a:ext cx="6761716"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grpSp>
        <p:nvGrpSpPr>
          <p:cNvPr id="23" name="Group 22">
            <a:extLst>
              <a:ext uri="{FF2B5EF4-FFF2-40B4-BE49-F238E27FC236}">
                <a16:creationId xmlns:a16="http://schemas.microsoft.com/office/drawing/2014/main" id="{7ABEFECB-F40D-8213-7813-E05A60726B0C}"/>
              </a:ext>
            </a:extLst>
          </p:cNvPr>
          <p:cNvGrpSpPr/>
          <p:nvPr/>
        </p:nvGrpSpPr>
        <p:grpSpPr>
          <a:xfrm>
            <a:off x="659774" y="3102179"/>
            <a:ext cx="3055189" cy="396000"/>
            <a:chOff x="502920" y="5215355"/>
            <a:chExt cx="4413600" cy="835200"/>
          </a:xfrm>
        </p:grpSpPr>
        <p:sp>
          <p:nvSpPr>
            <p:cNvPr id="24" name="Shape 11">
              <a:extLst>
                <a:ext uri="{FF2B5EF4-FFF2-40B4-BE49-F238E27FC236}">
                  <a16:creationId xmlns:a16="http://schemas.microsoft.com/office/drawing/2014/main" id="{90830012-E2E0-2A80-02FC-2ABFDBAD3D56}"/>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12">
              <a:extLst>
                <a:ext uri="{FF2B5EF4-FFF2-40B4-BE49-F238E27FC236}">
                  <a16:creationId xmlns:a16="http://schemas.microsoft.com/office/drawing/2014/main" id="{89107285-7906-DC1D-190B-F1B551348272}"/>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Growth Drivers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 name="Text 2">
            <a:extLst>
              <a:ext uri="{FF2B5EF4-FFF2-40B4-BE49-F238E27FC236}">
                <a16:creationId xmlns:a16="http://schemas.microsoft.com/office/drawing/2014/main" id="{E71B3523-0795-227A-9A98-943954B86655}"/>
              </a:ext>
            </a:extLst>
          </p:cNvPr>
          <p:cNvSpPr/>
          <p:nvPr/>
        </p:nvSpPr>
        <p:spPr>
          <a:xfrm>
            <a:off x="619662" y="5107525"/>
            <a:ext cx="6766560" cy="1281303"/>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endParaRPr>
          </a:p>
        </p:txBody>
      </p:sp>
      <p:grpSp>
        <p:nvGrpSpPr>
          <p:cNvPr id="27" name="Group 26">
            <a:extLst>
              <a:ext uri="{FF2B5EF4-FFF2-40B4-BE49-F238E27FC236}">
                <a16:creationId xmlns:a16="http://schemas.microsoft.com/office/drawing/2014/main" id="{EE435101-0624-1A03-8F14-E4565800329F}"/>
              </a:ext>
            </a:extLst>
          </p:cNvPr>
          <p:cNvGrpSpPr/>
          <p:nvPr/>
        </p:nvGrpSpPr>
        <p:grpSpPr>
          <a:xfrm>
            <a:off x="636914" y="4704283"/>
            <a:ext cx="3055189" cy="396000"/>
            <a:chOff x="502920" y="5215355"/>
            <a:chExt cx="4413600" cy="835200"/>
          </a:xfrm>
        </p:grpSpPr>
        <p:sp>
          <p:nvSpPr>
            <p:cNvPr id="28" name="Shape 11">
              <a:extLst>
                <a:ext uri="{FF2B5EF4-FFF2-40B4-BE49-F238E27FC236}">
                  <a16:creationId xmlns:a16="http://schemas.microsoft.com/office/drawing/2014/main" id="{240F014E-1938-8046-A89B-39F78ADD5030}"/>
                </a:ext>
              </a:extLst>
            </p:cNvPr>
            <p:cNvSpPr/>
            <p:nvPr/>
          </p:nvSpPr>
          <p:spPr>
            <a:xfrm>
              <a:off x="502920" y="5215355"/>
              <a:ext cx="4413600" cy="83520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12">
              <a:extLst>
                <a:ext uri="{FF2B5EF4-FFF2-40B4-BE49-F238E27FC236}">
                  <a16:creationId xmlns:a16="http://schemas.microsoft.com/office/drawing/2014/main" id="{9F9DA0DC-5D19-6AEB-F2D4-67E0E785BF98}"/>
                </a:ext>
              </a:extLst>
            </p:cNvPr>
            <p:cNvSpPr/>
            <p:nvPr/>
          </p:nvSpPr>
          <p:spPr>
            <a:xfrm>
              <a:off x="728390" y="5215355"/>
              <a:ext cx="3861900" cy="835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Challenges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Text 2">
            <a:extLst>
              <a:ext uri="{FF2B5EF4-FFF2-40B4-BE49-F238E27FC236}">
                <a16:creationId xmlns:a16="http://schemas.microsoft.com/office/drawing/2014/main" id="{79715893-E32A-5AE6-D4EA-F5ADD40CC704}"/>
              </a:ext>
            </a:extLst>
          </p:cNvPr>
          <p:cNvSpPr/>
          <p:nvPr/>
        </p:nvSpPr>
        <p:spPr>
          <a:xfrm>
            <a:off x="7461858" y="1895824"/>
            <a:ext cx="4070370"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sp>
        <p:nvSpPr>
          <p:cNvPr id="33" name="Text 2">
            <a:extLst>
              <a:ext uri="{FF2B5EF4-FFF2-40B4-BE49-F238E27FC236}">
                <a16:creationId xmlns:a16="http://schemas.microsoft.com/office/drawing/2014/main" id="{2B465D30-5AA9-CA23-F052-6414023AB2B6}"/>
              </a:ext>
            </a:extLst>
          </p:cNvPr>
          <p:cNvSpPr/>
          <p:nvPr/>
        </p:nvSpPr>
        <p:spPr>
          <a:xfrm>
            <a:off x="7556743" y="4795519"/>
            <a:ext cx="3958231" cy="1532916"/>
          </a:xfrm>
          <a:prstGeom prst="rect">
            <a:avLst/>
          </a:prstGeom>
          <a:noFill/>
          <a:ln/>
        </p:spPr>
        <p:txBody>
          <a:bodyPr wrap="square" rtlCol="0" anchor="t"/>
          <a:lstStyle/>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CONTENT</a:t>
            </a:r>
          </a:p>
          <a:p>
            <a:pPr marL="203200" marR="0" lvl="0" indent="-203200" algn="l" defTabSz="914400" rtl="0" eaLnBrk="1" fontAlgn="auto" latinLnBrk="0" hangingPunct="1">
              <a:lnSpc>
                <a:spcPct val="100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endParaRPr>
          </a:p>
        </p:txBody>
      </p:sp>
      <p:grpSp>
        <p:nvGrpSpPr>
          <p:cNvPr id="34" name="Group 33">
            <a:extLst>
              <a:ext uri="{FF2B5EF4-FFF2-40B4-BE49-F238E27FC236}">
                <a16:creationId xmlns:a16="http://schemas.microsoft.com/office/drawing/2014/main" id="{AC9C75D9-B1E8-EF84-6870-76E989F90F31}"/>
              </a:ext>
            </a:extLst>
          </p:cNvPr>
          <p:cNvGrpSpPr/>
          <p:nvPr/>
        </p:nvGrpSpPr>
        <p:grpSpPr>
          <a:xfrm>
            <a:off x="7556744" y="1480717"/>
            <a:ext cx="3055189" cy="396000"/>
            <a:chOff x="502920" y="5215355"/>
            <a:chExt cx="4413600" cy="835200"/>
          </a:xfrm>
          <a:solidFill>
            <a:schemeClr val="accent2"/>
          </a:solidFill>
        </p:grpSpPr>
        <p:sp>
          <p:nvSpPr>
            <p:cNvPr id="35" name="Shape 11">
              <a:extLst>
                <a:ext uri="{FF2B5EF4-FFF2-40B4-BE49-F238E27FC236}">
                  <a16:creationId xmlns:a16="http://schemas.microsoft.com/office/drawing/2014/main" id="{8C8D925B-E038-E2F1-BD31-868C7005B2F1}"/>
                </a:ext>
              </a:extLst>
            </p:cNvPr>
            <p:cNvSpPr/>
            <p:nvPr/>
          </p:nvSpPr>
          <p:spPr>
            <a:xfrm>
              <a:off x="502920" y="5215355"/>
              <a:ext cx="4413600" cy="835200"/>
            </a:xfrm>
            <a:prstGeom prst="roundRect">
              <a:avLst>
                <a:gd name="adj" fmla="val 26667"/>
              </a:avLst>
            </a:pr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12">
              <a:extLst>
                <a:ext uri="{FF2B5EF4-FFF2-40B4-BE49-F238E27FC236}">
                  <a16:creationId xmlns:a16="http://schemas.microsoft.com/office/drawing/2014/main" id="{330A999F-CFDF-C1AD-C8C2-8FE6599F9B35}"/>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Trend Analysis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2AA0B618-36CF-E0BB-C218-48FCB344434C}"/>
              </a:ext>
            </a:extLst>
          </p:cNvPr>
          <p:cNvGrpSpPr/>
          <p:nvPr/>
        </p:nvGrpSpPr>
        <p:grpSpPr>
          <a:xfrm>
            <a:off x="7556744" y="4318997"/>
            <a:ext cx="3055189" cy="396000"/>
            <a:chOff x="502920" y="5215355"/>
            <a:chExt cx="4413600" cy="835200"/>
          </a:xfrm>
          <a:solidFill>
            <a:schemeClr val="accent2"/>
          </a:solidFill>
        </p:grpSpPr>
        <p:sp>
          <p:nvSpPr>
            <p:cNvPr id="38" name="Shape 11">
              <a:extLst>
                <a:ext uri="{FF2B5EF4-FFF2-40B4-BE49-F238E27FC236}">
                  <a16:creationId xmlns:a16="http://schemas.microsoft.com/office/drawing/2014/main" id="{4B705E47-91A6-EF83-A248-911D65E5CDF5}"/>
                </a:ext>
              </a:extLst>
            </p:cNvPr>
            <p:cNvSpPr/>
            <p:nvPr/>
          </p:nvSpPr>
          <p:spPr>
            <a:xfrm>
              <a:off x="502920" y="5215355"/>
              <a:ext cx="4413600" cy="835200"/>
            </a:xfrm>
            <a:prstGeom prst="roundRect">
              <a:avLst>
                <a:gd name="adj" fmla="val 26667"/>
              </a:avLst>
            </a:pr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12">
              <a:extLst>
                <a:ext uri="{FF2B5EF4-FFF2-40B4-BE49-F238E27FC236}">
                  <a16:creationId xmlns:a16="http://schemas.microsoft.com/office/drawing/2014/main" id="{A75F5C9B-631E-72BC-9F65-A83B316BBAC9}"/>
                </a:ext>
              </a:extLst>
            </p:cNvPr>
            <p:cNvSpPr/>
            <p:nvPr/>
          </p:nvSpPr>
          <p:spPr>
            <a:xfrm>
              <a:off x="728390" y="5215355"/>
              <a:ext cx="3861900" cy="835200"/>
            </a:xfrm>
            <a:prstGeom prst="rect">
              <a:avLst/>
            </a:prstGeom>
            <a:grp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Players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a16="http://schemas.microsoft.com/office/drawing/2014/main" id="{0AA58C21-B6BB-0512-813E-2B187F2C36D7}"/>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white">
                    <a:alpha val="83000"/>
                  </a:prstClr>
                </a:solidFill>
                <a:effectLst/>
                <a:uLnTx/>
                <a:uFillTx/>
                <a:latin typeface="Calibri" panose="020F0502020204030204"/>
                <a:ea typeface="+mn-ea"/>
                <a:cs typeface="+mn-cs"/>
              </a:rPr>
              <a:t>SAMPLE</a:t>
            </a:r>
          </a:p>
        </p:txBody>
      </p:sp>
    </p:spTree>
    <p:extLst>
      <p:ext uri="{BB962C8B-B14F-4D97-AF65-F5344CB8AC3E}">
        <p14:creationId xmlns:p14="http://schemas.microsoft.com/office/powerpoint/2010/main" val="40491636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Middle East &amp; Africa Market Size &amp; Forecast, 2025 – 2036</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USD Billion</a:t>
            </a:r>
            <a:endParaRPr lang="en-US" sz="1250" dirty="0"/>
          </a:p>
        </p:txBody>
      </p:sp>
      <p:graphicFrame>
        <p:nvGraphicFramePr>
          <p:cNvPr id="4" name="Chart 0"/>
          <p:cNvGraphicFramePr/>
          <p:nvPr/>
        </p:nvGraphicFramePr>
        <p:xfrm>
          <a:off x="502920" y="1417320"/>
          <a:ext cx="749808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75320" y="1417320"/>
            <a:ext cx="3292703" cy="2240280"/>
          </a:xfrm>
          <a:prstGeom prst="roundRect">
            <a:avLst>
              <a:gd name="adj" fmla="val 3265"/>
            </a:avLst>
          </a:prstGeom>
          <a:solidFill>
            <a:srgbClr val="0B4F4A"/>
          </a:solidFill>
          <a:ln/>
        </p:spPr>
        <p:txBody>
          <a:bodyPr/>
          <a:lstStyle/>
          <a:p>
            <a:endParaRPr lang="en-IN"/>
          </a:p>
        </p:txBody>
      </p:sp>
      <p:sp>
        <p:nvSpPr>
          <p:cNvPr id="6" name="Text 3"/>
          <p:cNvSpPr/>
          <p:nvPr/>
        </p:nvSpPr>
        <p:spPr>
          <a:xfrm>
            <a:off x="8458200" y="1463040"/>
            <a:ext cx="3017520" cy="1120140"/>
          </a:xfrm>
          <a:prstGeom prst="rect">
            <a:avLst/>
          </a:prstGeom>
          <a:noFill/>
          <a:ln/>
        </p:spPr>
        <p:txBody>
          <a:bodyPr wrap="square" rtlCol="0" anchor="ctr"/>
          <a:lstStyle/>
          <a:p>
            <a:pPr marL="0" indent="0">
              <a:buNone/>
            </a:pPr>
            <a:r>
              <a:rPr lang="en-US" sz="2200" b="1" dirty="0">
                <a:solidFill>
                  <a:srgbClr val="FF6B35"/>
                </a:solidFill>
                <a:latin typeface="Cambria" pitchFamily="34" charset="0"/>
                <a:ea typeface="Cambria" pitchFamily="34" charset="-122"/>
                <a:cs typeface="Cambria" pitchFamily="34" charset="-120"/>
              </a:rPr>
              <a:t>XX%</a:t>
            </a:r>
            <a:endParaRPr lang="en-US" sz="2200" dirty="0"/>
          </a:p>
        </p:txBody>
      </p:sp>
      <p:sp>
        <p:nvSpPr>
          <p:cNvPr id="7" name="Text 4"/>
          <p:cNvSpPr/>
          <p:nvPr/>
        </p:nvSpPr>
        <p:spPr>
          <a:xfrm>
            <a:off x="8458200" y="2582266"/>
            <a:ext cx="3017520" cy="1008126"/>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Regional CAGR, 2026–2036</a:t>
            </a:r>
            <a:endParaRPr lang="en-US" sz="1050" dirty="0"/>
          </a:p>
        </p:txBody>
      </p:sp>
      <p:sp>
        <p:nvSpPr>
          <p:cNvPr id="8" name="Shape 5"/>
          <p:cNvSpPr/>
          <p:nvPr/>
        </p:nvSpPr>
        <p:spPr>
          <a:xfrm>
            <a:off x="8275320" y="3886200"/>
            <a:ext cx="3292703" cy="2240280"/>
          </a:xfrm>
          <a:prstGeom prst="roundRect">
            <a:avLst>
              <a:gd name="adj" fmla="val 3265"/>
            </a:avLst>
          </a:prstGeom>
          <a:solidFill>
            <a:srgbClr val="D8ECE4"/>
          </a:solidFill>
          <a:ln/>
        </p:spPr>
        <p:txBody>
          <a:bodyPr/>
          <a:lstStyle/>
          <a:p>
            <a:endParaRPr lang="en-IN"/>
          </a:p>
        </p:txBody>
      </p:sp>
      <p:sp>
        <p:nvSpPr>
          <p:cNvPr id="9" name="Text 6"/>
          <p:cNvSpPr/>
          <p:nvPr/>
        </p:nvSpPr>
        <p:spPr>
          <a:xfrm>
            <a:off x="8458200" y="3931920"/>
            <a:ext cx="3017520" cy="1120140"/>
          </a:xfrm>
          <a:prstGeom prst="rect">
            <a:avLst/>
          </a:prstGeom>
          <a:noFill/>
          <a:ln/>
        </p:spPr>
        <p:txBody>
          <a:bodyPr wrap="square" rtlCol="0" anchor="ctr"/>
          <a:lstStyle/>
          <a:p>
            <a:pPr marL="0" indent="0">
              <a:buNone/>
            </a:pPr>
            <a:r>
              <a:rPr lang="en-US" sz="2200" b="1" dirty="0">
                <a:solidFill>
                  <a:srgbClr val="0B4F4A"/>
                </a:solidFill>
                <a:latin typeface="Cambria" pitchFamily="34" charset="0"/>
                <a:ea typeface="Cambria" pitchFamily="34" charset="-122"/>
                <a:cs typeface="Cambria" pitchFamily="34" charset="-120"/>
              </a:rPr>
              <a:t>UAE &amp; KSA</a:t>
            </a:r>
            <a:endParaRPr lang="en-US" sz="2200" dirty="0"/>
          </a:p>
        </p:txBody>
      </p:sp>
      <p:sp>
        <p:nvSpPr>
          <p:cNvPr id="10" name="Text 7"/>
          <p:cNvSpPr/>
          <p:nvPr/>
        </p:nvSpPr>
        <p:spPr>
          <a:xfrm>
            <a:off x="8458200" y="5051146"/>
            <a:ext cx="3017520" cy="1008126"/>
          </a:xfrm>
          <a:prstGeom prst="rect">
            <a:avLst/>
          </a:prstGeom>
          <a:noFill/>
          <a:ln/>
        </p:spPr>
        <p:txBody>
          <a:bodyPr wrap="square" rtlCol="0" anchor="t"/>
          <a:lstStyle/>
          <a:p>
            <a:pPr marL="0" indent="0">
              <a:buNone/>
            </a:pPr>
            <a:r>
              <a:rPr lang="en-US" sz="1200" dirty="0">
                <a:solidFill>
                  <a:srgbClr val="1E2624"/>
                </a:solidFill>
                <a:latin typeface="Calibri" pitchFamily="34" charset="0"/>
                <a:ea typeface="Calibri" pitchFamily="34" charset="-122"/>
                <a:cs typeface="Calibri" pitchFamily="34" charset="-120"/>
              </a:rPr>
              <a:t>Leading markets in the region</a:t>
            </a:r>
            <a:endParaRPr lang="en-US" sz="1050" dirty="0"/>
          </a:p>
        </p:txBody>
      </p:sp>
      <p:sp>
        <p:nvSpPr>
          <p:cNvPr id="11" name="Text 8"/>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14" name="TextBox 13">
            <a:extLst>
              <a:ext uri="{FF2B5EF4-FFF2-40B4-BE49-F238E27FC236}">
                <a16:creationId xmlns:a16="http://schemas.microsoft.com/office/drawing/2014/main" id="{BC1F5557-EBED-A6D0-86F0-D14FE83D6C2B}"/>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64D381-B6C3-D653-7510-4282CC1240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5D37B95-04BE-2762-FCE6-D6F5E940B3ED}"/>
              </a:ext>
            </a:extLst>
          </p:cNvPr>
          <p:cNvSpPr/>
          <p:nvPr/>
        </p:nvSpPr>
        <p:spPr>
          <a:xfrm>
            <a:off x="502920" y="347472"/>
            <a:ext cx="1115568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Middle East &amp; Africa Country-Level Breakdown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27F9632-B078-CF87-3952-95C0E60AC7AA}"/>
              </a:ext>
            </a:extLst>
          </p:cNvPr>
          <p:cNvSpPr/>
          <p:nvPr/>
        </p:nvSpPr>
        <p:spPr>
          <a:xfrm>
            <a:off x="502920" y="914400"/>
            <a:ext cx="111556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Market value (USD Billion), 2025 and 2036</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2" name="Table 0">
            <a:extLst>
              <a:ext uri="{FF2B5EF4-FFF2-40B4-BE49-F238E27FC236}">
                <a16:creationId xmlns:a16="http://schemas.microsoft.com/office/drawing/2014/main" id="{DABB13A0-3F54-E19F-7604-1748CA078E50}"/>
              </a:ext>
            </a:extLst>
          </p:cNvPr>
          <p:cNvGraphicFramePr>
            <a:graphicFrameLocks noGrp="1"/>
          </p:cNvGraphicFramePr>
          <p:nvPr>
            <p:extLst>
              <p:ext uri="{D42A27DB-BD31-4B8C-83A1-F6EECF244321}">
                <p14:modId xmlns:p14="http://schemas.microsoft.com/office/powerpoint/2010/main" val="414946040"/>
              </p:ext>
            </p:extLst>
          </p:nvPr>
        </p:nvGraphicFramePr>
        <p:xfrm>
          <a:off x="681486" y="1371599"/>
          <a:ext cx="10826149" cy="4575937"/>
        </p:xfrm>
        <a:graphic>
          <a:graphicData uri="http://schemas.openxmlformats.org/drawingml/2006/table">
            <a:tbl>
              <a:tblPr/>
              <a:tblGrid>
                <a:gridCol w="2743665">
                  <a:extLst>
                    <a:ext uri="{9D8B030D-6E8A-4147-A177-3AD203B41FA5}">
                      <a16:colId xmlns:a16="http://schemas.microsoft.com/office/drawing/2014/main" val="20000"/>
                    </a:ext>
                  </a:extLst>
                </a:gridCol>
                <a:gridCol w="2743665">
                  <a:extLst>
                    <a:ext uri="{9D8B030D-6E8A-4147-A177-3AD203B41FA5}">
                      <a16:colId xmlns:a16="http://schemas.microsoft.com/office/drawing/2014/main" val="20001"/>
                    </a:ext>
                  </a:extLst>
                </a:gridCol>
                <a:gridCol w="2743665">
                  <a:extLst>
                    <a:ext uri="{9D8B030D-6E8A-4147-A177-3AD203B41FA5}">
                      <a16:colId xmlns:a16="http://schemas.microsoft.com/office/drawing/2014/main" val="20002"/>
                    </a:ext>
                  </a:extLst>
                </a:gridCol>
                <a:gridCol w="2595154">
                  <a:extLst>
                    <a:ext uri="{9D8B030D-6E8A-4147-A177-3AD203B41FA5}">
                      <a16:colId xmlns:a16="http://schemas.microsoft.com/office/drawing/2014/main" val="20003"/>
                    </a:ext>
                  </a:extLst>
                </a:gridCol>
              </a:tblGrid>
              <a:tr h="668957">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2025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2036 Value</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CAGR</a:t>
                      </a:r>
                      <a:endParaRPr lang="en-US" sz="1400" dirty="0">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0B4F4A"/>
                    </a:solidFill>
                  </a:tcPr>
                </a:tc>
                <a:extLst>
                  <a:ext uri="{0D108BD9-81ED-4DB2-BD59-A6C34878D82A}">
                    <a16:rowId xmlns:a16="http://schemas.microsoft.com/office/drawing/2014/main" val="10000"/>
                  </a:ext>
                </a:extLst>
              </a:tr>
              <a:tr h="976745">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GCC</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6745">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South Africa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2"/>
                  </a:ext>
                </a:extLst>
              </a:tr>
              <a:tr h="976745">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Israel</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76745">
                <a:tc>
                  <a:txBody>
                    <a:bodyPr/>
                    <a:lstStyle/>
                    <a:p>
                      <a:pPr marL="0" indent="0" algn="l">
                        <a:buNone/>
                      </a:pPr>
                      <a:r>
                        <a:rPr lang="en-US" sz="1200" dirty="0">
                          <a:solidFill>
                            <a:srgbClr val="1E2624"/>
                          </a:solidFill>
                          <a:latin typeface="Calibri" pitchFamily="34" charset="0"/>
                          <a:ea typeface="Calibri" pitchFamily="34" charset="-122"/>
                          <a:cs typeface="Calibri" pitchFamily="34" charset="-120"/>
                        </a:rPr>
                        <a:t>Rest of Middle East &amp; Africa</a:t>
                      </a: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XX</a:t>
                      </a:r>
                      <a:endParaRPr kumimoji="0" lang="en-US" sz="120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EAF5F1"/>
                    </a:solidFill>
                  </a:tcPr>
                </a:tc>
                <a:extLst>
                  <a:ext uri="{0D108BD9-81ED-4DB2-BD59-A6C34878D82A}">
                    <a16:rowId xmlns:a16="http://schemas.microsoft.com/office/drawing/2014/main" val="10004"/>
                  </a:ext>
                </a:extLst>
              </a:tr>
            </a:tbl>
          </a:graphicData>
        </a:graphic>
      </p:graphicFrame>
      <p:sp>
        <p:nvSpPr>
          <p:cNvPr id="5" name="Text 2">
            <a:extLst>
              <a:ext uri="{FF2B5EF4-FFF2-40B4-BE49-F238E27FC236}">
                <a16:creationId xmlns:a16="http://schemas.microsoft.com/office/drawing/2014/main" id="{36BE5087-B2A2-B822-DA3C-D9B159FD6FB9}"/>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73A2412-2396-2E27-E8EB-493BA38DD699}"/>
              </a:ext>
            </a:extLst>
          </p:cNvPr>
          <p:cNvSpPr txBox="1"/>
          <p:nvPr/>
        </p:nvSpPr>
        <p:spPr>
          <a:xfrm rot="20601650">
            <a:off x="3403798" y="3198377"/>
            <a:ext cx="4684143" cy="461665"/>
          </a:xfrm>
          <a:prstGeom prst="rect">
            <a:avLst/>
          </a:prstGeom>
          <a:gradFill flip="none" rotWithShape="1">
            <a:gsLst>
              <a:gs pos="0">
                <a:srgbClr val="0070C0">
                  <a:shade val="30000"/>
                  <a:satMod val="115000"/>
                  <a:lumMod val="39000"/>
                </a:srgbClr>
              </a:gs>
              <a:gs pos="50000">
                <a:srgbClr val="0070C0">
                  <a:shade val="67500"/>
                  <a:satMod val="115000"/>
                </a:srgbClr>
              </a:gs>
              <a:gs pos="100000">
                <a:srgbClr val="0070C0">
                  <a:shade val="100000"/>
                  <a:satMod val="115000"/>
                </a:srgbClr>
              </a:gs>
            </a:gsLst>
            <a:path path="circle">
              <a:fillToRect l="50000" t="50000" r="50000" b="50000"/>
            </a:path>
            <a:tileRect/>
          </a:gradFill>
        </p:spPr>
        <p:txBody>
          <a:bodyPr wrap="square" rtlCol="0">
            <a:spAutoFit/>
          </a:bodyPr>
          <a:lstStyle/>
          <a:p>
            <a:pPr algn="ctr"/>
            <a:r>
              <a:rPr lang="en-IN" sz="2400" b="1" dirty="0">
                <a:solidFill>
                  <a:schemeClr val="bg1">
                    <a:alpha val="83000"/>
                  </a:schemeClr>
                </a:solidFill>
              </a:rPr>
              <a:t>SAMPLE</a:t>
            </a:r>
          </a:p>
        </p:txBody>
      </p:sp>
    </p:spTree>
    <p:extLst>
      <p:ext uri="{BB962C8B-B14F-4D97-AF65-F5344CB8AC3E}">
        <p14:creationId xmlns:p14="http://schemas.microsoft.com/office/powerpoint/2010/main" val="24706007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44">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p:cNvSpPr/>
          <p:nvPr/>
        </p:nvSpPr>
        <p:spPr>
          <a:xfrm>
            <a:off x="-1645920" y="4846320"/>
            <a:ext cx="3840480" cy="3840480"/>
          </a:xfrm>
          <a:prstGeom prst="ellipse">
            <a:avLst/>
          </a:prstGeom>
          <a:solidFill>
            <a:srgbClr val="062E2A"/>
          </a:solidFill>
          <a:ln/>
        </p:spPr>
        <p:txBody>
          <a:bodyPr/>
          <a:lstStyle/>
          <a:p>
            <a:endParaRPr lang="en-IN"/>
          </a:p>
        </p:txBody>
      </p:sp>
      <p:sp>
        <p:nvSpPr>
          <p:cNvPr id="4" name="Text 2"/>
          <p:cNvSpPr/>
          <p:nvPr/>
        </p:nvSpPr>
        <p:spPr>
          <a:xfrm>
            <a:off x="822960" y="2331720"/>
            <a:ext cx="5486400" cy="457200"/>
          </a:xfrm>
          <a:prstGeom prst="rect">
            <a:avLst/>
          </a:prstGeom>
          <a:noFill/>
          <a:ln/>
        </p:spPr>
        <p:txBody>
          <a:bodyPr wrap="square" rtlCol="0" anchor="ctr"/>
          <a:lstStyle/>
          <a:p>
            <a:pPr marL="0" indent="0">
              <a:buNone/>
            </a:pPr>
            <a:r>
              <a:rPr lang="en-US" sz="1400" b="1" kern="0" spc="200" dirty="0">
                <a:solidFill>
                  <a:srgbClr val="FF6B35"/>
                </a:solidFill>
                <a:latin typeface="Calibri" pitchFamily="34" charset="0"/>
                <a:ea typeface="Calibri" pitchFamily="34" charset="-122"/>
                <a:cs typeface="Calibri" pitchFamily="34" charset="-120"/>
              </a:rPr>
              <a:t>PART 05</a:t>
            </a:r>
            <a:endParaRPr lang="en-US" sz="1500" dirty="0"/>
          </a:p>
        </p:txBody>
      </p:sp>
      <p:sp>
        <p:nvSpPr>
          <p:cNvPr id="5" name="Text 3"/>
          <p:cNvSpPr/>
          <p:nvPr/>
        </p:nvSpPr>
        <p:spPr>
          <a:xfrm>
            <a:off x="822960" y="2743200"/>
            <a:ext cx="9875520" cy="14630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Competitive Landscape</a:t>
            </a:r>
            <a:endParaRPr lang="en-US" sz="3400" dirty="0"/>
          </a:p>
        </p:txBody>
      </p:sp>
      <p:sp>
        <p:nvSpPr>
          <p:cNvPr id="6" name="Text 4"/>
          <p:cNvSpPr/>
          <p:nvPr/>
        </p:nvSpPr>
        <p:spPr>
          <a:xfrm>
            <a:off x="822960" y="4114800"/>
            <a:ext cx="8686800" cy="731520"/>
          </a:xfrm>
          <a:prstGeom prst="rect">
            <a:avLst/>
          </a:prstGeom>
          <a:noFill/>
          <a:ln/>
        </p:spPr>
        <p:txBody>
          <a:bodyPr wrap="square" rtlCol="0" anchor="ctr"/>
          <a:lstStyle/>
          <a:p>
            <a:pPr marL="0" indent="0">
              <a:buNone/>
            </a:pPr>
            <a:r>
              <a:rPr lang="en-US" sz="1200" i="1" dirty="0">
                <a:solidFill>
                  <a:srgbClr val="EAF5F1"/>
                </a:solidFill>
                <a:latin typeface="Calibri" pitchFamily="34" charset="0"/>
                <a:ea typeface="Calibri" pitchFamily="34" charset="-122"/>
                <a:cs typeface="Calibri" pitchFamily="34" charset="-120"/>
              </a:rPr>
              <a:t>Market share, leading players, positioning, and recent strategic developments</a:t>
            </a:r>
            <a:endParaRPr lang="en-US" sz="135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045"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Competitive Landscape Market Share, 2025</a:t>
            </a:r>
            <a:endParaRPr lang="en-US" sz="2800" dirty="0"/>
          </a:p>
        </p:txBody>
      </p:sp>
      <p:sp>
        <p:nvSpPr>
          <p:cNvPr id="3" name="Text 1"/>
          <p:cNvSpPr/>
          <p:nvPr/>
        </p:nvSpPr>
        <p:spPr>
          <a:xfrm>
            <a:off x="551045"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functional beverage market remains moderately fragmented, with leading global players driving innovation while regional brands collectively account for the majority of market revenue.</a:t>
            </a:r>
            <a:endParaRPr lang="en-US" sz="1250" dirty="0"/>
          </a:p>
        </p:txBody>
      </p:sp>
      <p:graphicFrame>
        <p:nvGraphicFramePr>
          <p:cNvPr id="4" name="Chart 0"/>
          <p:cNvGraphicFramePr/>
          <p:nvPr>
            <p:extLst>
              <p:ext uri="{D42A27DB-BD31-4B8C-83A1-F6EECF244321}">
                <p14:modId xmlns:p14="http://schemas.microsoft.com/office/powerpoint/2010/main" val="2938674454"/>
              </p:ext>
            </p:extLst>
          </p:nvPr>
        </p:nvGraphicFramePr>
        <p:xfrm>
          <a:off x="502920" y="1371600"/>
          <a:ext cx="57607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583680" y="1371600"/>
            <a:ext cx="4941211" cy="4754880"/>
          </a:xfrm>
          <a:prstGeom prst="roundRect">
            <a:avLst>
              <a:gd name="adj" fmla="val 1538"/>
            </a:avLst>
          </a:prstGeom>
          <a:solidFill>
            <a:srgbClr val="EAF5F1"/>
          </a:solidFill>
          <a:ln/>
        </p:spPr>
        <p:txBody>
          <a:bodyPr/>
          <a:lstStyle/>
          <a:p>
            <a:endParaRPr lang="en-IN"/>
          </a:p>
        </p:txBody>
      </p:sp>
      <p:sp>
        <p:nvSpPr>
          <p:cNvPr id="6" name="Text 3"/>
          <p:cNvSpPr/>
          <p:nvPr/>
        </p:nvSpPr>
        <p:spPr>
          <a:xfrm>
            <a:off x="6903720" y="1600200"/>
            <a:ext cx="4480560" cy="4297680"/>
          </a:xfrm>
          <a:prstGeom prst="rect">
            <a:avLst/>
          </a:prstGeom>
          <a:noFill/>
          <a:ln/>
        </p:spPr>
        <p:txBody>
          <a:bodyPr wrap="square" rtlCol="0" anchor="t"/>
          <a:lstStyle/>
          <a:p>
            <a:pPr marL="203200" indent="-203200">
              <a:spcAft>
                <a:spcPts val="1200"/>
              </a:spcAft>
              <a:buSzPct val="100000"/>
              <a:buChar char="●"/>
            </a:pPr>
            <a:r>
              <a:rPr lang="en-US" sz="1200" dirty="0">
                <a:solidFill>
                  <a:srgbClr val="1E2624"/>
                </a:solidFill>
                <a:latin typeface="Calibri"/>
                <a:ea typeface="Calibri" pitchFamily="34" charset="-122"/>
                <a:cs typeface="Calibri" pitchFamily="34" charset="-120"/>
              </a:rPr>
              <a:t>The market is moderately fragmented, with the Rest of Market accounting for 62%, highlighting the strong presence of regional and niche functional beverage manufacturers.</a:t>
            </a:r>
          </a:p>
          <a:p>
            <a:pPr marL="203200" indent="-203200">
              <a:spcAft>
                <a:spcPts val="1200"/>
              </a:spcAft>
              <a:buSzPct val="100000"/>
              <a:buChar char="●"/>
            </a:pPr>
            <a:r>
              <a:rPr lang="en-US" sz="1200" dirty="0">
                <a:solidFill>
                  <a:srgbClr val="1E2624"/>
                </a:solidFill>
                <a:latin typeface="Calibri"/>
                <a:ea typeface="Calibri" pitchFamily="34" charset="-122"/>
                <a:cs typeface="Calibri" pitchFamily="34" charset="-120"/>
              </a:rPr>
              <a:t>PepsiCo (11%) and Coca-Cola (9%) are the leading global players, leveraging extensive distribution networks, diversified product portfolios, and continuous product innovation.</a:t>
            </a:r>
          </a:p>
          <a:p>
            <a:pPr marL="203200" indent="-203200">
              <a:spcAft>
                <a:spcPts val="1200"/>
              </a:spcAft>
              <a:buSzPct val="100000"/>
              <a:buChar char="●"/>
            </a:pPr>
            <a:r>
              <a:rPr lang="en-US" sz="1200" dirty="0">
                <a:solidFill>
                  <a:srgbClr val="1E2624"/>
                </a:solidFill>
                <a:latin typeface="Calibri"/>
                <a:ea typeface="Calibri" pitchFamily="34" charset="-122"/>
                <a:cs typeface="Calibri" pitchFamily="34" charset="-120"/>
              </a:rPr>
              <a:t>Red Bull (8%), Danone (5%), and Nestlé (5%) maintain notable market positions through their focus on energy drinks, probiotic beverages, and health-oriented product offerings.</a:t>
            </a:r>
            <a:endParaRPr lang="en-US" sz="1200" dirty="0"/>
          </a:p>
        </p:txBody>
      </p:sp>
      <p:sp>
        <p:nvSpPr>
          <p:cNvPr id="7"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Key Players</a:t>
            </a:r>
            <a:endParaRPr lang="en-US" sz="2800" dirty="0"/>
          </a:p>
        </p:txBody>
      </p:sp>
      <p:sp>
        <p:nvSpPr>
          <p:cNvPr id="3" name="Text 1"/>
          <p:cNvSpPr/>
          <p:nvPr/>
        </p:nvSpPr>
        <p:spPr>
          <a:xfrm>
            <a:off x="50292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Leading global beverage majors active in functional beverages</a:t>
            </a:r>
            <a:endParaRPr lang="en-US" sz="1250" dirty="0"/>
          </a:p>
        </p:txBody>
      </p:sp>
      <p:sp>
        <p:nvSpPr>
          <p:cNvPr id="19" name="Text 17"/>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
        <p:nvSpPr>
          <p:cNvPr id="22" name="Shape 5">
            <a:extLst>
              <a:ext uri="{FF2B5EF4-FFF2-40B4-BE49-F238E27FC236}">
                <a16:creationId xmlns:a16="http://schemas.microsoft.com/office/drawing/2014/main" id="{AB4CD522-4C6E-A933-97EF-0C7408B233AC}"/>
              </a:ext>
            </a:extLst>
          </p:cNvPr>
          <p:cNvSpPr/>
          <p:nvPr/>
        </p:nvSpPr>
        <p:spPr>
          <a:xfrm>
            <a:off x="1285336" y="1370738"/>
            <a:ext cx="9635706" cy="4831654"/>
          </a:xfrm>
          <a:prstGeom prst="roundRect">
            <a:avLst>
              <a:gd name="adj" fmla="val 3137"/>
            </a:avLst>
          </a:prstGeom>
          <a:solidFill>
            <a:srgbClr val="EAF5F1"/>
          </a:solidFill>
          <a:ln/>
        </p:spPr>
        <p:txBody>
          <a:bodyPr/>
          <a:lstStyle/>
          <a:p>
            <a:pPr marL="3943350" lvl="8" indent="-285750" algn="just">
              <a:buFont typeface="Arial" panose="020B0604020202020204" pitchFamily="34" charset="0"/>
              <a:buChar char="•"/>
            </a:pPr>
            <a:endParaRPr lang="en-IN" sz="1200" b="1" dirty="0"/>
          </a:p>
          <a:p>
            <a:pPr marL="3943350" lvl="8" indent="-285750" algn="just">
              <a:buFont typeface="Arial" panose="020B0604020202020204" pitchFamily="34" charset="0"/>
              <a:buChar char="•"/>
            </a:pPr>
            <a:endParaRPr lang="en-IN" sz="1200" b="1" dirty="0"/>
          </a:p>
          <a:p>
            <a:pPr marL="3943350" lvl="8" indent="-285750" algn="just">
              <a:buFont typeface="Arial" panose="020B0604020202020204" pitchFamily="34" charset="0"/>
              <a:buChar char="•"/>
            </a:pPr>
            <a:endParaRPr lang="en-IN" sz="1200" b="1" dirty="0"/>
          </a:p>
          <a:p>
            <a:pPr marL="3943350" lvl="8" indent="-285750" algn="just">
              <a:buFont typeface="Arial" panose="020B0604020202020204" pitchFamily="34" charset="0"/>
              <a:buChar char="•"/>
            </a:pPr>
            <a:endParaRPr lang="en-IN" sz="1200" b="1" dirty="0"/>
          </a:p>
          <a:p>
            <a:pPr marL="3943350" lvl="8" indent="-285750" algn="just">
              <a:buFont typeface="Arial" panose="020B0604020202020204" pitchFamily="34" charset="0"/>
              <a:buChar char="•"/>
            </a:pPr>
            <a:endParaRPr lang="en-IN" sz="1200" b="1" dirty="0"/>
          </a:p>
          <a:p>
            <a:pPr marL="3943350" lvl="8" indent="-285750" algn="just">
              <a:buFont typeface="Arial" panose="020B0604020202020204" pitchFamily="34" charset="0"/>
              <a:buChar char="•"/>
            </a:pPr>
            <a:endParaRPr lang="en-IN" sz="1200" b="1" dirty="0"/>
          </a:p>
          <a:p>
            <a:pPr marL="3943350" lvl="8" indent="-285750" algn="just">
              <a:buFont typeface="Arial" panose="020B0604020202020204" pitchFamily="34" charset="0"/>
              <a:buChar char="•"/>
            </a:pPr>
            <a:r>
              <a:rPr lang="en-IN" sz="1200" b="1" dirty="0"/>
              <a:t>PepsiCo, Inc.</a:t>
            </a:r>
          </a:p>
          <a:p>
            <a:pPr marL="3943350" lvl="8" indent="-285750" algn="just">
              <a:buFont typeface="Arial" panose="020B0604020202020204" pitchFamily="34" charset="0"/>
              <a:buChar char="•"/>
            </a:pPr>
            <a:r>
              <a:rPr lang="en-IN" sz="1200" b="1" dirty="0"/>
              <a:t>The Coca-Cola Company</a:t>
            </a:r>
          </a:p>
          <a:p>
            <a:pPr marL="3943350" lvl="8" indent="-285750" algn="just">
              <a:buFont typeface="Arial" panose="020B0604020202020204" pitchFamily="34" charset="0"/>
              <a:buChar char="•"/>
            </a:pPr>
            <a:r>
              <a:rPr lang="en-IN" sz="1200" b="1" dirty="0"/>
              <a:t>Red Bull GmbH</a:t>
            </a:r>
          </a:p>
          <a:p>
            <a:pPr marL="3943350" lvl="8" indent="-285750" algn="just">
              <a:buFont typeface="Arial" panose="020B0604020202020204" pitchFamily="34" charset="0"/>
              <a:buChar char="•"/>
            </a:pPr>
            <a:r>
              <a:rPr lang="en-IN" sz="1200" b="1" dirty="0"/>
              <a:t>Danone S.A.</a:t>
            </a:r>
          </a:p>
          <a:p>
            <a:pPr marL="3943350" lvl="8" indent="-285750" algn="just">
              <a:buFont typeface="Arial" panose="020B0604020202020204" pitchFamily="34" charset="0"/>
              <a:buChar char="•"/>
            </a:pPr>
            <a:r>
              <a:rPr lang="en-IN" sz="1200" b="1" dirty="0"/>
              <a:t>Nestle S.A.</a:t>
            </a:r>
          </a:p>
          <a:p>
            <a:pPr marL="3943350" lvl="8" indent="-285750" algn="just">
              <a:buFont typeface="Arial" panose="020B0604020202020204" pitchFamily="34" charset="0"/>
              <a:buChar char="•"/>
            </a:pPr>
            <a:r>
              <a:rPr lang="en-IN" sz="1200" b="1" dirty="0"/>
              <a:t>Suntory Holdings</a:t>
            </a:r>
          </a:p>
          <a:p>
            <a:pPr marL="3943350" lvl="8" indent="-285750" algn="just">
              <a:buFont typeface="Arial" panose="020B0604020202020204" pitchFamily="34" charset="0"/>
              <a:buChar char="•"/>
            </a:pPr>
            <a:r>
              <a:rPr lang="en-IN" sz="1200" b="1" dirty="0"/>
              <a:t>Monster Beverage Corp.</a:t>
            </a:r>
          </a:p>
          <a:p>
            <a:pPr marL="3943350" lvl="8" indent="-285750" algn="just">
              <a:buFont typeface="Arial" panose="020B0604020202020204" pitchFamily="34" charset="0"/>
              <a:buChar char="•"/>
            </a:pPr>
            <a:r>
              <a:rPr lang="en-IN" sz="1200" b="1" dirty="0"/>
              <a:t>Celsius Holdings, Inc.</a:t>
            </a:r>
          </a:p>
          <a:p>
            <a:pPr marL="3943350" lvl="8" indent="-285750" algn="just">
              <a:buFont typeface="Arial" panose="020B0604020202020204" pitchFamily="34" charset="0"/>
              <a:buChar char="•"/>
            </a:pPr>
            <a:r>
              <a:rPr lang="en-IN" sz="1200" b="1" dirty="0"/>
              <a:t>GT's Living Foods</a:t>
            </a:r>
          </a:p>
          <a:p>
            <a:pPr marL="3943350" lvl="8" indent="-285750" algn="just">
              <a:buFont typeface="Arial" panose="020B0604020202020204" pitchFamily="34" charset="0"/>
              <a:buChar char="•"/>
            </a:pPr>
            <a:r>
              <a:rPr lang="en-IN" sz="1200" b="1" dirty="0"/>
              <a:t>Others</a:t>
            </a:r>
          </a:p>
        </p:txBody>
      </p:sp>
      <p:pic>
        <p:nvPicPr>
          <p:cNvPr id="5" name="Picture 4">
            <a:extLst>
              <a:ext uri="{FF2B5EF4-FFF2-40B4-BE49-F238E27FC236}">
                <a16:creationId xmlns:a16="http://schemas.microsoft.com/office/drawing/2014/main" id="{46536831-212A-4967-E14A-FFBFB9A60C2A}"/>
              </a:ext>
            </a:extLst>
          </p:cNvPr>
          <p:cNvPicPr>
            <a:picLocks noChangeAspect="1"/>
          </p:cNvPicPr>
          <p:nvPr/>
        </p:nvPicPr>
        <p:blipFill>
          <a:blip r:embed="rId3"/>
          <a:srcRect l="8407" r="8460"/>
          <a:stretch>
            <a:fillRect/>
          </a:stretch>
        </p:blipFill>
        <p:spPr>
          <a:xfrm>
            <a:off x="1325566" y="1370738"/>
            <a:ext cx="1771558" cy="1198687"/>
          </a:xfrm>
          <a:prstGeom prst="rect">
            <a:avLst/>
          </a:prstGeom>
        </p:spPr>
      </p:pic>
      <p:pic>
        <p:nvPicPr>
          <p:cNvPr id="13" name="Picture 12">
            <a:extLst>
              <a:ext uri="{FF2B5EF4-FFF2-40B4-BE49-F238E27FC236}">
                <a16:creationId xmlns:a16="http://schemas.microsoft.com/office/drawing/2014/main" id="{7C08C5EB-DF78-DE5D-C31E-EC4589895D8B}"/>
              </a:ext>
            </a:extLst>
          </p:cNvPr>
          <p:cNvPicPr>
            <a:picLocks noChangeAspect="1"/>
          </p:cNvPicPr>
          <p:nvPr/>
        </p:nvPicPr>
        <p:blipFill>
          <a:blip r:embed="rId4"/>
          <a:srcRect t="16732" b="16732"/>
          <a:stretch/>
        </p:blipFill>
        <p:spPr>
          <a:xfrm>
            <a:off x="1331320" y="4946697"/>
            <a:ext cx="1771558" cy="1198687"/>
          </a:xfrm>
          <a:prstGeom prst="rect">
            <a:avLst/>
          </a:prstGeom>
        </p:spPr>
      </p:pic>
      <p:pic>
        <p:nvPicPr>
          <p:cNvPr id="17" name="Graphic 16">
            <a:extLst>
              <a:ext uri="{FF2B5EF4-FFF2-40B4-BE49-F238E27FC236}">
                <a16:creationId xmlns:a16="http://schemas.microsoft.com/office/drawing/2014/main" id="{C9691EA5-B77C-A7A7-A969-3102073A54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26373" y="3091519"/>
            <a:ext cx="2055988" cy="1142889"/>
          </a:xfrm>
          <a:prstGeom prst="rect">
            <a:avLst/>
          </a:prstGeom>
        </p:spPr>
      </p:pic>
      <p:pic>
        <p:nvPicPr>
          <p:cNvPr id="20" name="Picture 19">
            <a:extLst>
              <a:ext uri="{FF2B5EF4-FFF2-40B4-BE49-F238E27FC236}">
                <a16:creationId xmlns:a16="http://schemas.microsoft.com/office/drawing/2014/main" id="{255382B6-544F-684C-1234-E145651B8F9A}"/>
              </a:ext>
            </a:extLst>
          </p:cNvPr>
          <p:cNvPicPr>
            <a:picLocks noChangeAspect="1"/>
          </p:cNvPicPr>
          <p:nvPr/>
        </p:nvPicPr>
        <p:blipFill>
          <a:blip r:embed="rId6"/>
          <a:srcRect l="10565" r="9884"/>
          <a:stretch>
            <a:fillRect/>
          </a:stretch>
        </p:blipFill>
        <p:spPr>
          <a:xfrm>
            <a:off x="8134711" y="2772144"/>
            <a:ext cx="2800684" cy="965420"/>
          </a:xfrm>
          <a:prstGeom prst="rect">
            <a:avLst/>
          </a:prstGeom>
        </p:spPr>
      </p:pic>
      <p:pic>
        <p:nvPicPr>
          <p:cNvPr id="23" name="Graphic 22">
            <a:extLst>
              <a:ext uri="{FF2B5EF4-FFF2-40B4-BE49-F238E27FC236}">
                <a16:creationId xmlns:a16="http://schemas.microsoft.com/office/drawing/2014/main" id="{8089FEE4-7DFC-6C96-7947-EDF1FB25FB9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91469" y="4106174"/>
            <a:ext cx="2318650" cy="723184"/>
          </a:xfrm>
          <a:prstGeom prst="rect">
            <a:avLst/>
          </a:prstGeom>
        </p:spPr>
      </p:pic>
      <p:pic>
        <p:nvPicPr>
          <p:cNvPr id="27" name="Picture 26">
            <a:extLst>
              <a:ext uri="{FF2B5EF4-FFF2-40B4-BE49-F238E27FC236}">
                <a16:creationId xmlns:a16="http://schemas.microsoft.com/office/drawing/2014/main" id="{FB6408B7-E9F4-BD98-1E73-53FB326878A2}"/>
              </a:ext>
            </a:extLst>
          </p:cNvPr>
          <p:cNvPicPr>
            <a:picLocks noChangeAspect="1"/>
          </p:cNvPicPr>
          <p:nvPr/>
        </p:nvPicPr>
        <p:blipFill>
          <a:blip r:embed="rId8"/>
          <a:stretch>
            <a:fillRect/>
          </a:stretch>
        </p:blipFill>
        <p:spPr>
          <a:xfrm>
            <a:off x="4531722" y="1424314"/>
            <a:ext cx="2717341" cy="900000"/>
          </a:xfrm>
          <a:prstGeom prst="rect">
            <a:avLst/>
          </a:prstGeom>
        </p:spPr>
      </p:pic>
      <p:pic>
        <p:nvPicPr>
          <p:cNvPr id="29" name="Picture 28">
            <a:extLst>
              <a:ext uri="{FF2B5EF4-FFF2-40B4-BE49-F238E27FC236}">
                <a16:creationId xmlns:a16="http://schemas.microsoft.com/office/drawing/2014/main" id="{14775652-90ED-489C-43AC-0BC4A7D1F591}"/>
              </a:ext>
            </a:extLst>
          </p:cNvPr>
          <p:cNvPicPr>
            <a:picLocks noChangeAspect="1"/>
          </p:cNvPicPr>
          <p:nvPr/>
        </p:nvPicPr>
        <p:blipFill>
          <a:blip r:embed="rId9"/>
          <a:stretch>
            <a:fillRect/>
          </a:stretch>
        </p:blipFill>
        <p:spPr>
          <a:xfrm>
            <a:off x="5229433" y="4606506"/>
            <a:ext cx="1674287" cy="1538878"/>
          </a:xfrm>
          <a:prstGeom prst="rect">
            <a:avLst/>
          </a:prstGeom>
        </p:spPr>
      </p:pic>
      <p:pic>
        <p:nvPicPr>
          <p:cNvPr id="31" name="Graphic 30">
            <a:extLst>
              <a:ext uri="{FF2B5EF4-FFF2-40B4-BE49-F238E27FC236}">
                <a16:creationId xmlns:a16="http://schemas.microsoft.com/office/drawing/2014/main" id="{4E4A0D34-EF16-9BFF-BA0A-11F471185BB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84581" y="1496148"/>
            <a:ext cx="2425538" cy="388086"/>
          </a:xfrm>
          <a:prstGeom prst="rect">
            <a:avLst/>
          </a:prstGeom>
        </p:spPr>
      </p:pic>
      <p:pic>
        <p:nvPicPr>
          <p:cNvPr id="33" name="Graphic 32">
            <a:extLst>
              <a:ext uri="{FF2B5EF4-FFF2-40B4-BE49-F238E27FC236}">
                <a16:creationId xmlns:a16="http://schemas.microsoft.com/office/drawing/2014/main" id="{C026818C-BA25-F685-2773-70C19B4805F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212348" y="5182176"/>
            <a:ext cx="2659811" cy="761424"/>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EA2B-9F05-C8C3-3CF1-C10F315D80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AA654B-4787-C777-09E4-9F6B93BBA355}"/>
              </a:ext>
            </a:extLst>
          </p:cNvPr>
          <p:cNvSpPr/>
          <p:nvPr/>
        </p:nvSpPr>
        <p:spPr>
          <a:xfrm>
            <a:off x="623684" y="456380"/>
            <a:ext cx="7772400" cy="438912"/>
          </a:xfrm>
          <a:prstGeom prst="rect">
            <a:avLst/>
          </a:prstGeom>
          <a:noFill/>
          <a:ln/>
        </p:spPr>
        <p:txBody>
          <a:bodyPr wrap="square" lIns="0" tIns="0" rIns="0" bIns="0" rtlCol="0" anchor="ctr"/>
          <a:lstStyle/>
          <a:p>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Company Profile - </a:t>
            </a:r>
            <a:r>
              <a:rPr lang="en-US" sz="2800" b="1" dirty="0">
                <a:solidFill>
                  <a:srgbClr val="0B4F4A"/>
                </a:solidFill>
                <a:latin typeface="Cambria" pitchFamily="34" charset="0"/>
                <a:ea typeface="Cambria" pitchFamily="34" charset="-122"/>
              </a:rPr>
              <a:t>PepsiCo, Inc. (1/3)</a:t>
            </a:r>
          </a:p>
        </p:txBody>
      </p:sp>
      <p:sp>
        <p:nvSpPr>
          <p:cNvPr id="3" name="Text 1">
            <a:extLst>
              <a:ext uri="{FF2B5EF4-FFF2-40B4-BE49-F238E27FC236}">
                <a16:creationId xmlns:a16="http://schemas.microsoft.com/office/drawing/2014/main" id="{E97BE901-5D61-E7BD-972C-17B29771D118}"/>
              </a:ext>
            </a:extLst>
          </p:cNvPr>
          <p:cNvSpPr/>
          <p:nvPr/>
        </p:nvSpPr>
        <p:spPr>
          <a:xfrm>
            <a:off x="606432" y="925134"/>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PepsiCo continues to strengthen its leadership in functional beverages through innovation, diversified brands, and a globally integrated distribution network.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DFF23C4F-B89C-EBA9-AB64-769F461E9A64}"/>
              </a:ext>
            </a:extLst>
          </p:cNvPr>
          <p:cNvGrpSpPr/>
          <p:nvPr/>
        </p:nvGrpSpPr>
        <p:grpSpPr>
          <a:xfrm>
            <a:off x="606432" y="2691442"/>
            <a:ext cx="5382888" cy="3536097"/>
            <a:chOff x="502920" y="1387800"/>
            <a:chExt cx="5486400" cy="4532046"/>
          </a:xfrm>
        </p:grpSpPr>
        <p:sp>
          <p:nvSpPr>
            <p:cNvPr id="4" name="Shape 2">
              <a:extLst>
                <a:ext uri="{FF2B5EF4-FFF2-40B4-BE49-F238E27FC236}">
                  <a16:creationId xmlns:a16="http://schemas.microsoft.com/office/drawing/2014/main" id="{4AC21671-F1A2-ED74-5854-9F8568F254E7}"/>
                </a:ext>
              </a:extLst>
            </p:cNvPr>
            <p:cNvSpPr/>
            <p:nvPr/>
          </p:nvSpPr>
          <p:spPr>
            <a:xfrm>
              <a:off x="502920" y="1387800"/>
              <a:ext cx="5486400" cy="4532046"/>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DBFD538A-B1EB-54B2-EFEB-29ABF6A9C553}"/>
                </a:ext>
              </a:extLst>
            </p:cNvPr>
            <p:cNvSpPr/>
            <p:nvPr/>
          </p:nvSpPr>
          <p:spPr>
            <a:xfrm>
              <a:off x="502920" y="1387800"/>
              <a:ext cx="5486400" cy="411480"/>
            </a:xfrm>
            <a:prstGeom prst="roundRect">
              <a:avLst>
                <a:gd name="adj" fmla="val 2666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home/claude/icon_strengths.png">
              <a:extLst>
                <a:ext uri="{FF2B5EF4-FFF2-40B4-BE49-F238E27FC236}">
                  <a16:creationId xmlns:a16="http://schemas.microsoft.com/office/drawing/2014/main" id="{6E1D1DCA-BD1E-EE7A-5E82-8FC28E7C4276}"/>
                </a:ext>
              </a:extLst>
            </p:cNvPr>
            <p:cNvPicPr>
              <a:picLocks noChangeAspect="1"/>
            </p:cNvPicPr>
            <p:nvPr/>
          </p:nvPicPr>
          <p:blipFill>
            <a:blip r:embed="rId3"/>
            <a:stretch>
              <a:fillRect/>
            </a:stretch>
          </p:blipFill>
          <p:spPr>
            <a:xfrm>
              <a:off x="649224" y="1470096"/>
              <a:ext cx="246888" cy="246888"/>
            </a:xfrm>
            <a:prstGeom prst="rect">
              <a:avLst/>
            </a:prstGeom>
          </p:spPr>
        </p:pic>
        <p:sp>
          <p:nvSpPr>
            <p:cNvPr id="7" name="Text 4">
              <a:extLst>
                <a:ext uri="{FF2B5EF4-FFF2-40B4-BE49-F238E27FC236}">
                  <a16:creationId xmlns:a16="http://schemas.microsoft.com/office/drawing/2014/main" id="{678EA142-0AC8-AF8A-2C93-81B3C17DDCA9}"/>
                </a:ext>
              </a:extLst>
            </p:cNvPr>
            <p:cNvSpPr/>
            <p:nvPr/>
          </p:nvSpPr>
          <p:spPr>
            <a:xfrm>
              <a:off x="1033272" y="1387800"/>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COMPANY DETAILS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C7963547-106C-F7D4-3968-BCDF3F349B8C}"/>
                </a:ext>
              </a:extLst>
            </p:cNvPr>
            <p:cNvSpPr/>
            <p:nvPr/>
          </p:nvSpPr>
          <p:spPr>
            <a:xfrm>
              <a:off x="1203671" y="1962031"/>
              <a:ext cx="2769575" cy="411480"/>
            </a:xfrm>
            <a:prstGeom prst="rect">
              <a:avLst/>
            </a:prstGeom>
            <a:noFill/>
            <a:ln/>
          </p:spPr>
          <p:txBody>
            <a:bodyPr wrap="square" lIns="0" tIns="0" rIns="0" bIns="0" rtlCol="0" anchor="ctr"/>
            <a:lstStyle/>
            <a:p>
              <a:pPr>
                <a:lnSpc>
                  <a:spcPct val="102000"/>
                </a:lnSpc>
                <a:spcAft>
                  <a:spcPts val="600"/>
                </a:spcAft>
                <a:buSzPct val="100000"/>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Year Founded: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1965 </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9" name="Group 28">
            <a:extLst>
              <a:ext uri="{FF2B5EF4-FFF2-40B4-BE49-F238E27FC236}">
                <a16:creationId xmlns:a16="http://schemas.microsoft.com/office/drawing/2014/main" id="{5ACD9D89-1DD1-EE2B-6714-80556287940C}"/>
              </a:ext>
            </a:extLst>
          </p:cNvPr>
          <p:cNvGrpSpPr/>
          <p:nvPr/>
        </p:nvGrpSpPr>
        <p:grpSpPr>
          <a:xfrm>
            <a:off x="6096000" y="1387799"/>
            <a:ext cx="5486400" cy="2895187"/>
            <a:chOff x="6172200" y="1387799"/>
            <a:chExt cx="5486400" cy="2895187"/>
          </a:xfrm>
        </p:grpSpPr>
        <p:sp>
          <p:nvSpPr>
            <p:cNvPr id="9" name="Shape 6">
              <a:extLst>
                <a:ext uri="{FF2B5EF4-FFF2-40B4-BE49-F238E27FC236}">
                  <a16:creationId xmlns:a16="http://schemas.microsoft.com/office/drawing/2014/main" id="{FBB32B98-46D0-1A86-FD4A-0FFE4B795BFD}"/>
                </a:ext>
              </a:extLst>
            </p:cNvPr>
            <p:cNvSpPr/>
            <p:nvPr/>
          </p:nvSpPr>
          <p:spPr>
            <a:xfrm>
              <a:off x="6172200" y="1387799"/>
              <a:ext cx="5486400" cy="2895187"/>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a:extLst>
                <a:ext uri="{FF2B5EF4-FFF2-40B4-BE49-F238E27FC236}">
                  <a16:creationId xmlns:a16="http://schemas.microsoft.com/office/drawing/2014/main" id="{D4D7A4B6-7302-3DC2-B6FB-F0899FCD1D58}"/>
                </a:ext>
              </a:extLst>
            </p:cNvPr>
            <p:cNvSpPr/>
            <p:nvPr/>
          </p:nvSpPr>
          <p:spPr>
            <a:xfrm>
              <a:off x="6172200" y="1387800"/>
              <a:ext cx="5486400" cy="411480"/>
            </a:xfrm>
            <a:prstGeom prst="roundRect">
              <a:avLst>
                <a:gd name="adj" fmla="val 26667"/>
              </a:avLst>
            </a:prstGeom>
            <a:solidFill>
              <a:srgbClr val="FF6B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8">
              <a:extLst>
                <a:ext uri="{FF2B5EF4-FFF2-40B4-BE49-F238E27FC236}">
                  <a16:creationId xmlns:a16="http://schemas.microsoft.com/office/drawing/2014/main" id="{73CCEFC6-FDEA-E341-49D4-57BE9251CB2D}"/>
                </a:ext>
              </a:extLst>
            </p:cNvPr>
            <p:cNvSpPr/>
            <p:nvPr/>
          </p:nvSpPr>
          <p:spPr>
            <a:xfrm>
              <a:off x="6702552" y="1387800"/>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BUSINESS OVERVIEW</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a:extLst>
                <a:ext uri="{FF2B5EF4-FFF2-40B4-BE49-F238E27FC236}">
                  <a16:creationId xmlns:a16="http://schemas.microsoft.com/office/drawing/2014/main" id="{AF2CE084-41A4-FC46-A993-2BDAEAEE6719}"/>
                </a:ext>
              </a:extLst>
            </p:cNvPr>
            <p:cNvSpPr/>
            <p:nvPr/>
          </p:nvSpPr>
          <p:spPr>
            <a:xfrm>
              <a:off x="6409944" y="2002858"/>
              <a:ext cx="5010912" cy="2270596"/>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PepsiCo, Inc. is a global food and beverage company engaged in the manufacturing, marketing, and distribution of convenient foods and non-alcoholic beverages.</a:t>
              </a: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Its portfolio includes soft drinks, bottled water, sports and energy drinks, juices, cereals, snacks, and other food products marketed under brands such as Pepsi, Mountain Dew, Gatorade, Lay's, Frito-Lay, Quaker, Pepsi Max, and Yachak.</a:t>
              </a:r>
            </a:p>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The company serves consumers through an extensive global distribution network across multiple retail channels.</a:t>
              </a:r>
            </a:p>
          </p:txBody>
        </p:sp>
      </p:grpSp>
      <p:grpSp>
        <p:nvGrpSpPr>
          <p:cNvPr id="28" name="Group 27">
            <a:extLst>
              <a:ext uri="{FF2B5EF4-FFF2-40B4-BE49-F238E27FC236}">
                <a16:creationId xmlns:a16="http://schemas.microsoft.com/office/drawing/2014/main" id="{53CAC311-60CF-B731-919A-89ECEA46BDA8}"/>
              </a:ext>
            </a:extLst>
          </p:cNvPr>
          <p:cNvGrpSpPr/>
          <p:nvPr/>
        </p:nvGrpSpPr>
        <p:grpSpPr>
          <a:xfrm>
            <a:off x="6110106" y="4368762"/>
            <a:ext cx="5486400" cy="1870340"/>
            <a:chOff x="502920" y="3739378"/>
            <a:chExt cx="5486400" cy="1806920"/>
          </a:xfrm>
        </p:grpSpPr>
        <p:sp>
          <p:nvSpPr>
            <p:cNvPr id="14" name="Shape 10">
              <a:extLst>
                <a:ext uri="{FF2B5EF4-FFF2-40B4-BE49-F238E27FC236}">
                  <a16:creationId xmlns:a16="http://schemas.microsoft.com/office/drawing/2014/main" id="{39E19B8C-3679-C515-76C4-AF1C5325E636}"/>
                </a:ext>
              </a:extLst>
            </p:cNvPr>
            <p:cNvSpPr/>
            <p:nvPr/>
          </p:nvSpPr>
          <p:spPr>
            <a:xfrm>
              <a:off x="502920" y="3739378"/>
              <a:ext cx="5486400" cy="1806920"/>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a:extLst>
                <a:ext uri="{FF2B5EF4-FFF2-40B4-BE49-F238E27FC236}">
                  <a16:creationId xmlns:a16="http://schemas.microsoft.com/office/drawing/2014/main" id="{28CDE20B-BC0A-726C-58EF-480023E2B3BE}"/>
                </a:ext>
              </a:extLst>
            </p:cNvPr>
            <p:cNvSpPr/>
            <p:nvPr/>
          </p:nvSpPr>
          <p:spPr>
            <a:xfrm>
              <a:off x="502920" y="3739378"/>
              <a:ext cx="5486400" cy="411480"/>
            </a:xfrm>
            <a:prstGeom prst="roundRect">
              <a:avLst>
                <a:gd name="adj" fmla="val 26667"/>
              </a:avLst>
            </a:prstGeom>
            <a:solidFill>
              <a:srgbClr val="8BC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2" descr="/home/claude/icon_opportunities.png">
              <a:extLst>
                <a:ext uri="{FF2B5EF4-FFF2-40B4-BE49-F238E27FC236}">
                  <a16:creationId xmlns:a16="http://schemas.microsoft.com/office/drawing/2014/main" id="{225EEAA1-CE1A-97E1-7246-1513985BDB08}"/>
                </a:ext>
              </a:extLst>
            </p:cNvPr>
            <p:cNvPicPr>
              <a:picLocks noChangeAspect="1"/>
            </p:cNvPicPr>
            <p:nvPr/>
          </p:nvPicPr>
          <p:blipFill>
            <a:blip r:embed="rId4"/>
            <a:stretch>
              <a:fillRect/>
            </a:stretch>
          </p:blipFill>
          <p:spPr>
            <a:xfrm>
              <a:off x="649224" y="3821674"/>
              <a:ext cx="246888" cy="246888"/>
            </a:xfrm>
            <a:prstGeom prst="rect">
              <a:avLst/>
            </a:prstGeom>
          </p:spPr>
        </p:pic>
        <p:sp>
          <p:nvSpPr>
            <p:cNvPr id="17" name="Text 12">
              <a:extLst>
                <a:ext uri="{FF2B5EF4-FFF2-40B4-BE49-F238E27FC236}">
                  <a16:creationId xmlns:a16="http://schemas.microsoft.com/office/drawing/2014/main" id="{419D443F-3C5F-2BDC-71C4-481BD6699D59}"/>
                </a:ext>
              </a:extLst>
            </p:cNvPr>
            <p:cNvSpPr/>
            <p:nvPr/>
          </p:nvSpPr>
          <p:spPr>
            <a:xfrm>
              <a:off x="1033272" y="3739378"/>
              <a:ext cx="4800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BUSINESS STRATEGY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a:extLst>
                <a:ext uri="{FF2B5EF4-FFF2-40B4-BE49-F238E27FC236}">
                  <a16:creationId xmlns:a16="http://schemas.microsoft.com/office/drawing/2014/main" id="{003A7512-971D-93A5-228A-0B0876725ABB}"/>
                </a:ext>
              </a:extLst>
            </p:cNvPr>
            <p:cNvSpPr/>
            <p:nvPr/>
          </p:nvSpPr>
          <p:spPr>
            <a:xfrm>
              <a:off x="740664" y="4242298"/>
              <a:ext cx="5010912" cy="1280448"/>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buClrTx/>
                <a:buSzPct val="100000"/>
                <a:buFontTx/>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PepsiCo's strategy focuses on expanding healthier, science-backed beverage offerings through continuous innovation, portfolio transformation, and the PepsiCo Positive (pep+) framework.</a:t>
              </a:r>
            </a:p>
            <a:p>
              <a:pPr marL="152400" marR="0" lvl="0" indent="-152400" algn="l" defTabSz="914400" rtl="0" eaLnBrk="1" fontAlgn="auto" latinLnBrk="0" hangingPunct="1">
                <a:lnSpc>
                  <a:spcPct val="102000"/>
                </a:lnSpc>
                <a:spcBef>
                  <a:spcPts val="0"/>
                </a:spcBef>
                <a:buClrTx/>
                <a:buSzPct val="100000"/>
                <a:buFontTx/>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The company leverages its global manufacturing and distribution network to drive sustainable growth in functional hydration, sports nutrition, and wellness beverages.</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 name="Text 18">
            <a:extLst>
              <a:ext uri="{FF2B5EF4-FFF2-40B4-BE49-F238E27FC236}">
                <a16:creationId xmlns:a16="http://schemas.microsoft.com/office/drawing/2014/main" id="{4A9D17BB-B501-8D2E-403F-1FA30794133B}"/>
              </a:ext>
            </a:extLst>
          </p:cNvPr>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0DE147D8-9353-5D5C-13EE-E2BA32EE34F0}"/>
              </a:ext>
            </a:extLst>
          </p:cNvPr>
          <p:cNvPicPr>
            <a:picLocks noChangeAspect="1"/>
          </p:cNvPicPr>
          <p:nvPr/>
        </p:nvPicPr>
        <p:blipFill>
          <a:blip r:embed="rId5"/>
          <a:srcRect l="8407" r="8460"/>
          <a:stretch>
            <a:fillRect/>
          </a:stretch>
        </p:blipFill>
        <p:spPr>
          <a:xfrm>
            <a:off x="632310" y="1369607"/>
            <a:ext cx="1771558" cy="1198687"/>
          </a:xfrm>
          <a:prstGeom prst="rect">
            <a:avLst/>
          </a:prstGeom>
        </p:spPr>
      </p:pic>
      <p:sp>
        <p:nvSpPr>
          <p:cNvPr id="33" name="Rectangle 32">
            <a:extLst>
              <a:ext uri="{FF2B5EF4-FFF2-40B4-BE49-F238E27FC236}">
                <a16:creationId xmlns:a16="http://schemas.microsoft.com/office/drawing/2014/main" id="{24D79620-C8C5-4A1C-1A7D-9B74907E026E}"/>
              </a:ext>
            </a:extLst>
          </p:cNvPr>
          <p:cNvSpPr/>
          <p:nvPr/>
        </p:nvSpPr>
        <p:spPr>
          <a:xfrm>
            <a:off x="3381555" y="1387799"/>
            <a:ext cx="1992702" cy="11804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rPr>
              <a:t>2025 Total Revenue:</a:t>
            </a:r>
          </a:p>
          <a:p>
            <a:pPr algn="ctr"/>
            <a:r>
              <a:rPr lang="en-IN" b="1" dirty="0">
                <a:solidFill>
                  <a:schemeClr val="accent2"/>
                </a:solidFill>
              </a:rPr>
              <a:t>USD 93,925 Million</a:t>
            </a:r>
          </a:p>
        </p:txBody>
      </p:sp>
      <p:pic>
        <p:nvPicPr>
          <p:cNvPr id="35" name="Picture 50" descr="C:\Users\alwyns\Desktop\cb0dce38f8490e33659afa9c4b9cf3a4.jpg">
            <a:extLst>
              <a:ext uri="{FF2B5EF4-FFF2-40B4-BE49-F238E27FC236}">
                <a16:creationId xmlns:a16="http://schemas.microsoft.com/office/drawing/2014/main" id="{EE642C08-F34C-0D49-D0B0-E32F014A2A7C}"/>
              </a:ext>
            </a:extLst>
          </p:cNvPr>
          <p:cNvPicPr>
            <a:picLocks noChangeAspect="1" noChangeArrowheads="1"/>
          </p:cNvPicPr>
          <p:nvPr/>
        </p:nvPicPr>
        <p:blipFill>
          <a:blip r:embed="rId6" cstate="email">
            <a:clrChange>
              <a:clrFrom>
                <a:srgbClr val="FFFFFF"/>
              </a:clrFrom>
              <a:clrTo>
                <a:srgbClr val="FFFFFF">
                  <a:alpha val="0"/>
                </a:srgbClr>
              </a:clrTo>
            </a:clrChange>
            <a:duotone>
              <a:prstClr val="black"/>
              <a:schemeClr val="accent6">
                <a:lumMod val="75000"/>
                <a:tint val="45000"/>
                <a:satMod val="400000"/>
              </a:schemeClr>
            </a:duotone>
            <a:extLst>
              <a:ext uri="{BEBA8EAE-BF5A-486C-A8C5-ECC9F3942E4B}">
                <a14:imgProps xmlns:a14="http://schemas.microsoft.com/office/drawing/2010/main">
                  <a14:imgLayer r:embed="rId7">
                    <a14:imgEffect>
                      <a14:saturation sat="300000"/>
                    </a14:imgEffect>
                    <a14:imgEffect>
                      <a14:brightnessContrast contrast="20000"/>
                    </a14:imgEffect>
                  </a14:imgLayer>
                </a14:imgProps>
              </a:ext>
              <a:ext uri="{28A0092B-C50C-407E-A947-70E740481C1C}">
                <a14:useLocalDpi xmlns:a14="http://schemas.microsoft.com/office/drawing/2010/main"/>
              </a:ext>
            </a:extLst>
          </a:blip>
          <a:srcRect/>
          <a:stretch>
            <a:fillRect/>
          </a:stretch>
        </p:blipFill>
        <p:spPr bwMode="auto">
          <a:xfrm>
            <a:off x="716630" y="3106309"/>
            <a:ext cx="472074" cy="30894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Users\alwyns\Desktop\docicon.png">
            <a:extLst>
              <a:ext uri="{FF2B5EF4-FFF2-40B4-BE49-F238E27FC236}">
                <a16:creationId xmlns:a16="http://schemas.microsoft.com/office/drawing/2014/main" id="{BAB86FA7-BA06-F3E5-3A2A-5A26B5C98835}"/>
              </a:ext>
            </a:extLst>
          </p:cNvPr>
          <p:cNvPicPr>
            <a:picLocks noChangeAspect="1" noChangeArrowheads="1"/>
          </p:cNvPicPr>
          <p:nvPr/>
        </p:nvPicPr>
        <p:blipFill>
          <a:blip r:embed="rId8" cstate="email">
            <a:clrChange>
              <a:clrFrom>
                <a:srgbClr val="FFFFFF"/>
              </a:clrFrom>
              <a:clrTo>
                <a:srgbClr val="FFFFFF">
                  <a:alpha val="0"/>
                </a:srgbClr>
              </a:clrTo>
            </a:clrChange>
            <a:duotone>
              <a:prstClr val="black"/>
              <a:schemeClr val="accent6">
                <a:lumMod val="75000"/>
                <a:tint val="45000"/>
                <a:satMod val="400000"/>
              </a:schemeClr>
            </a:duotone>
            <a:extLst>
              <a:ext uri="{28A0092B-C50C-407E-A947-70E740481C1C}">
                <a14:useLocalDpi xmlns:a14="http://schemas.microsoft.com/office/drawing/2010/main"/>
              </a:ext>
            </a:extLst>
          </a:blip>
          <a:srcRect/>
          <a:stretch>
            <a:fillRect/>
          </a:stretch>
        </p:blipFill>
        <p:spPr bwMode="auto">
          <a:xfrm>
            <a:off x="749758" y="5183466"/>
            <a:ext cx="405818" cy="28449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 descr="C:\Users\PKC\Downloads\Domain Filled-50.png">
            <a:extLst>
              <a:ext uri="{FF2B5EF4-FFF2-40B4-BE49-F238E27FC236}">
                <a16:creationId xmlns:a16="http://schemas.microsoft.com/office/drawing/2014/main" id="{BBD87204-F082-FF50-5C73-72DA0CE39F6C}"/>
              </a:ext>
            </a:extLst>
          </p:cNvPr>
          <p:cNvPicPr>
            <a:picLocks noChangeAspect="1" noChangeArrowheads="1"/>
          </p:cNvPicPr>
          <p:nvPr/>
        </p:nvPicPr>
        <p:blipFill>
          <a:blip r:embed="rId9" cstate="email">
            <a:duotone>
              <a:prstClr val="black"/>
              <a:schemeClr val="accent6">
                <a:lumMod val="75000"/>
                <a:tint val="45000"/>
                <a:satMod val="400000"/>
              </a:schemeClr>
            </a:duotone>
            <a:extLst>
              <a:ext uri="{BEBA8EAE-BF5A-486C-A8C5-ECC9F3942E4B}">
                <a14:imgProps xmlns:a14="http://schemas.microsoft.com/office/drawing/2010/main">
                  <a14:imgLayer r:embed="rId10">
                    <a14:imgEffect>
                      <a14:colorTemperature colorTemp="8800"/>
                    </a14:imgEffect>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767543" y="3637579"/>
            <a:ext cx="370249" cy="30143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Telephone Clipart - Png Download (#5386822) - PinClipart">
            <a:extLst>
              <a:ext uri="{FF2B5EF4-FFF2-40B4-BE49-F238E27FC236}">
                <a16:creationId xmlns:a16="http://schemas.microsoft.com/office/drawing/2014/main" id="{CA140FAC-8E96-DDC3-BBF8-92BB59181F23}"/>
              </a:ext>
            </a:extLst>
          </p:cNvPr>
          <p:cNvPicPr>
            <a:picLocks noChangeAspect="1" noChangeArrowheads="1"/>
          </p:cNvPicPr>
          <p:nvPr/>
        </p:nvPicPr>
        <p:blipFill rotWithShape="1">
          <a:blip r:embed="rId11" cstate="email">
            <a:clrChange>
              <a:clrFrom>
                <a:srgbClr val="FFFFFF"/>
              </a:clrFrom>
              <a:clrTo>
                <a:srgbClr val="FFFFFF">
                  <a:alpha val="0"/>
                </a:srgbClr>
              </a:clrTo>
            </a:clrChange>
            <a:duotone>
              <a:prstClr val="black"/>
              <a:schemeClr val="accent6">
                <a:lumMod val="75000"/>
                <a:tint val="45000"/>
                <a:satMod val="400000"/>
              </a:schemeClr>
            </a:duotone>
            <a:extLst>
              <a:ext uri="{28A0092B-C50C-407E-A947-70E740481C1C}">
                <a14:useLocalDpi xmlns:a14="http://schemas.microsoft.com/office/drawing/2010/main"/>
              </a:ext>
            </a:extLst>
          </a:blip>
          <a:srcRect/>
          <a:stretch/>
        </p:blipFill>
        <p:spPr bwMode="auto">
          <a:xfrm>
            <a:off x="764953" y="4130118"/>
            <a:ext cx="375429" cy="32336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Users\PKC\Downloads\Organization-52.png">
            <a:extLst>
              <a:ext uri="{FF2B5EF4-FFF2-40B4-BE49-F238E27FC236}">
                <a16:creationId xmlns:a16="http://schemas.microsoft.com/office/drawing/2014/main" id="{F23B9E44-1B8D-2395-0149-B5D6E7F17492}"/>
              </a:ext>
            </a:extLst>
          </p:cNvPr>
          <p:cNvPicPr>
            <a:picLocks noChangeAspect="1" noChangeArrowheads="1"/>
          </p:cNvPicPr>
          <p:nvPr/>
        </p:nvPicPr>
        <p:blipFill>
          <a:blip r:embed="rId12" cstate="email">
            <a:duotone>
              <a:prstClr val="black"/>
              <a:schemeClr val="accent6">
                <a:lumMod val="75000"/>
                <a:tint val="45000"/>
                <a:satMod val="400000"/>
              </a:schemeClr>
            </a:duotone>
            <a:extLst>
              <a:ext uri="{28A0092B-C50C-407E-A947-70E740481C1C}">
                <a14:useLocalDpi xmlns:a14="http://schemas.microsoft.com/office/drawing/2010/main"/>
              </a:ext>
            </a:extLst>
          </a:blip>
          <a:srcRect/>
          <a:stretch>
            <a:fillRect/>
          </a:stretch>
        </p:blipFill>
        <p:spPr bwMode="auto">
          <a:xfrm>
            <a:off x="747553" y="4684899"/>
            <a:ext cx="410229" cy="307464"/>
          </a:xfrm>
          <a:prstGeom prst="rect">
            <a:avLst/>
          </a:prstGeom>
          <a:noFill/>
          <a:extLst>
            <a:ext uri="{909E8E84-426E-40DD-AFC4-6F175D3DCCD1}">
              <a14:hiddenFill xmlns:a14="http://schemas.microsoft.com/office/drawing/2010/main">
                <a:solidFill>
                  <a:srgbClr val="FFFFFF"/>
                </a:solidFill>
              </a14:hiddenFill>
            </a:ext>
          </a:extLst>
        </p:spPr>
      </p:pic>
      <p:sp>
        <p:nvSpPr>
          <p:cNvPr id="48" name="Text 5">
            <a:extLst>
              <a:ext uri="{FF2B5EF4-FFF2-40B4-BE49-F238E27FC236}">
                <a16:creationId xmlns:a16="http://schemas.microsoft.com/office/drawing/2014/main" id="{F68D9C87-DF83-ADDD-3228-59DB3799F631}"/>
              </a:ext>
            </a:extLst>
          </p:cNvPr>
          <p:cNvSpPr/>
          <p:nvPr/>
        </p:nvSpPr>
        <p:spPr>
          <a:xfrm>
            <a:off x="1293962" y="3626655"/>
            <a:ext cx="2717321" cy="323283"/>
          </a:xfrm>
          <a:prstGeom prst="rect">
            <a:avLst/>
          </a:prstGeom>
          <a:noFill/>
          <a:ln/>
        </p:spPr>
        <p:txBody>
          <a:bodyPr wrap="square" lIns="0" tIns="0" rIns="0" bIns="0" rtlCol="0" anchor="ctr"/>
          <a:lstStyle/>
          <a:p>
            <a:pPr>
              <a:lnSpc>
                <a:spcPct val="102000"/>
              </a:lnSpc>
              <a:spcAft>
                <a:spcPts val="600"/>
              </a:spcAft>
              <a:buSzPct val="100000"/>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Website: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https://www.pepsico.com/</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5">
            <a:extLst>
              <a:ext uri="{FF2B5EF4-FFF2-40B4-BE49-F238E27FC236}">
                <a16:creationId xmlns:a16="http://schemas.microsoft.com/office/drawing/2014/main" id="{0519A21F-D149-455C-3724-E62C5E4B1C46}"/>
              </a:ext>
            </a:extLst>
          </p:cNvPr>
          <p:cNvSpPr/>
          <p:nvPr/>
        </p:nvSpPr>
        <p:spPr>
          <a:xfrm>
            <a:off x="1293961" y="4135062"/>
            <a:ext cx="2717321" cy="323283"/>
          </a:xfrm>
          <a:prstGeom prst="rect">
            <a:avLst/>
          </a:prstGeom>
          <a:noFill/>
          <a:ln/>
        </p:spPr>
        <p:txBody>
          <a:bodyPr wrap="square" lIns="0" tIns="0" rIns="0" bIns="0" rtlCol="0" anchor="ctr"/>
          <a:lstStyle/>
          <a:p>
            <a:pPr>
              <a:lnSpc>
                <a:spcPct val="102000"/>
              </a:lnSpc>
              <a:spcAft>
                <a:spcPts val="600"/>
              </a:spcAft>
              <a:buSzPct val="100000"/>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Contact Details: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1-800-433-2652</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
            <a:extLst>
              <a:ext uri="{FF2B5EF4-FFF2-40B4-BE49-F238E27FC236}">
                <a16:creationId xmlns:a16="http://schemas.microsoft.com/office/drawing/2014/main" id="{8B2048A2-090A-6ABF-A0EE-35E302FCC73C}"/>
              </a:ext>
            </a:extLst>
          </p:cNvPr>
          <p:cNvSpPr/>
          <p:nvPr/>
        </p:nvSpPr>
        <p:spPr>
          <a:xfrm>
            <a:off x="1295460" y="4676989"/>
            <a:ext cx="2717321" cy="323283"/>
          </a:xfrm>
          <a:prstGeom prst="rect">
            <a:avLst/>
          </a:prstGeom>
          <a:noFill/>
          <a:ln/>
        </p:spPr>
        <p:txBody>
          <a:bodyPr wrap="square" lIns="0" tIns="0" rIns="0" bIns="0" rtlCol="0" anchor="ctr"/>
          <a:lstStyle/>
          <a:p>
            <a:pPr>
              <a:lnSpc>
                <a:spcPct val="102000"/>
              </a:lnSpc>
              <a:spcAft>
                <a:spcPts val="600"/>
              </a:spcAft>
              <a:buSzPct val="100000"/>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Headquarter: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New York, USA</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
            <a:extLst>
              <a:ext uri="{FF2B5EF4-FFF2-40B4-BE49-F238E27FC236}">
                <a16:creationId xmlns:a16="http://schemas.microsoft.com/office/drawing/2014/main" id="{D7AF1561-BBD3-5155-62E2-01FDB45FBE57}"/>
              </a:ext>
            </a:extLst>
          </p:cNvPr>
          <p:cNvSpPr/>
          <p:nvPr/>
        </p:nvSpPr>
        <p:spPr>
          <a:xfrm>
            <a:off x="1296202" y="5165110"/>
            <a:ext cx="2717321" cy="323283"/>
          </a:xfrm>
          <a:prstGeom prst="rect">
            <a:avLst/>
          </a:prstGeom>
          <a:noFill/>
          <a:ln/>
        </p:spPr>
        <p:txBody>
          <a:bodyPr wrap="square" lIns="0" tIns="0" rIns="0" bIns="0" rtlCol="0" anchor="ctr"/>
          <a:lstStyle/>
          <a:p>
            <a:pPr>
              <a:lnSpc>
                <a:spcPct val="102000"/>
              </a:lnSpc>
              <a:spcAft>
                <a:spcPts val="600"/>
              </a:spcAft>
              <a:buSzPct val="100000"/>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Employee Strength: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310,289 (2024)</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6" name="Picture 55">
            <a:extLst>
              <a:ext uri="{FF2B5EF4-FFF2-40B4-BE49-F238E27FC236}">
                <a16:creationId xmlns:a16="http://schemas.microsoft.com/office/drawing/2014/main" id="{2A7C2B50-06E6-C90E-DE53-F1E1FCB35094}"/>
              </a:ext>
            </a:extLst>
          </p:cNvPr>
          <p:cNvPicPr>
            <a:picLocks noChangeAspect="1"/>
          </p:cNvPicPr>
          <p:nvPr/>
        </p:nvPicPr>
        <p:blipFill>
          <a:blip r:embed="rId13">
            <a:alphaModFix/>
            <a:biLevel thresh="50000"/>
            <a:clrChange>
              <a:clrFrom>
                <a:srgbClr val="FFFFFF"/>
              </a:clrFrom>
              <a:clrTo>
                <a:srgbClr val="FFFFFF">
                  <a:alpha val="0"/>
                </a:srgbClr>
              </a:clrTo>
            </a:clrChange>
            <a:extLst>
              <a:ext uri="{BEBA8EAE-BF5A-486C-A8C5-ECC9F3942E4B}">
                <a14:imgProps xmlns:a14="http://schemas.microsoft.com/office/drawing/2010/main">
                  <a14:imgLayer r:embed="rId14">
                    <a14:imgEffect>
                      <a14:backgroundRemoval t="10000" b="90000" l="10000" r="90000"/>
                    </a14:imgEffect>
                    <a14:imgEffect>
                      <a14:artisticChalkSketch/>
                    </a14:imgEffect>
                    <a14:imgEffect>
                      <a14:sharpenSoften amount="-50000"/>
                    </a14:imgEffect>
                    <a14:imgEffect>
                      <a14:colorTemperature colorTemp="5300"/>
                    </a14:imgEffect>
                  </a14:imgLayer>
                </a14:imgProps>
              </a:ext>
            </a:extLst>
          </a:blip>
          <a:stretch>
            <a:fillRect/>
          </a:stretch>
        </p:blipFill>
        <p:spPr>
          <a:xfrm>
            <a:off x="751374" y="5621076"/>
            <a:ext cx="404202" cy="404202"/>
          </a:xfrm>
          <a:prstGeom prst="rect">
            <a:avLst/>
          </a:prstGeom>
          <a:noFill/>
        </p:spPr>
      </p:pic>
      <p:sp>
        <p:nvSpPr>
          <p:cNvPr id="58" name="Text 5">
            <a:extLst>
              <a:ext uri="{FF2B5EF4-FFF2-40B4-BE49-F238E27FC236}">
                <a16:creationId xmlns:a16="http://schemas.microsoft.com/office/drawing/2014/main" id="{DB3D198A-6712-FFD3-6F79-B8AC3A8CC33F}"/>
              </a:ext>
            </a:extLst>
          </p:cNvPr>
          <p:cNvSpPr/>
          <p:nvPr/>
        </p:nvSpPr>
        <p:spPr>
          <a:xfrm>
            <a:off x="1296201" y="5594289"/>
            <a:ext cx="4354102" cy="479987"/>
          </a:xfrm>
          <a:prstGeom prst="rect">
            <a:avLst/>
          </a:prstGeom>
          <a:noFill/>
          <a:ln/>
        </p:spPr>
        <p:txBody>
          <a:bodyPr wrap="square" lIns="0" tIns="0" rIns="0" bIns="0" rtlCol="0" anchor="ctr"/>
          <a:lstStyle/>
          <a:p>
            <a:pPr>
              <a:lnSpc>
                <a:spcPct val="102000"/>
              </a:lnSpc>
              <a:spcAft>
                <a:spcPts val="600"/>
              </a:spcAft>
              <a:buSzPct val="100000"/>
            </a:pPr>
            <a:r>
              <a:rPr kumimoji="0" lang="en-US" sz="1200" b="1"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Regional Presence: </a:t>
            </a: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North America, Europe, Asia Pacific, Latin America, Middle East and Africa</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2" descr="/home/claude/icon_opportunities.png">
            <a:extLst>
              <a:ext uri="{FF2B5EF4-FFF2-40B4-BE49-F238E27FC236}">
                <a16:creationId xmlns:a16="http://schemas.microsoft.com/office/drawing/2014/main" id="{0D147BF8-9F59-FDA1-BB69-5B8E2B8A683E}"/>
              </a:ext>
            </a:extLst>
          </p:cNvPr>
          <p:cNvPicPr>
            <a:picLocks noChangeAspect="1"/>
          </p:cNvPicPr>
          <p:nvPr/>
        </p:nvPicPr>
        <p:blipFill>
          <a:blip r:embed="rId4"/>
          <a:stretch>
            <a:fillRect/>
          </a:stretch>
        </p:blipFill>
        <p:spPr>
          <a:xfrm>
            <a:off x="6210300" y="1465763"/>
            <a:ext cx="246888" cy="255553"/>
          </a:xfrm>
          <a:prstGeom prst="rect">
            <a:avLst/>
          </a:prstGeom>
        </p:spPr>
      </p:pic>
    </p:spTree>
    <p:extLst>
      <p:ext uri="{BB962C8B-B14F-4D97-AF65-F5344CB8AC3E}">
        <p14:creationId xmlns:p14="http://schemas.microsoft.com/office/powerpoint/2010/main" val="5192522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38361-0596-145D-B6E7-A16788A397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25A962-C154-417B-1372-FE3C69944B35}"/>
              </a:ext>
            </a:extLst>
          </p:cNvPr>
          <p:cNvSpPr/>
          <p:nvPr/>
        </p:nvSpPr>
        <p:spPr>
          <a:xfrm>
            <a:off x="649562" y="456380"/>
            <a:ext cx="7772400" cy="438912"/>
          </a:xfrm>
          <a:prstGeom prst="rect">
            <a:avLst/>
          </a:prstGeom>
          <a:noFill/>
          <a:ln/>
        </p:spPr>
        <p:txBody>
          <a:bodyPr wrap="square" lIns="0" tIns="0" rIns="0" bIns="0" rtlCol="0" anchor="ctr"/>
          <a:lstStyle/>
          <a:p>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Company Profile - </a:t>
            </a:r>
            <a:r>
              <a:rPr lang="en-US" sz="2800" b="1" dirty="0">
                <a:solidFill>
                  <a:srgbClr val="0B4F4A"/>
                </a:solidFill>
                <a:latin typeface="Cambria" pitchFamily="34" charset="0"/>
                <a:ea typeface="Cambria" pitchFamily="34" charset="-122"/>
              </a:rPr>
              <a:t>PepsiCo, Inc. (2/3)</a:t>
            </a:r>
          </a:p>
        </p:txBody>
      </p:sp>
      <p:sp>
        <p:nvSpPr>
          <p:cNvPr id="3" name="Text 1">
            <a:extLst>
              <a:ext uri="{FF2B5EF4-FFF2-40B4-BE49-F238E27FC236}">
                <a16:creationId xmlns:a16="http://schemas.microsoft.com/office/drawing/2014/main" id="{56E694A7-2CFE-9855-E85D-B3F9827AC8FA}"/>
              </a:ext>
            </a:extLst>
          </p:cNvPr>
          <p:cNvSpPr/>
          <p:nvPr/>
        </p:nvSpPr>
        <p:spPr>
          <a:xfrm>
            <a:off x="632310" y="925134"/>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PepsiCo's broad portfolio spans energy, hydration, sports nutrition, and functional wellness, addressing evolving consumer preferences across beverage categories.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390AD54C-9F32-BA97-774A-223E6BAA2E3C}"/>
              </a:ext>
            </a:extLst>
          </p:cNvPr>
          <p:cNvSpPr/>
          <p:nvPr/>
        </p:nvSpPr>
        <p:spPr>
          <a:xfrm>
            <a:off x="606432" y="1387800"/>
            <a:ext cx="10970216" cy="4762834"/>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50C9F1E7-CF94-CAE7-ED2C-3701968C07E3}"/>
              </a:ext>
            </a:extLst>
          </p:cNvPr>
          <p:cNvSpPr/>
          <p:nvPr/>
        </p:nvSpPr>
        <p:spPr>
          <a:xfrm>
            <a:off x="623684" y="1387800"/>
            <a:ext cx="2335176" cy="360000"/>
          </a:xfrm>
          <a:prstGeom prst="roundRect">
            <a:avLst>
              <a:gd name="adj" fmla="val 26667"/>
            </a:avLst>
          </a:prstGeom>
          <a:solidFill>
            <a:srgbClr val="0B4F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B041D9AF-F8B0-1CA6-6223-291E378C6576}"/>
              </a:ext>
            </a:extLst>
          </p:cNvPr>
          <p:cNvSpPr/>
          <p:nvPr/>
        </p:nvSpPr>
        <p:spPr>
          <a:xfrm>
            <a:off x="700728" y="1387800"/>
            <a:ext cx="3327385"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COMPANY OFFERING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a:extLst>
              <a:ext uri="{FF2B5EF4-FFF2-40B4-BE49-F238E27FC236}">
                <a16:creationId xmlns:a16="http://schemas.microsoft.com/office/drawing/2014/main" id="{206A0ABB-3017-C1A2-A532-AAF885828A33}"/>
              </a:ext>
            </a:extLst>
          </p:cNvPr>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7" name="Table 26">
            <a:extLst>
              <a:ext uri="{FF2B5EF4-FFF2-40B4-BE49-F238E27FC236}">
                <a16:creationId xmlns:a16="http://schemas.microsoft.com/office/drawing/2014/main" id="{66B476AE-1D33-10BD-8516-9BE8C0FCEA14}"/>
              </a:ext>
            </a:extLst>
          </p:cNvPr>
          <p:cNvGraphicFramePr>
            <a:graphicFrameLocks noGrp="1"/>
          </p:cNvGraphicFramePr>
          <p:nvPr>
            <p:extLst>
              <p:ext uri="{D42A27DB-BD31-4B8C-83A1-F6EECF244321}">
                <p14:modId xmlns:p14="http://schemas.microsoft.com/office/powerpoint/2010/main" val="3612023169"/>
              </p:ext>
            </p:extLst>
          </p:nvPr>
        </p:nvGraphicFramePr>
        <p:xfrm>
          <a:off x="700728" y="1755993"/>
          <a:ext cx="10763778" cy="4291122"/>
        </p:xfrm>
        <a:graphic>
          <a:graphicData uri="http://schemas.openxmlformats.org/drawingml/2006/table">
            <a:tbl>
              <a:tblPr firstRow="1" bandRow="1">
                <a:tableStyleId>{912C8C85-51F0-491E-9774-3900AFEF0FD7}</a:tableStyleId>
              </a:tblPr>
              <a:tblGrid>
                <a:gridCol w="1706042">
                  <a:extLst>
                    <a:ext uri="{9D8B030D-6E8A-4147-A177-3AD203B41FA5}">
                      <a16:colId xmlns:a16="http://schemas.microsoft.com/office/drawing/2014/main" val="3113322604"/>
                    </a:ext>
                  </a:extLst>
                </a:gridCol>
                <a:gridCol w="9057736">
                  <a:extLst>
                    <a:ext uri="{9D8B030D-6E8A-4147-A177-3AD203B41FA5}">
                      <a16:colId xmlns:a16="http://schemas.microsoft.com/office/drawing/2014/main" val="2338135681"/>
                    </a:ext>
                  </a:extLst>
                </a:gridCol>
              </a:tblGrid>
              <a:tr h="375608">
                <a:tc>
                  <a:txBody>
                    <a:bodyPr/>
                    <a:lstStyle/>
                    <a:p>
                      <a:pPr algn="ctr"/>
                      <a:r>
                        <a:rPr lang="en-IN" sz="1400" dirty="0">
                          <a:solidFill>
                            <a:schemeClr val="bg1"/>
                          </a:solidFill>
                        </a:rPr>
                        <a:t>Offering</a:t>
                      </a:r>
                    </a:p>
                  </a:txBody>
                  <a:tcPr anchor="ctr"/>
                </a:tc>
                <a:tc>
                  <a:txBody>
                    <a:bodyPr/>
                    <a:lstStyle/>
                    <a:p>
                      <a:pPr algn="ctr"/>
                      <a:r>
                        <a:rPr lang="en-IN" sz="1400" dirty="0">
                          <a:solidFill>
                            <a:schemeClr val="bg1"/>
                          </a:solidFill>
                        </a:rPr>
                        <a:t>Description</a:t>
                      </a:r>
                    </a:p>
                  </a:txBody>
                  <a:tcPr anchor="ctr"/>
                </a:tc>
                <a:extLst>
                  <a:ext uri="{0D108BD9-81ED-4DB2-BD59-A6C34878D82A}">
                    <a16:rowId xmlns:a16="http://schemas.microsoft.com/office/drawing/2014/main" val="47435052"/>
                  </a:ext>
                </a:extLst>
              </a:tr>
              <a:tr h="788777">
                <a:tc>
                  <a:txBody>
                    <a:bodyPr/>
                    <a:lstStyle/>
                    <a:p>
                      <a:pPr algn="ctr"/>
                      <a:r>
                        <a:rPr lang="en-IN" sz="1200" b="1" dirty="0"/>
                        <a:t>Energy Drinks</a:t>
                      </a:r>
                    </a:p>
                  </a:txBody>
                  <a:tcPr anchor="ctr"/>
                </a:tc>
                <a:tc>
                  <a:txBody>
                    <a:bodyPr/>
                    <a:lstStyle/>
                    <a:p>
                      <a:r>
                        <a:rPr lang="en-IN" sz="1200" dirty="0"/>
                        <a:t>PepsiCo participates in the energy drink category through Rockstar Energy, offering beverages formulated with caffeine, B vitamins, and ingredients designed to support energy and mental focus. The brand portfolio includes original, zero-sugar, and performance-oriented variants, addressing a broad range of consumer preferences.</a:t>
                      </a:r>
                    </a:p>
                  </a:txBody>
                  <a:tcPr/>
                </a:tc>
                <a:extLst>
                  <a:ext uri="{0D108BD9-81ED-4DB2-BD59-A6C34878D82A}">
                    <a16:rowId xmlns:a16="http://schemas.microsoft.com/office/drawing/2014/main" val="486521000"/>
                  </a:ext>
                </a:extLst>
              </a:tr>
              <a:tr h="788777">
                <a:tc>
                  <a:txBody>
                    <a:bodyPr/>
                    <a:lstStyle/>
                    <a:p>
                      <a:pPr algn="ctr"/>
                      <a:r>
                        <a:rPr lang="en-IN" sz="1200" b="1" dirty="0"/>
                        <a:t>Sports &amp; Performance Drinks</a:t>
                      </a:r>
                    </a:p>
                  </a:txBody>
                  <a:tcPr anchor="ctr"/>
                </a:tc>
                <a:tc>
                  <a:txBody>
                    <a:bodyPr/>
                    <a:lstStyle/>
                    <a:p>
                      <a:r>
                        <a:rPr lang="en-IN" sz="1200" dirty="0"/>
                        <a:t>Gatorade is PepsiCo's flagship sports drink brand developed to help replenish fluids and electrolytes lost during physical activity. The portfolio includes sports drinks, zero-sugar beverages, hydration powders, protein recovery products, and supplements designed to support hydration and athletic performance.</a:t>
                      </a:r>
                    </a:p>
                  </a:txBody>
                  <a:tcPr/>
                </a:tc>
                <a:extLst>
                  <a:ext uri="{0D108BD9-81ED-4DB2-BD59-A6C34878D82A}">
                    <a16:rowId xmlns:a16="http://schemas.microsoft.com/office/drawing/2014/main" val="3561376658"/>
                  </a:ext>
                </a:extLst>
              </a:tr>
              <a:tr h="788777">
                <a:tc>
                  <a:txBody>
                    <a:bodyPr/>
                    <a:lstStyle/>
                    <a:p>
                      <a:pPr algn="ctr"/>
                      <a:r>
                        <a:rPr lang="en-IN" sz="1200" b="1" dirty="0"/>
                        <a:t>Fortified Juices</a:t>
                      </a:r>
                    </a:p>
                  </a:txBody>
                  <a:tcPr anchor="ctr"/>
                </a:tc>
                <a:tc>
                  <a:txBody>
                    <a:bodyPr/>
                    <a:lstStyle/>
                    <a:p>
                      <a:r>
                        <a:rPr lang="en-US" sz="1200" dirty="0"/>
                        <a:t>PepsiCo offers fortified juice beverages through Tropicana, featuring products enriched with vitamins and nutrients to support everyday nutrition. The portfolio includes juices formulated with added Vitamin C and other essential nutrients, providing consumers with convenient nutrition alongside fruit-based beverages.</a:t>
                      </a:r>
                      <a:endParaRPr lang="en-IN" sz="1200" dirty="0"/>
                    </a:p>
                  </a:txBody>
                  <a:tcPr/>
                </a:tc>
                <a:extLst>
                  <a:ext uri="{0D108BD9-81ED-4DB2-BD59-A6C34878D82A}">
                    <a16:rowId xmlns:a16="http://schemas.microsoft.com/office/drawing/2014/main" val="526797272"/>
                  </a:ext>
                </a:extLst>
              </a:tr>
              <a:tr h="760406">
                <a:tc>
                  <a:txBody>
                    <a:bodyPr/>
                    <a:lstStyle/>
                    <a:p>
                      <a:pPr algn="ctr"/>
                      <a:r>
                        <a:rPr lang="en-IN" sz="1200" b="1" dirty="0"/>
                        <a:t>Functional Water</a:t>
                      </a:r>
                    </a:p>
                  </a:txBody>
                  <a:tcPr anchor="ctr"/>
                </a:tc>
                <a:tc>
                  <a:txBody>
                    <a:bodyPr/>
                    <a:lstStyle/>
                    <a:p>
                      <a:r>
                        <a:rPr lang="en-IN" sz="1200" dirty="0"/>
                        <a:t>PepsiCo's functional hydration portfolio includes Propel and LIFEWTR. Propel contains electrolytes and vitamins with zero sugar to support active lifestyles, while LIFEWTR is purified water enhanced with electrolytes for taste, providing premium hydration for everyday consumption.</a:t>
                      </a:r>
                    </a:p>
                  </a:txBody>
                  <a:tcPr/>
                </a:tc>
                <a:extLst>
                  <a:ext uri="{0D108BD9-81ED-4DB2-BD59-A6C34878D82A}">
                    <a16:rowId xmlns:a16="http://schemas.microsoft.com/office/drawing/2014/main" val="395614596"/>
                  </a:ext>
                </a:extLst>
              </a:tr>
              <a:tr h="788777">
                <a:tc>
                  <a:txBody>
                    <a:bodyPr/>
                    <a:lstStyle/>
                    <a:p>
                      <a:pPr algn="ctr"/>
                      <a:r>
                        <a:rPr lang="en-IN" sz="1200" b="1" dirty="0"/>
                        <a:t>Others</a:t>
                      </a:r>
                    </a:p>
                  </a:txBody>
                  <a:tcPr anchor="ctr"/>
                </a:tc>
                <a:tc>
                  <a:txBody>
                    <a:bodyPr/>
                    <a:lstStyle/>
                    <a:p>
                      <a:r>
                        <a:rPr lang="en-IN" sz="1200" dirty="0"/>
                        <a:t>PepsiCo continues expanding its wellness beverage portfolio through Muscle Milk ready-to-drink protein beverages and Poppi prebiotic soda. Muscle Milk provides protein to support muscle recovery and nutrition, while Poppi combines prebiotics with fruit juice and apple cider vinegar to offer a modern, low-sugar functional beverage option.</a:t>
                      </a:r>
                    </a:p>
                  </a:txBody>
                  <a:tcPr/>
                </a:tc>
                <a:extLst>
                  <a:ext uri="{0D108BD9-81ED-4DB2-BD59-A6C34878D82A}">
                    <a16:rowId xmlns:a16="http://schemas.microsoft.com/office/drawing/2014/main" val="3400130265"/>
                  </a:ext>
                </a:extLst>
              </a:tr>
            </a:tbl>
          </a:graphicData>
        </a:graphic>
      </p:graphicFrame>
    </p:spTree>
    <p:extLst>
      <p:ext uri="{BB962C8B-B14F-4D97-AF65-F5344CB8AC3E}">
        <p14:creationId xmlns:p14="http://schemas.microsoft.com/office/powerpoint/2010/main" val="7514915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D879D-5EBF-1927-BEC5-6530F31F3B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D50471-115B-4138-9772-30E3B86F28A2}"/>
              </a:ext>
            </a:extLst>
          </p:cNvPr>
          <p:cNvSpPr/>
          <p:nvPr/>
        </p:nvSpPr>
        <p:spPr>
          <a:xfrm>
            <a:off x="623684" y="456380"/>
            <a:ext cx="77724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Cambria" pitchFamily="34" charset="-120"/>
              </a:rPr>
              <a:t>Company Profile - </a:t>
            </a:r>
            <a:r>
              <a:rPr kumimoji="0" lang="en-US" sz="2800" b="1" i="0" u="none" strike="noStrike" kern="1200" cap="none" spc="0" normalizeH="0" baseline="0" noProof="0" dirty="0">
                <a:ln>
                  <a:noFill/>
                </a:ln>
                <a:solidFill>
                  <a:srgbClr val="0B4F4A"/>
                </a:solidFill>
                <a:effectLst/>
                <a:uLnTx/>
                <a:uFillTx/>
                <a:latin typeface="Cambria" pitchFamily="34" charset="0"/>
                <a:ea typeface="Cambria" pitchFamily="34" charset="-122"/>
                <a:cs typeface="+mn-cs"/>
              </a:rPr>
              <a:t>PepsiCo, Inc. (3/3)</a:t>
            </a:r>
          </a:p>
        </p:txBody>
      </p:sp>
      <p:sp>
        <p:nvSpPr>
          <p:cNvPr id="3" name="Text 1">
            <a:extLst>
              <a:ext uri="{FF2B5EF4-FFF2-40B4-BE49-F238E27FC236}">
                <a16:creationId xmlns:a16="http://schemas.microsoft.com/office/drawing/2014/main" id="{7424815A-E3FE-C344-C6F6-17D9D0E0ABB0}"/>
              </a:ext>
            </a:extLst>
          </p:cNvPr>
          <p:cNvSpPr/>
          <p:nvPr/>
        </p:nvSpPr>
        <p:spPr>
          <a:xfrm>
            <a:off x="606432" y="925134"/>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Strong financial performance, strategic investments, and regional diversification reinforce PepsiCo's long-term growth in the global functional beverage market.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a:extLst>
              <a:ext uri="{FF2B5EF4-FFF2-40B4-BE49-F238E27FC236}">
                <a16:creationId xmlns:a16="http://schemas.microsoft.com/office/drawing/2014/main" id="{084D86D3-C854-9A07-2433-201417A0DA89}"/>
              </a:ext>
            </a:extLst>
          </p:cNvPr>
          <p:cNvSpPr/>
          <p:nvPr/>
        </p:nvSpPr>
        <p:spPr>
          <a:xfrm>
            <a:off x="502920" y="6537960"/>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Table 7">
            <a:extLst>
              <a:ext uri="{FF2B5EF4-FFF2-40B4-BE49-F238E27FC236}">
                <a16:creationId xmlns:a16="http://schemas.microsoft.com/office/drawing/2014/main" id="{EB1A26D8-4C78-695A-DE41-2E55485F4D2D}"/>
              </a:ext>
            </a:extLst>
          </p:cNvPr>
          <p:cNvGraphicFramePr>
            <a:graphicFrameLocks noGrp="1"/>
          </p:cNvGraphicFramePr>
          <p:nvPr>
            <p:extLst>
              <p:ext uri="{D42A27DB-BD31-4B8C-83A1-F6EECF244321}">
                <p14:modId xmlns:p14="http://schemas.microsoft.com/office/powerpoint/2010/main" val="1019706806"/>
              </p:ext>
            </p:extLst>
          </p:nvPr>
        </p:nvGraphicFramePr>
        <p:xfrm>
          <a:off x="623684" y="3083202"/>
          <a:ext cx="3325052" cy="3055090"/>
        </p:xfrm>
        <a:graphic>
          <a:graphicData uri="http://schemas.openxmlformats.org/drawingml/2006/table">
            <a:tbl>
              <a:tblPr firstRow="1" bandRow="1">
                <a:tableStyleId>{93296810-A885-4BE3-A3E7-6D5BEEA58F35}</a:tableStyleId>
              </a:tblPr>
              <a:tblGrid>
                <a:gridCol w="1267652">
                  <a:extLst>
                    <a:ext uri="{9D8B030D-6E8A-4147-A177-3AD203B41FA5}">
                      <a16:colId xmlns:a16="http://schemas.microsoft.com/office/drawing/2014/main" val="20000"/>
                    </a:ext>
                  </a:extLst>
                </a:gridCol>
                <a:gridCol w="706307">
                  <a:extLst>
                    <a:ext uri="{9D8B030D-6E8A-4147-A177-3AD203B41FA5}">
                      <a16:colId xmlns:a16="http://schemas.microsoft.com/office/drawing/2014/main" val="20001"/>
                    </a:ext>
                  </a:extLst>
                </a:gridCol>
                <a:gridCol w="665293">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749631">
                <a:tc>
                  <a:txBody>
                    <a:bodyPr/>
                    <a:lstStyle/>
                    <a:p>
                      <a:pPr marL="0" algn="l" defTabSz="914400" rtl="0" eaLnBrk="1" latinLnBrk="0" hangingPunct="1"/>
                      <a:r>
                        <a:rPr lang="en-US" sz="1400" b="1" kern="1200" dirty="0">
                          <a:solidFill>
                            <a:schemeClr val="bg1"/>
                          </a:solidFill>
                          <a:latin typeface="+mn-lt"/>
                          <a:ea typeface="+mn-ea"/>
                          <a:cs typeface="+mn-cs"/>
                        </a:rPr>
                        <a:t>Financial Data</a:t>
                      </a:r>
                    </a:p>
                  </a:txBody>
                  <a:tcPr anchor="ctr">
                    <a:solidFill>
                      <a:srgbClr val="0B4F4A"/>
                    </a:solidFill>
                  </a:tcPr>
                </a:tc>
                <a:tc>
                  <a:txBody>
                    <a:bodyPr/>
                    <a:lstStyle/>
                    <a:p>
                      <a:pPr marL="0" algn="ctr" defTabSz="914400" rtl="0" eaLnBrk="1" latinLnBrk="0" hangingPunct="1"/>
                      <a:r>
                        <a:rPr lang="en-US" sz="1400" b="1" kern="1200" dirty="0">
                          <a:solidFill>
                            <a:schemeClr val="bg1"/>
                          </a:solidFill>
                          <a:latin typeface="+mn-lt"/>
                          <a:ea typeface="+mn-ea"/>
                          <a:cs typeface="+mn-cs"/>
                        </a:rPr>
                        <a:t>2023</a:t>
                      </a:r>
                    </a:p>
                  </a:txBody>
                  <a:tcPr anchor="ctr">
                    <a:solidFill>
                      <a:srgbClr val="0B4F4A"/>
                    </a:solidFill>
                  </a:tcPr>
                </a:tc>
                <a:tc>
                  <a:txBody>
                    <a:bodyPr/>
                    <a:lstStyle/>
                    <a:p>
                      <a:pPr marL="0" algn="ctr" defTabSz="914400" rtl="0" eaLnBrk="1" latinLnBrk="0" hangingPunct="1"/>
                      <a:r>
                        <a:rPr lang="en-US" sz="1400" b="1" kern="1200" dirty="0">
                          <a:solidFill>
                            <a:schemeClr val="bg1"/>
                          </a:solidFill>
                          <a:latin typeface="+mn-lt"/>
                          <a:ea typeface="+mn-ea"/>
                          <a:cs typeface="+mn-cs"/>
                        </a:rPr>
                        <a:t>2024</a:t>
                      </a:r>
                    </a:p>
                  </a:txBody>
                  <a:tcPr anchor="ctr">
                    <a:solidFill>
                      <a:srgbClr val="0B4F4A"/>
                    </a:solidFill>
                  </a:tcPr>
                </a:tc>
                <a:tc>
                  <a:txBody>
                    <a:bodyPr/>
                    <a:lstStyle/>
                    <a:p>
                      <a:pPr marL="0" algn="ctr" defTabSz="914400" rtl="0" eaLnBrk="1" latinLnBrk="0" hangingPunct="1"/>
                      <a:r>
                        <a:rPr lang="en-US" sz="1400" b="1" kern="1200" dirty="0">
                          <a:solidFill>
                            <a:schemeClr val="bg1"/>
                          </a:solidFill>
                          <a:latin typeface="+mn-lt"/>
                          <a:ea typeface="+mn-ea"/>
                          <a:cs typeface="+mn-cs"/>
                        </a:rPr>
                        <a:t>2025</a:t>
                      </a:r>
                    </a:p>
                  </a:txBody>
                  <a:tcPr anchor="ctr">
                    <a:solidFill>
                      <a:srgbClr val="0B4F4A"/>
                    </a:solidFill>
                  </a:tcPr>
                </a:tc>
                <a:extLst>
                  <a:ext uri="{0D108BD9-81ED-4DB2-BD59-A6C34878D82A}">
                    <a16:rowId xmlns:a16="http://schemas.microsoft.com/office/drawing/2014/main" val="10000"/>
                  </a:ext>
                </a:extLst>
              </a:tr>
              <a:tr h="630391">
                <a:tc>
                  <a:txBody>
                    <a:bodyPr/>
                    <a:lstStyle/>
                    <a:p>
                      <a:pPr marL="0" algn="l" defTabSz="914400" rtl="0" eaLnBrk="1" latinLnBrk="0" hangingPunct="1"/>
                      <a:r>
                        <a:rPr lang="en-US" sz="1200" b="1" kern="1200" dirty="0">
                          <a:solidFill>
                            <a:schemeClr val="bg1"/>
                          </a:solidFill>
                          <a:latin typeface="+mn-lt"/>
                          <a:ea typeface="+mn-ea"/>
                          <a:cs typeface="+mn-cs"/>
                        </a:rPr>
                        <a:t>Net revenue</a:t>
                      </a:r>
                    </a:p>
                    <a:p>
                      <a:pPr marL="0" algn="l" defTabSz="914400" rtl="0" eaLnBrk="1" latinLnBrk="0" hangingPunct="1"/>
                      <a:r>
                        <a:rPr lang="en-US" sz="1200" b="1" kern="1200" dirty="0">
                          <a:solidFill>
                            <a:schemeClr val="bg1"/>
                          </a:solidFill>
                          <a:latin typeface="+mn-lt"/>
                          <a:ea typeface="+mn-ea"/>
                          <a:cs typeface="+mn-cs"/>
                        </a:rPr>
                        <a:t>(USD Million)</a:t>
                      </a:r>
                    </a:p>
                  </a:txBody>
                  <a:tcPr anchor="ctr">
                    <a:solidFill>
                      <a:srgbClr val="0B4F4A"/>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91,471</a:t>
                      </a:r>
                    </a:p>
                  </a:txBody>
                  <a:tcPr marL="9525" marR="9525" marT="9525" marB="0" anchor="ctr">
                    <a:solidFill>
                      <a:srgbClr val="EAF5F1"/>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91,854</a:t>
                      </a:r>
                    </a:p>
                  </a:txBody>
                  <a:tcPr marL="9525" marR="9525" marT="9525" marB="0" anchor="ctr">
                    <a:solidFill>
                      <a:srgbClr val="EAF5F1"/>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93,925 </a:t>
                      </a:r>
                    </a:p>
                  </a:txBody>
                  <a:tcPr marL="9525" marR="9525" marT="9525" marB="0" anchor="ctr">
                    <a:solidFill>
                      <a:srgbClr val="EAF5F1"/>
                    </a:solidFill>
                  </a:tcPr>
                </a:tc>
                <a:extLst>
                  <a:ext uri="{0D108BD9-81ED-4DB2-BD59-A6C34878D82A}">
                    <a16:rowId xmlns:a16="http://schemas.microsoft.com/office/drawing/2014/main" val="10001"/>
                  </a:ext>
                </a:extLst>
              </a:tr>
              <a:tr h="837534">
                <a:tc>
                  <a:txBody>
                    <a:bodyPr/>
                    <a:lstStyle/>
                    <a:p>
                      <a:pPr marL="0" algn="l" defTabSz="914400" rtl="0" eaLnBrk="1" latinLnBrk="0" hangingPunct="1"/>
                      <a:r>
                        <a:rPr lang="en-US" sz="1200" b="1" kern="1200" dirty="0">
                          <a:solidFill>
                            <a:schemeClr val="bg1"/>
                          </a:solidFill>
                          <a:latin typeface="+mn-lt"/>
                          <a:ea typeface="+mn-ea"/>
                          <a:cs typeface="+mn-cs"/>
                        </a:rPr>
                        <a:t>Net Income</a:t>
                      </a:r>
                    </a:p>
                    <a:p>
                      <a:pPr marL="0" algn="l" defTabSz="914400" rtl="0" eaLnBrk="1" latinLnBrk="0" hangingPunct="1"/>
                      <a:r>
                        <a:rPr lang="en-US" sz="1200" b="1" kern="1200" dirty="0">
                          <a:solidFill>
                            <a:schemeClr val="bg1"/>
                          </a:solidFill>
                          <a:latin typeface="+mn-lt"/>
                          <a:ea typeface="+mn-ea"/>
                          <a:cs typeface="+mn-cs"/>
                        </a:rPr>
                        <a:t>(USD Million)</a:t>
                      </a:r>
                    </a:p>
                  </a:txBody>
                  <a:tcPr anchor="ctr">
                    <a:solidFill>
                      <a:srgbClr val="0B4F4A"/>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9,155</a:t>
                      </a:r>
                    </a:p>
                  </a:txBody>
                  <a:tcPr marL="9525" marR="9525" marT="9525" marB="0" anchor="ctr">
                    <a:solidFill>
                      <a:srgbClr val="EAF5F1"/>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9,626 </a:t>
                      </a:r>
                    </a:p>
                  </a:txBody>
                  <a:tcPr marL="9525" marR="9525" marT="9525" marB="0" anchor="ctr">
                    <a:solidFill>
                      <a:srgbClr val="EAF5F1"/>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8,295 </a:t>
                      </a:r>
                    </a:p>
                  </a:txBody>
                  <a:tcPr marL="9525" marR="9525" marT="9525" marB="0" anchor="ctr">
                    <a:solidFill>
                      <a:srgbClr val="EAF5F1"/>
                    </a:solidFill>
                  </a:tcPr>
                </a:tc>
                <a:extLst>
                  <a:ext uri="{0D108BD9-81ED-4DB2-BD59-A6C34878D82A}">
                    <a16:rowId xmlns:a16="http://schemas.microsoft.com/office/drawing/2014/main" val="10002"/>
                  </a:ext>
                </a:extLst>
              </a:tr>
              <a:tr h="837534">
                <a:tc>
                  <a:txBody>
                    <a:bodyPr/>
                    <a:lstStyle/>
                    <a:p>
                      <a:pPr marL="0" algn="l" defTabSz="914400" rtl="0" eaLnBrk="1" latinLnBrk="0" hangingPunct="1"/>
                      <a:r>
                        <a:rPr lang="en-US" sz="1200" b="1" kern="1200" dirty="0">
                          <a:solidFill>
                            <a:schemeClr val="bg1"/>
                          </a:solidFill>
                          <a:latin typeface="+mn-lt"/>
                          <a:ea typeface="+mn-ea"/>
                          <a:cs typeface="+mn-cs"/>
                        </a:rPr>
                        <a:t>Operating profit </a:t>
                      </a:r>
                    </a:p>
                    <a:p>
                      <a:pPr marL="0" algn="l" defTabSz="914400" rtl="0" eaLnBrk="1" latinLnBrk="0" hangingPunct="1"/>
                      <a:r>
                        <a:rPr lang="en-US" sz="1200" b="1" kern="1200" dirty="0">
                          <a:solidFill>
                            <a:schemeClr val="bg1"/>
                          </a:solidFill>
                          <a:latin typeface="+mn-lt"/>
                          <a:ea typeface="+mn-ea"/>
                          <a:cs typeface="+mn-cs"/>
                        </a:rPr>
                        <a:t>(USD Million)</a:t>
                      </a:r>
                    </a:p>
                  </a:txBody>
                  <a:tcPr anchor="ctr">
                    <a:solidFill>
                      <a:srgbClr val="0B4F4A"/>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11,986</a:t>
                      </a:r>
                    </a:p>
                  </a:txBody>
                  <a:tcPr marL="9525" marR="9525" marT="9525" marB="0" anchor="ctr">
                    <a:solidFill>
                      <a:srgbClr val="EAF5F1"/>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12,887</a:t>
                      </a:r>
                    </a:p>
                  </a:txBody>
                  <a:tcPr marL="9525" marR="9525" marT="9525" marB="0" anchor="ctr">
                    <a:solidFill>
                      <a:srgbClr val="EAF5F1"/>
                    </a:solidFill>
                  </a:tcPr>
                </a:tc>
                <a:tc>
                  <a:txBody>
                    <a:bodyPr/>
                    <a:lstStyle/>
                    <a:p>
                      <a:pPr algn="ctr" fontAlgn="ctr"/>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11,498</a:t>
                      </a:r>
                    </a:p>
                  </a:txBody>
                  <a:tcPr marL="9525" marR="9525" marT="9525" marB="0" anchor="ctr">
                    <a:solidFill>
                      <a:srgbClr val="EAF5F1"/>
                    </a:solidFill>
                  </a:tcPr>
                </a:tc>
                <a:extLst>
                  <a:ext uri="{0D108BD9-81ED-4DB2-BD59-A6C34878D82A}">
                    <a16:rowId xmlns:a16="http://schemas.microsoft.com/office/drawing/2014/main" val="10008"/>
                  </a:ext>
                </a:extLst>
              </a:tr>
            </a:tbl>
          </a:graphicData>
        </a:graphic>
      </p:graphicFrame>
      <p:graphicFrame>
        <p:nvGraphicFramePr>
          <p:cNvPr id="10" name="Table 9">
            <a:extLst>
              <a:ext uri="{FF2B5EF4-FFF2-40B4-BE49-F238E27FC236}">
                <a16:creationId xmlns:a16="http://schemas.microsoft.com/office/drawing/2014/main" id="{CD46CAF0-8B43-19ED-96C5-FEEED6D8D5F2}"/>
              </a:ext>
            </a:extLst>
          </p:cNvPr>
          <p:cNvGraphicFramePr>
            <a:graphicFrameLocks noGrp="1"/>
          </p:cNvGraphicFramePr>
          <p:nvPr>
            <p:extLst>
              <p:ext uri="{D42A27DB-BD31-4B8C-83A1-F6EECF244321}">
                <p14:modId xmlns:p14="http://schemas.microsoft.com/office/powerpoint/2010/main" val="1335262205"/>
              </p:ext>
            </p:extLst>
          </p:nvPr>
        </p:nvGraphicFramePr>
        <p:xfrm>
          <a:off x="4148337" y="3094762"/>
          <a:ext cx="3821677" cy="3021371"/>
        </p:xfrm>
        <a:graphic>
          <a:graphicData uri="http://schemas.openxmlformats.org/drawingml/2006/table">
            <a:tbl>
              <a:tblPr firstRow="1" bandRow="1">
                <a:tableStyleId>{93296810-A885-4BE3-A3E7-6D5BEEA58F35}</a:tableStyleId>
              </a:tblPr>
              <a:tblGrid>
                <a:gridCol w="1217293">
                  <a:extLst>
                    <a:ext uri="{9D8B030D-6E8A-4147-A177-3AD203B41FA5}">
                      <a16:colId xmlns:a16="http://schemas.microsoft.com/office/drawing/2014/main" val="20000"/>
                    </a:ext>
                  </a:extLst>
                </a:gridCol>
                <a:gridCol w="781161">
                  <a:extLst>
                    <a:ext uri="{9D8B030D-6E8A-4147-A177-3AD203B41FA5}">
                      <a16:colId xmlns:a16="http://schemas.microsoft.com/office/drawing/2014/main" val="2036228644"/>
                    </a:ext>
                  </a:extLst>
                </a:gridCol>
                <a:gridCol w="902514">
                  <a:extLst>
                    <a:ext uri="{9D8B030D-6E8A-4147-A177-3AD203B41FA5}">
                      <a16:colId xmlns:a16="http://schemas.microsoft.com/office/drawing/2014/main" val="20002"/>
                    </a:ext>
                  </a:extLst>
                </a:gridCol>
                <a:gridCol w="920709">
                  <a:extLst>
                    <a:ext uri="{9D8B030D-6E8A-4147-A177-3AD203B41FA5}">
                      <a16:colId xmlns:a16="http://schemas.microsoft.com/office/drawing/2014/main" val="20003"/>
                    </a:ext>
                  </a:extLst>
                </a:gridCol>
              </a:tblGrid>
              <a:tr h="484441">
                <a:tc>
                  <a:txBody>
                    <a:bodyPr/>
                    <a:lstStyle/>
                    <a:p>
                      <a:pPr marL="0" algn="l" defTabSz="914400" rtl="0" eaLnBrk="1" latinLnBrk="0" hangingPunct="1"/>
                      <a:r>
                        <a:rPr lang="en-US" sz="1200" b="1" kern="1200" dirty="0">
                          <a:solidFill>
                            <a:schemeClr val="bg1"/>
                          </a:solidFill>
                          <a:latin typeface="+mn-lt"/>
                          <a:ea typeface="+mn-ea"/>
                          <a:cs typeface="+mn-cs"/>
                        </a:rPr>
                        <a:t>Business Segment</a:t>
                      </a:r>
                    </a:p>
                  </a:txBody>
                  <a:tcPr anchor="ctr">
                    <a:solidFill>
                      <a:srgbClr val="8BC34A"/>
                    </a:solidFill>
                  </a:tcPr>
                </a:tc>
                <a:tc>
                  <a:txBody>
                    <a:bodyPr/>
                    <a:lstStyle/>
                    <a:p>
                      <a:pPr marL="0" algn="ctr" defTabSz="914400" rtl="0" eaLnBrk="1" latinLnBrk="0" hangingPunct="1"/>
                      <a:r>
                        <a:rPr lang="en-US" sz="1200" b="1" kern="1200" dirty="0">
                          <a:solidFill>
                            <a:schemeClr val="bg1"/>
                          </a:solidFill>
                          <a:latin typeface="+mn-lt"/>
                          <a:ea typeface="+mn-ea"/>
                          <a:cs typeface="+mn-cs"/>
                        </a:rPr>
                        <a:t>2023</a:t>
                      </a:r>
                    </a:p>
                  </a:txBody>
                  <a:tcPr anchor="ctr">
                    <a:solidFill>
                      <a:srgbClr val="8BC34A"/>
                    </a:solidFill>
                  </a:tcPr>
                </a:tc>
                <a:tc>
                  <a:txBody>
                    <a:bodyPr/>
                    <a:lstStyle/>
                    <a:p>
                      <a:pPr marL="0" algn="ctr" defTabSz="914400" rtl="0" eaLnBrk="1" latinLnBrk="0" hangingPunct="1"/>
                      <a:r>
                        <a:rPr lang="en-US" sz="1200" b="1" kern="1200" dirty="0">
                          <a:solidFill>
                            <a:schemeClr val="bg1"/>
                          </a:solidFill>
                          <a:latin typeface="+mn-lt"/>
                          <a:ea typeface="+mn-ea"/>
                          <a:cs typeface="+mn-cs"/>
                        </a:rPr>
                        <a:t>2024</a:t>
                      </a:r>
                    </a:p>
                  </a:txBody>
                  <a:tcPr anchor="ctr">
                    <a:solidFill>
                      <a:srgbClr val="8BC34A"/>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2025</a:t>
                      </a:r>
                    </a:p>
                  </a:txBody>
                  <a:tcPr anchor="ctr">
                    <a:solidFill>
                      <a:srgbClr val="8BC34A"/>
                    </a:solidFill>
                  </a:tcPr>
                </a:tc>
                <a:extLst>
                  <a:ext uri="{0D108BD9-81ED-4DB2-BD59-A6C34878D82A}">
                    <a16:rowId xmlns:a16="http://schemas.microsoft.com/office/drawing/2014/main" val="10000"/>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PFNA</a:t>
                      </a:r>
                    </a:p>
                  </a:txBody>
                  <a:tcPr marL="0" marR="0" marT="0" marB="0" anchor="ctr">
                    <a:solidFill>
                      <a:srgbClr val="8BC34A"/>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9525" marR="9525" marT="9525"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27,528</a:t>
                      </a:r>
                    </a:p>
                  </a:txBody>
                  <a:tcPr marL="0" marR="0" marT="0" marB="0" anchor="ctr">
                    <a:solidFill>
                      <a:srgbClr val="EAF5F1"/>
                    </a:solidFill>
                  </a:tcPr>
                </a:tc>
                <a:extLst>
                  <a:ext uri="{0D108BD9-81ED-4DB2-BD59-A6C34878D82A}">
                    <a16:rowId xmlns:a16="http://schemas.microsoft.com/office/drawing/2014/main" val="10001"/>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FLNA</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24,914 </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 24,755</a:t>
                      </a:r>
                    </a:p>
                  </a:txBody>
                  <a:tcPr marL="0" marR="0" marT="0"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extLst>
                  <a:ext uri="{0D108BD9-81ED-4DB2-BD59-A6C34878D82A}">
                    <a16:rowId xmlns:a16="http://schemas.microsoft.com/office/drawing/2014/main" val="276183143"/>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QFNA</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3,101</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 2,676</a:t>
                      </a:r>
                    </a:p>
                  </a:txBody>
                  <a:tcPr marL="0" marR="0" marT="0"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extLst>
                  <a:ext uri="{0D108BD9-81ED-4DB2-BD59-A6C34878D82A}">
                    <a16:rowId xmlns:a16="http://schemas.microsoft.com/office/drawing/2014/main" val="3378342506"/>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PBNA</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27,626</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27,769</a:t>
                      </a:r>
                    </a:p>
                  </a:txBody>
                  <a:tcPr marL="0" marR="0" marT="0"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28,197 </a:t>
                      </a:r>
                    </a:p>
                  </a:txBody>
                  <a:tcPr marL="0" marR="0" marT="0" marB="0" anchor="ctr">
                    <a:solidFill>
                      <a:srgbClr val="EAF5F1"/>
                    </a:solidFill>
                  </a:tcPr>
                </a:tc>
                <a:extLst>
                  <a:ext uri="{0D108BD9-81ED-4DB2-BD59-A6C34878D82A}">
                    <a16:rowId xmlns:a16="http://schemas.microsoft.com/office/drawing/2014/main" val="10002"/>
                  </a:ext>
                </a:extLst>
              </a:tr>
              <a:tr h="230630">
                <a:tc>
                  <a:txBody>
                    <a:bodyPr/>
                    <a:lstStyle/>
                    <a:p>
                      <a:pPr marL="72000" lvl="0" algn="l" defTabSz="914400" rtl="0" eaLnBrk="1" fontAlgn="b" latinLnBrk="0" hangingPunct="1"/>
                      <a:r>
                        <a:rPr lang="en-US" sz="1200" b="1" kern="1200" dirty="0">
                          <a:solidFill>
                            <a:schemeClr val="bg1"/>
                          </a:solidFill>
                          <a:latin typeface="+mn-lt"/>
                          <a:ea typeface="+mn-ea"/>
                          <a:cs typeface="+mn-cs"/>
                        </a:rPr>
                        <a:t>IB Franchise</a:t>
                      </a:r>
                      <a:endParaRPr lang="en-IN" sz="1200" b="1" kern="1200" dirty="0">
                        <a:solidFill>
                          <a:schemeClr val="bg1"/>
                        </a:solidFill>
                        <a:latin typeface="+mn-lt"/>
                        <a:ea typeface="+mn-ea"/>
                        <a:cs typeface="+mn-cs"/>
                      </a:endParaRPr>
                    </a:p>
                  </a:txBody>
                  <a:tcPr marL="0" marR="0" marT="0" marB="0" anchor="ctr">
                    <a:solidFill>
                      <a:srgbClr val="8BC34A"/>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9525" marR="9525" marT="9525"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4,997</a:t>
                      </a:r>
                    </a:p>
                  </a:txBody>
                  <a:tcPr marL="0" marR="0" marT="0" marB="0" anchor="ctr">
                    <a:solidFill>
                      <a:srgbClr val="EAF5F1"/>
                    </a:solidFill>
                  </a:tcPr>
                </a:tc>
                <a:extLst>
                  <a:ext uri="{0D108BD9-81ED-4DB2-BD59-A6C34878D82A}">
                    <a16:rowId xmlns:a16="http://schemas.microsoft.com/office/drawing/2014/main" val="3351104198"/>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Europe</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13,234</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 13,874 </a:t>
                      </a:r>
                    </a:p>
                  </a:txBody>
                  <a:tcPr marL="0" marR="0" marT="0"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extLst>
                  <a:ext uri="{0D108BD9-81ED-4DB2-BD59-A6C34878D82A}">
                    <a16:rowId xmlns:a16="http://schemas.microsoft.com/office/drawing/2014/main" val="1320722566"/>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AMESA</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6,139 </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6,217</a:t>
                      </a:r>
                    </a:p>
                  </a:txBody>
                  <a:tcPr marL="0" marR="0" marT="0"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extLst>
                  <a:ext uri="{0D108BD9-81ED-4DB2-BD59-A6C34878D82A}">
                    <a16:rowId xmlns:a16="http://schemas.microsoft.com/office/drawing/2014/main" val="2578489126"/>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EMEA</a:t>
                      </a:r>
                    </a:p>
                  </a:txBody>
                  <a:tcPr marL="0" marR="0" marT="0" marB="0" anchor="ctr">
                    <a:solidFill>
                      <a:srgbClr val="8BC34A"/>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9525" marR="9525" marT="9525"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a:t>
                      </a:r>
                    </a:p>
                  </a:txBody>
                  <a:tcPr marL="0" marR="0" marT="0"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18,025</a:t>
                      </a:r>
                    </a:p>
                  </a:txBody>
                  <a:tcPr marL="0" marR="0" marT="0" marB="0" anchor="ctr">
                    <a:solidFill>
                      <a:srgbClr val="EAF5F1"/>
                    </a:solidFill>
                  </a:tcPr>
                </a:tc>
                <a:extLst>
                  <a:ext uri="{0D108BD9-81ED-4DB2-BD59-A6C34878D82A}">
                    <a16:rowId xmlns:a16="http://schemas.microsoft.com/office/drawing/2014/main" val="3838323121"/>
                  </a:ext>
                </a:extLst>
              </a:tr>
              <a:tr h="230630">
                <a:tc>
                  <a:txBody>
                    <a:bodyPr/>
                    <a:lstStyle/>
                    <a:p>
                      <a:pPr marL="72000" lvl="0" algn="l" defTabSz="914400" rtl="0" eaLnBrk="1" fontAlgn="b" latinLnBrk="0" hangingPunct="1"/>
                      <a:r>
                        <a:rPr lang="en-IN" sz="1200" b="1" kern="1200" dirty="0" err="1">
                          <a:solidFill>
                            <a:schemeClr val="bg1"/>
                          </a:solidFill>
                          <a:latin typeface="+mn-lt"/>
                          <a:ea typeface="+mn-ea"/>
                          <a:cs typeface="+mn-cs"/>
                        </a:rPr>
                        <a:t>LatAm</a:t>
                      </a:r>
                      <a:r>
                        <a:rPr lang="en-IN" sz="1200" b="1" kern="1200" dirty="0">
                          <a:solidFill>
                            <a:schemeClr val="bg1"/>
                          </a:solidFill>
                          <a:latin typeface="+mn-lt"/>
                          <a:ea typeface="+mn-ea"/>
                          <a:cs typeface="+mn-cs"/>
                        </a:rPr>
                        <a:t> Foods</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11,654</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11,718</a:t>
                      </a:r>
                    </a:p>
                  </a:txBody>
                  <a:tcPr marL="0" marR="0" marT="0"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10,549</a:t>
                      </a:r>
                    </a:p>
                  </a:txBody>
                  <a:tcPr marL="0" marR="0" marT="0" marB="0" anchor="ctr">
                    <a:solidFill>
                      <a:srgbClr val="EAF5F1"/>
                    </a:solidFill>
                  </a:tcPr>
                </a:tc>
                <a:extLst>
                  <a:ext uri="{0D108BD9-81ED-4DB2-BD59-A6C34878D82A}">
                    <a16:rowId xmlns:a16="http://schemas.microsoft.com/office/drawing/2014/main" val="1349505799"/>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Asia Pacific Foods</a:t>
                      </a:r>
                    </a:p>
                  </a:txBody>
                  <a:tcPr marL="0" marR="0" marT="0" marB="0" anchor="ctr">
                    <a:solidFill>
                      <a:srgbClr val="8BC34A"/>
                    </a:solidFill>
                  </a:tcPr>
                </a:tc>
                <a:tc>
                  <a:txBody>
                    <a:bodyPr/>
                    <a:lstStyle/>
                    <a:p>
                      <a:pPr marL="0" algn="ctr" defTabSz="914400" rtl="0" eaLnBrk="1" fontAlgn="ctr" latinLnBrk="0" hangingPunct="1"/>
                      <a:r>
                        <a:rPr kumimoji="0" lang="en-US"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4,803</a:t>
                      </a:r>
                    </a:p>
                  </a:txBody>
                  <a:tcPr marL="9525" marR="9525" marT="9525"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4,845 </a:t>
                      </a:r>
                    </a:p>
                  </a:txBody>
                  <a:tcPr marL="0" marR="0" marT="0" marB="0" anchor="ctr">
                    <a:solidFill>
                      <a:srgbClr val="EAF5F1"/>
                    </a:solidFill>
                  </a:tcPr>
                </a:tc>
                <a:tc>
                  <a:txBody>
                    <a:bodyPr/>
                    <a:lstStyle/>
                    <a:p>
                      <a:pPr marL="0" algn="ctr" defTabSz="914400" rtl="0" eaLnBrk="1" fontAlgn="ctr" latinLnBrk="0" hangingPunct="1"/>
                      <a:r>
                        <a:rPr kumimoji="0" lang="en-IN" sz="1200" b="0" i="0" u="none" strike="noStrike" kern="1200" cap="none" spc="0" normalizeH="0" baseline="0" dirty="0">
                          <a:ln>
                            <a:noFill/>
                          </a:ln>
                          <a:solidFill>
                            <a:srgbClr val="1E2624"/>
                          </a:solidFill>
                          <a:effectLst/>
                          <a:uLnTx/>
                          <a:uFillTx/>
                          <a:latin typeface="+mn-lt"/>
                          <a:ea typeface="Calibri" pitchFamily="34" charset="-122"/>
                          <a:cs typeface="Calibri" pitchFamily="34" charset="-120"/>
                        </a:rPr>
                        <a:t>4,629 </a:t>
                      </a:r>
                    </a:p>
                  </a:txBody>
                  <a:tcPr marL="0" marR="0" marT="0" marB="0" anchor="ctr">
                    <a:solidFill>
                      <a:srgbClr val="EAF5F1"/>
                    </a:solidFill>
                  </a:tcPr>
                </a:tc>
                <a:extLst>
                  <a:ext uri="{0D108BD9-81ED-4DB2-BD59-A6C34878D82A}">
                    <a16:rowId xmlns:a16="http://schemas.microsoft.com/office/drawing/2014/main" val="2948752622"/>
                  </a:ext>
                </a:extLst>
              </a:tr>
              <a:tr h="230630">
                <a:tc>
                  <a:txBody>
                    <a:bodyPr/>
                    <a:lstStyle/>
                    <a:p>
                      <a:pPr marL="72000" lvl="0" algn="l" defTabSz="914400" rtl="0" eaLnBrk="1" fontAlgn="b" latinLnBrk="0" hangingPunct="1"/>
                      <a:r>
                        <a:rPr lang="en-IN" sz="1200" b="1" kern="1200" dirty="0">
                          <a:solidFill>
                            <a:schemeClr val="bg1"/>
                          </a:solidFill>
                          <a:latin typeface="+mn-lt"/>
                          <a:ea typeface="+mn-ea"/>
                          <a:cs typeface="+mn-cs"/>
                        </a:rPr>
                        <a:t>Total</a:t>
                      </a:r>
                    </a:p>
                  </a:txBody>
                  <a:tcPr marL="0" marR="0" marT="0" marB="0" anchor="ctr">
                    <a:solidFill>
                      <a:srgbClr val="8BC34A"/>
                    </a:solidFill>
                  </a:tcPr>
                </a:tc>
                <a:tc>
                  <a:txBody>
                    <a:bodyPr/>
                    <a:lstStyle/>
                    <a:p>
                      <a:pPr marL="0" algn="ctr" defTabSz="914400" rtl="0" eaLnBrk="1" fontAlgn="ctr" latinLnBrk="0" hangingPunct="1"/>
                      <a:r>
                        <a:rPr kumimoji="0" lang="en-US"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91,471</a:t>
                      </a:r>
                    </a:p>
                  </a:txBody>
                  <a:tcPr marL="9525" marR="9525" marT="9525"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 91,854 </a:t>
                      </a:r>
                    </a:p>
                  </a:txBody>
                  <a:tcPr marL="0" marR="0" marT="0" marB="0" anchor="ctr">
                    <a:solidFill>
                      <a:srgbClr val="EAF5F1"/>
                    </a:solidFill>
                  </a:tcPr>
                </a:tc>
                <a:tc>
                  <a:txBody>
                    <a:bodyPr/>
                    <a:lstStyle/>
                    <a:p>
                      <a:pPr marL="0" algn="ctr" defTabSz="914400" rtl="0" eaLnBrk="1" fontAlgn="ctr" latinLnBrk="0" hangingPunct="1"/>
                      <a:r>
                        <a:rPr kumimoji="0" lang="en-IN" sz="1200" b="1" i="0" u="none" strike="noStrike" kern="1200" cap="none" spc="0" normalizeH="0" baseline="0" dirty="0">
                          <a:ln>
                            <a:noFill/>
                          </a:ln>
                          <a:solidFill>
                            <a:srgbClr val="1E2624"/>
                          </a:solidFill>
                          <a:effectLst/>
                          <a:uLnTx/>
                          <a:uFillTx/>
                          <a:latin typeface="+mn-lt"/>
                          <a:ea typeface="Calibri" pitchFamily="34" charset="-122"/>
                          <a:cs typeface="Calibri" pitchFamily="34" charset="-120"/>
                        </a:rPr>
                        <a:t>93,925</a:t>
                      </a:r>
                    </a:p>
                  </a:txBody>
                  <a:tcPr marL="0" marR="0" marT="0" marB="0" anchor="ctr">
                    <a:solidFill>
                      <a:srgbClr val="EAF5F1"/>
                    </a:solidFill>
                  </a:tcPr>
                </a:tc>
                <a:extLst>
                  <a:ext uri="{0D108BD9-81ED-4DB2-BD59-A6C34878D82A}">
                    <a16:rowId xmlns:a16="http://schemas.microsoft.com/office/drawing/2014/main" val="1557535740"/>
                  </a:ext>
                </a:extLst>
              </a:tr>
            </a:tbl>
          </a:graphicData>
        </a:graphic>
      </p:graphicFrame>
      <p:graphicFrame>
        <p:nvGraphicFramePr>
          <p:cNvPr id="12" name="Chart 11">
            <a:extLst>
              <a:ext uri="{FF2B5EF4-FFF2-40B4-BE49-F238E27FC236}">
                <a16:creationId xmlns:a16="http://schemas.microsoft.com/office/drawing/2014/main" id="{E99F9EE2-6CA2-1E79-DB62-0AAA63C17BD8}"/>
              </a:ext>
            </a:extLst>
          </p:cNvPr>
          <p:cNvGraphicFramePr/>
          <p:nvPr>
            <p:extLst>
              <p:ext uri="{D42A27DB-BD31-4B8C-83A1-F6EECF244321}">
                <p14:modId xmlns:p14="http://schemas.microsoft.com/office/powerpoint/2010/main" val="1822857213"/>
              </p:ext>
            </p:extLst>
          </p:nvPr>
        </p:nvGraphicFramePr>
        <p:xfrm>
          <a:off x="8175446" y="3094760"/>
          <a:ext cx="3413756" cy="3043531"/>
        </p:xfrm>
        <a:graphic>
          <a:graphicData uri="http://schemas.openxmlformats.org/drawingml/2006/chart">
            <c:chart xmlns:c="http://schemas.openxmlformats.org/drawingml/2006/chart" xmlns:r="http://schemas.openxmlformats.org/officeDocument/2006/relationships" r:id="rId3"/>
          </a:graphicData>
        </a:graphic>
      </p:graphicFrame>
      <p:grpSp>
        <p:nvGrpSpPr>
          <p:cNvPr id="29" name="Group 28">
            <a:extLst>
              <a:ext uri="{FF2B5EF4-FFF2-40B4-BE49-F238E27FC236}">
                <a16:creationId xmlns:a16="http://schemas.microsoft.com/office/drawing/2014/main" id="{9F2ED31C-C8AD-54AD-01B2-9B987B95DE74}"/>
              </a:ext>
            </a:extLst>
          </p:cNvPr>
          <p:cNvGrpSpPr/>
          <p:nvPr/>
        </p:nvGrpSpPr>
        <p:grpSpPr>
          <a:xfrm>
            <a:off x="623684" y="1401620"/>
            <a:ext cx="10970216" cy="1151800"/>
            <a:chOff x="623684" y="1401620"/>
            <a:chExt cx="10970216" cy="1151800"/>
          </a:xfrm>
        </p:grpSpPr>
        <p:grpSp>
          <p:nvGrpSpPr>
            <p:cNvPr id="26" name="Group 25">
              <a:extLst>
                <a:ext uri="{FF2B5EF4-FFF2-40B4-BE49-F238E27FC236}">
                  <a16:creationId xmlns:a16="http://schemas.microsoft.com/office/drawing/2014/main" id="{21156C8D-FE4D-CE41-F37C-735B464FE3D1}"/>
                </a:ext>
              </a:extLst>
            </p:cNvPr>
            <p:cNvGrpSpPr/>
            <p:nvPr/>
          </p:nvGrpSpPr>
          <p:grpSpPr>
            <a:xfrm>
              <a:off x="623684" y="1401621"/>
              <a:ext cx="10970216" cy="1151799"/>
              <a:chOff x="6172200" y="3739378"/>
              <a:chExt cx="5486400" cy="1325454"/>
            </a:xfrm>
            <a:solidFill>
              <a:schemeClr val="accent2">
                <a:lumMod val="20000"/>
                <a:lumOff val="80000"/>
              </a:schemeClr>
            </a:solidFill>
          </p:grpSpPr>
          <p:sp>
            <p:nvSpPr>
              <p:cNvPr id="19" name="Shape 14">
                <a:extLst>
                  <a:ext uri="{FF2B5EF4-FFF2-40B4-BE49-F238E27FC236}">
                    <a16:creationId xmlns:a16="http://schemas.microsoft.com/office/drawing/2014/main" id="{4C58E41F-D6B5-CC46-FD7D-AC98987DDC9F}"/>
                  </a:ext>
                </a:extLst>
              </p:cNvPr>
              <p:cNvSpPr/>
              <p:nvPr/>
            </p:nvSpPr>
            <p:spPr>
              <a:xfrm>
                <a:off x="6172200" y="3739378"/>
                <a:ext cx="5486400" cy="1325454"/>
              </a:xfrm>
              <a:prstGeom prst="roundRect">
                <a:avLst>
                  <a:gd name="adj" fmla="val 2712"/>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7">
                <a:extLst>
                  <a:ext uri="{FF2B5EF4-FFF2-40B4-BE49-F238E27FC236}">
                    <a16:creationId xmlns:a16="http://schemas.microsoft.com/office/drawing/2014/main" id="{B2CE6950-8477-177B-F9C4-349003C65B5E}"/>
                  </a:ext>
                </a:extLst>
              </p:cNvPr>
              <p:cNvSpPr/>
              <p:nvPr/>
            </p:nvSpPr>
            <p:spPr>
              <a:xfrm>
                <a:off x="6286614" y="4252716"/>
                <a:ext cx="5134242" cy="812116"/>
              </a:xfrm>
              <a:prstGeom prst="rect">
                <a:avLst/>
              </a:prstGeom>
              <a:noFill/>
              <a:ln/>
            </p:spPr>
            <p:txBody>
              <a:bodyPr wrap="square" lIns="0" tIns="0" rIns="0" bIns="0" rtlCol="0" anchor="t"/>
              <a:lstStyle/>
              <a:p>
                <a:pPr marL="152400" marR="0" lvl="0" indent="-152400" algn="l" defTabSz="914400" rtl="0" eaLnBrk="1" fontAlgn="auto" latinLnBrk="0" hangingPunct="1">
                  <a:lnSpc>
                    <a:spcPct val="102000"/>
                  </a:lnSpc>
                  <a:spcBef>
                    <a:spcPts val="0"/>
                  </a:spcBef>
                  <a:spcAft>
                    <a:spcPts val="600"/>
                  </a:spcAft>
                  <a:buClrTx/>
                  <a:buSzPct val="100000"/>
                  <a:buFontTx/>
                  <a:buChar char="■"/>
                  <a:tabLst/>
                  <a:defRPr/>
                </a:pPr>
                <a:r>
                  <a:rPr kumimoji="0" lang="en-US" sz="120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March 2026: PepsiCo achieved two key pep+ water milestones by replenishing 100% of the water used at company-owned facilities in high water-risk watersheds and implementing the Alliance for Water Stewardship (AWS) Standard across these sites, reinforcing its commitment to sustainable water management and environmental stewardship.</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4" name="Shape 7">
              <a:extLst>
                <a:ext uri="{FF2B5EF4-FFF2-40B4-BE49-F238E27FC236}">
                  <a16:creationId xmlns:a16="http://schemas.microsoft.com/office/drawing/2014/main" id="{A7023712-AD87-5555-A2B3-AD1AC2F4A6C8}"/>
                </a:ext>
              </a:extLst>
            </p:cNvPr>
            <p:cNvSpPr/>
            <p:nvPr/>
          </p:nvSpPr>
          <p:spPr>
            <a:xfrm>
              <a:off x="623684" y="1401620"/>
              <a:ext cx="2274791" cy="411480"/>
            </a:xfrm>
            <a:prstGeom prst="roundRect">
              <a:avLst>
                <a:gd name="adj" fmla="val 26667"/>
              </a:avLst>
            </a:prstGeom>
            <a:solidFill>
              <a:srgbClr val="FF6B35"/>
            </a:solidFill>
            <a:ln/>
          </p:spPr>
          <p:txBody>
            <a:bodyPr/>
            <a:lstStyle/>
            <a:p>
              <a:r>
                <a:rPr lang="en-IN" sz="1400" b="1" dirty="0">
                  <a:solidFill>
                    <a:srgbClr val="FFFFFF"/>
                  </a:solidFill>
                  <a:latin typeface="Calibri" pitchFamily="34" charset="0"/>
                  <a:ea typeface="Calibri" pitchFamily="34" charset="-122"/>
                  <a:cs typeface="Calibri" pitchFamily="34" charset="-120"/>
                </a:rPr>
                <a:t>RECENT DEVELOPMENT</a:t>
              </a:r>
            </a:p>
          </p:txBody>
        </p:sp>
      </p:grpSp>
      <p:sp>
        <p:nvSpPr>
          <p:cNvPr id="16" name="Shape 3">
            <a:extLst>
              <a:ext uri="{FF2B5EF4-FFF2-40B4-BE49-F238E27FC236}">
                <a16:creationId xmlns:a16="http://schemas.microsoft.com/office/drawing/2014/main" id="{9298D2E5-A0E4-FA33-18B6-DF6A3F9E1D0C}"/>
              </a:ext>
            </a:extLst>
          </p:cNvPr>
          <p:cNvSpPr/>
          <p:nvPr/>
        </p:nvSpPr>
        <p:spPr>
          <a:xfrm>
            <a:off x="623684" y="2643216"/>
            <a:ext cx="3325052" cy="411480"/>
          </a:xfrm>
          <a:prstGeom prst="roundRect">
            <a:avLst>
              <a:gd name="adj" fmla="val 26667"/>
            </a:avLst>
          </a:prstGeom>
          <a:solidFill>
            <a:srgbClr val="0B4F4A"/>
          </a:solidFill>
          <a:ln/>
        </p:spPr>
        <p:txBody>
          <a:bodyPr/>
          <a:lstStyle/>
          <a:p>
            <a:pPr marR="0" lvl="0" indent="0" fontAlgn="auto">
              <a:lnSpc>
                <a:spcPct val="100000"/>
              </a:lnSpc>
              <a:spcBef>
                <a:spcPts val="0"/>
              </a:spcBef>
              <a:spcAft>
                <a:spcPts val="0"/>
              </a:spcAft>
              <a:buClrTx/>
              <a:buSzTx/>
              <a:buFontTx/>
              <a:buNone/>
              <a:tabLst/>
              <a:defRPr/>
            </a:pPr>
            <a:r>
              <a:rPr lang="en-IN" sz="1400" b="1" dirty="0">
                <a:solidFill>
                  <a:srgbClr val="FFFFFF"/>
                </a:solidFill>
                <a:latin typeface="Calibri" pitchFamily="34" charset="0"/>
                <a:ea typeface="Calibri" pitchFamily="34" charset="-122"/>
                <a:cs typeface="Calibri" pitchFamily="34" charset="-120"/>
              </a:rPr>
              <a:t>FINANCIAL ANALYSIS:</a:t>
            </a:r>
          </a:p>
        </p:txBody>
      </p:sp>
      <p:sp>
        <p:nvSpPr>
          <p:cNvPr id="18" name="Shape 11">
            <a:extLst>
              <a:ext uri="{FF2B5EF4-FFF2-40B4-BE49-F238E27FC236}">
                <a16:creationId xmlns:a16="http://schemas.microsoft.com/office/drawing/2014/main" id="{DFEE4810-9DE1-234A-E4F0-A5C0A730F3B1}"/>
              </a:ext>
            </a:extLst>
          </p:cNvPr>
          <p:cNvSpPr/>
          <p:nvPr/>
        </p:nvSpPr>
        <p:spPr>
          <a:xfrm>
            <a:off x="4139711" y="2643216"/>
            <a:ext cx="3821677" cy="411480"/>
          </a:xfrm>
          <a:prstGeom prst="roundRect">
            <a:avLst>
              <a:gd name="adj" fmla="val 26667"/>
            </a:avLst>
          </a:prstGeom>
          <a:solidFill>
            <a:srgbClr val="8BC34A"/>
          </a:solidFill>
          <a:ln/>
        </p:spPr>
        <p:txBody>
          <a:bodyPr/>
          <a:lstStyle/>
          <a:p>
            <a:pPr>
              <a:defRPr/>
            </a:pPr>
            <a:r>
              <a:rPr lang="en-IN" sz="1400" b="1" dirty="0">
                <a:solidFill>
                  <a:srgbClr val="FFFFFF"/>
                </a:solidFill>
                <a:latin typeface="Calibri" pitchFamily="34" charset="0"/>
                <a:ea typeface="Calibri" pitchFamily="34" charset="-122"/>
                <a:cs typeface="Calibri" pitchFamily="34" charset="-120"/>
              </a:rPr>
              <a:t>SEGMENTAL ANALYSIS:</a:t>
            </a:r>
          </a:p>
        </p:txBody>
      </p:sp>
      <p:sp>
        <p:nvSpPr>
          <p:cNvPr id="28" name="Shape 15">
            <a:extLst>
              <a:ext uri="{FF2B5EF4-FFF2-40B4-BE49-F238E27FC236}">
                <a16:creationId xmlns:a16="http://schemas.microsoft.com/office/drawing/2014/main" id="{792D45AD-E985-FFD3-EACD-A68DF8DAF52B}"/>
              </a:ext>
            </a:extLst>
          </p:cNvPr>
          <p:cNvSpPr/>
          <p:nvPr/>
        </p:nvSpPr>
        <p:spPr>
          <a:xfrm>
            <a:off x="8175446" y="2643216"/>
            <a:ext cx="3418454" cy="411480"/>
          </a:xfrm>
          <a:prstGeom prst="roundRect">
            <a:avLst>
              <a:gd name="adj" fmla="val 26667"/>
            </a:avLst>
          </a:prstGeom>
          <a:solidFill>
            <a:srgbClr val="8A2C2C"/>
          </a:solidFill>
          <a:ln/>
        </p:spPr>
        <p:txBody>
          <a:bodyPr/>
          <a:lstStyle/>
          <a:p>
            <a:pPr marR="0" lvl="0" indent="0" fontAlgn="auto">
              <a:lnSpc>
                <a:spcPct val="100000"/>
              </a:lnSpc>
              <a:spcBef>
                <a:spcPts val="0"/>
              </a:spcBef>
              <a:spcAft>
                <a:spcPts val="0"/>
              </a:spcAft>
              <a:buClrTx/>
              <a:buSzTx/>
              <a:buFontTx/>
              <a:buNone/>
              <a:tabLst/>
              <a:defRPr/>
            </a:pPr>
            <a:r>
              <a:rPr lang="en-IN" sz="1400" b="1" dirty="0">
                <a:solidFill>
                  <a:srgbClr val="FFFFFF"/>
                </a:solidFill>
                <a:latin typeface="Calibri" pitchFamily="34" charset="0"/>
                <a:ea typeface="Calibri" pitchFamily="34" charset="-122"/>
                <a:cs typeface="Calibri" pitchFamily="34" charset="-120"/>
              </a:rPr>
              <a:t>REGIONAL ANALYSIS: (2025)</a:t>
            </a:r>
          </a:p>
        </p:txBody>
      </p:sp>
    </p:spTree>
    <p:extLst>
      <p:ext uri="{BB962C8B-B14F-4D97-AF65-F5344CB8AC3E}">
        <p14:creationId xmlns:p14="http://schemas.microsoft.com/office/powerpoint/2010/main" val="40911515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B4F4A"/>
        </a:solidFill>
        <a:effectLst/>
      </p:bgPr>
    </p:bg>
    <p:spTree>
      <p:nvGrpSpPr>
        <p:cNvPr id="1" name="">
          <a:extLst>
            <a:ext uri="{FF2B5EF4-FFF2-40B4-BE49-F238E27FC236}">
              <a16:creationId xmlns:a16="http://schemas.microsoft.com/office/drawing/2014/main" id="{EA7E1E8D-A712-1733-7E33-95C09547FC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672648F-012E-EB86-6629-29BF326F7B07}"/>
              </a:ext>
            </a:extLst>
          </p:cNvPr>
          <p:cNvSpPr/>
          <p:nvPr/>
        </p:nvSpPr>
        <p:spPr>
          <a:xfrm>
            <a:off x="9692640" y="-1463040"/>
            <a:ext cx="4572000" cy="4572000"/>
          </a:xfrm>
          <a:prstGeom prst="ellipse">
            <a:avLst/>
          </a:prstGeom>
          <a:solidFill>
            <a:srgbClr val="062E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7E31AFF2-73D4-1707-C531-3FF1D052A34F}"/>
              </a:ext>
            </a:extLst>
          </p:cNvPr>
          <p:cNvSpPr/>
          <p:nvPr/>
        </p:nvSpPr>
        <p:spPr>
          <a:xfrm>
            <a:off x="-1645920" y="4846320"/>
            <a:ext cx="3840480" cy="3840480"/>
          </a:xfrm>
          <a:prstGeom prst="ellipse">
            <a:avLst/>
          </a:prstGeom>
          <a:solidFill>
            <a:srgbClr val="062E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E6856DA6-E139-B232-C362-6323542F89A5}"/>
              </a:ext>
            </a:extLst>
          </p:cNvPr>
          <p:cNvSpPr/>
          <p:nvPr/>
        </p:nvSpPr>
        <p:spPr>
          <a:xfrm>
            <a:off x="822960" y="2331720"/>
            <a:ext cx="5486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F6B35"/>
                </a:solidFill>
                <a:effectLst/>
                <a:uLnTx/>
                <a:uFillTx/>
                <a:latin typeface="Calibri" pitchFamily="34" charset="0"/>
                <a:ea typeface="Calibri" pitchFamily="34" charset="-122"/>
                <a:cs typeface="Calibri" pitchFamily="34" charset="-120"/>
              </a:rPr>
              <a:t>PART 06</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464C6BFD-0804-9FED-53DD-AFF5EA25F671}"/>
              </a:ext>
            </a:extLst>
          </p:cNvPr>
          <p:cNvSpPr/>
          <p:nvPr/>
        </p:nvSpPr>
        <p:spPr>
          <a:xfrm>
            <a:off x="822960" y="2743200"/>
            <a:ext cx="9875520" cy="1463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Market Size &amp; Forecast Analysis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E8D06242-3D1B-4B13-31D5-48F5ACB11A49}"/>
              </a:ext>
            </a:extLst>
          </p:cNvPr>
          <p:cNvSpPr/>
          <p:nvPr/>
        </p:nvSpPr>
        <p:spPr>
          <a:xfrm>
            <a:off x="822960" y="3875547"/>
            <a:ext cx="86868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EAF5F1"/>
                </a:solidFill>
                <a:effectLst/>
                <a:uLnTx/>
                <a:uFillTx/>
                <a:latin typeface="Calibri" pitchFamily="34" charset="0"/>
                <a:ea typeface="Calibri" pitchFamily="34" charset="-122"/>
                <a:cs typeface="Calibri" pitchFamily="34" charset="-120"/>
              </a:rPr>
              <a:t>Comprehensive market sizing, forecasting, segmentation, and regional analysis supporting strategic business decisions.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DB2ADC95-191D-A0B7-8B49-68C840467EC4}"/>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76787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C121FC-4C6B-AA28-D3C2-E15A75CCBFBD}"/>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4EA4AF30-F18F-08A4-7252-6D72CAC974E4}"/>
              </a:ext>
            </a:extLst>
          </p:cNvPr>
          <p:cNvSpPr/>
          <p:nvPr/>
        </p:nvSpPr>
        <p:spPr>
          <a:xfrm>
            <a:off x="655608" y="724619"/>
            <a:ext cx="7479101" cy="5357003"/>
          </a:xfrm>
          <a:prstGeom prst="roundRect">
            <a:avLst>
              <a:gd name="adj" fmla="val 1600"/>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50D1D0E9-FFB1-1BF4-1A58-31FAC9B4EF09}"/>
              </a:ext>
            </a:extLst>
          </p:cNvPr>
          <p:cNvSpPr/>
          <p:nvPr/>
        </p:nvSpPr>
        <p:spPr>
          <a:xfrm>
            <a:off x="502920" y="6510528"/>
            <a:ext cx="6400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GLOBAL FUNCTIONAL BEVERAGE MARKET  |  2025 – 2036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2">
            <a:extLst>
              <a:ext uri="{FF2B5EF4-FFF2-40B4-BE49-F238E27FC236}">
                <a16:creationId xmlns:a16="http://schemas.microsoft.com/office/drawing/2014/main" id="{EE315950-0DB4-CE82-E8B8-EEFEAFF125F9}"/>
              </a:ext>
            </a:extLst>
          </p:cNvPr>
          <p:cNvSpPr/>
          <p:nvPr/>
        </p:nvSpPr>
        <p:spPr>
          <a:xfrm>
            <a:off x="8281358" y="723758"/>
            <a:ext cx="3255034" cy="5357003"/>
          </a:xfrm>
          <a:prstGeom prst="roundRect">
            <a:avLst>
              <a:gd name="adj" fmla="val 1600"/>
            </a:avLst>
          </a:prstGeom>
          <a:solidFill>
            <a:srgbClr val="EAF5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ea typeface="+mn-ea"/>
                <a:cs typeface="+mn-cs"/>
              </a:rPr>
              <a:t>Approach Used: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ea typeface="+mn-ea"/>
                <a:cs typeface="+mn-cs"/>
              </a:rPr>
              <a:t>Top-Down Market Estimation methodology supported by Bottom-Up Validation: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ea typeface="+mn-ea"/>
                <a:cs typeface="+mn-cs"/>
              </a:rPr>
              <a:t>The global market size is established first using secondary research and forecast assumptions.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ea typeface="+mn-ea"/>
                <a:cs typeface="+mn-cs"/>
              </a:rPr>
              <a:t>The global market is projected annually using variable YoY growth rates, resulting in an overall CAGR of 9.27% for 2026–2036.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ea typeface="+mn-ea"/>
                <a:cs typeface="+mn-cs"/>
              </a:rPr>
              <a:t>The forecasted global revenue is then distributed across regions and product types based on market shares, demand patterns, maturity, and expected growth potential.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ea typeface="+mn-ea"/>
                <a:cs typeface="+mn-cs"/>
              </a:rPr>
              <a:t>Each region and product segment is forecast independently using segment-specific CAGRs to reflect differing market dynamics.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ea typeface="+mn-ea"/>
                <a:cs typeface="+mn-cs"/>
              </a:rPr>
              <a:t>Finally, the model is cross-validated, ensuring that the sum of all regional revenues and the sum of all product revenues reconcile with the global market value for every forecast year. This triangulation ensures internal consistency and improves the robustness of the market estimation model.</a:t>
            </a:r>
            <a:endParaRPr kumimoji="0" lang="en-IN" sz="1200" b="0" i="0" u="none" strike="noStrike" kern="1200" cap="none" spc="0" normalizeH="0" baseline="0" noProof="0" dirty="0">
              <a:ln>
                <a:noFill/>
              </a:ln>
              <a:solidFill>
                <a:prstClr val="black"/>
              </a:solidFill>
              <a:effectLst/>
              <a:uLnTx/>
              <a:uFillTx/>
              <a:ea typeface="+mn-ea"/>
              <a:cs typeface="+mn-cs"/>
            </a:endParaRPr>
          </a:p>
        </p:txBody>
      </p:sp>
      <p:pic>
        <p:nvPicPr>
          <p:cNvPr id="12" name="Picture 11">
            <a:extLst>
              <a:ext uri="{FF2B5EF4-FFF2-40B4-BE49-F238E27FC236}">
                <a16:creationId xmlns:a16="http://schemas.microsoft.com/office/drawing/2014/main" id="{3E6EB282-D29C-613B-1B7C-94AAA2C99B8B}"/>
              </a:ext>
            </a:extLst>
          </p:cNvPr>
          <p:cNvPicPr>
            <a:picLocks noChangeAspect="1"/>
          </p:cNvPicPr>
          <p:nvPr/>
        </p:nvPicPr>
        <p:blipFill>
          <a:blip r:embed="rId3"/>
          <a:stretch>
            <a:fillRect/>
          </a:stretch>
        </p:blipFill>
        <p:spPr>
          <a:xfrm>
            <a:off x="743737" y="845389"/>
            <a:ext cx="7313334" cy="5115463"/>
          </a:xfrm>
          <a:prstGeom prst="rect">
            <a:avLst/>
          </a:prstGeom>
        </p:spPr>
      </p:pic>
    </p:spTree>
    <p:extLst>
      <p:ext uri="{BB962C8B-B14F-4D97-AF65-F5344CB8AC3E}">
        <p14:creationId xmlns:p14="http://schemas.microsoft.com/office/powerpoint/2010/main" val="242257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52">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2E2A"/>
          </a:solidFill>
          <a:ln/>
        </p:spPr>
        <p:txBody>
          <a:bodyPr/>
          <a:lstStyle/>
          <a:p>
            <a:endParaRPr lang="en-IN"/>
          </a:p>
        </p:txBody>
      </p:sp>
      <p:sp>
        <p:nvSpPr>
          <p:cNvPr id="3" name="Shape 1"/>
          <p:cNvSpPr/>
          <p:nvPr/>
        </p:nvSpPr>
        <p:spPr>
          <a:xfrm>
            <a:off x="-1645920" y="4846320"/>
            <a:ext cx="3840480" cy="3840480"/>
          </a:xfrm>
          <a:prstGeom prst="ellipse">
            <a:avLst/>
          </a:prstGeom>
          <a:solidFill>
            <a:srgbClr val="062E2A"/>
          </a:solidFill>
          <a:ln/>
        </p:spPr>
        <p:txBody>
          <a:bodyPr/>
          <a:lstStyle/>
          <a:p>
            <a:endParaRPr lang="en-IN"/>
          </a:p>
        </p:txBody>
      </p:sp>
      <p:sp>
        <p:nvSpPr>
          <p:cNvPr id="4" name="Text 2"/>
          <p:cNvSpPr/>
          <p:nvPr/>
        </p:nvSpPr>
        <p:spPr>
          <a:xfrm>
            <a:off x="822960" y="2331720"/>
            <a:ext cx="5486400" cy="457200"/>
          </a:xfrm>
          <a:prstGeom prst="rect">
            <a:avLst/>
          </a:prstGeom>
          <a:noFill/>
          <a:ln/>
        </p:spPr>
        <p:txBody>
          <a:bodyPr wrap="square" rtlCol="0" anchor="ctr"/>
          <a:lstStyle/>
          <a:p>
            <a:pPr marL="0" indent="0">
              <a:buNone/>
            </a:pPr>
            <a:r>
              <a:rPr lang="en-US" sz="1400" b="1" kern="0" spc="200" dirty="0">
                <a:solidFill>
                  <a:srgbClr val="FF6B35"/>
                </a:solidFill>
                <a:latin typeface="Calibri" pitchFamily="34" charset="0"/>
                <a:ea typeface="Calibri" pitchFamily="34" charset="-122"/>
                <a:cs typeface="Calibri" pitchFamily="34" charset="-120"/>
              </a:rPr>
              <a:t>PART 07</a:t>
            </a:r>
            <a:endParaRPr lang="en-US" sz="1500" dirty="0"/>
          </a:p>
        </p:txBody>
      </p:sp>
      <p:sp>
        <p:nvSpPr>
          <p:cNvPr id="5" name="Text 3"/>
          <p:cNvSpPr/>
          <p:nvPr/>
        </p:nvSpPr>
        <p:spPr>
          <a:xfrm>
            <a:off x="822960" y="2743200"/>
            <a:ext cx="9875520" cy="14630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Outlook &amp; Recommendations</a:t>
            </a:r>
            <a:endParaRPr lang="en-US" sz="3400" dirty="0"/>
          </a:p>
        </p:txBody>
      </p:sp>
      <p:sp>
        <p:nvSpPr>
          <p:cNvPr id="6" name="Text 4"/>
          <p:cNvSpPr/>
          <p:nvPr/>
        </p:nvSpPr>
        <p:spPr>
          <a:xfrm>
            <a:off x="822960" y="3875547"/>
            <a:ext cx="8686800" cy="731520"/>
          </a:xfrm>
          <a:prstGeom prst="rect">
            <a:avLst/>
          </a:prstGeom>
          <a:noFill/>
          <a:ln/>
        </p:spPr>
        <p:txBody>
          <a:bodyPr wrap="square" rtlCol="0" anchor="ctr"/>
          <a:lstStyle/>
          <a:p>
            <a:pPr marL="0" indent="0">
              <a:buNone/>
            </a:pPr>
            <a:r>
              <a:rPr lang="en-US" sz="1200" i="1" dirty="0">
                <a:solidFill>
                  <a:srgbClr val="EAF5F1"/>
                </a:solidFill>
                <a:latin typeface="Calibri" pitchFamily="34" charset="0"/>
                <a:ea typeface="Calibri" pitchFamily="34" charset="-122"/>
                <a:cs typeface="Calibri" pitchFamily="34" charset="-120"/>
              </a:rPr>
              <a:t>Investment landscape, innovation trends, and forward-looking guidance for stakeholders</a:t>
            </a:r>
            <a:endParaRPr lang="en-US" sz="135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3302"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Investment &amp; Funding Landscape</a:t>
            </a:r>
            <a:endParaRPr lang="en-US" sz="2800" dirty="0"/>
          </a:p>
        </p:txBody>
      </p:sp>
      <p:sp>
        <p:nvSpPr>
          <p:cNvPr id="3" name="Text 1"/>
          <p:cNvSpPr/>
          <p:nvPr/>
        </p:nvSpPr>
        <p:spPr>
          <a:xfrm>
            <a:off x="563302"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Public research funding, nutrition innovation, and strategic industry investments continue to accelerate functional beverage development globally.</a:t>
            </a:r>
            <a:endParaRPr lang="en-US" sz="1250" dirty="0"/>
          </a:p>
        </p:txBody>
      </p:sp>
      <p:sp>
        <p:nvSpPr>
          <p:cNvPr id="4" name="Text 2"/>
          <p:cNvSpPr/>
          <p:nvPr/>
        </p:nvSpPr>
        <p:spPr>
          <a:xfrm>
            <a:off x="502920" y="1554480"/>
            <a:ext cx="6766560" cy="5120640"/>
          </a:xfrm>
          <a:prstGeom prst="rect">
            <a:avLst/>
          </a:prstGeom>
          <a:noFill/>
          <a:ln/>
        </p:spPr>
        <p:txBody>
          <a:bodyPr wrap="square" rtlCol="0" anchor="t"/>
          <a:lstStyle/>
          <a:p>
            <a:pPr marL="171450" indent="-171450">
              <a:spcAft>
                <a:spcPts val="14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Increasing Government Support for Nutrition Research: </a:t>
            </a:r>
            <a:r>
              <a:rPr lang="en-US" sz="1200" dirty="0">
                <a:solidFill>
                  <a:srgbClr val="1E2624"/>
                </a:solidFill>
                <a:ea typeface="Calibri" pitchFamily="34" charset="-122"/>
                <a:cs typeface="Calibri" pitchFamily="34" charset="-120"/>
              </a:rPr>
              <a:t>Government agencies continue funding research on nutrition, gut microbiome science, food innovation, and personalized nutrition, supporting the development of next-generation functional ingredients.</a:t>
            </a:r>
          </a:p>
          <a:p>
            <a:pPr marL="171450" indent="-171450">
              <a:spcAft>
                <a:spcPts val="1400"/>
              </a:spcAft>
              <a:buSzPct val="100000"/>
              <a:buFont typeface="Arial" panose="020B0604020202020204" pitchFamily="34" charset="0"/>
              <a:buChar char="•"/>
            </a:pPr>
            <a:r>
              <a:rPr lang="en-US" sz="1200" b="1" dirty="0"/>
              <a:t>Public Funding Accelerating Functional Ingredient Innovation: </a:t>
            </a:r>
            <a:r>
              <a:rPr lang="en-US" sz="1200" dirty="0"/>
              <a:t>Government-supported research programs continue investing in probiotics, botanicals, vitamins, proteins, and food biotechnology to improve public health and nutrition outcomes.</a:t>
            </a:r>
          </a:p>
          <a:p>
            <a:pPr marL="171450" indent="-171450">
              <a:spcAft>
                <a:spcPts val="1400"/>
              </a:spcAft>
              <a:buSzPct val="100000"/>
              <a:buFont typeface="Arial" panose="020B0604020202020204" pitchFamily="34" charset="0"/>
              <a:buChar char="•"/>
            </a:pPr>
            <a:r>
              <a:rPr lang="en-US" sz="1200" b="1" dirty="0"/>
              <a:t>Strategic Industry Investments Continue Expanding:</a:t>
            </a:r>
            <a:r>
              <a:rPr lang="en-US" sz="1200" dirty="0"/>
              <a:t> Major beverage manufacturers continue investing in product innovation, manufacturing expansion, digital capabilities, and healthier beverage portfolios to address evolving consumer demand.</a:t>
            </a:r>
          </a:p>
          <a:p>
            <a:pPr marL="171450" indent="-171450">
              <a:spcAft>
                <a:spcPts val="1400"/>
              </a:spcAft>
              <a:buSzPct val="100000"/>
              <a:buFont typeface="Arial" panose="020B0604020202020204" pitchFamily="34" charset="0"/>
              <a:buChar char="•"/>
            </a:pPr>
            <a:r>
              <a:rPr lang="en-US" sz="1200" dirty="0"/>
              <a:t>Content</a:t>
            </a:r>
          </a:p>
        </p:txBody>
      </p:sp>
      <p:sp>
        <p:nvSpPr>
          <p:cNvPr id="5" name="Shape 3"/>
          <p:cNvSpPr/>
          <p:nvPr/>
        </p:nvSpPr>
        <p:spPr>
          <a:xfrm>
            <a:off x="7543800" y="1408694"/>
            <a:ext cx="3931920" cy="2110452"/>
          </a:xfrm>
          <a:prstGeom prst="roundRect">
            <a:avLst>
              <a:gd name="adj" fmla="val 2991"/>
            </a:avLst>
          </a:prstGeom>
          <a:solidFill>
            <a:srgbClr val="0B4F4A"/>
          </a:solidFill>
          <a:ln/>
        </p:spPr>
        <p:txBody>
          <a:bodyPr/>
          <a:lstStyle/>
          <a:p>
            <a:endParaRPr lang="en-IN"/>
          </a:p>
        </p:txBody>
      </p:sp>
      <p:sp>
        <p:nvSpPr>
          <p:cNvPr id="6" name="Text 4"/>
          <p:cNvSpPr/>
          <p:nvPr/>
        </p:nvSpPr>
        <p:spPr>
          <a:xfrm>
            <a:off x="7726680" y="1378334"/>
            <a:ext cx="3749040" cy="1345311"/>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NIH</a:t>
            </a:r>
            <a:endParaRPr lang="en-US" sz="2600" dirty="0"/>
          </a:p>
        </p:txBody>
      </p:sp>
      <p:sp>
        <p:nvSpPr>
          <p:cNvPr id="7" name="Text 5"/>
          <p:cNvSpPr/>
          <p:nvPr/>
        </p:nvSpPr>
        <p:spPr>
          <a:xfrm>
            <a:off x="7726680" y="2339945"/>
            <a:ext cx="3749040" cy="978408"/>
          </a:xfrm>
          <a:prstGeom prst="rect">
            <a:avLst/>
          </a:prstGeom>
          <a:noFill/>
          <a:ln/>
        </p:spPr>
        <p:txBody>
          <a:bodyPr wrap="square" rtlCol="0" anchor="t"/>
          <a:lstStyle/>
          <a:p>
            <a:pPr marL="0" indent="0" algn="l">
              <a:buNone/>
            </a:pPr>
            <a:r>
              <a:rPr lang="en-US" sz="1200" b="1" dirty="0">
                <a:solidFill>
                  <a:srgbClr val="FFFFFF"/>
                </a:solidFill>
                <a:latin typeface="Calibri"/>
                <a:ea typeface="Calibri" pitchFamily="34" charset="-122"/>
                <a:cs typeface="Calibri" pitchFamily="34" charset="-120"/>
              </a:rPr>
              <a:t>Largest public funder of biomedical research globally</a:t>
            </a:r>
          </a:p>
          <a:p>
            <a:pPr marL="0" indent="0" algn="l">
              <a:buNone/>
            </a:pPr>
            <a:endParaRPr lang="en-US" sz="1200" dirty="0">
              <a:solidFill>
                <a:srgbClr val="FFFFFF"/>
              </a:solidFill>
              <a:latin typeface="Calibri"/>
              <a:ea typeface="Calibri" pitchFamily="34" charset="-122"/>
              <a:cs typeface="Calibri" pitchFamily="34" charset="-120"/>
            </a:endParaRPr>
          </a:p>
          <a:p>
            <a:pPr marL="0" indent="0" algn="l">
              <a:buNone/>
            </a:pPr>
            <a:r>
              <a:rPr lang="en-US" sz="1200" dirty="0">
                <a:solidFill>
                  <a:srgbClr val="FFFFFF"/>
                </a:solidFill>
                <a:latin typeface="Calibri"/>
                <a:ea typeface="Calibri" pitchFamily="34" charset="-122"/>
                <a:cs typeface="Calibri" pitchFamily="34" charset="-120"/>
              </a:rPr>
              <a:t>Supporting nutrition, microbiome, and food innovation research.</a:t>
            </a:r>
            <a:endParaRPr lang="en-US" sz="1200" dirty="0"/>
          </a:p>
        </p:txBody>
      </p:sp>
      <p:sp>
        <p:nvSpPr>
          <p:cNvPr id="8" name="Shape 6"/>
          <p:cNvSpPr/>
          <p:nvPr/>
        </p:nvSpPr>
        <p:spPr>
          <a:xfrm>
            <a:off x="7543800" y="4040184"/>
            <a:ext cx="3931920" cy="1903416"/>
          </a:xfrm>
          <a:prstGeom prst="roundRect">
            <a:avLst>
              <a:gd name="adj" fmla="val 2991"/>
            </a:avLst>
          </a:prstGeom>
          <a:solidFill>
            <a:srgbClr val="0B4F4A"/>
          </a:solidFill>
          <a:ln/>
        </p:spPr>
        <p:txBody>
          <a:bodyPr/>
          <a:lstStyle/>
          <a:p>
            <a:endParaRPr lang="en-IN"/>
          </a:p>
        </p:txBody>
      </p:sp>
      <p:sp>
        <p:nvSpPr>
          <p:cNvPr id="9" name="Text 7"/>
          <p:cNvSpPr/>
          <p:nvPr/>
        </p:nvSpPr>
        <p:spPr>
          <a:xfrm>
            <a:off x="7726680" y="3839391"/>
            <a:ext cx="3749040" cy="1345311"/>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SBIR &amp; STTR</a:t>
            </a:r>
            <a:endParaRPr lang="en-US" sz="2600" dirty="0"/>
          </a:p>
        </p:txBody>
      </p:sp>
      <p:sp>
        <p:nvSpPr>
          <p:cNvPr id="10" name="Text 8"/>
          <p:cNvSpPr/>
          <p:nvPr/>
        </p:nvSpPr>
        <p:spPr>
          <a:xfrm>
            <a:off x="7726680" y="4950552"/>
            <a:ext cx="3749040" cy="978408"/>
          </a:xfrm>
          <a:prstGeom prst="rect">
            <a:avLst/>
          </a:prstGeom>
          <a:noFill/>
          <a:ln/>
        </p:spPr>
        <p:txBody>
          <a:bodyPr wrap="square" rtlCol="0" anchor="t"/>
          <a:lstStyle/>
          <a:p>
            <a:pPr marL="0" indent="0" algn="l">
              <a:buNone/>
            </a:pPr>
            <a:r>
              <a:rPr lang="en-US" sz="1200" dirty="0">
                <a:solidFill>
                  <a:srgbClr val="FFFFFF"/>
                </a:solidFill>
                <a:latin typeface="Calibri"/>
                <a:ea typeface="Calibri" pitchFamily="34" charset="-122"/>
                <a:cs typeface="Calibri" pitchFamily="34" charset="-120"/>
              </a:rPr>
              <a:t>Federal innovation programs supporting commercialization of nutrition, biotechnology, and food innovation.</a:t>
            </a:r>
            <a:endParaRPr lang="en-US" sz="1200" dirty="0"/>
          </a:p>
        </p:txBody>
      </p:sp>
      <p:sp>
        <p:nvSpPr>
          <p:cNvPr id="11" name="Text 9"/>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8798"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Technology &amp; Innovation Trends</a:t>
            </a:r>
            <a:endParaRPr lang="en-US" sz="2800" dirty="0"/>
          </a:p>
        </p:txBody>
      </p:sp>
      <p:sp>
        <p:nvSpPr>
          <p:cNvPr id="3" name="Text 1"/>
          <p:cNvSpPr/>
          <p:nvPr/>
        </p:nvSpPr>
        <p:spPr>
          <a:xfrm>
            <a:off x="563302"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Emerging technologies are transforming functional beverage innovation by improving ingredient stability, accelerating product development, enhancing traceability, and enabling personalized nutrition solutions.</a:t>
            </a:r>
            <a:endParaRPr lang="en-US" sz="1250" dirty="0"/>
          </a:p>
        </p:txBody>
      </p:sp>
      <p:sp>
        <p:nvSpPr>
          <p:cNvPr id="4" name="Shape 2"/>
          <p:cNvSpPr/>
          <p:nvPr/>
        </p:nvSpPr>
        <p:spPr>
          <a:xfrm>
            <a:off x="1491615" y="1600200"/>
            <a:ext cx="640080" cy="640080"/>
          </a:xfrm>
          <a:prstGeom prst="ellipse">
            <a:avLst/>
          </a:prstGeom>
          <a:solidFill>
            <a:srgbClr val="0B4F4A"/>
          </a:solidFill>
          <a:ln/>
        </p:spPr>
        <p:txBody>
          <a:bodyPr/>
          <a:lstStyle/>
          <a:p>
            <a:endParaRPr lang="en-IN"/>
          </a:p>
        </p:txBody>
      </p:sp>
      <p:sp>
        <p:nvSpPr>
          <p:cNvPr id="5" name="Text 3"/>
          <p:cNvSpPr/>
          <p:nvPr/>
        </p:nvSpPr>
        <p:spPr>
          <a:xfrm>
            <a:off x="1491615" y="160020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640080" y="2103119"/>
            <a:ext cx="2373630" cy="3909489"/>
          </a:xfrm>
          <a:prstGeom prst="roundRect">
            <a:avLst>
              <a:gd name="adj" fmla="val 2795"/>
            </a:avLst>
          </a:prstGeom>
          <a:solidFill>
            <a:srgbClr val="EAF5F1"/>
          </a:solidFill>
          <a:ln/>
        </p:spPr>
        <p:txBody>
          <a:bodyPr/>
          <a:lstStyle/>
          <a:p>
            <a:endParaRPr lang="en-IN"/>
          </a:p>
        </p:txBody>
      </p:sp>
      <p:sp>
        <p:nvSpPr>
          <p:cNvPr id="7" name="Text 5"/>
          <p:cNvSpPr/>
          <p:nvPr/>
        </p:nvSpPr>
        <p:spPr>
          <a:xfrm>
            <a:off x="640080" y="2286000"/>
            <a:ext cx="2343150" cy="822960"/>
          </a:xfrm>
          <a:prstGeom prst="rect">
            <a:avLst/>
          </a:prstGeom>
          <a:noFill/>
          <a:ln/>
        </p:spPr>
        <p:txBody>
          <a:bodyPr wrap="square" rtlCol="0" anchor="t"/>
          <a:lstStyle/>
          <a:p>
            <a:pPr marL="0" indent="0">
              <a:buNone/>
            </a:pPr>
            <a:r>
              <a:rPr lang="en-US" sz="1400" b="1" dirty="0">
                <a:solidFill>
                  <a:srgbClr val="0B4F4A"/>
                </a:solidFill>
                <a:latin typeface="Calibri" pitchFamily="34" charset="0"/>
                <a:ea typeface="Calibri" pitchFamily="34" charset="-122"/>
                <a:cs typeface="Calibri" pitchFamily="34" charset="-120"/>
              </a:rPr>
              <a:t>Fermentation Technology</a:t>
            </a:r>
            <a:endParaRPr lang="en-US" sz="1350" dirty="0"/>
          </a:p>
        </p:txBody>
      </p:sp>
      <p:sp>
        <p:nvSpPr>
          <p:cNvPr id="8" name="Text 6"/>
          <p:cNvSpPr/>
          <p:nvPr/>
        </p:nvSpPr>
        <p:spPr>
          <a:xfrm>
            <a:off x="640080" y="3017520"/>
            <a:ext cx="2343150" cy="2240280"/>
          </a:xfrm>
          <a:prstGeom prst="rect">
            <a:avLst/>
          </a:prstGeom>
          <a:noFill/>
          <a:ln/>
        </p:spPr>
        <p:txBody>
          <a:bodyPr wrap="square" rtlCol="0" anchor="t"/>
          <a:lstStyle/>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Advanced fermentation technologies improve the production of probiotics, postbiotics, enzymes, and bioactive compounds while ensuring greater product consistency and stability. </a:t>
            </a:r>
          </a:p>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Precision fermentation enables manufacturers to develop next-generation functional ingredients with enhanced nutritional value, improved scalability, and better production efficiency.</a:t>
            </a:r>
            <a:endParaRPr lang="en-US" sz="1050" dirty="0"/>
          </a:p>
        </p:txBody>
      </p:sp>
      <p:sp>
        <p:nvSpPr>
          <p:cNvPr id="9" name="Shape 7"/>
          <p:cNvSpPr/>
          <p:nvPr/>
        </p:nvSpPr>
        <p:spPr>
          <a:xfrm>
            <a:off x="3120390" y="3749040"/>
            <a:ext cx="228600" cy="0"/>
          </a:xfrm>
          <a:prstGeom prst="line">
            <a:avLst/>
          </a:prstGeom>
          <a:noFill/>
          <a:ln w="19050">
            <a:solidFill>
              <a:srgbClr val="72827E"/>
            </a:solidFill>
            <a:prstDash val="dash"/>
          </a:ln>
        </p:spPr>
        <p:txBody>
          <a:bodyPr/>
          <a:lstStyle/>
          <a:p>
            <a:endParaRPr lang="en-IN"/>
          </a:p>
        </p:txBody>
      </p:sp>
      <p:sp>
        <p:nvSpPr>
          <p:cNvPr id="10" name="Shape 8"/>
          <p:cNvSpPr/>
          <p:nvPr/>
        </p:nvSpPr>
        <p:spPr>
          <a:xfrm>
            <a:off x="4337685" y="1600200"/>
            <a:ext cx="640080" cy="640080"/>
          </a:xfrm>
          <a:prstGeom prst="ellipse">
            <a:avLst/>
          </a:prstGeom>
          <a:solidFill>
            <a:srgbClr val="FF6B35"/>
          </a:solidFill>
          <a:ln/>
        </p:spPr>
        <p:txBody>
          <a:bodyPr/>
          <a:lstStyle/>
          <a:p>
            <a:endParaRPr lang="en-IN"/>
          </a:p>
        </p:txBody>
      </p:sp>
      <p:sp>
        <p:nvSpPr>
          <p:cNvPr id="11" name="Text 9"/>
          <p:cNvSpPr/>
          <p:nvPr/>
        </p:nvSpPr>
        <p:spPr>
          <a:xfrm>
            <a:off x="4337685" y="160020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Shape 10"/>
          <p:cNvSpPr/>
          <p:nvPr/>
        </p:nvSpPr>
        <p:spPr>
          <a:xfrm>
            <a:off x="3486150" y="2103119"/>
            <a:ext cx="2373630" cy="3909489"/>
          </a:xfrm>
          <a:prstGeom prst="roundRect">
            <a:avLst>
              <a:gd name="adj" fmla="val 2795"/>
            </a:avLst>
          </a:prstGeom>
          <a:solidFill>
            <a:srgbClr val="EAF5F1"/>
          </a:solidFill>
          <a:ln/>
        </p:spPr>
        <p:txBody>
          <a:bodyPr/>
          <a:lstStyle/>
          <a:p>
            <a:endParaRPr lang="en-IN"/>
          </a:p>
        </p:txBody>
      </p:sp>
      <p:sp>
        <p:nvSpPr>
          <p:cNvPr id="13" name="Text 11"/>
          <p:cNvSpPr/>
          <p:nvPr/>
        </p:nvSpPr>
        <p:spPr>
          <a:xfrm>
            <a:off x="3486150" y="2286000"/>
            <a:ext cx="2343150" cy="822960"/>
          </a:xfrm>
          <a:prstGeom prst="rect">
            <a:avLst/>
          </a:prstGeom>
          <a:noFill/>
          <a:ln/>
        </p:spPr>
        <p:txBody>
          <a:bodyPr wrap="square" rtlCol="0" anchor="t"/>
          <a:lstStyle/>
          <a:p>
            <a:pPr marL="0" indent="0">
              <a:buNone/>
            </a:pPr>
            <a:r>
              <a:rPr lang="en-US" sz="1400" b="1" dirty="0">
                <a:solidFill>
                  <a:srgbClr val="0B4F4A"/>
                </a:solidFill>
                <a:latin typeface="Calibri" pitchFamily="34" charset="0"/>
                <a:ea typeface="Calibri" pitchFamily="34" charset="-122"/>
                <a:cs typeface="Calibri" pitchFamily="34" charset="-120"/>
              </a:rPr>
              <a:t>Microencapsulation</a:t>
            </a:r>
            <a:endParaRPr lang="en-US" sz="1350" dirty="0"/>
          </a:p>
        </p:txBody>
      </p:sp>
      <p:sp>
        <p:nvSpPr>
          <p:cNvPr id="14" name="Text 12"/>
          <p:cNvSpPr/>
          <p:nvPr/>
        </p:nvSpPr>
        <p:spPr>
          <a:xfrm>
            <a:off x="3486150" y="3017520"/>
            <a:ext cx="2343150" cy="2240280"/>
          </a:xfrm>
          <a:prstGeom prst="rect">
            <a:avLst/>
          </a:prstGeom>
          <a:noFill/>
          <a:ln/>
        </p:spPr>
        <p:txBody>
          <a:bodyPr wrap="square" rtlCol="0" anchor="t"/>
          <a:lstStyle/>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Microencapsulation protects sensitive ingredients such as probiotics, vitamins, omega-3 fatty acids, and botanical extracts from heat, oxygen, moisture, and light. </a:t>
            </a:r>
          </a:p>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The technology improves ingredient stability, enhances bioavailability, extends shelf life, and maintains product quality throughout storage and distribution.</a:t>
            </a:r>
            <a:endParaRPr lang="en-US" sz="1050" dirty="0"/>
          </a:p>
        </p:txBody>
      </p:sp>
      <p:sp>
        <p:nvSpPr>
          <p:cNvPr id="15" name="Shape 13"/>
          <p:cNvSpPr/>
          <p:nvPr/>
        </p:nvSpPr>
        <p:spPr>
          <a:xfrm>
            <a:off x="5966460" y="3749040"/>
            <a:ext cx="228600" cy="0"/>
          </a:xfrm>
          <a:prstGeom prst="line">
            <a:avLst/>
          </a:prstGeom>
          <a:noFill/>
          <a:ln w="19050">
            <a:solidFill>
              <a:srgbClr val="72827E"/>
            </a:solidFill>
            <a:prstDash val="dash"/>
          </a:ln>
        </p:spPr>
        <p:txBody>
          <a:bodyPr/>
          <a:lstStyle/>
          <a:p>
            <a:endParaRPr lang="en-IN"/>
          </a:p>
        </p:txBody>
      </p:sp>
      <p:sp>
        <p:nvSpPr>
          <p:cNvPr id="16" name="Shape 14"/>
          <p:cNvSpPr/>
          <p:nvPr/>
        </p:nvSpPr>
        <p:spPr>
          <a:xfrm>
            <a:off x="7183755" y="1600200"/>
            <a:ext cx="640080" cy="640080"/>
          </a:xfrm>
          <a:prstGeom prst="ellipse">
            <a:avLst/>
          </a:prstGeom>
          <a:solidFill>
            <a:srgbClr val="0B4F4A"/>
          </a:solidFill>
          <a:ln/>
        </p:spPr>
        <p:txBody>
          <a:bodyPr/>
          <a:lstStyle/>
          <a:p>
            <a:endParaRPr lang="en-IN"/>
          </a:p>
        </p:txBody>
      </p:sp>
      <p:sp>
        <p:nvSpPr>
          <p:cNvPr id="17" name="Text 15"/>
          <p:cNvSpPr/>
          <p:nvPr/>
        </p:nvSpPr>
        <p:spPr>
          <a:xfrm>
            <a:off x="7183755" y="160020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Shape 16"/>
          <p:cNvSpPr/>
          <p:nvPr/>
        </p:nvSpPr>
        <p:spPr>
          <a:xfrm>
            <a:off x="6332220" y="2103119"/>
            <a:ext cx="2373630" cy="3909489"/>
          </a:xfrm>
          <a:prstGeom prst="roundRect">
            <a:avLst>
              <a:gd name="adj" fmla="val 2795"/>
            </a:avLst>
          </a:prstGeom>
          <a:solidFill>
            <a:srgbClr val="EAF5F1"/>
          </a:solidFill>
          <a:ln/>
        </p:spPr>
        <p:txBody>
          <a:bodyPr/>
          <a:lstStyle/>
          <a:p>
            <a:endParaRPr lang="en-IN"/>
          </a:p>
        </p:txBody>
      </p:sp>
      <p:sp>
        <p:nvSpPr>
          <p:cNvPr id="19" name="Text 17"/>
          <p:cNvSpPr/>
          <p:nvPr/>
        </p:nvSpPr>
        <p:spPr>
          <a:xfrm>
            <a:off x="6332220" y="2286000"/>
            <a:ext cx="2343150" cy="822960"/>
          </a:xfrm>
          <a:prstGeom prst="rect">
            <a:avLst/>
          </a:prstGeom>
          <a:noFill/>
          <a:ln/>
        </p:spPr>
        <p:txBody>
          <a:bodyPr wrap="square" rtlCol="0" anchor="t"/>
          <a:lstStyle/>
          <a:p>
            <a:pPr marL="0" indent="0">
              <a:buNone/>
            </a:pPr>
            <a:r>
              <a:rPr lang="en-US" sz="1400" b="1" dirty="0">
                <a:solidFill>
                  <a:srgbClr val="0B4F4A"/>
                </a:solidFill>
                <a:latin typeface="Calibri" pitchFamily="34" charset="0"/>
                <a:ea typeface="Calibri" pitchFamily="34" charset="-122"/>
                <a:cs typeface="Calibri" pitchFamily="34" charset="-120"/>
              </a:rPr>
              <a:t>AI-Driven R&amp;D</a:t>
            </a:r>
            <a:endParaRPr lang="en-US" sz="1350" dirty="0"/>
          </a:p>
        </p:txBody>
      </p:sp>
      <p:sp>
        <p:nvSpPr>
          <p:cNvPr id="20" name="Text 18"/>
          <p:cNvSpPr/>
          <p:nvPr/>
        </p:nvSpPr>
        <p:spPr>
          <a:xfrm>
            <a:off x="6332220" y="3017520"/>
            <a:ext cx="2343150" cy="2240280"/>
          </a:xfrm>
          <a:prstGeom prst="rect">
            <a:avLst/>
          </a:prstGeom>
          <a:noFill/>
          <a:ln/>
        </p:spPr>
        <p:txBody>
          <a:bodyPr wrap="square" rtlCol="0" anchor="t"/>
          <a:lstStyle/>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Artificial intelligence enables predictive formulation, ingredient optimization, sensory analysis, and consumer preference forecasting. </a:t>
            </a:r>
          </a:p>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Machine learning accelerates product development, reduces formulation costs, improves manufacturing efficiency, and supports personalized nutrition through data-driven decision-making.</a:t>
            </a:r>
            <a:endParaRPr lang="en-US" sz="1050" dirty="0"/>
          </a:p>
        </p:txBody>
      </p:sp>
      <p:sp>
        <p:nvSpPr>
          <p:cNvPr id="21" name="Shape 19"/>
          <p:cNvSpPr/>
          <p:nvPr/>
        </p:nvSpPr>
        <p:spPr>
          <a:xfrm>
            <a:off x="8812530" y="3749040"/>
            <a:ext cx="228600" cy="0"/>
          </a:xfrm>
          <a:prstGeom prst="line">
            <a:avLst/>
          </a:prstGeom>
          <a:noFill/>
          <a:ln w="19050">
            <a:solidFill>
              <a:srgbClr val="72827E"/>
            </a:solidFill>
            <a:prstDash val="dash"/>
          </a:ln>
        </p:spPr>
        <p:txBody>
          <a:bodyPr/>
          <a:lstStyle/>
          <a:p>
            <a:endParaRPr lang="en-IN"/>
          </a:p>
        </p:txBody>
      </p:sp>
      <p:sp>
        <p:nvSpPr>
          <p:cNvPr id="22" name="Shape 20"/>
          <p:cNvSpPr/>
          <p:nvPr/>
        </p:nvSpPr>
        <p:spPr>
          <a:xfrm>
            <a:off x="10029825" y="1600200"/>
            <a:ext cx="640080" cy="640080"/>
          </a:xfrm>
          <a:prstGeom prst="ellipse">
            <a:avLst/>
          </a:prstGeom>
          <a:solidFill>
            <a:srgbClr val="FF6B35"/>
          </a:solidFill>
          <a:ln/>
        </p:spPr>
        <p:txBody>
          <a:bodyPr/>
          <a:lstStyle/>
          <a:p>
            <a:endParaRPr lang="en-IN"/>
          </a:p>
        </p:txBody>
      </p:sp>
      <p:sp>
        <p:nvSpPr>
          <p:cNvPr id="23" name="Text 21"/>
          <p:cNvSpPr/>
          <p:nvPr/>
        </p:nvSpPr>
        <p:spPr>
          <a:xfrm>
            <a:off x="10029825" y="1600200"/>
            <a:ext cx="64008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Shape 22"/>
          <p:cNvSpPr/>
          <p:nvPr/>
        </p:nvSpPr>
        <p:spPr>
          <a:xfrm>
            <a:off x="9178290" y="2103119"/>
            <a:ext cx="2373630" cy="3909489"/>
          </a:xfrm>
          <a:prstGeom prst="roundRect">
            <a:avLst>
              <a:gd name="adj" fmla="val 2795"/>
            </a:avLst>
          </a:prstGeom>
          <a:solidFill>
            <a:srgbClr val="EAF5F1"/>
          </a:solidFill>
          <a:ln/>
        </p:spPr>
        <p:txBody>
          <a:bodyPr/>
          <a:lstStyle/>
          <a:p>
            <a:endParaRPr lang="en-IN"/>
          </a:p>
        </p:txBody>
      </p:sp>
      <p:sp>
        <p:nvSpPr>
          <p:cNvPr id="25" name="Text 23"/>
          <p:cNvSpPr/>
          <p:nvPr/>
        </p:nvSpPr>
        <p:spPr>
          <a:xfrm>
            <a:off x="9178290" y="2286000"/>
            <a:ext cx="2343150" cy="822960"/>
          </a:xfrm>
          <a:prstGeom prst="rect">
            <a:avLst/>
          </a:prstGeom>
          <a:noFill/>
          <a:ln/>
        </p:spPr>
        <p:txBody>
          <a:bodyPr wrap="square" rtlCol="0" anchor="t"/>
          <a:lstStyle/>
          <a:p>
            <a:pPr marL="0" indent="0">
              <a:buNone/>
            </a:pPr>
            <a:r>
              <a:rPr lang="en-US" sz="1400" b="1" dirty="0">
                <a:solidFill>
                  <a:srgbClr val="0B4F4A"/>
                </a:solidFill>
                <a:latin typeface="Calibri" pitchFamily="34" charset="0"/>
                <a:ea typeface="Calibri" pitchFamily="34" charset="-122"/>
                <a:cs typeface="Calibri" pitchFamily="34" charset="-120"/>
              </a:rPr>
              <a:t>Smart Packaging</a:t>
            </a:r>
            <a:endParaRPr lang="en-US" sz="1350" dirty="0"/>
          </a:p>
        </p:txBody>
      </p:sp>
      <p:sp>
        <p:nvSpPr>
          <p:cNvPr id="26" name="Text 24"/>
          <p:cNvSpPr/>
          <p:nvPr/>
        </p:nvSpPr>
        <p:spPr>
          <a:xfrm>
            <a:off x="9178290" y="3017520"/>
            <a:ext cx="2343150" cy="2240280"/>
          </a:xfrm>
          <a:prstGeom prst="rect">
            <a:avLst/>
          </a:prstGeom>
          <a:noFill/>
          <a:ln/>
        </p:spPr>
        <p:txBody>
          <a:bodyPr wrap="square" rtlCol="0" anchor="t"/>
          <a:lstStyle/>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Smart packaging technologies including QR codes, digital labeling, and traceability systems improve product transparency, food safety, and consumer engagement.</a:t>
            </a:r>
          </a:p>
          <a:p>
            <a:pPr marL="171450" indent="-17145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These technologies enable ingredient authentication, supply chain visibility, regulatory compliance, and real-time access to nutritional information.</a:t>
            </a:r>
            <a:endParaRPr lang="en-US" sz="1050" dirty="0"/>
          </a:p>
        </p:txBody>
      </p:sp>
      <p:sp>
        <p:nvSpPr>
          <p:cNvPr id="27" name="Text 2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05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Impact of Inflation &amp; Economic Slowdown</a:t>
            </a:r>
            <a:endParaRPr lang="en-US" sz="2800" dirty="0"/>
          </a:p>
        </p:txBody>
      </p:sp>
      <p:sp>
        <p:nvSpPr>
          <p:cNvPr id="3" name="Text 1"/>
          <p:cNvSpPr/>
          <p:nvPr/>
        </p:nvSpPr>
        <p:spPr>
          <a:xfrm>
            <a:off x="54605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Inflationary pressures and economic uncertainty are reshaping consumer purchasing behavior, compelling manufacturers to optimize costs, strengthen supply chains, and deliver value-driven functional beverage innovations.</a:t>
            </a:r>
            <a:endParaRPr lang="en-US" sz="1250" dirty="0"/>
          </a:p>
        </p:txBody>
      </p:sp>
      <p:sp>
        <p:nvSpPr>
          <p:cNvPr id="4" name="Shape 2"/>
          <p:cNvSpPr/>
          <p:nvPr/>
        </p:nvSpPr>
        <p:spPr>
          <a:xfrm>
            <a:off x="655608" y="1417320"/>
            <a:ext cx="10886535" cy="4572000"/>
          </a:xfrm>
          <a:prstGeom prst="roundRect">
            <a:avLst>
              <a:gd name="adj" fmla="val 1600"/>
            </a:avLst>
          </a:prstGeom>
          <a:solidFill>
            <a:srgbClr val="EAF5F1"/>
          </a:solidFill>
          <a:ln/>
        </p:spPr>
        <p:txBody>
          <a:bodyPr/>
          <a:lstStyle/>
          <a:p>
            <a:endParaRPr lang="en-IN"/>
          </a:p>
        </p:txBody>
      </p:sp>
      <p:sp>
        <p:nvSpPr>
          <p:cNvPr id="5" name="Text 3"/>
          <p:cNvSpPr/>
          <p:nvPr/>
        </p:nvSpPr>
        <p:spPr>
          <a:xfrm>
            <a:off x="868680" y="1691640"/>
            <a:ext cx="10424160" cy="4023360"/>
          </a:xfrm>
          <a:prstGeom prst="rect">
            <a:avLst/>
          </a:prstGeom>
          <a:noFill/>
          <a:ln/>
        </p:spPr>
        <p:txBody>
          <a:bodyPr wrap="square" rtlCol="0" anchor="t"/>
          <a:lstStyle/>
          <a:p>
            <a:pPr marL="171450" indent="-171450">
              <a:spcAft>
                <a:spcPts val="12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Rising Input Costs Increase Production Expenses:</a:t>
            </a:r>
          </a:p>
          <a:p>
            <a:pPr lvl="1">
              <a:spcAft>
                <a:spcPts val="1200"/>
              </a:spcAft>
              <a:buSzPct val="100000"/>
            </a:pPr>
            <a:r>
              <a:rPr lang="en-US" sz="1200" dirty="0">
                <a:solidFill>
                  <a:srgbClr val="1E2624"/>
                </a:solidFill>
                <a:latin typeface="Calibri" pitchFamily="34" charset="0"/>
                <a:ea typeface="Calibri" pitchFamily="34" charset="-122"/>
                <a:cs typeface="Calibri" pitchFamily="34" charset="-120"/>
              </a:rPr>
              <a:t>Persistent inflation has increased the cost of key raw materials, including sugar, fruits, botanical extracts, packaging materials, energy, and transportation, placing pressure on manufacturers' operating margins and production costs.</a:t>
            </a:r>
            <a:endParaRPr lang="en-US" sz="1450" dirty="0">
              <a:solidFill>
                <a:srgbClr val="1E2624"/>
              </a:solidFill>
              <a:latin typeface="Calibri" pitchFamily="34" charset="0"/>
              <a:ea typeface="Calibri" pitchFamily="34" charset="-122"/>
              <a:cs typeface="Calibri" pitchFamily="34" charset="-120"/>
            </a:endParaRPr>
          </a:p>
          <a:p>
            <a:pPr marL="171450" indent="-171450">
              <a:spcAft>
                <a:spcPts val="12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Consumers Shift Toward Value-Oriented Purchases:</a:t>
            </a:r>
          </a:p>
          <a:p>
            <a:pPr lvl="1">
              <a:spcAft>
                <a:spcPts val="1200"/>
              </a:spcAft>
              <a:buSzPct val="100000"/>
            </a:pPr>
            <a:r>
              <a:rPr lang="en-US" sz="1200" dirty="0">
                <a:solidFill>
                  <a:srgbClr val="1E2624"/>
                </a:solidFill>
                <a:latin typeface="Calibri" pitchFamily="34" charset="0"/>
                <a:ea typeface="Calibri" pitchFamily="34" charset="-122"/>
                <a:cs typeface="Calibri" pitchFamily="34" charset="-120"/>
              </a:rPr>
              <a:t>Economic uncertainty is encouraging consumers to prioritize value while continuing to seek healthier beverage options. Demand for affordable functional beverages, smaller pack sizes, and promotional offerings has increased across both developed and emerging markets.</a:t>
            </a:r>
          </a:p>
          <a:p>
            <a:pPr marL="171450" indent="-171450">
              <a:spcAft>
                <a:spcPts val="12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Manufacturers Focus on Cost Optimization:</a:t>
            </a:r>
          </a:p>
          <a:p>
            <a:pPr lvl="1">
              <a:spcAft>
                <a:spcPts val="1200"/>
              </a:spcAft>
              <a:buSzPct val="100000"/>
            </a:pPr>
            <a:r>
              <a:rPr lang="en-US" sz="1200" dirty="0">
                <a:solidFill>
                  <a:srgbClr val="1E2624"/>
                </a:solidFill>
                <a:latin typeface="Calibri" pitchFamily="34" charset="0"/>
                <a:ea typeface="Calibri" pitchFamily="34" charset="-122"/>
                <a:cs typeface="Calibri" pitchFamily="34" charset="-120"/>
              </a:rPr>
              <a:t>Manufacturers are improving supply-chain efficiency, increasing local sourcing, optimizing formulations, and adopting lightweight packaging to offset rising production costs while maintaining product quality and profitability.</a:t>
            </a:r>
          </a:p>
          <a:p>
            <a:pPr marL="171450" indent="-171450">
              <a:spcAft>
                <a:spcPts val="12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Content</a:t>
            </a:r>
          </a:p>
          <a:p>
            <a:pPr marL="171450" indent="-171450">
              <a:spcAft>
                <a:spcPts val="1200"/>
              </a:spcAft>
              <a:buSzPct val="100000"/>
              <a:buFont typeface="Arial" panose="020B0604020202020204" pitchFamily="34" charset="0"/>
              <a:buChar char="•"/>
            </a:pPr>
            <a:r>
              <a:rPr lang="en-US" sz="1200" dirty="0">
                <a:solidFill>
                  <a:srgbClr val="1E2624"/>
                </a:solidFill>
                <a:latin typeface="Calibri" pitchFamily="34" charset="0"/>
                <a:ea typeface="Calibri" pitchFamily="34" charset="-122"/>
                <a:cs typeface="Calibri" pitchFamily="34" charset="-120"/>
              </a:rPr>
              <a:t>Content</a:t>
            </a:r>
          </a:p>
        </p:txBody>
      </p:sp>
      <p:sp>
        <p:nvSpPr>
          <p:cNvPr id="6"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4676"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Future Outlook to 2036</a:t>
            </a:r>
            <a:endParaRPr lang="en-US" sz="2800" dirty="0"/>
          </a:p>
        </p:txBody>
      </p:sp>
      <p:sp>
        <p:nvSpPr>
          <p:cNvPr id="3" name="Text 1"/>
          <p:cNvSpPr/>
          <p:nvPr/>
        </p:nvSpPr>
        <p:spPr>
          <a:xfrm>
            <a:off x="554676"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functional beverage market is poised for sustained long-term growth, driven by health-conscious consumers, continuous innovation, personalized nutrition, and expanding demand across emerging global markets.</a:t>
            </a:r>
            <a:endParaRPr lang="en-US" sz="1250" dirty="0"/>
          </a:p>
        </p:txBody>
      </p:sp>
      <p:sp>
        <p:nvSpPr>
          <p:cNvPr id="4" name="Text 2"/>
          <p:cNvSpPr/>
          <p:nvPr/>
        </p:nvSpPr>
        <p:spPr>
          <a:xfrm>
            <a:off x="649856" y="1554480"/>
            <a:ext cx="6619623" cy="5120640"/>
          </a:xfrm>
          <a:prstGeom prst="rect">
            <a:avLst/>
          </a:prstGeom>
          <a:noFill/>
          <a:ln/>
        </p:spPr>
        <p:txBody>
          <a:bodyPr wrap="square" rtlCol="0" anchor="t"/>
          <a:lstStyle/>
          <a:p>
            <a:pPr marL="171450" indent="-171450">
              <a:spcAft>
                <a:spcPts val="14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Functional Beverages Will Continue Outperforming Conventional Beverages:</a:t>
            </a:r>
            <a:r>
              <a:rPr lang="en-US" sz="1200" dirty="0">
                <a:solidFill>
                  <a:srgbClr val="1E2624"/>
                </a:solidFill>
                <a:latin typeface="Calibri" pitchFamily="34" charset="0"/>
                <a:ea typeface="Calibri" pitchFamily="34" charset="-122"/>
                <a:cs typeface="Calibri" pitchFamily="34" charset="-120"/>
              </a:rPr>
              <a:t> The market is expected to expand faster than the broader non-alcoholic beverage industry as consumers increasingly prioritize preventive healthcare, immunity, hydration, digestive wellness, and cognitive health. Continuous innovation in functional ingredients and healthier formulations will further strengthen long-term demand.</a:t>
            </a:r>
          </a:p>
          <a:p>
            <a:pPr marL="171450" indent="-171450">
              <a:spcAft>
                <a:spcPts val="14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Premiumization and Personalized Nutrition Will Drive Innovation: </a:t>
            </a:r>
            <a:r>
              <a:rPr lang="en-US" sz="1200" dirty="0">
                <a:solidFill>
                  <a:srgbClr val="1E2624"/>
                </a:solidFill>
                <a:latin typeface="Calibri" pitchFamily="34" charset="0"/>
                <a:ea typeface="Calibri" pitchFamily="34" charset="-122"/>
                <a:cs typeface="Calibri" pitchFamily="34" charset="-120"/>
              </a:rPr>
              <a:t>Manufacturers are expected to invest in AI-enabled product development, personalized nutrition, microbiome-based formulations, and science-backed functional ingredients to meet evolving consumer preferences. Clean-label, reduced-sugar, plant-based, and protein-enriched beverages will remain key innovation areas.</a:t>
            </a:r>
          </a:p>
          <a:p>
            <a:pPr marL="171450" indent="-171450">
              <a:spcAft>
                <a:spcPts val="14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Asia Pacific Will Remain the Largest Growth Engine: </a:t>
            </a:r>
            <a:r>
              <a:rPr lang="en-US" sz="1200" dirty="0">
                <a:solidFill>
                  <a:srgbClr val="1E2624"/>
                </a:solidFill>
                <a:latin typeface="Calibri" pitchFamily="34" charset="0"/>
                <a:ea typeface="Calibri" pitchFamily="34" charset="-122"/>
                <a:cs typeface="Calibri" pitchFamily="34" charset="-120"/>
              </a:rPr>
              <a:t>Asia Pacific is projected to remain the fastest-growing and largest regional market by 2036, supported by rising disposable incomes, rapid urbanization, increasing health awareness, expanding retail infrastructure, and growing demand for premium functional beverages across China, India, Japan, and Southeast Asia.</a:t>
            </a:r>
          </a:p>
          <a:p>
            <a:pPr marL="171450" indent="-171450">
              <a:spcAft>
                <a:spcPts val="1400"/>
              </a:spcAft>
              <a:buSzPct val="100000"/>
              <a:buFont typeface="Arial" panose="020B0604020202020204" pitchFamily="34" charset="0"/>
              <a:buChar char="•"/>
            </a:pPr>
            <a:r>
              <a:rPr lang="en-US" sz="1200" b="1" dirty="0">
                <a:solidFill>
                  <a:srgbClr val="1E2624"/>
                </a:solidFill>
                <a:latin typeface="Calibri" pitchFamily="34" charset="0"/>
                <a:ea typeface="Calibri" pitchFamily="34" charset="-122"/>
                <a:cs typeface="Calibri" pitchFamily="34" charset="-120"/>
              </a:rPr>
              <a:t>Sustainability and Digital Commerce Will Shape Future Competition:</a:t>
            </a:r>
            <a:r>
              <a:rPr lang="en-US" sz="1200" dirty="0">
                <a:solidFill>
                  <a:srgbClr val="1E2624"/>
                </a:solidFill>
                <a:latin typeface="Calibri" pitchFamily="34" charset="0"/>
                <a:ea typeface="Calibri" pitchFamily="34" charset="-122"/>
                <a:cs typeface="Calibri" pitchFamily="34" charset="-120"/>
              </a:rPr>
              <a:t> Manufacturers will increasingly focus on recyclable packaging, responsible ingredient sourcing, carbon reduction, and water stewardship while strengthening direct-to-consumer (DTC) platforms, e-commerce, and digital consumer engagement to improve market penetration and long-term competitiveness.</a:t>
            </a:r>
            <a:endParaRPr lang="en-US" sz="1400" dirty="0"/>
          </a:p>
        </p:txBody>
      </p:sp>
      <p:sp>
        <p:nvSpPr>
          <p:cNvPr id="5" name="Shape 3"/>
          <p:cNvSpPr/>
          <p:nvPr/>
        </p:nvSpPr>
        <p:spPr>
          <a:xfrm>
            <a:off x="7543800" y="1417320"/>
            <a:ext cx="3998343" cy="2058694"/>
          </a:xfrm>
          <a:prstGeom prst="roundRect">
            <a:avLst>
              <a:gd name="adj" fmla="val 2991"/>
            </a:avLst>
          </a:prstGeom>
          <a:solidFill>
            <a:srgbClr val="0B4F4A"/>
          </a:solidFill>
          <a:ln/>
        </p:spPr>
        <p:txBody>
          <a:bodyPr/>
          <a:lstStyle/>
          <a:p>
            <a:endParaRPr lang="en-IN"/>
          </a:p>
        </p:txBody>
      </p:sp>
      <p:sp>
        <p:nvSpPr>
          <p:cNvPr id="6" name="Text 4"/>
          <p:cNvSpPr/>
          <p:nvPr/>
        </p:nvSpPr>
        <p:spPr>
          <a:xfrm>
            <a:off x="7726680" y="1490472"/>
            <a:ext cx="3749040" cy="1345311"/>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$483.66B</a:t>
            </a:r>
            <a:endParaRPr lang="en-US" sz="2600" dirty="0"/>
          </a:p>
        </p:txBody>
      </p:sp>
      <p:sp>
        <p:nvSpPr>
          <p:cNvPr id="7" name="Text 5"/>
          <p:cNvSpPr/>
          <p:nvPr/>
        </p:nvSpPr>
        <p:spPr>
          <a:xfrm>
            <a:off x="7726680" y="2762631"/>
            <a:ext cx="3749040" cy="978408"/>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Forecast global market value by 2036</a:t>
            </a:r>
            <a:endParaRPr lang="en-US" sz="1100" dirty="0"/>
          </a:p>
        </p:txBody>
      </p:sp>
      <p:sp>
        <p:nvSpPr>
          <p:cNvPr id="8" name="Shape 6"/>
          <p:cNvSpPr/>
          <p:nvPr/>
        </p:nvSpPr>
        <p:spPr>
          <a:xfrm>
            <a:off x="7543800" y="4091940"/>
            <a:ext cx="3998343" cy="2058694"/>
          </a:xfrm>
          <a:prstGeom prst="roundRect">
            <a:avLst>
              <a:gd name="adj" fmla="val 2991"/>
            </a:avLst>
          </a:prstGeom>
          <a:solidFill>
            <a:srgbClr val="0B4F4A"/>
          </a:solidFill>
          <a:ln/>
        </p:spPr>
        <p:txBody>
          <a:bodyPr/>
          <a:lstStyle/>
          <a:p>
            <a:endParaRPr lang="en-IN"/>
          </a:p>
        </p:txBody>
      </p:sp>
      <p:sp>
        <p:nvSpPr>
          <p:cNvPr id="9" name="Text 7"/>
          <p:cNvSpPr/>
          <p:nvPr/>
        </p:nvSpPr>
        <p:spPr>
          <a:xfrm>
            <a:off x="7726680" y="4165092"/>
            <a:ext cx="3749040" cy="1345311"/>
          </a:xfrm>
          <a:prstGeom prst="rect">
            <a:avLst/>
          </a:prstGeom>
          <a:noFill/>
          <a:ln/>
        </p:spPr>
        <p:txBody>
          <a:bodyPr wrap="square" rtlCol="0" anchor="ctr"/>
          <a:lstStyle/>
          <a:p>
            <a:pPr marL="0" indent="0" algn="l">
              <a:buNone/>
            </a:pPr>
            <a:r>
              <a:rPr lang="en-US" sz="2600" b="1" dirty="0">
                <a:solidFill>
                  <a:srgbClr val="FF6B35"/>
                </a:solidFill>
                <a:latin typeface="Cambria" pitchFamily="34" charset="0"/>
                <a:ea typeface="Cambria" pitchFamily="34" charset="-122"/>
                <a:cs typeface="Cambria" pitchFamily="34" charset="-120"/>
              </a:rPr>
              <a:t>APAC</a:t>
            </a:r>
            <a:endParaRPr lang="en-US" sz="2600" dirty="0"/>
          </a:p>
        </p:txBody>
      </p:sp>
      <p:sp>
        <p:nvSpPr>
          <p:cNvPr id="10" name="Text 8"/>
          <p:cNvSpPr/>
          <p:nvPr/>
        </p:nvSpPr>
        <p:spPr>
          <a:xfrm>
            <a:off x="7726680" y="5437251"/>
            <a:ext cx="3749040" cy="978408"/>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Expected largest region by value, 2036</a:t>
            </a:r>
            <a:endParaRPr lang="en-US" sz="1100" dirty="0"/>
          </a:p>
        </p:txBody>
      </p:sp>
      <p:sp>
        <p:nvSpPr>
          <p:cNvPr id="11" name="Text 9"/>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4676"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Analyst Recommendations for Stakeholders</a:t>
            </a:r>
            <a:endParaRPr lang="en-US" sz="2800" dirty="0"/>
          </a:p>
        </p:txBody>
      </p:sp>
      <p:sp>
        <p:nvSpPr>
          <p:cNvPr id="3" name="Text 1"/>
          <p:cNvSpPr/>
          <p:nvPr/>
        </p:nvSpPr>
        <p:spPr>
          <a:xfrm>
            <a:off x="554676"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Strategic investments in innovation, sustainability, digital transformation, and regulatory compliance will enable stakeholders to strengthen competitiveness and capitalize on long-term market growth opportunities.</a:t>
            </a:r>
            <a:endParaRPr lang="en-US" sz="1250" dirty="0"/>
          </a:p>
        </p:txBody>
      </p:sp>
      <p:sp>
        <p:nvSpPr>
          <p:cNvPr id="4" name="Shape 2"/>
          <p:cNvSpPr/>
          <p:nvPr/>
        </p:nvSpPr>
        <p:spPr>
          <a:xfrm>
            <a:off x="629728" y="1417320"/>
            <a:ext cx="10912415" cy="4572000"/>
          </a:xfrm>
          <a:prstGeom prst="roundRect">
            <a:avLst>
              <a:gd name="adj" fmla="val 1600"/>
            </a:avLst>
          </a:prstGeom>
          <a:solidFill>
            <a:srgbClr val="EAF5F1"/>
          </a:solidFill>
          <a:ln/>
        </p:spPr>
        <p:txBody>
          <a:bodyPr/>
          <a:lstStyle/>
          <a:p>
            <a:endParaRPr lang="en-IN"/>
          </a:p>
        </p:txBody>
      </p:sp>
      <p:sp>
        <p:nvSpPr>
          <p:cNvPr id="5" name="Text 3"/>
          <p:cNvSpPr/>
          <p:nvPr/>
        </p:nvSpPr>
        <p:spPr>
          <a:xfrm>
            <a:off x="868680" y="1691640"/>
            <a:ext cx="10424160" cy="4023360"/>
          </a:xfrm>
          <a:prstGeom prst="rect">
            <a:avLst/>
          </a:prstGeom>
          <a:noFill/>
          <a:ln/>
        </p:spPr>
        <p:txBody>
          <a:bodyPr wrap="square" rtlCol="0" anchor="t"/>
          <a:lstStyle/>
          <a:p>
            <a:pPr marL="171450" indent="-171450">
              <a:spcAft>
                <a:spcPts val="12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Prioritize Science-Backed Innovation: </a:t>
            </a:r>
            <a:r>
              <a:rPr lang="en-US" sz="1200" dirty="0">
                <a:solidFill>
                  <a:srgbClr val="1E2624"/>
                </a:solidFill>
                <a:ea typeface="Calibri" pitchFamily="34" charset="-122"/>
                <a:cs typeface="Calibri" pitchFamily="34" charset="-120"/>
              </a:rPr>
              <a:t>Invest in clinically supported functional ingredients such as probiotics, plant proteins, adaptogens, and botanical extracts while strengthening research and development to meet evolving consumer health needs.</a:t>
            </a:r>
          </a:p>
          <a:p>
            <a:pPr marL="171450" indent="-171450">
              <a:spcAft>
                <a:spcPts val="12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Accelerate Clean-Label &amp; Health-Focused Product Development: </a:t>
            </a:r>
            <a:r>
              <a:rPr lang="en-US" sz="1200" dirty="0">
                <a:solidFill>
                  <a:srgbClr val="1E2624"/>
                </a:solidFill>
                <a:ea typeface="Calibri" pitchFamily="34" charset="-122"/>
                <a:cs typeface="Calibri" pitchFamily="34" charset="-120"/>
              </a:rPr>
              <a:t>Expand portfolios with reduced-sugar, natural, plant-based, and nutrient-fortified beverages that align with changing consumer preferences and global nutrition guidelines</a:t>
            </a:r>
          </a:p>
          <a:p>
            <a:pPr marL="171450" indent="-171450">
              <a:spcAft>
                <a:spcPts val="12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Strengthen Digital &amp; Omnichannel Presence: </a:t>
            </a:r>
            <a:r>
              <a:rPr lang="en-US" sz="1200" dirty="0">
                <a:solidFill>
                  <a:srgbClr val="1E2624"/>
                </a:solidFill>
                <a:ea typeface="Calibri" pitchFamily="34" charset="-122"/>
                <a:cs typeface="Calibri" pitchFamily="34" charset="-120"/>
              </a:rPr>
              <a:t>Enhance e-commerce capabilities, direct-to-consumer (DTC) platforms, and data-driven marketing strategies to improve customer engagement, brand loyalty, and market reach.</a:t>
            </a:r>
          </a:p>
          <a:p>
            <a:pPr marL="171450" indent="-171450">
              <a:spcAft>
                <a:spcPts val="12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Improve Supply Chain Resilience &amp; Sustainability: </a:t>
            </a:r>
            <a:r>
              <a:rPr lang="en-US" sz="1200" dirty="0">
                <a:solidFill>
                  <a:srgbClr val="1E2624"/>
                </a:solidFill>
                <a:ea typeface="Calibri" pitchFamily="34" charset="-122"/>
                <a:cs typeface="Calibri" pitchFamily="34" charset="-120"/>
              </a:rPr>
              <a:t>Diversify sourcing, adopt recyclable packaging, improve water and energy efficiency, and strengthen supply chain transparency to reduce operational risks and support sustainability goals.</a:t>
            </a:r>
          </a:p>
          <a:p>
            <a:pPr marL="171450" indent="-171450">
              <a:spcAft>
                <a:spcPts val="12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Expand Presence in High-Growth Markets: </a:t>
            </a:r>
            <a:r>
              <a:rPr lang="en-US" sz="1200" dirty="0">
                <a:solidFill>
                  <a:srgbClr val="1E2624"/>
                </a:solidFill>
                <a:ea typeface="Calibri" pitchFamily="34" charset="-122"/>
                <a:cs typeface="Calibri" pitchFamily="34" charset="-120"/>
              </a:rPr>
              <a:t>Increase investments in Asia Pacific and other emerging economies through localized product innovation, strategic partnerships, and expanded distribution networks to capitalize on rising health awareness and disposable incomes.</a:t>
            </a:r>
          </a:p>
          <a:p>
            <a:pPr marL="171450" indent="-171450">
              <a:spcAft>
                <a:spcPts val="1200"/>
              </a:spcAft>
              <a:buSzPct val="100000"/>
              <a:buFont typeface="Arial" panose="020B0604020202020204" pitchFamily="34" charset="0"/>
              <a:buChar char="•"/>
            </a:pPr>
            <a:r>
              <a:rPr lang="en-US" sz="1200" b="1" dirty="0">
                <a:solidFill>
                  <a:srgbClr val="1E2624"/>
                </a:solidFill>
                <a:ea typeface="Calibri" pitchFamily="34" charset="-122"/>
                <a:cs typeface="Calibri" pitchFamily="34" charset="-120"/>
              </a:rPr>
              <a:t>Maintain Regulatory Compliance &amp; Consumer Trust:</a:t>
            </a:r>
            <a:r>
              <a:rPr lang="en-US" sz="1200" dirty="0">
                <a:solidFill>
                  <a:srgbClr val="1E2624"/>
                </a:solidFill>
                <a:ea typeface="Calibri" pitchFamily="34" charset="-122"/>
                <a:cs typeface="Calibri" pitchFamily="34" charset="-120"/>
              </a:rPr>
              <a:t> Continuously monitor evolving food safety regulations, nutrition labeling requirements, and health claim standards while ensuring transparency, product quality, and scientific validation across global markets.</a:t>
            </a:r>
            <a:endParaRPr lang="en-US" sz="1450" dirty="0"/>
          </a:p>
        </p:txBody>
      </p:sp>
      <p:sp>
        <p:nvSpPr>
          <p:cNvPr id="6"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050" y="347472"/>
            <a:ext cx="11155680" cy="640080"/>
          </a:xfrm>
          <a:prstGeom prst="rect">
            <a:avLst/>
          </a:prstGeom>
          <a:noFill/>
          <a:ln/>
        </p:spPr>
        <p:txBody>
          <a:bodyPr wrap="square" rtlCol="0" anchor="ctr"/>
          <a:lstStyle/>
          <a:p>
            <a:pPr marL="0" indent="0">
              <a:buNone/>
            </a:pPr>
            <a:r>
              <a:rPr lang="en-US" sz="2800" b="1" dirty="0">
                <a:solidFill>
                  <a:srgbClr val="0B4F4A"/>
                </a:solidFill>
                <a:latin typeface="Cambria" pitchFamily="34" charset="0"/>
                <a:ea typeface="Cambria" pitchFamily="34" charset="-122"/>
                <a:cs typeface="Cambria" pitchFamily="34" charset="-120"/>
              </a:rPr>
              <a:t>Conclusion</a:t>
            </a:r>
            <a:endParaRPr lang="en-US" sz="2800" dirty="0"/>
          </a:p>
        </p:txBody>
      </p:sp>
      <p:sp>
        <p:nvSpPr>
          <p:cNvPr id="3" name="Text 1"/>
          <p:cNvSpPr/>
          <p:nvPr/>
        </p:nvSpPr>
        <p:spPr>
          <a:xfrm>
            <a:off x="546050" y="914400"/>
            <a:ext cx="11155680" cy="320040"/>
          </a:xfrm>
          <a:prstGeom prst="rect">
            <a:avLst/>
          </a:prstGeom>
          <a:noFill/>
          <a:ln/>
        </p:spPr>
        <p:txBody>
          <a:bodyPr wrap="square" rtlCol="0" anchor="ctr"/>
          <a:lstStyle/>
          <a:p>
            <a:pPr marL="0" indent="0">
              <a:buNone/>
            </a:pPr>
            <a:r>
              <a:rPr lang="en-US" sz="1200" i="1" dirty="0">
                <a:solidFill>
                  <a:srgbClr val="72827E"/>
                </a:solidFill>
                <a:latin typeface="Calibri" pitchFamily="34" charset="0"/>
                <a:ea typeface="Calibri" pitchFamily="34" charset="-122"/>
                <a:cs typeface="Calibri" pitchFamily="34" charset="-120"/>
              </a:rPr>
              <a:t>The global functional beverage market is well positioned for sustained growth, supported by scientific innovation, evolving consumer preferences, regulatory advancements, and expanding wellness-focused opportunities worldwide.</a:t>
            </a:r>
            <a:endParaRPr lang="en-US" sz="1250" dirty="0"/>
          </a:p>
        </p:txBody>
      </p:sp>
      <p:sp>
        <p:nvSpPr>
          <p:cNvPr id="4" name="Shape 2"/>
          <p:cNvSpPr/>
          <p:nvPr/>
        </p:nvSpPr>
        <p:spPr>
          <a:xfrm>
            <a:off x="638354" y="1417320"/>
            <a:ext cx="10921041" cy="4572000"/>
          </a:xfrm>
          <a:prstGeom prst="roundRect">
            <a:avLst>
              <a:gd name="adj" fmla="val 1600"/>
            </a:avLst>
          </a:prstGeom>
          <a:solidFill>
            <a:srgbClr val="EAF5F1"/>
          </a:solidFill>
          <a:ln/>
        </p:spPr>
        <p:txBody>
          <a:bodyPr/>
          <a:lstStyle/>
          <a:p>
            <a:endParaRPr lang="en-IN"/>
          </a:p>
        </p:txBody>
      </p:sp>
      <p:sp>
        <p:nvSpPr>
          <p:cNvPr id="5" name="Text 3"/>
          <p:cNvSpPr/>
          <p:nvPr/>
        </p:nvSpPr>
        <p:spPr>
          <a:xfrm>
            <a:off x="868680" y="1691640"/>
            <a:ext cx="10424160" cy="4023360"/>
          </a:xfrm>
          <a:prstGeom prst="rect">
            <a:avLst/>
          </a:prstGeom>
          <a:noFill/>
          <a:ln/>
        </p:spPr>
        <p:txBody>
          <a:bodyPr wrap="square" rtlCol="0" anchor="t"/>
          <a:lstStyle/>
          <a:p>
            <a:pPr marL="171450" lvl="0" indent="-171450">
              <a:buFont typeface="Arial" panose="020B0604020202020204" pitchFamily="34" charset="0"/>
              <a:buChar char="•"/>
            </a:pPr>
            <a:r>
              <a:rPr lang="en-IN" sz="1200" dirty="0"/>
              <a:t>The global functional beverage market is projected to grow from </a:t>
            </a:r>
            <a:r>
              <a:rPr lang="en-IN" sz="1200" b="1" dirty="0"/>
              <a:t>USD 182.47 billion in 2025</a:t>
            </a:r>
            <a:r>
              <a:rPr lang="en-IN" sz="1200" dirty="0"/>
              <a:t> to </a:t>
            </a:r>
            <a:r>
              <a:rPr lang="en-IN" sz="1200" b="1" dirty="0"/>
              <a:t>USD 483.66 billion by 2036</a:t>
            </a:r>
            <a:r>
              <a:rPr lang="en-IN" sz="1200" dirty="0"/>
              <a:t>, registering a </a:t>
            </a:r>
            <a:r>
              <a:rPr lang="en-IN" sz="1200" b="1" dirty="0"/>
              <a:t>CAGR of 9.27%</a:t>
            </a:r>
            <a:r>
              <a:rPr lang="en-IN" sz="1200" dirty="0"/>
              <a:t>, driven by rising demand for preventive healthcare, immunity, hydration, and wellness-focused nutrition. </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Product innovation </a:t>
            </a:r>
            <a:r>
              <a:rPr lang="en-IN" sz="1200" dirty="0" err="1"/>
              <a:t>centered</a:t>
            </a:r>
            <a:r>
              <a:rPr lang="en-IN" sz="1200" dirty="0"/>
              <a:t> on </a:t>
            </a:r>
            <a:r>
              <a:rPr lang="en-IN" sz="1200" b="1" dirty="0"/>
              <a:t>clean-label formulations, probiotics, plant-based ingredients, functional water, protein-enriched beverages, and personalized nutrition</a:t>
            </a:r>
            <a:r>
              <a:rPr lang="en-IN" sz="1200" dirty="0"/>
              <a:t> will continue to shape the competitive landscape and create new growth opportunities. </a:t>
            </a:r>
          </a:p>
          <a:p>
            <a:pPr marL="171450" lvl="0" indent="-171450">
              <a:buFont typeface="Arial" panose="020B0604020202020204" pitchFamily="34" charset="0"/>
              <a:buChar char="•"/>
            </a:pPr>
            <a:endParaRPr lang="en-IN" sz="1200" b="1" dirty="0"/>
          </a:p>
          <a:p>
            <a:pPr marL="171450" lvl="0" indent="-171450">
              <a:buFont typeface="Arial" panose="020B0604020202020204" pitchFamily="34" charset="0"/>
              <a:buChar char="•"/>
            </a:pPr>
            <a:r>
              <a:rPr lang="en-IN" sz="1200" b="1" dirty="0"/>
              <a:t>Asia Pacific</a:t>
            </a:r>
            <a:r>
              <a:rPr lang="en-IN" sz="1200" dirty="0"/>
              <a:t> is expected to remain the largest and fastest-growing regional market, while </a:t>
            </a:r>
            <a:r>
              <a:rPr lang="en-IN" sz="1200" b="1" dirty="0"/>
              <a:t>North America and Europe</a:t>
            </a:r>
            <a:r>
              <a:rPr lang="en-IN" sz="1200" dirty="0"/>
              <a:t> will continue leading premiumization, scientific innovation, and regulatory compliance. </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Technological advancements, including </a:t>
            </a:r>
            <a:r>
              <a:rPr lang="en-IN" sz="1200" b="1" dirty="0"/>
              <a:t>AI-enabled product development, precision fermentation, microencapsulation, and smart packaging</a:t>
            </a:r>
            <a:r>
              <a:rPr lang="en-IN" sz="1200" dirty="0"/>
              <a:t>, will improve product quality, manufacturing efficiency, supply chain transparency, and consumer engagement. </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Companies that prioritize </a:t>
            </a:r>
            <a:r>
              <a:rPr lang="en-IN" sz="1200" b="1" dirty="0"/>
              <a:t>science-backed innovation, sustainability, digital transformation, regulatory compliance, and consumer-centric product development</a:t>
            </a:r>
            <a:r>
              <a:rPr lang="en-IN" sz="1200" dirty="0"/>
              <a:t> will be best positioned to strengthen their competitive advantage and capture long-term growth opportunities through </a:t>
            </a:r>
            <a:r>
              <a:rPr lang="en-IN" sz="1200" b="1" dirty="0"/>
              <a:t>2036</a:t>
            </a:r>
            <a:r>
              <a:rPr lang="en-IN" sz="1200" dirty="0"/>
              <a:t>.</a:t>
            </a:r>
          </a:p>
        </p:txBody>
      </p:sp>
      <p:sp>
        <p:nvSpPr>
          <p:cNvPr id="6" name="Text 4"/>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61">
    <p:bg>
      <p:bgPr>
        <a:solidFill>
          <a:srgbClr val="0B4F4A"/>
        </a:solidFill>
        <a:effectLst/>
      </p:bgPr>
    </p:bg>
    <p:spTree>
      <p:nvGrpSpPr>
        <p:cNvPr id="1" name=""/>
        <p:cNvGrpSpPr/>
        <p:nvPr/>
      </p:nvGrpSpPr>
      <p:grpSpPr>
        <a:xfrm>
          <a:off x="0" y="0"/>
          <a:ext cx="0" cy="0"/>
          <a:chOff x="0" y="0"/>
          <a:chExt cx="0" cy="0"/>
        </a:xfrm>
      </p:grpSpPr>
      <p:sp>
        <p:nvSpPr>
          <p:cNvPr id="2" name="Shape 0"/>
          <p:cNvSpPr/>
          <p:nvPr/>
        </p:nvSpPr>
        <p:spPr>
          <a:xfrm>
            <a:off x="8686800" y="-2011680"/>
            <a:ext cx="5943600" cy="5943600"/>
          </a:xfrm>
          <a:prstGeom prst="ellipse">
            <a:avLst/>
          </a:prstGeom>
          <a:solidFill>
            <a:srgbClr val="062E2A"/>
          </a:solidFill>
          <a:ln/>
        </p:spPr>
        <p:txBody>
          <a:bodyPr/>
          <a:lstStyle/>
          <a:p>
            <a:endParaRPr lang="en-IN"/>
          </a:p>
        </p:txBody>
      </p:sp>
      <p:sp>
        <p:nvSpPr>
          <p:cNvPr id="3" name="Shape 1"/>
          <p:cNvSpPr/>
          <p:nvPr/>
        </p:nvSpPr>
        <p:spPr>
          <a:xfrm>
            <a:off x="-2286000" y="4389120"/>
            <a:ext cx="5029200" cy="5029200"/>
          </a:xfrm>
          <a:prstGeom prst="ellipse">
            <a:avLst/>
          </a:prstGeom>
          <a:solidFill>
            <a:srgbClr val="062E2A"/>
          </a:solidFill>
          <a:ln/>
        </p:spPr>
        <p:txBody>
          <a:bodyPr/>
          <a:lstStyle/>
          <a:p>
            <a:endParaRPr lang="en-IN"/>
          </a:p>
        </p:txBody>
      </p:sp>
      <p:sp>
        <p:nvSpPr>
          <p:cNvPr id="4" name="Text 2"/>
          <p:cNvSpPr/>
          <p:nvPr/>
        </p:nvSpPr>
        <p:spPr>
          <a:xfrm>
            <a:off x="822960" y="2468880"/>
            <a:ext cx="9144000" cy="109728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822960" y="3429000"/>
            <a:ext cx="9601200" cy="457200"/>
          </a:xfrm>
          <a:prstGeom prst="rect">
            <a:avLst/>
          </a:prstGeom>
          <a:noFill/>
          <a:ln/>
        </p:spPr>
        <p:txBody>
          <a:bodyPr wrap="square" rtlCol="0" anchor="ctr"/>
          <a:lstStyle/>
          <a:p>
            <a:pPr marL="0" indent="0">
              <a:buNone/>
            </a:pPr>
            <a:r>
              <a:rPr lang="en-US" sz="1500" dirty="0">
                <a:solidFill>
                  <a:srgbClr val="EAF5F1"/>
                </a:solidFill>
                <a:latin typeface="Calibri" pitchFamily="34" charset="0"/>
                <a:ea typeface="Calibri" pitchFamily="34" charset="-122"/>
                <a:cs typeface="Calibri" pitchFamily="34" charset="-120"/>
              </a:rPr>
              <a:t>Global Functional Beverage Market Report, 2025–2036</a:t>
            </a:r>
            <a:endParaRPr lang="en-US" sz="1500" dirty="0"/>
          </a:p>
        </p:txBody>
      </p:sp>
      <p:sp>
        <p:nvSpPr>
          <p:cNvPr id="7" name="Text 5"/>
          <p:cNvSpPr/>
          <p:nvPr/>
        </p:nvSpPr>
        <p:spPr>
          <a:xfrm>
            <a:off x="502920" y="6510528"/>
            <a:ext cx="6400800" cy="274320"/>
          </a:xfrm>
          <a:prstGeom prst="rect">
            <a:avLst/>
          </a:prstGeom>
          <a:noFill/>
          <a:ln/>
        </p:spPr>
        <p:txBody>
          <a:bodyPr wrap="square" rtlCol="0" anchor="ctr"/>
          <a:lstStyle/>
          <a:p>
            <a:pPr marL="0" indent="0">
              <a:buNone/>
            </a:pPr>
            <a:r>
              <a:rPr lang="en-US" sz="800" dirty="0">
                <a:solidFill>
                  <a:srgbClr val="72827E"/>
                </a:solidFill>
                <a:latin typeface="Calibri" pitchFamily="34" charset="0"/>
                <a:ea typeface="Calibri" pitchFamily="34" charset="-122"/>
                <a:cs typeface="Calibri" pitchFamily="34" charset="-120"/>
              </a:rPr>
              <a:t>GLOBAL FUNCTIONAL BEVERAGE MARKET  |  2025 – 2036</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EAF5F1"/>
        </a:solidFill>
        <a:effectLst/>
      </p:bgPr>
    </p:bg>
    <p:spTree>
      <p:nvGrpSpPr>
        <p:cNvPr id="1" name=""/>
        <p:cNvGrpSpPr/>
        <p:nvPr/>
      </p:nvGrpSpPr>
      <p:grpSpPr>
        <a:xfrm>
          <a:off x="0" y="0"/>
          <a:ext cx="0" cy="0"/>
          <a:chOff x="0" y="0"/>
          <a:chExt cx="0" cy="0"/>
        </a:xfrm>
      </p:grpSpPr>
      <p:sp>
        <p:nvSpPr>
          <p:cNvPr id="2" name="Text 0"/>
          <p:cNvSpPr/>
          <p:nvPr/>
        </p:nvSpPr>
        <p:spPr>
          <a:xfrm>
            <a:off x="633310" y="411480"/>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2E2A"/>
                </a:solidFill>
                <a:effectLst/>
                <a:uLnTx/>
                <a:uFillTx/>
                <a:latin typeface="Cambria" pitchFamily="34" charset="0"/>
                <a:ea typeface="Cambria" pitchFamily="34" charset="-122"/>
                <a:cs typeface="Cambria" pitchFamily="34" charset="-120"/>
              </a:rPr>
              <a:t>Work Experience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33310" y="960120"/>
            <a:ext cx="9601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A track record of turning research into revenue-driving decisions.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55567" y="1691640"/>
            <a:ext cx="0" cy="4160520"/>
          </a:xfrm>
          <a:prstGeom prst="line">
            <a:avLst/>
          </a:prstGeom>
          <a:noFill/>
          <a:ln w="31750">
            <a:solidFill>
              <a:srgbClr val="D8ECE4"/>
            </a:solidFill>
            <a:prstDash val="solid"/>
          </a:ln>
        </p:spPr>
        <p:txBody>
          <a:bodyPr/>
          <a:lstStyle/>
          <a:p>
            <a:endParaRPr lang="en-IN"/>
          </a:p>
        </p:txBody>
      </p:sp>
      <p:sp>
        <p:nvSpPr>
          <p:cNvPr id="5" name="Shape 3"/>
          <p:cNvSpPr/>
          <p:nvPr/>
        </p:nvSpPr>
        <p:spPr>
          <a:xfrm>
            <a:off x="590975" y="1600200"/>
            <a:ext cx="329184" cy="329184"/>
          </a:xfrm>
          <a:prstGeom prst="ellipse">
            <a:avLst/>
          </a:prstGeom>
          <a:solidFill>
            <a:srgbClr val="FF6B35"/>
          </a:solidFill>
          <a:ln w="25400">
            <a:solidFill>
              <a:srgbClr val="FFFFFF"/>
            </a:solidFill>
            <a:prstDash val="solid"/>
          </a:ln>
        </p:spPr>
        <p:txBody>
          <a:bodyPr/>
          <a:lstStyle/>
          <a:p>
            <a:endParaRPr lang="en-IN"/>
          </a:p>
        </p:txBody>
      </p:sp>
      <p:sp>
        <p:nvSpPr>
          <p:cNvPr id="6" name="Text 4"/>
          <p:cNvSpPr/>
          <p:nvPr/>
        </p:nvSpPr>
        <p:spPr>
          <a:xfrm>
            <a:off x="1051560" y="1527048"/>
            <a:ext cx="58064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2E2A"/>
                </a:solidFill>
                <a:effectLst/>
                <a:uLnTx/>
                <a:uFillTx/>
                <a:latin typeface="Calibri" pitchFamily="34" charset="0"/>
                <a:ea typeface="Cambria" pitchFamily="34" charset="-122"/>
                <a:cs typeface="Cambria" pitchFamily="34" charset="-120"/>
              </a:rPr>
              <a:t>Consultant – Market Research &amp; Strategy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51560" y="1856232"/>
            <a:ext cx="5806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Research Nester Analytics  ·  Oct 2023 - Nov 2025</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51560" y="2148840"/>
            <a:ext cx="5806440" cy="12344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Promoted from Senior Research Associate to Consultant. Ranked top 3 of 10 consultants for proposal-to-engagement conversion; authored 400+ company intelligence profiles for clients including ABB, Honda, IBM, Siemens, and BASF; led 20+ RFPs worth ~USD 400K for clients including IKEA and Adani Wilmar.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90975" y="3703320"/>
            <a:ext cx="329184" cy="329184"/>
          </a:xfrm>
          <a:prstGeom prst="ellipse">
            <a:avLst/>
          </a:prstGeom>
          <a:solidFill>
            <a:srgbClr val="FF6B35"/>
          </a:solidFill>
          <a:ln w="25400">
            <a:solidFill>
              <a:srgbClr val="FFFFFF"/>
            </a:solidFill>
            <a:prstDash val="solid"/>
          </a:ln>
        </p:spPr>
        <p:txBody>
          <a:bodyPr/>
          <a:lstStyle/>
          <a:p>
            <a:endParaRPr lang="en-IN"/>
          </a:p>
        </p:txBody>
      </p:sp>
      <p:sp>
        <p:nvSpPr>
          <p:cNvPr id="10" name="Text 8"/>
          <p:cNvSpPr/>
          <p:nvPr/>
        </p:nvSpPr>
        <p:spPr>
          <a:xfrm>
            <a:off x="1051560" y="3630168"/>
            <a:ext cx="58064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2E2A"/>
                </a:solidFill>
                <a:effectLst/>
                <a:uLnTx/>
                <a:uFillTx/>
                <a:latin typeface="Calibri" pitchFamily="34" charset="0"/>
                <a:ea typeface="Cambria" pitchFamily="34" charset="-122"/>
                <a:cs typeface="Cambria" pitchFamily="34" charset="-120"/>
              </a:rPr>
              <a:t>Senior Research Associate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051560" y="3959352"/>
            <a:ext cx="5806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Prudour Pvt. Ltd., Pune  ·  Nov 2022 - Aug 2023</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51560" y="4251960"/>
            <a:ext cx="5806440" cy="12344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Compiled 30+ market research reports across ICT, Consumer Goods, Industrial Manufacturing, and Food &amp; Beverage sectors, applying SWOT, PESTLE, and Porter's Five Forces to identify whitespace opportunities and shape client strategy.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269480" y="1600200"/>
            <a:ext cx="4251960" cy="1965960"/>
          </a:xfrm>
          <a:prstGeom prst="roundRect">
            <a:avLst>
              <a:gd name="adj" fmla="val 3721"/>
            </a:avLst>
          </a:prstGeom>
          <a:solidFill>
            <a:srgbClr val="FFFFFF"/>
          </a:solidFill>
          <a:ln/>
          <a:effectLst>
            <a:outerShdw blurRad="76200" dist="25400" dir="5400000" algn="bl" rotWithShape="0">
              <a:srgbClr val="1E2624">
                <a:alpha val="12000"/>
              </a:srgbClr>
            </a:outerShdw>
          </a:effectLst>
        </p:spPr>
        <p:txBody>
          <a:bodyPr/>
          <a:lstStyle/>
          <a:p>
            <a:endParaRPr lang="en-IN"/>
          </a:p>
        </p:txBody>
      </p:sp>
      <p:sp>
        <p:nvSpPr>
          <p:cNvPr id="14" name="Text 12"/>
          <p:cNvSpPr/>
          <p:nvPr/>
        </p:nvSpPr>
        <p:spPr>
          <a:xfrm>
            <a:off x="7498080" y="1737360"/>
            <a:ext cx="4023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mbria" pitchFamily="34" charset="-122"/>
                <a:cs typeface="Cambria" pitchFamily="34" charset="-120"/>
              </a:rPr>
              <a:t>Frameworks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498080" y="2103120"/>
            <a:ext cx="4023360" cy="1371600"/>
          </a:xfrm>
          <a:prstGeom prst="rect">
            <a:avLst/>
          </a:prstGeom>
          <a:noFill/>
          <a:ln/>
        </p:spPr>
        <p:txBody>
          <a:bodyPr wrap="square" lIns="0" tIns="0" rIns="0" bIns="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SWOT  •  PESTLE  •  Porter's Five Forces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TAM / SAM / SOM  •  Competitive Benchmarking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7269480" y="3794760"/>
            <a:ext cx="4251960" cy="1965960"/>
          </a:xfrm>
          <a:prstGeom prst="roundRect">
            <a:avLst>
              <a:gd name="adj" fmla="val 3721"/>
            </a:avLst>
          </a:prstGeom>
          <a:solidFill>
            <a:srgbClr val="FFFFFF"/>
          </a:solidFill>
          <a:ln/>
          <a:effectLst>
            <a:outerShdw blurRad="76200" dist="25400" dir="5400000" algn="bl" rotWithShape="0">
              <a:srgbClr val="1E2624">
                <a:alpha val="12000"/>
              </a:srgbClr>
            </a:outerShdw>
          </a:effectLst>
        </p:spPr>
        <p:txBody>
          <a:bodyPr/>
          <a:lstStyle/>
          <a:p>
            <a:endParaRPr lang="en-IN"/>
          </a:p>
        </p:txBody>
      </p:sp>
      <p:sp>
        <p:nvSpPr>
          <p:cNvPr id="17" name="Text 15"/>
          <p:cNvSpPr/>
          <p:nvPr/>
        </p:nvSpPr>
        <p:spPr>
          <a:xfrm>
            <a:off x="7498080" y="3931920"/>
            <a:ext cx="4023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4F4A"/>
                </a:solidFill>
                <a:effectLst/>
                <a:uLnTx/>
                <a:uFillTx/>
                <a:latin typeface="Calibri" pitchFamily="34" charset="0"/>
                <a:ea typeface="Cambria" pitchFamily="34" charset="-122"/>
                <a:cs typeface="Cambria" pitchFamily="34" charset="-120"/>
              </a:rPr>
              <a:t>Tools &amp; Databases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498080" y="4297680"/>
            <a:ext cx="4023360" cy="1371600"/>
          </a:xfrm>
          <a:prstGeom prst="rect">
            <a:avLst/>
          </a:prstGeom>
          <a:noFill/>
          <a:ln/>
        </p:spPr>
        <p:txBody>
          <a:bodyPr wrap="square" lIns="0" tIns="0" rIns="0" bIns="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Power BI  •  SQL  •  Advanced Excel (VBA)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624"/>
                </a:solidFill>
                <a:effectLst/>
                <a:uLnTx/>
                <a:uFillTx/>
                <a:latin typeface="Calibri" pitchFamily="34" charset="0"/>
                <a:ea typeface="Calibri" pitchFamily="34" charset="-122"/>
                <a:cs typeface="Calibri" pitchFamily="34" charset="-120"/>
              </a:rPr>
              <a:t>Factiva  •  Statista  •  GlobalData  •  MarketLine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2827E"/>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1338560" y="6355080"/>
            <a:ext cx="457200" cy="457200"/>
          </a:xfrm>
          <a:prstGeom prst="ellipse">
            <a:avLst/>
          </a:prstGeom>
          <a:solidFill>
            <a:srgbClr val="0B4F4A"/>
          </a:solidFill>
          <a:ln/>
        </p:spPr>
        <p:txBody>
          <a:bodyPr/>
          <a:lstStyle/>
          <a:p>
            <a:endParaRPr lang="en-IN"/>
          </a:p>
        </p:txBody>
      </p:sp>
      <p:sp>
        <p:nvSpPr>
          <p:cNvPr id="21" name="Text 19"/>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62E2A"/>
        </a:solidFill>
        <a:effectLst/>
      </p:bgPr>
    </p:bg>
    <p:spTree>
      <p:nvGrpSpPr>
        <p:cNvPr id="1" name=""/>
        <p:cNvGrpSpPr/>
        <p:nvPr/>
      </p:nvGrpSpPr>
      <p:grpSpPr>
        <a:xfrm>
          <a:off x="0" y="0"/>
          <a:ext cx="0" cy="0"/>
          <a:chOff x="0" y="0"/>
          <a:chExt cx="0" cy="0"/>
        </a:xfrm>
      </p:grpSpPr>
      <p:sp>
        <p:nvSpPr>
          <p:cNvPr id="2" name="Shape 0"/>
          <p:cNvSpPr/>
          <p:nvPr/>
        </p:nvSpPr>
        <p:spPr>
          <a:xfrm>
            <a:off x="-1463040" y="4023360"/>
            <a:ext cx="4572000" cy="4572000"/>
          </a:xfrm>
          <a:prstGeom prst="ellipse">
            <a:avLst/>
          </a:prstGeom>
          <a:solidFill>
            <a:srgbClr val="0B4F4A"/>
          </a:solidFill>
          <a:ln/>
        </p:spPr>
        <p:txBody>
          <a:bodyPr/>
          <a:lstStyle/>
          <a:p>
            <a:endParaRPr lang="en-IN"/>
          </a:p>
        </p:txBody>
      </p:sp>
      <p:sp>
        <p:nvSpPr>
          <p:cNvPr id="3" name="Text 1"/>
          <p:cNvSpPr/>
          <p:nvPr/>
        </p:nvSpPr>
        <p:spPr>
          <a:xfrm>
            <a:off x="599442" y="392849"/>
            <a:ext cx="9144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About This Portfolio</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17730" y="965193"/>
            <a:ext cx="2743200" cy="0"/>
          </a:xfrm>
          <a:prstGeom prst="line">
            <a:avLst/>
          </a:prstGeom>
          <a:noFill/>
          <a:ln w="25400">
            <a:solidFill>
              <a:srgbClr val="FF6B35"/>
            </a:solidFill>
            <a:prstDash val="solid"/>
          </a:ln>
        </p:spPr>
        <p:txBody>
          <a:bodyPr/>
          <a:lstStyle/>
          <a:p>
            <a:endParaRPr lang="en-IN"/>
          </a:p>
        </p:txBody>
      </p:sp>
      <p:sp>
        <p:nvSpPr>
          <p:cNvPr id="5" name="Text 3"/>
          <p:cNvSpPr/>
          <p:nvPr/>
        </p:nvSpPr>
        <p:spPr>
          <a:xfrm>
            <a:off x="658707" y="146304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F6B35"/>
                </a:solidFill>
                <a:effectLst/>
                <a:uLnTx/>
                <a:uFillTx/>
                <a:latin typeface="Calibri" pitchFamily="34" charset="0"/>
                <a:ea typeface="Calibri" pitchFamily="34" charset="-122"/>
                <a:cs typeface="Calibri" pitchFamily="34" charset="-120"/>
              </a:rPr>
              <a:t>WHAT THIS IS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58707" y="1874520"/>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mbria" pitchFamily="34" charset="-122"/>
                <a:cs typeface="Cambria" pitchFamily="34" charset="-120"/>
              </a:rPr>
              <a:t>Consultant Profile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58707" y="2221992"/>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Three years of Competitive Intelligence and Strategy Consulting experience delivering market entry strategy, pricing intelligence, and business analysis for Fortune 500 clients across five sectors and five global regions.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58707" y="2743200"/>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mbria" pitchFamily="34" charset="-122"/>
                <a:cs typeface="Cambria" pitchFamily="34" charset="-120"/>
              </a:rPr>
              <a:t>Work Sample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58707" y="3090672"/>
            <a:ext cx="5669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D6D1"/>
                </a:solidFill>
                <a:effectLst/>
                <a:uLnTx/>
                <a:uFillTx/>
                <a:latin typeface="Calibri" pitchFamily="34" charset="0"/>
                <a:ea typeface="Calibri" pitchFamily="34" charset="-122"/>
                <a:cs typeface="Calibri" pitchFamily="34" charset="-120"/>
              </a:rPr>
              <a:t>A complete, client-grade market intelligence report — Global Functional Beverage Market — reproduced in full to demonstrate the standard of analysis and delivery.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58707" y="379476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F6B35"/>
                </a:solidFill>
                <a:effectLst/>
                <a:uLnTx/>
                <a:uFillTx/>
                <a:latin typeface="Calibri" pitchFamily="34" charset="0"/>
                <a:ea typeface="Calibri" pitchFamily="34" charset="-122"/>
                <a:cs typeface="Calibri" pitchFamily="34" charset="-120"/>
              </a:rPr>
              <a:t>WHY IT'S HERE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58707" y="4160520"/>
            <a:ext cx="5852160" cy="1005840"/>
          </a:xfrm>
          <a:prstGeom prst="rect">
            <a:avLst/>
          </a:prstGeom>
          <a:noFill/>
          <a:ln/>
        </p:spPr>
        <p:txBody>
          <a:bodyPr wrap="square" lIns="0" tIns="0" rIns="0" bIns="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ADCD8"/>
                </a:solidFill>
                <a:effectLst/>
                <a:uLnTx/>
                <a:uFillTx/>
                <a:latin typeface="Calibri" pitchFamily="34" charset="0"/>
                <a:ea typeface="Calibri" pitchFamily="34" charset="-122"/>
                <a:cs typeface="Calibri" pitchFamily="34" charset="-120"/>
              </a:rPr>
              <a:t>Most portfolios describe a track record. This one demonstrates it — the same structure, rigor, and depth delivered to clients including ABB, Honda, IBM, Siemens, and BASF.</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ADCD8"/>
                </a:solidFill>
                <a:effectLst/>
                <a:uLnTx/>
                <a:uFillTx/>
                <a:latin typeface="Calibri" pitchFamily="34" charset="0"/>
                <a:ea typeface="Calibri" pitchFamily="34" charset="-122"/>
                <a:cs typeface="Calibri" pitchFamily="34" charset="-120"/>
              </a:rPr>
              <a:t>What follows is not a summary. It is the work itself.</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223760" y="1463040"/>
            <a:ext cx="4316307" cy="3977640"/>
          </a:xfrm>
          <a:prstGeom prst="roundRect">
            <a:avLst>
              <a:gd name="adj" fmla="val 2299"/>
            </a:avLst>
          </a:prstGeom>
          <a:solidFill>
            <a:srgbClr val="0B4F4A"/>
          </a:solidFill>
          <a:ln w="12700">
            <a:solidFill>
              <a:srgbClr val="FF6B35"/>
            </a:solidFill>
            <a:prstDash val="solid"/>
          </a:ln>
        </p:spPr>
        <p:txBody>
          <a:bodyPr/>
          <a:lstStyle/>
          <a:p>
            <a:endParaRPr lang="en-IN"/>
          </a:p>
        </p:txBody>
      </p:sp>
      <p:sp>
        <p:nvSpPr>
          <p:cNvPr id="13" name="Text 11"/>
          <p:cNvSpPr/>
          <p:nvPr/>
        </p:nvSpPr>
        <p:spPr>
          <a:xfrm>
            <a:off x="7498080" y="173736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mbria" pitchFamily="34" charset="-122"/>
                <a:cs typeface="Cambria" pitchFamily="34" charset="-120"/>
              </a:rPr>
              <a:t>Report at a Glance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498080" y="2377440"/>
            <a:ext cx="3931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8BC34A"/>
                </a:solidFill>
                <a:effectLst/>
                <a:uLnTx/>
                <a:uFillTx/>
                <a:latin typeface="Calibri" pitchFamily="34" charset="0"/>
                <a:ea typeface="Calibri" pitchFamily="34" charset="-122"/>
                <a:cs typeface="Calibri" pitchFamily="34" charset="-120"/>
              </a:rPr>
              <a:t>SCOPE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498080" y="265176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Market sizing, competitive landscape, regional analysis, and a 2025–2036 forecast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498080" y="3154680"/>
            <a:ext cx="3931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8BC34A"/>
                </a:solidFill>
                <a:effectLst/>
                <a:uLnTx/>
                <a:uFillTx/>
                <a:latin typeface="Calibri" pitchFamily="34" charset="0"/>
                <a:ea typeface="Calibri" pitchFamily="34" charset="-122"/>
                <a:cs typeface="Calibri" pitchFamily="34" charset="-120"/>
              </a:rPr>
              <a:t>METHODOLOGY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498080" y="342900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Primary and secondary research, applying TAM/SAM/SOM, SWOT, PESTLE, and Porter's Five Forces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498080" y="3931920"/>
            <a:ext cx="3931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8BC34A"/>
                </a:solidFill>
                <a:effectLst/>
                <a:uLnTx/>
                <a:uFillTx/>
                <a:latin typeface="Calibri" pitchFamily="34" charset="0"/>
                <a:ea typeface="Calibri" pitchFamily="34" charset="-122"/>
                <a:cs typeface="Calibri" pitchFamily="34" charset="-120"/>
              </a:rPr>
              <a:t>STANDARD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498080" y="4206240"/>
            <a:ext cx="3931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Structured, client-ready, and built to the standard used for Fortune 500 engagements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57200" y="6473952"/>
            <a:ext cx="8686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9FC7C0"/>
                </a:solidFill>
                <a:effectLst/>
                <a:uLnTx/>
                <a:uFillTx/>
                <a:latin typeface="Calibri" pitchFamily="34" charset="0"/>
                <a:ea typeface="Calibri" pitchFamily="34" charset="-122"/>
                <a:cs typeface="Calibri" pitchFamily="34" charset="-120"/>
              </a:rPr>
              <a:t>TEJAL MUGUL  |  MARKET RESEARCH &amp; COMPETITIVE INTELLIGENCE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11338560" y="6355080"/>
            <a:ext cx="457200" cy="457200"/>
          </a:xfrm>
          <a:prstGeom prst="ellipse">
            <a:avLst/>
          </a:prstGeom>
          <a:solidFill>
            <a:srgbClr val="FFFFFF"/>
          </a:solidFill>
          <a:ln/>
        </p:spPr>
        <p:txBody>
          <a:bodyPr/>
          <a:lstStyle/>
          <a:p>
            <a:endParaRPr lang="en-IN"/>
          </a:p>
        </p:txBody>
      </p:sp>
      <p:sp>
        <p:nvSpPr>
          <p:cNvPr id="22" name="Text 20"/>
          <p:cNvSpPr/>
          <p:nvPr/>
        </p:nvSpPr>
        <p:spPr>
          <a:xfrm>
            <a:off x="11338560" y="635508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B4F4A"/>
                </a:solidFill>
                <a:effectLst/>
                <a:uLnTx/>
                <a:uFillTx/>
                <a:latin typeface="Calibri" pitchFamily="34" charset="0"/>
                <a:ea typeface="Calibri" pitchFamily="34" charset="-122"/>
                <a:cs typeface="Calibri" pitchFamily="34" charset="-120"/>
              </a:rPr>
              <a:t>02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8083</TotalTime>
  <Words>12709</Words>
  <Application>Microsoft Office PowerPoint</Application>
  <PresentationFormat>Widescreen</PresentationFormat>
  <Paragraphs>1703</Paragraphs>
  <Slides>103</Slides>
  <Notes>103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Aptos</vt: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Yamini Sonawane</cp:lastModifiedBy>
  <cp:revision>122</cp:revision>
  <dcterms:created xsi:type="dcterms:W3CDTF">2026-07-18T07:45:22Z</dcterms:created>
  <dcterms:modified xsi:type="dcterms:W3CDTF">2026-07-28T17:53:23Z</dcterms:modified>
</cp:coreProperties>
</file>